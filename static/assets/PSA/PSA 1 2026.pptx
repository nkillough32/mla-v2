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3"/>
  </p:notesMasterIdLst>
  <p:sldIdLst>
    <p:sldId id="366" r:id="rId2"/>
    <p:sldId id="436" r:id="rId3"/>
    <p:sldId id="506" r:id="rId4"/>
    <p:sldId id="508" r:id="rId5"/>
    <p:sldId id="369" r:id="rId6"/>
    <p:sldId id="374" r:id="rId7"/>
    <p:sldId id="441" r:id="rId8"/>
    <p:sldId id="380" r:id="rId9"/>
    <p:sldId id="383" r:id="rId10"/>
    <p:sldId id="541" r:id="rId11"/>
    <p:sldId id="413" r:id="rId12"/>
    <p:sldId id="386" r:id="rId13"/>
    <p:sldId id="378" r:id="rId14"/>
    <p:sldId id="388" r:id="rId15"/>
    <p:sldId id="389" r:id="rId16"/>
    <p:sldId id="540" r:id="rId17"/>
    <p:sldId id="420" r:id="rId18"/>
    <p:sldId id="428" r:id="rId19"/>
    <p:sldId id="430" r:id="rId20"/>
    <p:sldId id="419" r:id="rId21"/>
    <p:sldId id="423" r:id="rId22"/>
    <p:sldId id="425" r:id="rId23"/>
    <p:sldId id="433" r:id="rId24"/>
    <p:sldId id="444" r:id="rId25"/>
    <p:sldId id="446" r:id="rId26"/>
    <p:sldId id="452" r:id="rId27"/>
    <p:sldId id="455" r:id="rId28"/>
    <p:sldId id="500" r:id="rId29"/>
    <p:sldId id="509" r:id="rId30"/>
    <p:sldId id="487" r:id="rId31"/>
    <p:sldId id="485" r:id="rId32"/>
    <p:sldId id="490" r:id="rId33"/>
    <p:sldId id="491" r:id="rId34"/>
    <p:sldId id="493" r:id="rId35"/>
    <p:sldId id="495" r:id="rId36"/>
    <p:sldId id="497" r:id="rId37"/>
    <p:sldId id="605" r:id="rId38"/>
    <p:sldId id="606" r:id="rId39"/>
    <p:sldId id="607" r:id="rId40"/>
    <p:sldId id="608" r:id="rId41"/>
    <p:sldId id="609" r:id="rId42"/>
    <p:sldId id="337" r:id="rId43"/>
    <p:sldId id="610" r:id="rId44"/>
    <p:sldId id="611" r:id="rId45"/>
    <p:sldId id="335" r:id="rId46"/>
    <p:sldId id="342" r:id="rId47"/>
    <p:sldId id="347" r:id="rId48"/>
    <p:sldId id="349" r:id="rId49"/>
    <p:sldId id="544" r:id="rId50"/>
    <p:sldId id="545" r:id="rId51"/>
    <p:sldId id="543" r:id="rId52"/>
    <p:sldId id="615" r:id="rId53"/>
    <p:sldId id="367" r:id="rId54"/>
    <p:sldId id="616" r:id="rId55"/>
    <p:sldId id="360" r:id="rId56"/>
    <p:sldId id="612" r:id="rId57"/>
    <p:sldId id="638" r:id="rId58"/>
    <p:sldId id="639" r:id="rId59"/>
    <p:sldId id="370" r:id="rId60"/>
    <p:sldId id="375" r:id="rId61"/>
    <p:sldId id="552" r:id="rId62"/>
    <p:sldId id="559" r:id="rId63"/>
    <p:sldId id="619" r:id="rId64"/>
    <p:sldId id="395" r:id="rId65"/>
    <p:sldId id="620" r:id="rId66"/>
    <p:sldId id="305" r:id="rId67"/>
    <p:sldId id="308" r:id="rId68"/>
    <p:sldId id="312" r:id="rId69"/>
    <p:sldId id="316" r:id="rId70"/>
    <p:sldId id="320" r:id="rId71"/>
    <p:sldId id="326" r:id="rId72"/>
    <p:sldId id="640" r:id="rId73"/>
    <p:sldId id="332" r:id="rId74"/>
    <p:sldId id="336" r:id="rId75"/>
    <p:sldId id="339" r:id="rId76"/>
    <p:sldId id="264" r:id="rId77"/>
    <p:sldId id="267" r:id="rId78"/>
    <p:sldId id="271" r:id="rId79"/>
    <p:sldId id="275" r:id="rId80"/>
    <p:sldId id="284" r:id="rId81"/>
    <p:sldId id="286" r:id="rId82"/>
    <p:sldId id="289" r:id="rId83"/>
    <p:sldId id="299" r:id="rId84"/>
    <p:sldId id="301" r:id="rId85"/>
    <p:sldId id="304" r:id="rId86"/>
    <p:sldId id="307" r:id="rId87"/>
    <p:sldId id="314" r:id="rId88"/>
    <p:sldId id="641" r:id="rId89"/>
    <p:sldId id="318" r:id="rId90"/>
    <p:sldId id="330" r:id="rId91"/>
    <p:sldId id="642" r:id="rId9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0411A497-2813-EB4B-9767-53ECD1E52CB6}">
          <p14:sldIdLst/>
        </p14:section>
        <p14:section name="Introduction" id="{FB0667A8-0AA4-374E-A3CE-C899910BFB3E}">
          <p14:sldIdLst/>
        </p14:section>
        <p14:section name="PSA breakdown" id="{6A572E9E-AB66-114C-82AA-51802E3B2548}">
          <p14:sldIdLst/>
        </p14:section>
        <p14:section name="1. Changing units" id="{11904C0D-C3F1-4247-8552-D343ED2EF74C}">
          <p14:sldIdLst>
            <p14:sldId id="366"/>
            <p14:sldId id="436"/>
          </p14:sldIdLst>
        </p14:section>
        <p14:section name="2. Divided doses" id="{B94BC80C-5159-C446-91CB-37BCD2615BB4}">
          <p14:sldIdLst>
            <p14:sldId id="506"/>
            <p14:sldId id="508"/>
          </p14:sldIdLst>
        </p14:section>
        <p14:section name="3. Volumes" id="{D88D6EE5-6355-274E-AAF6-61612E2B1C27}">
          <p14:sldIdLst>
            <p14:sldId id="369"/>
            <p14:sldId id="374"/>
            <p14:sldId id="441"/>
          </p14:sldIdLst>
        </p14:section>
        <p14:section name="4. Dilutions" id="{E9D09833-F34A-1844-872F-FAD36C5D0BD1}">
          <p14:sldIdLst>
            <p14:sldId id="380"/>
            <p14:sldId id="383"/>
            <p14:sldId id="541"/>
            <p14:sldId id="413"/>
            <p14:sldId id="386"/>
            <p14:sldId id="378"/>
            <p14:sldId id="388"/>
            <p14:sldId id="389"/>
          </p14:sldIdLst>
        </p14:section>
        <p14:section name="5. Rates" id="{376024B4-234E-8545-B7A2-DE3379816D38}">
          <p14:sldIdLst>
            <p14:sldId id="540"/>
            <p14:sldId id="420"/>
            <p14:sldId id="428"/>
            <p14:sldId id="430"/>
            <p14:sldId id="419"/>
            <p14:sldId id="423"/>
            <p14:sldId id="425"/>
            <p14:sldId id="433"/>
          </p14:sldIdLst>
        </p14:section>
        <p14:section name="6. Percentages" id="{0AD87447-31AA-B74E-805E-DAD55218C6A8}">
          <p14:sldIdLst>
            <p14:sldId id="444"/>
            <p14:sldId id="446"/>
          </p14:sldIdLst>
        </p14:section>
        <p14:section name="7. Ratios" id="{7F1C3B8A-E0DD-5C42-A590-AF99911C0CF0}">
          <p14:sldIdLst>
            <p14:sldId id="452"/>
            <p14:sldId id="455"/>
          </p14:sldIdLst>
        </p14:section>
        <p14:section name="8. 'How much more'" id="{D20BFFB2-A911-2446-9D7C-39AB9AAC091D}">
          <p14:sldIdLst>
            <p14:sldId id="500"/>
            <p14:sldId id="509"/>
          </p14:sldIdLst>
        </p14:section>
        <p14:section name="9. 'How many'" id="{17104DD7-9180-F547-85B3-3566140A602D}">
          <p14:sldIdLst>
            <p14:sldId id="487"/>
            <p14:sldId id="485"/>
            <p14:sldId id="490"/>
            <p14:sldId id="491"/>
          </p14:sldIdLst>
        </p14:section>
        <p14:section name="10. Conversions" id="{8EA6F4D9-C050-D440-AECB-38B26DFF01C8}">
          <p14:sldIdLst>
            <p14:sldId id="493"/>
            <p14:sldId id="495"/>
            <p14:sldId id="497"/>
          </p14:sldIdLst>
        </p14:section>
        <p14:section name="Introduction" id="{E9B7EB7A-9034-5949-B350-206223C36969}">
          <p14:sldIdLst/>
        </p14:section>
        <p14:section name="Fluid prescribing" id="{7E4EB6D2-1BC5-7541-95CA-7D2108CCB5E9}">
          <p14:sldIdLst>
            <p14:sldId id="605"/>
            <p14:sldId id="606"/>
            <p14:sldId id="607"/>
            <p14:sldId id="608"/>
            <p14:sldId id="609"/>
            <p14:sldId id="337"/>
            <p14:sldId id="610"/>
            <p14:sldId id="611"/>
            <p14:sldId id="335"/>
            <p14:sldId id="342"/>
            <p14:sldId id="347"/>
            <p14:sldId id="349"/>
          </p14:sldIdLst>
        </p14:section>
        <p14:section name="Prescribing everything else" id="{AAFC5F4D-9829-B34A-A8FD-9F44CDF80681}">
          <p14:sldIdLst>
            <p14:sldId id="544"/>
            <p14:sldId id="545"/>
            <p14:sldId id="543"/>
            <p14:sldId id="615"/>
            <p14:sldId id="367"/>
            <p14:sldId id="616"/>
            <p14:sldId id="360"/>
            <p14:sldId id="612"/>
            <p14:sldId id="638"/>
            <p14:sldId id="639"/>
            <p14:sldId id="370"/>
            <p14:sldId id="375"/>
            <p14:sldId id="552"/>
            <p14:sldId id="559"/>
            <p14:sldId id="619"/>
            <p14:sldId id="395"/>
            <p14:sldId id="620"/>
          </p14:sldIdLst>
        </p14:section>
        <p14:section name="Cheat sheet" id="{3208CECA-AE67-A846-9234-209C9AD802FA}">
          <p14:sldIdLst/>
        </p14:section>
        <p14:section name="Default Section" id="{C3B7313F-C991-E440-9A00-72B8ECCA69B9}">
          <p14:sldIdLst/>
        </p14:section>
        <p14:section name="Introduction" id="{928DE787-7B6F-BB40-B835-4780AC4E201B}">
          <p14:sldIdLst/>
        </p14:section>
        <p14:section name="BNF tips and tricks" id="{3B4498B5-A325-DA44-817A-B3E1420031F2}">
          <p14:sldIdLst/>
        </p14:section>
        <p14:section name="Prescription review questions" id="{A55F94F4-77C3-B149-9625-8923283410C3}">
          <p14:sldIdLst>
            <p14:sldId id="305"/>
            <p14:sldId id="308"/>
            <p14:sldId id="312"/>
            <p14:sldId id="316"/>
            <p14:sldId id="320"/>
            <p14:sldId id="326"/>
            <p14:sldId id="640"/>
            <p14:sldId id="332"/>
            <p14:sldId id="336"/>
            <p14:sldId id="339"/>
            <p14:sldId id="264"/>
            <p14:sldId id="267"/>
            <p14:sldId id="271"/>
            <p14:sldId id="275"/>
            <p14:sldId id="284"/>
            <p14:sldId id="286"/>
            <p14:sldId id="289"/>
            <p14:sldId id="299"/>
            <p14:sldId id="301"/>
            <p14:sldId id="304"/>
            <p14:sldId id="307"/>
            <p14:sldId id="314"/>
            <p14:sldId id="641"/>
            <p14:sldId id="318"/>
            <p14:sldId id="330"/>
            <p14:sldId id="64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E4"/>
    <a:srgbClr val="CFD6EB"/>
    <a:srgbClr val="E9EBF5"/>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1471" autoAdjust="0"/>
    <p:restoredTop sz="82081" autoAdjust="0"/>
  </p:normalViewPr>
  <p:slideViewPr>
    <p:cSldViewPr snapToGrid="0" snapToObjects="1">
      <p:cViewPr varScale="1">
        <p:scale>
          <a:sx n="56" d="100"/>
          <a:sy n="56" d="100"/>
        </p:scale>
        <p:origin x="1032" y="42"/>
      </p:cViewPr>
      <p:guideLst>
        <p:guide orient="horz" pos="2160"/>
        <p:guide pos="3840"/>
      </p:guideLst>
    </p:cSldViewPr>
  </p:slideViewPr>
  <p:outlineViewPr>
    <p:cViewPr>
      <p:scale>
        <a:sx n="33" d="100"/>
        <a:sy n="33" d="100"/>
      </p:scale>
      <p:origin x="0" y="-888"/>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16E9AE-8C3E-3544-9C8C-00ED0FF3F161}"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E9D91F-AFD3-0A49-B222-551185FE69A9}" type="slidenum">
              <a:rPr lang="en-US" smtClean="0"/>
              <a:t>‹#›</a:t>
            </a:fld>
            <a:endParaRPr lang="en-US"/>
          </a:p>
        </p:txBody>
      </p:sp>
    </p:spTree>
    <p:extLst>
      <p:ext uri="{BB962C8B-B14F-4D97-AF65-F5344CB8AC3E}">
        <p14:creationId xmlns:p14="http://schemas.microsoft.com/office/powerpoint/2010/main" val="3928776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1</a:t>
            </a:fld>
            <a:endParaRPr lang="en-US"/>
          </a:p>
        </p:txBody>
      </p:sp>
    </p:spTree>
    <p:extLst>
      <p:ext uri="{BB962C8B-B14F-4D97-AF65-F5344CB8AC3E}">
        <p14:creationId xmlns:p14="http://schemas.microsoft.com/office/powerpoint/2010/main" val="4049183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a:t>
            </a:fld>
            <a:endParaRPr lang="en-US"/>
          </a:p>
        </p:txBody>
      </p:sp>
    </p:spTree>
    <p:extLst>
      <p:ext uri="{BB962C8B-B14F-4D97-AF65-F5344CB8AC3E}">
        <p14:creationId xmlns:p14="http://schemas.microsoft.com/office/powerpoint/2010/main" val="4023872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3</a:t>
            </a:fld>
            <a:endParaRPr lang="en-US"/>
          </a:p>
        </p:txBody>
      </p:sp>
    </p:spTree>
    <p:extLst>
      <p:ext uri="{BB962C8B-B14F-4D97-AF65-F5344CB8AC3E}">
        <p14:creationId xmlns:p14="http://schemas.microsoft.com/office/powerpoint/2010/main" val="1491653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4</a:t>
            </a:fld>
            <a:endParaRPr lang="en-US"/>
          </a:p>
        </p:txBody>
      </p:sp>
    </p:spTree>
    <p:extLst>
      <p:ext uri="{BB962C8B-B14F-4D97-AF65-F5344CB8AC3E}">
        <p14:creationId xmlns:p14="http://schemas.microsoft.com/office/powerpoint/2010/main" val="3547421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ways to reach the same answer</a:t>
            </a:r>
          </a:p>
          <a:p>
            <a:r>
              <a:rPr lang="en-US" dirty="0"/>
              <a:t>Can’t explain every option</a:t>
            </a:r>
          </a:p>
          <a:p>
            <a:r>
              <a:rPr lang="en-US" dirty="0"/>
              <a:t>Offering a standardized approach which we think is best to limit mistakes</a:t>
            </a:r>
          </a:p>
        </p:txBody>
      </p:sp>
      <p:sp>
        <p:nvSpPr>
          <p:cNvPr id="4" name="Slide Number Placeholder 3"/>
          <p:cNvSpPr>
            <a:spLocks noGrp="1"/>
          </p:cNvSpPr>
          <p:nvPr>
            <p:ph type="sldNum" sz="quarter" idx="5"/>
          </p:nvPr>
        </p:nvSpPr>
        <p:spPr/>
        <p:txBody>
          <a:bodyPr/>
          <a:lstStyle/>
          <a:p>
            <a:fld id="{F63B8EB8-E482-134B-B516-8AB744635F36}" type="slidenum">
              <a:rPr lang="en-US" smtClean="0"/>
              <a:t>5</a:t>
            </a:fld>
            <a:endParaRPr lang="en-US"/>
          </a:p>
        </p:txBody>
      </p:sp>
    </p:spTree>
    <p:extLst>
      <p:ext uri="{BB962C8B-B14F-4D97-AF65-F5344CB8AC3E}">
        <p14:creationId xmlns:p14="http://schemas.microsoft.com/office/powerpoint/2010/main" val="1067993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6</a:t>
            </a:fld>
            <a:endParaRPr lang="en-US"/>
          </a:p>
        </p:txBody>
      </p:sp>
    </p:spTree>
    <p:extLst>
      <p:ext uri="{BB962C8B-B14F-4D97-AF65-F5344CB8AC3E}">
        <p14:creationId xmlns:p14="http://schemas.microsoft.com/office/powerpoint/2010/main" val="2009589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7</a:t>
            </a:fld>
            <a:endParaRPr lang="en-US"/>
          </a:p>
        </p:txBody>
      </p:sp>
    </p:spTree>
    <p:extLst>
      <p:ext uri="{BB962C8B-B14F-4D97-AF65-F5344CB8AC3E}">
        <p14:creationId xmlns:p14="http://schemas.microsoft.com/office/powerpoint/2010/main" val="3223798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8</a:t>
            </a:fld>
            <a:endParaRPr lang="en-US"/>
          </a:p>
        </p:txBody>
      </p:sp>
    </p:spTree>
    <p:extLst>
      <p:ext uri="{BB962C8B-B14F-4D97-AF65-F5344CB8AC3E}">
        <p14:creationId xmlns:p14="http://schemas.microsoft.com/office/powerpoint/2010/main" val="2121028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9</a:t>
            </a:fld>
            <a:endParaRPr lang="en-US"/>
          </a:p>
        </p:txBody>
      </p:sp>
    </p:spTree>
    <p:extLst>
      <p:ext uri="{BB962C8B-B14F-4D97-AF65-F5344CB8AC3E}">
        <p14:creationId xmlns:p14="http://schemas.microsoft.com/office/powerpoint/2010/main" val="26391468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question – it is asking for the volume needed for the dilution</a:t>
            </a:r>
          </a:p>
        </p:txBody>
      </p:sp>
      <p:sp>
        <p:nvSpPr>
          <p:cNvPr id="4" name="Slide Number Placeholder 3"/>
          <p:cNvSpPr>
            <a:spLocks noGrp="1"/>
          </p:cNvSpPr>
          <p:nvPr>
            <p:ph type="sldNum" sz="quarter" idx="5"/>
          </p:nvPr>
        </p:nvSpPr>
        <p:spPr/>
        <p:txBody>
          <a:bodyPr/>
          <a:lstStyle/>
          <a:p>
            <a:fld id="{F63B8EB8-E482-134B-B516-8AB744635F36}" type="slidenum">
              <a:rPr lang="en-US" smtClean="0"/>
              <a:t>10</a:t>
            </a:fld>
            <a:endParaRPr lang="en-US"/>
          </a:p>
        </p:txBody>
      </p:sp>
    </p:spTree>
    <p:extLst>
      <p:ext uri="{BB962C8B-B14F-4D97-AF65-F5344CB8AC3E}">
        <p14:creationId xmlns:p14="http://schemas.microsoft.com/office/powerpoint/2010/main" val="28700726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11</a:t>
            </a:fld>
            <a:endParaRPr lang="en-US"/>
          </a:p>
        </p:txBody>
      </p:sp>
    </p:spTree>
    <p:extLst>
      <p:ext uri="{BB962C8B-B14F-4D97-AF65-F5344CB8AC3E}">
        <p14:creationId xmlns:p14="http://schemas.microsoft.com/office/powerpoint/2010/main" val="124881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12</a:t>
            </a:fld>
            <a:endParaRPr lang="en-US"/>
          </a:p>
        </p:txBody>
      </p:sp>
    </p:spTree>
    <p:extLst>
      <p:ext uri="{BB962C8B-B14F-4D97-AF65-F5344CB8AC3E}">
        <p14:creationId xmlns:p14="http://schemas.microsoft.com/office/powerpoint/2010/main" val="3457148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13</a:t>
            </a:fld>
            <a:endParaRPr lang="en-US"/>
          </a:p>
        </p:txBody>
      </p:sp>
    </p:spTree>
    <p:extLst>
      <p:ext uri="{BB962C8B-B14F-4D97-AF65-F5344CB8AC3E}">
        <p14:creationId xmlns:p14="http://schemas.microsoft.com/office/powerpoint/2010/main" val="2112243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14</a:t>
            </a:fld>
            <a:endParaRPr lang="en-US"/>
          </a:p>
        </p:txBody>
      </p:sp>
    </p:spTree>
    <p:extLst>
      <p:ext uri="{BB962C8B-B14F-4D97-AF65-F5344CB8AC3E}">
        <p14:creationId xmlns:p14="http://schemas.microsoft.com/office/powerpoint/2010/main" val="76321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15</a:t>
            </a:fld>
            <a:endParaRPr lang="en-US"/>
          </a:p>
        </p:txBody>
      </p:sp>
    </p:spTree>
    <p:extLst>
      <p:ext uri="{BB962C8B-B14F-4D97-AF65-F5344CB8AC3E}">
        <p14:creationId xmlns:p14="http://schemas.microsoft.com/office/powerpoint/2010/main" val="1890807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16</a:t>
            </a:fld>
            <a:endParaRPr lang="en-US"/>
          </a:p>
        </p:txBody>
      </p:sp>
    </p:spTree>
    <p:extLst>
      <p:ext uri="{BB962C8B-B14F-4D97-AF65-F5344CB8AC3E}">
        <p14:creationId xmlns:p14="http://schemas.microsoft.com/office/powerpoint/2010/main" val="11602322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17</a:t>
            </a:fld>
            <a:endParaRPr lang="en-US"/>
          </a:p>
        </p:txBody>
      </p:sp>
    </p:spTree>
    <p:extLst>
      <p:ext uri="{BB962C8B-B14F-4D97-AF65-F5344CB8AC3E}">
        <p14:creationId xmlns:p14="http://schemas.microsoft.com/office/powerpoint/2010/main" val="14070517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18</a:t>
            </a:fld>
            <a:endParaRPr lang="en-US"/>
          </a:p>
        </p:txBody>
      </p:sp>
    </p:spTree>
    <p:extLst>
      <p:ext uri="{BB962C8B-B14F-4D97-AF65-F5344CB8AC3E}">
        <p14:creationId xmlns:p14="http://schemas.microsoft.com/office/powerpoint/2010/main" val="3319036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19</a:t>
            </a:fld>
            <a:endParaRPr lang="en-US"/>
          </a:p>
        </p:txBody>
      </p:sp>
    </p:spTree>
    <p:extLst>
      <p:ext uri="{BB962C8B-B14F-4D97-AF65-F5344CB8AC3E}">
        <p14:creationId xmlns:p14="http://schemas.microsoft.com/office/powerpoint/2010/main" val="1910934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20</a:t>
            </a:fld>
            <a:endParaRPr lang="en-US"/>
          </a:p>
        </p:txBody>
      </p:sp>
    </p:spTree>
    <p:extLst>
      <p:ext uri="{BB962C8B-B14F-4D97-AF65-F5344CB8AC3E}">
        <p14:creationId xmlns:p14="http://schemas.microsoft.com/office/powerpoint/2010/main" val="30973525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21</a:t>
            </a:fld>
            <a:endParaRPr lang="en-US"/>
          </a:p>
        </p:txBody>
      </p:sp>
    </p:spTree>
    <p:extLst>
      <p:ext uri="{BB962C8B-B14F-4D97-AF65-F5344CB8AC3E}">
        <p14:creationId xmlns:p14="http://schemas.microsoft.com/office/powerpoint/2010/main" val="120996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22</a:t>
            </a:fld>
            <a:endParaRPr lang="en-US"/>
          </a:p>
        </p:txBody>
      </p:sp>
    </p:spTree>
    <p:extLst>
      <p:ext uri="{BB962C8B-B14F-4D97-AF65-F5344CB8AC3E}">
        <p14:creationId xmlns:p14="http://schemas.microsoft.com/office/powerpoint/2010/main" val="2207077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23</a:t>
            </a:fld>
            <a:endParaRPr lang="en-US"/>
          </a:p>
        </p:txBody>
      </p:sp>
    </p:spTree>
    <p:extLst>
      <p:ext uri="{BB962C8B-B14F-4D97-AF65-F5344CB8AC3E}">
        <p14:creationId xmlns:p14="http://schemas.microsoft.com/office/powerpoint/2010/main" val="33790545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24</a:t>
            </a:fld>
            <a:endParaRPr lang="en-US"/>
          </a:p>
        </p:txBody>
      </p:sp>
    </p:spTree>
    <p:extLst>
      <p:ext uri="{BB962C8B-B14F-4D97-AF65-F5344CB8AC3E}">
        <p14:creationId xmlns:p14="http://schemas.microsoft.com/office/powerpoint/2010/main" val="7124598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25</a:t>
            </a:fld>
            <a:endParaRPr lang="en-US"/>
          </a:p>
        </p:txBody>
      </p:sp>
    </p:spTree>
    <p:extLst>
      <p:ext uri="{BB962C8B-B14F-4D97-AF65-F5344CB8AC3E}">
        <p14:creationId xmlns:p14="http://schemas.microsoft.com/office/powerpoint/2010/main" val="11841048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26</a:t>
            </a:fld>
            <a:endParaRPr lang="en-US"/>
          </a:p>
        </p:txBody>
      </p:sp>
    </p:spTree>
    <p:extLst>
      <p:ext uri="{BB962C8B-B14F-4D97-AF65-F5344CB8AC3E}">
        <p14:creationId xmlns:p14="http://schemas.microsoft.com/office/powerpoint/2010/main" val="11383871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27</a:t>
            </a:fld>
            <a:endParaRPr lang="en-US"/>
          </a:p>
        </p:txBody>
      </p:sp>
    </p:spTree>
    <p:extLst>
      <p:ext uri="{BB962C8B-B14F-4D97-AF65-F5344CB8AC3E}">
        <p14:creationId xmlns:p14="http://schemas.microsoft.com/office/powerpoint/2010/main" val="9231412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28</a:t>
            </a:fld>
            <a:endParaRPr lang="en-US"/>
          </a:p>
        </p:txBody>
      </p:sp>
    </p:spTree>
    <p:extLst>
      <p:ext uri="{BB962C8B-B14F-4D97-AF65-F5344CB8AC3E}">
        <p14:creationId xmlns:p14="http://schemas.microsoft.com/office/powerpoint/2010/main" val="12078117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29</a:t>
            </a:fld>
            <a:endParaRPr lang="en-US"/>
          </a:p>
        </p:txBody>
      </p:sp>
    </p:spTree>
    <p:extLst>
      <p:ext uri="{BB962C8B-B14F-4D97-AF65-F5344CB8AC3E}">
        <p14:creationId xmlns:p14="http://schemas.microsoft.com/office/powerpoint/2010/main" val="22967501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30</a:t>
            </a:fld>
            <a:endParaRPr lang="en-US"/>
          </a:p>
        </p:txBody>
      </p:sp>
    </p:spTree>
    <p:extLst>
      <p:ext uri="{BB962C8B-B14F-4D97-AF65-F5344CB8AC3E}">
        <p14:creationId xmlns:p14="http://schemas.microsoft.com/office/powerpoint/2010/main" val="39111948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31</a:t>
            </a:fld>
            <a:endParaRPr lang="en-US"/>
          </a:p>
        </p:txBody>
      </p:sp>
    </p:spTree>
    <p:extLst>
      <p:ext uri="{BB962C8B-B14F-4D97-AF65-F5344CB8AC3E}">
        <p14:creationId xmlns:p14="http://schemas.microsoft.com/office/powerpoint/2010/main" val="5787388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32</a:t>
            </a:fld>
            <a:endParaRPr lang="en-US"/>
          </a:p>
        </p:txBody>
      </p:sp>
    </p:spTree>
    <p:extLst>
      <p:ext uri="{BB962C8B-B14F-4D97-AF65-F5344CB8AC3E}">
        <p14:creationId xmlns:p14="http://schemas.microsoft.com/office/powerpoint/2010/main" val="24753042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33</a:t>
            </a:fld>
            <a:endParaRPr lang="en-US"/>
          </a:p>
        </p:txBody>
      </p:sp>
    </p:spTree>
    <p:extLst>
      <p:ext uri="{BB962C8B-B14F-4D97-AF65-F5344CB8AC3E}">
        <p14:creationId xmlns:p14="http://schemas.microsoft.com/office/powerpoint/2010/main" val="20404982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34</a:t>
            </a:fld>
            <a:endParaRPr lang="en-US"/>
          </a:p>
        </p:txBody>
      </p:sp>
    </p:spTree>
    <p:extLst>
      <p:ext uri="{BB962C8B-B14F-4D97-AF65-F5344CB8AC3E}">
        <p14:creationId xmlns:p14="http://schemas.microsoft.com/office/powerpoint/2010/main" val="17822437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35</a:t>
            </a:fld>
            <a:endParaRPr lang="en-US"/>
          </a:p>
        </p:txBody>
      </p:sp>
    </p:spTree>
    <p:extLst>
      <p:ext uri="{BB962C8B-B14F-4D97-AF65-F5344CB8AC3E}">
        <p14:creationId xmlns:p14="http://schemas.microsoft.com/office/powerpoint/2010/main" val="9203356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36</a:t>
            </a:fld>
            <a:endParaRPr lang="en-US"/>
          </a:p>
        </p:txBody>
      </p:sp>
    </p:spTree>
    <p:extLst>
      <p:ext uri="{BB962C8B-B14F-4D97-AF65-F5344CB8AC3E}">
        <p14:creationId xmlns:p14="http://schemas.microsoft.com/office/powerpoint/2010/main" val="8390096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71774-F649-A71F-7217-8EBC74D2C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9D05A9-AFDA-65D6-B6A2-76C25F1C9B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1351270-E8DA-9432-1810-5C5E1D9E26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9E9920-458B-D206-F6C6-D33E64078B4D}"/>
              </a:ext>
            </a:extLst>
          </p:cNvPr>
          <p:cNvSpPr>
            <a:spLocks noGrp="1"/>
          </p:cNvSpPr>
          <p:nvPr>
            <p:ph type="sldNum" sz="quarter" idx="5"/>
          </p:nvPr>
        </p:nvSpPr>
        <p:spPr/>
        <p:txBody>
          <a:bodyPr/>
          <a:lstStyle/>
          <a:p>
            <a:fld id="{EBD44F71-6118-B748-B13C-DADC29A6B82F}" type="slidenum">
              <a:rPr lang="en-US" smtClean="0"/>
              <a:t>41</a:t>
            </a:fld>
            <a:endParaRPr lang="en-US"/>
          </a:p>
        </p:txBody>
      </p:sp>
    </p:spTree>
    <p:extLst>
      <p:ext uri="{BB962C8B-B14F-4D97-AF65-F5344CB8AC3E}">
        <p14:creationId xmlns:p14="http://schemas.microsoft.com/office/powerpoint/2010/main" val="15190500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EBD44F71-6118-B748-B13C-DADC29A6B82F}" type="slidenum">
              <a:rPr lang="en-US" smtClean="0"/>
              <a:t>46</a:t>
            </a:fld>
            <a:endParaRPr lang="en-US"/>
          </a:p>
        </p:txBody>
      </p:sp>
    </p:spTree>
    <p:extLst>
      <p:ext uri="{BB962C8B-B14F-4D97-AF65-F5344CB8AC3E}">
        <p14:creationId xmlns:p14="http://schemas.microsoft.com/office/powerpoint/2010/main" val="30543403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D44F71-6118-B748-B13C-DADC29A6B82F}" type="slidenum">
              <a:rPr lang="en-US" smtClean="0"/>
              <a:t>49</a:t>
            </a:fld>
            <a:endParaRPr lang="en-US"/>
          </a:p>
        </p:txBody>
      </p:sp>
    </p:spTree>
    <p:extLst>
      <p:ext uri="{BB962C8B-B14F-4D97-AF65-F5344CB8AC3E}">
        <p14:creationId xmlns:p14="http://schemas.microsoft.com/office/powerpoint/2010/main" val="25673808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D44F71-6118-B748-B13C-DADC29A6B82F}" type="slidenum">
              <a:rPr lang="en-US" smtClean="0"/>
              <a:t>50</a:t>
            </a:fld>
            <a:endParaRPr lang="en-US"/>
          </a:p>
        </p:txBody>
      </p:sp>
    </p:spTree>
    <p:extLst>
      <p:ext uri="{BB962C8B-B14F-4D97-AF65-F5344CB8AC3E}">
        <p14:creationId xmlns:p14="http://schemas.microsoft.com/office/powerpoint/2010/main" val="37644315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99AD0-E6BF-CF04-FDE4-18EBB4D68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DBC43-F37F-0AB1-AF78-96949D71CB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352F5E-A59C-695A-AF3B-5CA0B59231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98B79E-90EC-68F9-6C1C-D7D2A444D935}"/>
              </a:ext>
            </a:extLst>
          </p:cNvPr>
          <p:cNvSpPr>
            <a:spLocks noGrp="1"/>
          </p:cNvSpPr>
          <p:nvPr>
            <p:ph type="sldNum" sz="quarter" idx="5"/>
          </p:nvPr>
        </p:nvSpPr>
        <p:spPr/>
        <p:txBody>
          <a:bodyPr/>
          <a:lstStyle/>
          <a:p>
            <a:fld id="{EBD44F71-6118-B748-B13C-DADC29A6B82F}" type="slidenum">
              <a:rPr lang="en-US" smtClean="0"/>
              <a:t>52</a:t>
            </a:fld>
            <a:endParaRPr lang="en-US"/>
          </a:p>
        </p:txBody>
      </p:sp>
    </p:spTree>
    <p:extLst>
      <p:ext uri="{BB962C8B-B14F-4D97-AF65-F5344CB8AC3E}">
        <p14:creationId xmlns:p14="http://schemas.microsoft.com/office/powerpoint/2010/main" val="35836508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41B37-14A5-452E-BEA0-B33750854B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B59A97-A6DF-86F0-F4FA-6FB8D4292C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B95E61-87DF-BB3A-2AE5-AC7FFC2BDA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57374B-7F07-686A-B8CE-896DA5B68EA6}"/>
              </a:ext>
            </a:extLst>
          </p:cNvPr>
          <p:cNvSpPr>
            <a:spLocks noGrp="1"/>
          </p:cNvSpPr>
          <p:nvPr>
            <p:ph type="sldNum" sz="quarter" idx="5"/>
          </p:nvPr>
        </p:nvSpPr>
        <p:spPr/>
        <p:txBody>
          <a:bodyPr/>
          <a:lstStyle/>
          <a:p>
            <a:fld id="{EBD44F71-6118-B748-B13C-DADC29A6B82F}" type="slidenum">
              <a:rPr lang="en-US" smtClean="0"/>
              <a:t>53</a:t>
            </a:fld>
            <a:endParaRPr lang="en-US"/>
          </a:p>
        </p:txBody>
      </p:sp>
    </p:spTree>
    <p:extLst>
      <p:ext uri="{BB962C8B-B14F-4D97-AF65-F5344CB8AC3E}">
        <p14:creationId xmlns:p14="http://schemas.microsoft.com/office/powerpoint/2010/main" val="29017260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7215B-C1A5-2BEC-E1A5-1EBE88935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3B9698-FC60-DFE6-F168-5E7EC0CDBCD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6691D6D-DECC-782F-92AF-17664D56C7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9340A7-2F51-303E-D288-A0CF93896A2F}"/>
              </a:ext>
            </a:extLst>
          </p:cNvPr>
          <p:cNvSpPr>
            <a:spLocks noGrp="1"/>
          </p:cNvSpPr>
          <p:nvPr>
            <p:ph type="sldNum" sz="quarter" idx="5"/>
          </p:nvPr>
        </p:nvSpPr>
        <p:spPr/>
        <p:txBody>
          <a:bodyPr/>
          <a:lstStyle/>
          <a:p>
            <a:fld id="{EBD44F71-6118-B748-B13C-DADC29A6B82F}" type="slidenum">
              <a:rPr lang="en-US" smtClean="0"/>
              <a:t>54</a:t>
            </a:fld>
            <a:endParaRPr lang="en-US"/>
          </a:p>
        </p:txBody>
      </p:sp>
    </p:spTree>
    <p:extLst>
      <p:ext uri="{BB962C8B-B14F-4D97-AF65-F5344CB8AC3E}">
        <p14:creationId xmlns:p14="http://schemas.microsoft.com/office/powerpoint/2010/main" val="9259368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BBE15-B8C6-D5CD-11BE-AA2D2C1943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B1544-A596-7211-B319-30380BC003F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E0BE84-9CDC-AD69-D1F0-376479DB36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D39602-143E-BDD8-9D74-E4EE1A17707F}"/>
              </a:ext>
            </a:extLst>
          </p:cNvPr>
          <p:cNvSpPr>
            <a:spLocks noGrp="1"/>
          </p:cNvSpPr>
          <p:nvPr>
            <p:ph type="sldNum" sz="quarter" idx="5"/>
          </p:nvPr>
        </p:nvSpPr>
        <p:spPr/>
        <p:txBody>
          <a:bodyPr/>
          <a:lstStyle/>
          <a:p>
            <a:fld id="{EBD44F71-6118-B748-B13C-DADC29A6B82F}" type="slidenum">
              <a:rPr lang="en-US" smtClean="0"/>
              <a:t>55</a:t>
            </a:fld>
            <a:endParaRPr lang="en-US"/>
          </a:p>
        </p:txBody>
      </p:sp>
    </p:spTree>
    <p:extLst>
      <p:ext uri="{BB962C8B-B14F-4D97-AF65-F5344CB8AC3E}">
        <p14:creationId xmlns:p14="http://schemas.microsoft.com/office/powerpoint/2010/main" val="35914751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DA105-94F9-57F4-63E3-72748420E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FB115-1AF3-DD01-7034-975409D738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8DC6A26-5142-305D-A4F3-A343D2BE8D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D468C9-F913-725D-E7D1-344F18B6F0DF}"/>
              </a:ext>
            </a:extLst>
          </p:cNvPr>
          <p:cNvSpPr>
            <a:spLocks noGrp="1"/>
          </p:cNvSpPr>
          <p:nvPr>
            <p:ph type="sldNum" sz="quarter" idx="5"/>
          </p:nvPr>
        </p:nvSpPr>
        <p:spPr/>
        <p:txBody>
          <a:bodyPr/>
          <a:lstStyle/>
          <a:p>
            <a:fld id="{EBD44F71-6118-B748-B13C-DADC29A6B82F}" type="slidenum">
              <a:rPr lang="en-US" smtClean="0"/>
              <a:t>56</a:t>
            </a:fld>
            <a:endParaRPr lang="en-US"/>
          </a:p>
        </p:txBody>
      </p:sp>
    </p:spTree>
    <p:extLst>
      <p:ext uri="{BB962C8B-B14F-4D97-AF65-F5344CB8AC3E}">
        <p14:creationId xmlns:p14="http://schemas.microsoft.com/office/powerpoint/2010/main" val="23792375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A2496-CDC7-9B4A-108B-B5A195F90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C8514-93A2-3A83-9971-87B2D2F53F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3BB3894-AE00-08CD-C71F-C72FC84227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DB5C8C-5A79-EC75-EB43-54DB8361335A}"/>
              </a:ext>
            </a:extLst>
          </p:cNvPr>
          <p:cNvSpPr>
            <a:spLocks noGrp="1"/>
          </p:cNvSpPr>
          <p:nvPr>
            <p:ph type="sldNum" sz="quarter" idx="5"/>
          </p:nvPr>
        </p:nvSpPr>
        <p:spPr/>
        <p:txBody>
          <a:bodyPr/>
          <a:lstStyle/>
          <a:p>
            <a:fld id="{EBD44F71-6118-B748-B13C-DADC29A6B82F}" type="slidenum">
              <a:rPr lang="en-US" smtClean="0"/>
              <a:t>57</a:t>
            </a:fld>
            <a:endParaRPr lang="en-US"/>
          </a:p>
        </p:txBody>
      </p:sp>
    </p:spTree>
    <p:extLst>
      <p:ext uri="{BB962C8B-B14F-4D97-AF65-F5344CB8AC3E}">
        <p14:creationId xmlns:p14="http://schemas.microsoft.com/office/powerpoint/2010/main" val="12882382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83C1C-C667-0A56-D8DF-569DEC86D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0734C-365E-E977-8AA3-F281D1AA7B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CA8644-87F0-6EAA-D712-55D4DF0C2A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8319C6-F730-9C7A-1E97-5C7EE8389D9D}"/>
              </a:ext>
            </a:extLst>
          </p:cNvPr>
          <p:cNvSpPr>
            <a:spLocks noGrp="1"/>
          </p:cNvSpPr>
          <p:nvPr>
            <p:ph type="sldNum" sz="quarter" idx="5"/>
          </p:nvPr>
        </p:nvSpPr>
        <p:spPr/>
        <p:txBody>
          <a:bodyPr/>
          <a:lstStyle/>
          <a:p>
            <a:fld id="{EBD44F71-6118-B748-B13C-DADC29A6B82F}" type="slidenum">
              <a:rPr lang="en-US" smtClean="0"/>
              <a:t>58</a:t>
            </a:fld>
            <a:endParaRPr lang="en-US"/>
          </a:p>
        </p:txBody>
      </p:sp>
    </p:spTree>
    <p:extLst>
      <p:ext uri="{BB962C8B-B14F-4D97-AF65-F5344CB8AC3E}">
        <p14:creationId xmlns:p14="http://schemas.microsoft.com/office/powerpoint/2010/main" val="38853798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C27BA-895A-AD86-95AD-6DEE88444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EF4DC-6315-BCA8-52F2-D503113D02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99270D-84A0-159A-7A9E-2C46900D0C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8B4268-8A3E-8A9A-5A05-9AFF650CA767}"/>
              </a:ext>
            </a:extLst>
          </p:cNvPr>
          <p:cNvSpPr>
            <a:spLocks noGrp="1"/>
          </p:cNvSpPr>
          <p:nvPr>
            <p:ph type="sldNum" sz="quarter" idx="5"/>
          </p:nvPr>
        </p:nvSpPr>
        <p:spPr/>
        <p:txBody>
          <a:bodyPr/>
          <a:lstStyle/>
          <a:p>
            <a:fld id="{EBD44F71-6118-B748-B13C-DADC29A6B82F}" type="slidenum">
              <a:rPr lang="en-US" smtClean="0"/>
              <a:t>59</a:t>
            </a:fld>
            <a:endParaRPr lang="en-US"/>
          </a:p>
        </p:txBody>
      </p:sp>
    </p:spTree>
    <p:extLst>
      <p:ext uri="{BB962C8B-B14F-4D97-AF65-F5344CB8AC3E}">
        <p14:creationId xmlns:p14="http://schemas.microsoft.com/office/powerpoint/2010/main" val="3289361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1575D-5F06-9E5B-52B5-45DB4F715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1EA47-7B97-812B-5767-3D327B1966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F1AC87-FF37-2F6E-4F08-8717F1A69E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EB7EA8-320D-7C32-5F54-A5F5459F884A}"/>
              </a:ext>
            </a:extLst>
          </p:cNvPr>
          <p:cNvSpPr>
            <a:spLocks noGrp="1"/>
          </p:cNvSpPr>
          <p:nvPr>
            <p:ph type="sldNum" sz="quarter" idx="5"/>
          </p:nvPr>
        </p:nvSpPr>
        <p:spPr/>
        <p:txBody>
          <a:bodyPr/>
          <a:lstStyle/>
          <a:p>
            <a:fld id="{EBD44F71-6118-B748-B13C-DADC29A6B82F}" type="slidenum">
              <a:rPr lang="en-US" smtClean="0"/>
              <a:t>60</a:t>
            </a:fld>
            <a:endParaRPr lang="en-US"/>
          </a:p>
        </p:txBody>
      </p:sp>
    </p:spTree>
    <p:extLst>
      <p:ext uri="{BB962C8B-B14F-4D97-AF65-F5344CB8AC3E}">
        <p14:creationId xmlns:p14="http://schemas.microsoft.com/office/powerpoint/2010/main" val="30220753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E9A49-0218-B065-7C93-2ECEB935A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E68B3D-CD92-1EE2-FA70-5048B62B20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D3397F-C3E7-6F31-46F0-A1E52870C6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0D1BA1-A408-A572-4AF6-4ED47D8D3F1B}"/>
              </a:ext>
            </a:extLst>
          </p:cNvPr>
          <p:cNvSpPr>
            <a:spLocks noGrp="1"/>
          </p:cNvSpPr>
          <p:nvPr>
            <p:ph type="sldNum" sz="quarter" idx="5"/>
          </p:nvPr>
        </p:nvSpPr>
        <p:spPr/>
        <p:txBody>
          <a:bodyPr/>
          <a:lstStyle/>
          <a:p>
            <a:fld id="{EBD44F71-6118-B748-B13C-DADC29A6B82F}" type="slidenum">
              <a:rPr lang="en-US" smtClean="0"/>
              <a:t>61</a:t>
            </a:fld>
            <a:endParaRPr lang="en-US"/>
          </a:p>
        </p:txBody>
      </p:sp>
    </p:spTree>
    <p:extLst>
      <p:ext uri="{BB962C8B-B14F-4D97-AF65-F5344CB8AC3E}">
        <p14:creationId xmlns:p14="http://schemas.microsoft.com/office/powerpoint/2010/main" val="18946140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D44F71-6118-B748-B13C-DADC29A6B82F}" type="slidenum">
              <a:rPr lang="en-US" smtClean="0"/>
              <a:t>62</a:t>
            </a:fld>
            <a:endParaRPr lang="en-US"/>
          </a:p>
        </p:txBody>
      </p:sp>
    </p:spTree>
    <p:extLst>
      <p:ext uri="{BB962C8B-B14F-4D97-AF65-F5344CB8AC3E}">
        <p14:creationId xmlns:p14="http://schemas.microsoft.com/office/powerpoint/2010/main" val="31463919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08EB-AF02-CF2A-40D2-28C6AC764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16AD5-9289-684D-BB21-46BB3D7109F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25297C-9EDC-2653-CC6A-34F16176D9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62CC40-1CA3-E982-031F-27BCCFC94988}"/>
              </a:ext>
            </a:extLst>
          </p:cNvPr>
          <p:cNvSpPr>
            <a:spLocks noGrp="1"/>
          </p:cNvSpPr>
          <p:nvPr>
            <p:ph type="sldNum" sz="quarter" idx="5"/>
          </p:nvPr>
        </p:nvSpPr>
        <p:spPr/>
        <p:txBody>
          <a:bodyPr/>
          <a:lstStyle/>
          <a:p>
            <a:fld id="{EBD44F71-6118-B748-B13C-DADC29A6B82F}" type="slidenum">
              <a:rPr lang="en-US" smtClean="0"/>
              <a:t>63</a:t>
            </a:fld>
            <a:endParaRPr lang="en-US"/>
          </a:p>
        </p:txBody>
      </p:sp>
    </p:spTree>
    <p:extLst>
      <p:ext uri="{BB962C8B-B14F-4D97-AF65-F5344CB8AC3E}">
        <p14:creationId xmlns:p14="http://schemas.microsoft.com/office/powerpoint/2010/main" val="225482517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D44F71-6118-B748-B13C-DADC29A6B82F}" type="slidenum">
              <a:rPr lang="en-US" smtClean="0"/>
              <a:t>64</a:t>
            </a:fld>
            <a:endParaRPr lang="en-US"/>
          </a:p>
        </p:txBody>
      </p:sp>
    </p:spTree>
    <p:extLst>
      <p:ext uri="{BB962C8B-B14F-4D97-AF65-F5344CB8AC3E}">
        <p14:creationId xmlns:p14="http://schemas.microsoft.com/office/powerpoint/2010/main" val="9895055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018B5-4704-22C4-0434-8B0768C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0C548-928C-C56B-118D-3C772B2F2C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035324-8191-2B04-4DD3-1A9D59BC25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C7FE4F-7C65-8D0F-6D6B-2EC3430471AA}"/>
              </a:ext>
            </a:extLst>
          </p:cNvPr>
          <p:cNvSpPr>
            <a:spLocks noGrp="1"/>
          </p:cNvSpPr>
          <p:nvPr>
            <p:ph type="sldNum" sz="quarter" idx="5"/>
          </p:nvPr>
        </p:nvSpPr>
        <p:spPr/>
        <p:txBody>
          <a:bodyPr/>
          <a:lstStyle/>
          <a:p>
            <a:fld id="{EBD44F71-6118-B748-B13C-DADC29A6B82F}" type="slidenum">
              <a:rPr lang="en-US" smtClean="0"/>
              <a:t>65</a:t>
            </a:fld>
            <a:endParaRPr lang="en-US"/>
          </a:p>
        </p:txBody>
      </p:sp>
    </p:spTree>
    <p:extLst>
      <p:ext uri="{BB962C8B-B14F-4D97-AF65-F5344CB8AC3E}">
        <p14:creationId xmlns:p14="http://schemas.microsoft.com/office/powerpoint/2010/main" val="161068371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In the exam they say ‘daily’ and ‘nightly’ not OM, ON, OD etc. </a:t>
            </a:r>
            <a:endParaRPr dirty="0"/>
          </a:p>
        </p:txBody>
      </p:sp>
      <p:sp>
        <p:nvSpPr>
          <p:cNvPr id="472" name="Google Shape;47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510" name="Google Shape;510;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5" name="Google Shape;555;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1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8" name="Google Shape;598;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Co-amoxiclav would also need stopping but question asks for three ‘additional drugs’ you should stop</a:t>
            </a:r>
            <a:endParaRPr dirty="0"/>
          </a:p>
        </p:txBody>
      </p:sp>
      <p:sp>
        <p:nvSpPr>
          <p:cNvPr id="661" name="Google Shape;661;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7" name="Google Shape;757;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GB" dirty="0"/>
              <a:t>The same drug can be the answer for both parts of the question</a:t>
            </a:r>
          </a:p>
          <a:p>
            <a:pPr marL="0" lvl="0" indent="0" algn="l" rtl="0">
              <a:lnSpc>
                <a:spcPct val="100000"/>
              </a:lnSpc>
              <a:spcBef>
                <a:spcPts val="0"/>
              </a:spcBef>
              <a:spcAft>
                <a:spcPts val="0"/>
              </a:spcAft>
              <a:buSzPts val="1400"/>
              <a:buNone/>
            </a:pPr>
            <a:r>
              <a:rPr lang="en-GB" dirty="0"/>
              <a:t>Unlikely to have to select three options as in Question B (usually only select one or two options)</a:t>
            </a:r>
            <a:endParaRPr dirty="0"/>
          </a:p>
        </p:txBody>
      </p:sp>
      <p:sp>
        <p:nvSpPr>
          <p:cNvPr id="836" name="Google Shape;836;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1" name="Google Shape;871;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2" name="Google Shape;13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3" name="Google Shape;21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334" name="Google Shape;334;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365" name="Google Shape;365;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0" name="Google Shape;400;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488" name="Google Shape;488;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5" name="Google Shape;515;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8" name="Google Shape;54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3" name="Google Shape;583;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1" name="Google Shape;641;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8" name="Google Shape;668;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5" name="Google Shape;695;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0" name="Google Shape;780;p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1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29" name="Google Shape;829;p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5E35AE4-7421-A546-8654-E0BA49262146}"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205648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E35AE4-7421-A546-8654-E0BA49262146}"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1192898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E35AE4-7421-A546-8654-E0BA49262146}"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958319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5E35AE4-7421-A546-8654-E0BA49262146}"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198845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5E35AE4-7421-A546-8654-E0BA49262146}" type="datetimeFigureOut">
              <a:rPr lang="en-US" smtClean="0"/>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3850356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5E35AE4-7421-A546-8654-E0BA49262146}" type="datetimeFigureOut">
              <a:rPr lang="en-US" smtClean="0"/>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829773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E35AE4-7421-A546-8654-E0BA49262146}" type="datetimeFigureOut">
              <a:rPr lang="en-US" smtClean="0"/>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921198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5E35AE4-7421-A546-8654-E0BA49262146}"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3485574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5E35AE4-7421-A546-8654-E0BA49262146}"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202271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E35AE4-7421-A546-8654-E0BA49262146}"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4151236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E35AE4-7421-A546-8654-E0BA49262146}"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94F5EE-5E82-214B-98B5-DB555BD2D0D1}" type="slidenum">
              <a:rPr lang="en-US" smtClean="0"/>
              <a:t>‹#›</a:t>
            </a:fld>
            <a:endParaRPr lang="en-US"/>
          </a:p>
        </p:txBody>
      </p:sp>
    </p:spTree>
    <p:extLst>
      <p:ext uri="{BB962C8B-B14F-4D97-AF65-F5344CB8AC3E}">
        <p14:creationId xmlns:p14="http://schemas.microsoft.com/office/powerpoint/2010/main" val="1025715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E35AE4-7421-A546-8654-E0BA49262146}" type="datetimeFigureOut">
              <a:rPr lang="en-US" smtClean="0"/>
              <a:t>3/21/2026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94F5EE-5E82-214B-98B5-DB555BD2D0D1}" type="slidenum">
              <a:rPr lang="en-US" smtClean="0"/>
              <a:t>‹#›</a:t>
            </a:fld>
            <a:endParaRPr lang="en-US"/>
          </a:p>
        </p:txBody>
      </p:sp>
    </p:spTree>
    <p:extLst>
      <p:ext uri="{BB962C8B-B14F-4D97-AF65-F5344CB8AC3E}">
        <p14:creationId xmlns:p14="http://schemas.microsoft.com/office/powerpoint/2010/main" val="32761337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hyperlink" Target="https://bnf.nice.org.uk/drugs/metronidazole/" TargetMode="External"/><Relationship Id="rId5" Type="http://schemas.openxmlformats.org/officeDocument/2006/relationships/image" Target="../media/image11.png"/><Relationship Id="rId4" Type="http://schemas.openxmlformats.org/officeDocument/2006/relationships/image" Target="../media/image10.png"/></Relationships>
</file>

<file path=ppt/slides/_rels/slide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hyperlink" Target="https://bnf.nice.org.uk/treatment-summaries/poisoning-emergency-treatment/" TargetMode="External"/><Relationship Id="rId4" Type="http://schemas.openxmlformats.org/officeDocument/2006/relationships/image" Target="../media/image10.png"/></Relationships>
</file>

<file path=ppt/slides/_rels/slide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7.xml"/><Relationship Id="rId1" Type="http://schemas.openxmlformats.org/officeDocument/2006/relationships/slideLayout" Target="../slideLayouts/slideLayout2.xml"/><Relationship Id="rId5" Type="http://schemas.openxmlformats.org/officeDocument/2006/relationships/hyperlink" Target="https://bnf.nice.org.uk/medicines-guidance/prescribing-in-palliative-care/" TargetMode="External"/><Relationship Id="rId4" Type="http://schemas.openxmlformats.org/officeDocument/2006/relationships/image" Target="../media/image10.png"/></Relationships>
</file>

<file path=ppt/slides/_rels/slide7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hyperlink" Target="https://bnf.nice.org.uk/drugs/aciclovir/"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0.png"/><Relationship Id="rId4" Type="http://schemas.openxmlformats.org/officeDocument/2006/relationships/image" Target="../media/image8.png"/></Relationships>
</file>

<file path=ppt/slides/_rels/slide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hyperlink" Target="https://bnf.nice.org.uk/drugs/clozapine/" TargetMode="External"/><Relationship Id="rId5" Type="http://schemas.openxmlformats.org/officeDocument/2006/relationships/image" Target="../media/image14.png"/><Relationship Id="rId4" Type="http://schemas.openxmlformats.org/officeDocument/2006/relationships/image" Target="../media/image10.png"/></Relationships>
</file>

<file path=ppt/slides/_rels/slide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hyperlink" Target="https://bnf.nice.org.uk/drugs/warfarin-sodium/" TargetMode="External"/><Relationship Id="rId5" Type="http://schemas.openxmlformats.org/officeDocument/2006/relationships/image" Target="../media/image15.png"/><Relationship Id="rId4" Type="http://schemas.openxmlformats.org/officeDocument/2006/relationships/image" Target="../media/image10.png"/></Relationships>
</file>

<file path=ppt/slides/_rels/slide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hyperlink" Target="https://bnf.nice.org.uk/drugs/isotretinoin/" TargetMode="External"/><Relationship Id="rId4" Type="http://schemas.openxmlformats.org/officeDocument/2006/relationships/image" Target="../media/image10.png"/></Relationships>
</file>

<file path=ppt/slides/_rels/slide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hyperlink" Target="https://bnf.nice.org.uk/drugs/naloxone-hydrochloride/" TargetMode="External"/><Relationship Id="rId5" Type="http://schemas.openxmlformats.org/officeDocument/2006/relationships/hyperlink" Target="https://bnf.nice.org.uk/treatment-summaries/poisoning-emergency-treatment/" TargetMode="External"/><Relationship Id="rId4" Type="http://schemas.openxmlformats.org/officeDocument/2006/relationships/image" Target="../media/image10.png"/></Relationships>
</file>

<file path=ppt/slides/_rels/slide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hyperlink" Target="https://bnf.nice.org.uk/drugs/ciprofloxacin/" TargetMode="External"/><Relationship Id="rId4" Type="http://schemas.openxmlformats.org/officeDocument/2006/relationships/image" Target="../media/image10.png"/></Relationships>
</file>

<file path=ppt/slides/_rels/slide8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bnfc.nice.org.uk/drugs/procyclidine-hydrochloride/" TargetMode="External"/><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hyperlink" Target="https://bnfc.nice.org.uk/treatment-summaries/dystonias-and-related-disorders/" TargetMode="External"/><Relationship Id="rId5" Type="http://schemas.openxmlformats.org/officeDocument/2006/relationships/hyperlink" Target="https://bnfc.nice.org.uk/drugs/metoclopramide-hydrochloride" TargetMode="External"/><Relationship Id="rId4" Type="http://schemas.openxmlformats.org/officeDocument/2006/relationships/image" Target="../media/image10.png"/></Relationships>
</file>

<file path=ppt/slides/_rels/slide8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hyperlink" Target="https://bnfc.nice.org.uk/drugs/tamsulosin-hydrochloride/" TargetMode="External"/><Relationship Id="rId5" Type="http://schemas.openxmlformats.org/officeDocument/2006/relationships/image" Target="../media/image16.png"/><Relationship Id="rId4" Type="http://schemas.openxmlformats.org/officeDocument/2006/relationships/image" Target="../media/image10.png"/></Relationships>
</file>

<file path=ppt/slides/_rels/slide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hyperlink" Target="https://bnfc.nice.org.uk/drugs/fenofibrate/" TargetMode="External"/><Relationship Id="rId5" Type="http://schemas.openxmlformats.org/officeDocument/2006/relationships/image" Target="../media/image17.png"/><Relationship Id="rId4" Type="http://schemas.openxmlformats.org/officeDocument/2006/relationships/image" Target="../media/image10.png"/></Relationships>
</file>

<file path=ppt/slides/_rels/slide8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hyperlink" Target="https://bnfc.nice.org.uk/drugs/prednisolone/" TargetMode="External"/><Relationship Id="rId4" Type="http://schemas.openxmlformats.org/officeDocument/2006/relationships/image" Target="../media/image10.png"/></Relationships>
</file>

<file path=ppt/slides/_rels/slide8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hyperlink" Target="https://bnf.nice.org.uk/drugs/lithium-carbonate/" TargetMode="External"/><Relationship Id="rId4" Type="http://schemas.openxmlformats.org/officeDocument/2006/relationships/image" Target="../media/image10.png"/></Relationships>
</file>

<file path=ppt/slides/_rels/slide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hyperlink" Target="https://bnf.nice.org.uk/treatment-summaries/oral-anticoagulants/" TargetMode="External"/><Relationship Id="rId4" Type="http://schemas.openxmlformats.org/officeDocument/2006/relationships/image" Target="../media/image10.png"/></Relationships>
</file>

<file path=ppt/slides/_rels/slide9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bnf.nice.org.uk/drugs/co-amoxiclav/" TargetMode="External"/><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5" name="TextBox 24">
            <a:extLst>
              <a:ext uri="{FF2B5EF4-FFF2-40B4-BE49-F238E27FC236}">
                <a16:creationId xmlns:a16="http://schemas.microsoft.com/office/drawing/2014/main" id="{95E848D8-03EF-2A4F-9030-5728439ED187}"/>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72-year-old man is having a catheter change. He needs a stat dose of gentamicin 5mg/kg. Weight 75kg. </a:t>
            </a:r>
          </a:p>
          <a:p>
            <a:r>
              <a:rPr lang="en-US" dirty="0">
                <a:solidFill>
                  <a:srgbClr val="FF0000"/>
                </a:solidFill>
              </a:rPr>
              <a:t>Gentamicin is infused over 30 minutes.</a:t>
            </a:r>
          </a:p>
        </p:txBody>
      </p:sp>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2277547"/>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g</a:t>
            </a:r>
          </a:p>
          <a:p>
            <a:endParaRPr lang="en-US" dirty="0"/>
          </a:p>
          <a:p>
            <a:r>
              <a:rPr lang="en-US" dirty="0"/>
              <a:t>5mg/kg required</a:t>
            </a:r>
          </a:p>
          <a:p>
            <a:r>
              <a:rPr lang="en-US" dirty="0"/>
              <a:t>5mg x 75kg = 375mg</a:t>
            </a:r>
          </a:p>
          <a:p>
            <a:r>
              <a:rPr lang="en-US" dirty="0"/>
              <a:t>375mg/1000 = 0.375g</a:t>
            </a:r>
          </a:p>
          <a:p>
            <a:endParaRPr lang="en-US" dirty="0"/>
          </a:p>
          <a:p>
            <a:r>
              <a:rPr lang="en-US" dirty="0">
                <a:solidFill>
                  <a:srgbClr val="FF0000"/>
                </a:solidFill>
              </a:rPr>
              <a:t>*distractor</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0.375</a:t>
            </a:r>
          </a:p>
        </p:txBody>
      </p:sp>
      <p:sp>
        <p:nvSpPr>
          <p:cNvPr id="12" name="TextBox 11">
            <a:extLst>
              <a:ext uri="{FF2B5EF4-FFF2-40B4-BE49-F238E27FC236}">
                <a16:creationId xmlns:a16="http://schemas.microsoft.com/office/drawing/2014/main" id="{22243A4B-78B6-6D4C-BAB8-C61E99626A31}"/>
              </a:ext>
            </a:extLst>
          </p:cNvPr>
          <p:cNvSpPr txBox="1"/>
          <p:nvPr/>
        </p:nvSpPr>
        <p:spPr>
          <a:xfrm>
            <a:off x="185738" y="2298925"/>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dose (g) of gentamicin should be prescribed?</a:t>
            </a:r>
          </a:p>
          <a:p>
            <a:r>
              <a:rPr lang="en-US" i="1" dirty="0"/>
              <a:t>(write your answer in the box provided)</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Changing units</a:t>
            </a:r>
          </a:p>
        </p:txBody>
      </p:sp>
      <p:sp>
        <p:nvSpPr>
          <p:cNvPr id="17" name="TextBox 16">
            <a:extLst>
              <a:ext uri="{FF2B5EF4-FFF2-40B4-BE49-F238E27FC236}">
                <a16:creationId xmlns:a16="http://schemas.microsoft.com/office/drawing/2014/main" id="{2FFD0DEC-1780-DB44-B41B-50A7BD837F95}"/>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8" name="TextBox 17">
            <a:extLst>
              <a:ext uri="{FF2B5EF4-FFF2-40B4-BE49-F238E27FC236}">
                <a16:creationId xmlns:a16="http://schemas.microsoft.com/office/drawing/2014/main" id="{62D36FB8-3945-8343-A659-7C3D93694610}"/>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2" name="TextBox 1">
            <a:extLst>
              <a:ext uri="{FF2B5EF4-FFF2-40B4-BE49-F238E27FC236}">
                <a16:creationId xmlns:a16="http://schemas.microsoft.com/office/drawing/2014/main" id="{D9773EF4-4312-B127-37AF-938EA248B6C9}"/>
              </a:ext>
            </a:extLst>
          </p:cNvPr>
          <p:cNvSpPr txBox="1"/>
          <p:nvPr/>
        </p:nvSpPr>
        <p:spPr>
          <a:xfrm>
            <a:off x="185738" y="5948964"/>
            <a:ext cx="3586162" cy="830997"/>
          </a:xfrm>
          <a:prstGeom prst="rect">
            <a:avLst/>
          </a:prstGeom>
          <a:noFill/>
        </p:spPr>
        <p:txBody>
          <a:bodyPr wrap="square" rtlCol="0">
            <a:spAutoFit/>
          </a:bodyPr>
          <a:lstStyle/>
          <a:p>
            <a:r>
              <a:rPr lang="en-US" sz="4800" dirty="0"/>
              <a:t>EXAMPLE 1</a:t>
            </a:r>
          </a:p>
        </p:txBody>
      </p:sp>
    </p:spTree>
    <p:extLst>
      <p:ext uri="{BB962C8B-B14F-4D97-AF65-F5344CB8AC3E}">
        <p14:creationId xmlns:p14="http://schemas.microsoft.com/office/powerpoint/2010/main" val="1115380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2000548"/>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g</a:t>
            </a:r>
          </a:p>
          <a:p>
            <a:endParaRPr lang="en-US" dirty="0"/>
          </a:p>
          <a:p>
            <a:r>
              <a:rPr lang="en-US" dirty="0"/>
              <a:t>30mg/kg required</a:t>
            </a:r>
          </a:p>
          <a:p>
            <a:r>
              <a:rPr lang="en-US" dirty="0"/>
              <a:t>30mg x 5.1kg = 153mg</a:t>
            </a:r>
          </a:p>
          <a:p>
            <a:r>
              <a:rPr lang="en-US" dirty="0"/>
              <a:t>BUT maximum dose 125mg</a:t>
            </a:r>
          </a:p>
          <a:p>
            <a:r>
              <a:rPr lang="en-US" dirty="0"/>
              <a:t>125mg/1000 = 0.125g</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0.125</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Maximal dose</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071561" cy="830997"/>
          </a:xfrm>
          <a:prstGeom prst="rect">
            <a:avLst/>
          </a:prstGeom>
          <a:noFill/>
        </p:spPr>
        <p:txBody>
          <a:bodyPr wrap="square" rtlCol="0">
            <a:spAutoFit/>
          </a:bodyPr>
          <a:lstStyle/>
          <a:p>
            <a:r>
              <a:rPr lang="en-US" sz="4800" dirty="0"/>
              <a:t>A1</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27-day-old baby boy is brought to his GP with sinusitis. He requires treatment with co-amoxiclav 30mg/kg (</a:t>
            </a:r>
            <a:r>
              <a:rPr lang="en-US" dirty="0">
                <a:solidFill>
                  <a:srgbClr val="FF0000"/>
                </a:solidFill>
              </a:rPr>
              <a:t>maximum dose 125mg</a:t>
            </a:r>
            <a:r>
              <a:rPr lang="en-US" dirty="0"/>
              <a:t>). Weight 5.1kg. </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298925"/>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dose (g) of co-amoxiclav should be prescribed?</a:t>
            </a:r>
          </a:p>
          <a:p>
            <a:r>
              <a:rPr lang="en-US" i="1" dirty="0"/>
              <a:t>(write your answer in the box provided)</a:t>
            </a:r>
          </a:p>
        </p:txBody>
      </p:sp>
      <p:sp>
        <p:nvSpPr>
          <p:cNvPr id="21" name="TextBox 20">
            <a:extLst>
              <a:ext uri="{FF2B5EF4-FFF2-40B4-BE49-F238E27FC236}">
                <a16:creationId xmlns:a16="http://schemas.microsoft.com/office/drawing/2014/main" id="{9476043A-4E7A-3148-B20B-572021371B91}"/>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2" name="TextBox 21">
            <a:extLst>
              <a:ext uri="{FF2B5EF4-FFF2-40B4-BE49-F238E27FC236}">
                <a16:creationId xmlns:a16="http://schemas.microsoft.com/office/drawing/2014/main" id="{7923E638-7F33-9B4C-87E7-ACB94FB243A3}"/>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126994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1723549"/>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mg</a:t>
            </a:r>
          </a:p>
          <a:p>
            <a:endParaRPr lang="en-US" dirty="0"/>
          </a:p>
          <a:p>
            <a:r>
              <a:rPr lang="en-US" dirty="0"/>
              <a:t>30mg/kg required</a:t>
            </a:r>
          </a:p>
          <a:p>
            <a:r>
              <a:rPr lang="en-US" dirty="0"/>
              <a:t>30mg x 32kg = 960mg</a:t>
            </a:r>
          </a:p>
          <a:p>
            <a:r>
              <a:rPr lang="en-US" dirty="0"/>
              <a:t>960mg/4 = 240mg per dose</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240</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090611" cy="830997"/>
          </a:xfrm>
          <a:prstGeom prst="rect">
            <a:avLst/>
          </a:prstGeom>
          <a:noFill/>
        </p:spPr>
        <p:txBody>
          <a:bodyPr wrap="square" rtlCol="0">
            <a:spAutoFit/>
          </a:bodyPr>
          <a:lstStyle/>
          <a:p>
            <a:r>
              <a:rPr lang="en-US" sz="4800" dirty="0"/>
              <a:t>A2</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12-year-old boy with juvenile idiopathic osteoarthritis requires treatment with ibuprofen at a dose of 30mg/kg in four divided doses. Weight 32kg.</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7" y="2298925"/>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dose (mg) of ibuprofen should be prescribed for each dose?</a:t>
            </a:r>
          </a:p>
          <a:p>
            <a:r>
              <a:rPr lang="en-US" i="1" dirty="0"/>
              <a:t>(write your answer in the box provided)</a:t>
            </a:r>
          </a:p>
        </p:txBody>
      </p:sp>
      <p:sp>
        <p:nvSpPr>
          <p:cNvPr id="19" name="TextBox 18">
            <a:extLst>
              <a:ext uri="{FF2B5EF4-FFF2-40B4-BE49-F238E27FC236}">
                <a16:creationId xmlns:a16="http://schemas.microsoft.com/office/drawing/2014/main" id="{8023DD41-1905-1644-97D5-FA1FEB303317}"/>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D51D6D35-7E0D-DB41-94D4-CBF188A23055}"/>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12" name="TextBox 11">
            <a:extLst>
              <a:ext uri="{FF2B5EF4-FFF2-40B4-BE49-F238E27FC236}">
                <a16:creationId xmlns:a16="http://schemas.microsoft.com/office/drawing/2014/main" id="{6BCAED8A-8708-6D46-8E76-D2C487F909C8}"/>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Divided doses</a:t>
            </a:r>
          </a:p>
        </p:txBody>
      </p:sp>
    </p:spTree>
    <p:extLst>
      <p:ext uri="{BB962C8B-B14F-4D97-AF65-F5344CB8AC3E}">
        <p14:creationId xmlns:p14="http://schemas.microsoft.com/office/powerpoint/2010/main" val="75073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5" name="TextBox 24">
            <a:extLst>
              <a:ext uri="{FF2B5EF4-FFF2-40B4-BE49-F238E27FC236}">
                <a16:creationId xmlns:a16="http://schemas.microsoft.com/office/drawing/2014/main" id="{95E848D8-03EF-2A4F-9030-5728439ED187}"/>
              </a:ext>
            </a:extLst>
          </p:cNvPr>
          <p:cNvSpPr txBox="1"/>
          <p:nvPr/>
        </p:nvSpPr>
        <p:spPr>
          <a:xfrm>
            <a:off x="185738" y="900112"/>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21-year-old woman attends a Dermatology Clinic for review. She has had ongoing scarring acne for the past 3 years. She requires treatment with isotretinoin at a dose of 500mcg/kg daily in two divided doses. Weight 60kg.</a:t>
            </a:r>
          </a:p>
        </p:txBody>
      </p:sp>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2277547"/>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g</a:t>
            </a:r>
          </a:p>
          <a:p>
            <a:endParaRPr lang="en-US" dirty="0"/>
          </a:p>
          <a:p>
            <a:r>
              <a:rPr lang="en-US" dirty="0"/>
              <a:t>500mcg/kg required</a:t>
            </a:r>
          </a:p>
          <a:p>
            <a:r>
              <a:rPr lang="en-US" dirty="0"/>
              <a:t>500mcg x 60kg = 30000mcg</a:t>
            </a:r>
          </a:p>
          <a:p>
            <a:r>
              <a:rPr lang="en-US" dirty="0"/>
              <a:t>29000mcg/1000 = 30mg</a:t>
            </a:r>
          </a:p>
          <a:p>
            <a:r>
              <a:rPr lang="en-US" dirty="0"/>
              <a:t>29mg/1000 = 0.03g</a:t>
            </a:r>
          </a:p>
          <a:p>
            <a:r>
              <a:rPr lang="en-US" dirty="0"/>
              <a:t>0.03g/2 = 0.015g per dose</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0.015</a:t>
            </a:r>
          </a:p>
        </p:txBody>
      </p:sp>
      <p:sp>
        <p:nvSpPr>
          <p:cNvPr id="11" name="TextBox 10">
            <a:extLst>
              <a:ext uri="{FF2B5EF4-FFF2-40B4-BE49-F238E27FC236}">
                <a16:creationId xmlns:a16="http://schemas.microsoft.com/office/drawing/2014/main" id="{5AC05287-7998-594B-BE69-AC0198F4DBA5}"/>
              </a:ext>
            </a:extLst>
          </p:cNvPr>
          <p:cNvSpPr txBox="1"/>
          <p:nvPr/>
        </p:nvSpPr>
        <p:spPr>
          <a:xfrm>
            <a:off x="185738" y="257592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dose (g) of isotretinoin should be prescribed for each dose?</a:t>
            </a:r>
          </a:p>
          <a:p>
            <a:r>
              <a:rPr lang="en-US" i="1" dirty="0"/>
              <a:t>(write your answer in the box provided)</a:t>
            </a:r>
          </a:p>
        </p:txBody>
      </p:sp>
      <p:sp>
        <p:nvSpPr>
          <p:cNvPr id="16" name="TextBox 15">
            <a:extLst>
              <a:ext uri="{FF2B5EF4-FFF2-40B4-BE49-F238E27FC236}">
                <a16:creationId xmlns:a16="http://schemas.microsoft.com/office/drawing/2014/main" id="{CF1A0284-AB1D-7148-A7E2-CF59F338CB76}"/>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7" name="TextBox 16">
            <a:extLst>
              <a:ext uri="{FF2B5EF4-FFF2-40B4-BE49-F238E27FC236}">
                <a16:creationId xmlns:a16="http://schemas.microsoft.com/office/drawing/2014/main" id="{9EB1CB93-50C9-2042-B032-A2A5C8411EF2}"/>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8" name="TextBox 17">
            <a:extLst>
              <a:ext uri="{FF2B5EF4-FFF2-40B4-BE49-F238E27FC236}">
                <a16:creationId xmlns:a16="http://schemas.microsoft.com/office/drawing/2014/main" id="{62848264-CFA8-2D47-AD5E-4B5E5319F917}"/>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12" name="TextBox 11">
            <a:extLst>
              <a:ext uri="{FF2B5EF4-FFF2-40B4-BE49-F238E27FC236}">
                <a16:creationId xmlns:a16="http://schemas.microsoft.com/office/drawing/2014/main" id="{93E00A63-F7A0-8048-9351-7B38428152C1}"/>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Divided doses</a:t>
            </a:r>
          </a:p>
        </p:txBody>
      </p:sp>
    </p:spTree>
    <p:extLst>
      <p:ext uri="{BB962C8B-B14F-4D97-AF65-F5344CB8AC3E}">
        <p14:creationId xmlns:p14="http://schemas.microsoft.com/office/powerpoint/2010/main" val="3224094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5324535"/>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highlight>
                  <a:srgbClr val="FFFF00"/>
                </a:highlight>
              </a:rPr>
              <a:t>volume = dose/concentration</a:t>
            </a:r>
          </a:p>
          <a:p>
            <a:endParaRPr lang="en-US" dirty="0"/>
          </a:p>
          <a:p>
            <a:r>
              <a:rPr lang="en-US" dirty="0"/>
              <a:t>0.5mg/kg required</a:t>
            </a:r>
          </a:p>
          <a:p>
            <a:r>
              <a:rPr lang="en-US" dirty="0"/>
              <a:t>0.5mg x 18kg = </a:t>
            </a:r>
            <a:r>
              <a:rPr lang="en-US" b="1" dirty="0"/>
              <a:t>9mg</a:t>
            </a:r>
            <a:r>
              <a:rPr lang="en-US" dirty="0"/>
              <a:t> = </a:t>
            </a:r>
            <a:r>
              <a:rPr lang="en-US" dirty="0">
                <a:highlight>
                  <a:srgbClr val="FFFF00"/>
                </a:highlight>
              </a:rPr>
              <a:t>dose</a:t>
            </a:r>
          </a:p>
          <a:p>
            <a:endParaRPr lang="en-US" dirty="0"/>
          </a:p>
          <a:p>
            <a:r>
              <a:rPr lang="en-US" b="1" dirty="0"/>
              <a:t>50mg/1ml </a:t>
            </a:r>
            <a:r>
              <a:rPr lang="en-US" dirty="0"/>
              <a:t>= </a:t>
            </a:r>
            <a:r>
              <a:rPr lang="en-US" dirty="0">
                <a:highlight>
                  <a:srgbClr val="FFFF00"/>
                </a:highlight>
              </a:rPr>
              <a:t>concentration</a:t>
            </a:r>
          </a:p>
          <a:p>
            <a:endParaRPr lang="en-US" dirty="0">
              <a:highlight>
                <a:srgbClr val="FFFF00"/>
              </a:highlight>
            </a:endParaRPr>
          </a:p>
          <a:p>
            <a:r>
              <a:rPr lang="en-US" dirty="0">
                <a:highlight>
                  <a:srgbClr val="FFFF00"/>
                </a:highlight>
              </a:rPr>
              <a:t>volume</a:t>
            </a:r>
            <a:r>
              <a:rPr lang="en-US" dirty="0"/>
              <a:t> = 9mg / (50mg/1ml)</a:t>
            </a:r>
          </a:p>
          <a:p>
            <a:r>
              <a:rPr lang="en-US" dirty="0"/>
              <a:t>              = 9</a:t>
            </a:r>
            <a:r>
              <a:rPr lang="en-US" strike="sngStrike" dirty="0"/>
              <a:t>mg</a:t>
            </a:r>
            <a:r>
              <a:rPr lang="en-US" dirty="0"/>
              <a:t> / (50</a:t>
            </a:r>
            <a:r>
              <a:rPr lang="en-US" strike="sngStrike" dirty="0"/>
              <a:t>mg</a:t>
            </a:r>
            <a:r>
              <a:rPr lang="en-US" dirty="0"/>
              <a:t>/1ml)</a:t>
            </a:r>
          </a:p>
          <a:p>
            <a:r>
              <a:rPr lang="en-US" dirty="0"/>
              <a:t>              = 9 / 50ml</a:t>
            </a:r>
          </a:p>
          <a:p>
            <a:r>
              <a:rPr lang="en-US" dirty="0"/>
              <a:t>              = </a:t>
            </a:r>
            <a:r>
              <a:rPr lang="en-US" b="1" dirty="0"/>
              <a:t>0.18ml</a:t>
            </a:r>
          </a:p>
          <a:p>
            <a:endParaRPr lang="en-US" dirty="0"/>
          </a:p>
          <a:p>
            <a:r>
              <a:rPr lang="en-US" u="sng" dirty="0"/>
              <a:t>or</a:t>
            </a:r>
          </a:p>
          <a:p>
            <a:endParaRPr lang="en-US" dirty="0"/>
          </a:p>
          <a:p>
            <a:r>
              <a:rPr lang="en-US" dirty="0"/>
              <a:t>50mg/1ml</a:t>
            </a:r>
          </a:p>
          <a:p>
            <a:r>
              <a:rPr lang="en-US" dirty="0"/>
              <a:t>9mg/</a:t>
            </a:r>
            <a:r>
              <a:rPr lang="en-US" b="1" dirty="0"/>
              <a:t>0.18ml</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0.18</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Volumes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3113273" cy="830997"/>
          </a:xfrm>
          <a:prstGeom prst="rect">
            <a:avLst/>
          </a:prstGeom>
          <a:noFill/>
        </p:spPr>
        <p:txBody>
          <a:bodyPr wrap="square" rtlCol="0">
            <a:spAutoFit/>
          </a:bodyPr>
          <a:lstStyle/>
          <a:p>
            <a:r>
              <a:rPr lang="en-US" sz="4800" dirty="0"/>
              <a:t>EXAMPLE 2</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5-year-old girl with post-operative nausea and vomiting requires treatment with </a:t>
            </a:r>
            <a:r>
              <a:rPr lang="en-US" dirty="0" err="1"/>
              <a:t>cyclizine</a:t>
            </a:r>
            <a:r>
              <a:rPr lang="en-US" dirty="0"/>
              <a:t> 0.5mg/kg by intravenous injection. Weight 18kg. </a:t>
            </a:r>
            <a:r>
              <a:rPr lang="en-US" dirty="0" err="1"/>
              <a:t>Cyclizine</a:t>
            </a:r>
            <a:r>
              <a:rPr lang="en-US" dirty="0"/>
              <a:t> is available in ampoules containing 50mg/1ml.</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575924"/>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a:t>
            </a:r>
            <a:r>
              <a:rPr lang="en-US" dirty="0" err="1"/>
              <a:t>cyclizine</a:t>
            </a:r>
            <a:r>
              <a:rPr lang="en-US" dirty="0"/>
              <a:t> is required?</a:t>
            </a:r>
          </a:p>
          <a:p>
            <a:r>
              <a:rPr lang="en-US" i="1" dirty="0"/>
              <a:t>(write your answer in the box provided)</a:t>
            </a:r>
          </a:p>
        </p:txBody>
      </p:sp>
      <p:sp>
        <p:nvSpPr>
          <p:cNvPr id="19" name="TextBox 18">
            <a:extLst>
              <a:ext uri="{FF2B5EF4-FFF2-40B4-BE49-F238E27FC236}">
                <a16:creationId xmlns:a16="http://schemas.microsoft.com/office/drawing/2014/main" id="{8023DD41-1905-1644-97D5-FA1FEB303317}"/>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D51D6D35-7E0D-DB41-94D4-CBF188A23055}"/>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2708689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216539"/>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highlight>
                  <a:srgbClr val="FFFF00"/>
                </a:highlight>
              </a:rPr>
              <a:t>volume = dose/concentration</a:t>
            </a:r>
          </a:p>
          <a:p>
            <a:endParaRPr lang="en-US" dirty="0"/>
          </a:p>
          <a:p>
            <a:r>
              <a:rPr lang="en-US" dirty="0"/>
              <a:t>25mcg/kg required</a:t>
            </a:r>
          </a:p>
          <a:p>
            <a:r>
              <a:rPr lang="en-US" dirty="0"/>
              <a:t>25mcg x 64kg = 1600mcg (but check units!)</a:t>
            </a:r>
          </a:p>
          <a:p>
            <a:r>
              <a:rPr lang="en-US" dirty="0"/>
              <a:t>1600mcg/1000 = </a:t>
            </a:r>
            <a:r>
              <a:rPr lang="en-US" b="1" dirty="0"/>
              <a:t>1.6mg</a:t>
            </a:r>
            <a:r>
              <a:rPr lang="en-US" dirty="0"/>
              <a:t> = </a:t>
            </a:r>
            <a:r>
              <a:rPr lang="en-US" dirty="0">
                <a:highlight>
                  <a:srgbClr val="FFFF00"/>
                </a:highlight>
              </a:rPr>
              <a:t>dose</a:t>
            </a:r>
          </a:p>
          <a:p>
            <a:endParaRPr lang="en-US" dirty="0"/>
          </a:p>
          <a:p>
            <a:r>
              <a:rPr lang="en-US" b="1" dirty="0"/>
              <a:t>4mg/1ml </a:t>
            </a:r>
            <a:r>
              <a:rPr lang="en-US" dirty="0"/>
              <a:t>= </a:t>
            </a:r>
            <a:r>
              <a:rPr lang="en-US" dirty="0">
                <a:highlight>
                  <a:srgbClr val="FFFF00"/>
                </a:highlight>
              </a:rPr>
              <a:t>concentration</a:t>
            </a:r>
          </a:p>
          <a:p>
            <a:endParaRPr lang="en-US" dirty="0"/>
          </a:p>
          <a:p>
            <a:r>
              <a:rPr lang="en-US" dirty="0">
                <a:highlight>
                  <a:srgbClr val="FFFF00"/>
                </a:highlight>
              </a:rPr>
              <a:t>volume</a:t>
            </a:r>
            <a:r>
              <a:rPr lang="en-US" dirty="0"/>
              <a:t> = 1.6mg / (4mg/1ml)</a:t>
            </a:r>
          </a:p>
          <a:p>
            <a:r>
              <a:rPr lang="en-US" dirty="0"/>
              <a:t>              = 1.6</a:t>
            </a:r>
            <a:r>
              <a:rPr lang="en-US" strike="sngStrike" dirty="0"/>
              <a:t>mg</a:t>
            </a:r>
            <a:r>
              <a:rPr lang="en-US" dirty="0"/>
              <a:t> / (4</a:t>
            </a:r>
            <a:r>
              <a:rPr lang="en-US" strike="sngStrike" dirty="0"/>
              <a:t>mg</a:t>
            </a:r>
            <a:r>
              <a:rPr lang="en-US" dirty="0"/>
              <a:t>/1ml)</a:t>
            </a:r>
          </a:p>
          <a:p>
            <a:r>
              <a:rPr lang="en-US" dirty="0"/>
              <a:t>              = 1.6 / 4ml</a:t>
            </a:r>
          </a:p>
          <a:p>
            <a:r>
              <a:rPr lang="en-US" dirty="0"/>
              <a:t>              = </a:t>
            </a:r>
            <a:r>
              <a:rPr lang="en-US" b="1" dirty="0"/>
              <a:t>0.4ml</a:t>
            </a:r>
            <a:endParaRPr lang="en-US" dirty="0"/>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0.4</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Volumes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900111" cy="830997"/>
          </a:xfrm>
          <a:prstGeom prst="rect">
            <a:avLst/>
          </a:prstGeom>
          <a:noFill/>
        </p:spPr>
        <p:txBody>
          <a:bodyPr wrap="square" rtlCol="0">
            <a:spAutoFit/>
          </a:bodyPr>
          <a:lstStyle/>
          <a:p>
            <a:r>
              <a:rPr lang="en-US" sz="4800" dirty="0"/>
              <a:t>A3</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45-year-old man having an acute panic attack requires treatment with lorazepam 25mcg/kg by slow intravenous injection. Weight 64kg. Lorazepam is available in ampoules containing 4mg/1ml.</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575924"/>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lorazepam is required?</a:t>
            </a:r>
          </a:p>
          <a:p>
            <a:r>
              <a:rPr lang="en-US" i="1" dirty="0"/>
              <a:t>(write your answer in the box provided)</a:t>
            </a:r>
          </a:p>
        </p:txBody>
      </p:sp>
      <p:sp>
        <p:nvSpPr>
          <p:cNvPr id="19" name="TextBox 18">
            <a:extLst>
              <a:ext uri="{FF2B5EF4-FFF2-40B4-BE49-F238E27FC236}">
                <a16:creationId xmlns:a16="http://schemas.microsoft.com/office/drawing/2014/main" id="{6AFE122B-F28A-BB4F-8E35-DC31A7D2E748}"/>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5A8D77A2-BD50-D249-942D-63FC2C6C24FC}"/>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427731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770537"/>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highlight>
                  <a:srgbClr val="FFFF00"/>
                </a:highlight>
              </a:rPr>
              <a:t>volume = dose/concentration</a:t>
            </a:r>
          </a:p>
          <a:p>
            <a:endParaRPr lang="en-US" dirty="0">
              <a:highlight>
                <a:srgbClr val="FFFF00"/>
              </a:highlight>
            </a:endParaRPr>
          </a:p>
          <a:p>
            <a:r>
              <a:rPr lang="en-US" dirty="0"/>
              <a:t>1.5mg/m</a:t>
            </a:r>
            <a:r>
              <a:rPr lang="en-US" baseline="30000" dirty="0"/>
              <a:t>2</a:t>
            </a:r>
            <a:r>
              <a:rPr lang="en-US" dirty="0"/>
              <a:t> required</a:t>
            </a:r>
          </a:p>
          <a:p>
            <a:r>
              <a:rPr lang="en-US" dirty="0"/>
              <a:t>1.5mg x 0.68m</a:t>
            </a:r>
            <a:r>
              <a:rPr lang="en-US" baseline="30000" dirty="0"/>
              <a:t>2</a:t>
            </a:r>
            <a:r>
              <a:rPr lang="en-US" dirty="0"/>
              <a:t> = 1.02mg (but check maximum dose!)</a:t>
            </a:r>
          </a:p>
          <a:p>
            <a:r>
              <a:rPr lang="en-US" b="1" dirty="0"/>
              <a:t>1mg</a:t>
            </a:r>
            <a:r>
              <a:rPr lang="en-US" dirty="0"/>
              <a:t> = </a:t>
            </a:r>
            <a:r>
              <a:rPr lang="en-US" dirty="0">
                <a:highlight>
                  <a:srgbClr val="FFFF00"/>
                </a:highlight>
              </a:rPr>
              <a:t>dose</a:t>
            </a:r>
          </a:p>
          <a:p>
            <a:endParaRPr lang="en-US" dirty="0"/>
          </a:p>
          <a:p>
            <a:r>
              <a:rPr lang="en-US" b="1" dirty="0"/>
              <a:t>10mg/7.5ml </a:t>
            </a:r>
            <a:r>
              <a:rPr lang="en-US" dirty="0"/>
              <a:t>= </a:t>
            </a:r>
            <a:r>
              <a:rPr lang="en-US" dirty="0">
                <a:highlight>
                  <a:srgbClr val="FFFF00"/>
                </a:highlight>
              </a:rPr>
              <a:t>concentration</a:t>
            </a:r>
          </a:p>
          <a:p>
            <a:endParaRPr lang="en-US" dirty="0"/>
          </a:p>
          <a:p>
            <a:r>
              <a:rPr lang="en-US" dirty="0">
                <a:highlight>
                  <a:srgbClr val="FFFF00"/>
                </a:highlight>
              </a:rPr>
              <a:t>volume</a:t>
            </a:r>
            <a:r>
              <a:rPr lang="en-US" dirty="0"/>
              <a:t> = 1mg / (10mg/7.5ml)</a:t>
            </a:r>
          </a:p>
          <a:p>
            <a:r>
              <a:rPr lang="en-US" dirty="0"/>
              <a:t>              = 1</a:t>
            </a:r>
            <a:r>
              <a:rPr lang="en-US" strike="sngStrike" dirty="0"/>
              <a:t>mg</a:t>
            </a:r>
            <a:r>
              <a:rPr lang="en-US" dirty="0"/>
              <a:t> / (10</a:t>
            </a:r>
            <a:r>
              <a:rPr lang="en-US" strike="sngStrike" dirty="0"/>
              <a:t>mg</a:t>
            </a:r>
            <a:r>
              <a:rPr lang="en-US" dirty="0"/>
              <a:t>/7.5ml)</a:t>
            </a:r>
          </a:p>
          <a:p>
            <a:r>
              <a:rPr lang="en-US" dirty="0"/>
              <a:t>              = 1 / (1.333ml)</a:t>
            </a:r>
          </a:p>
          <a:p>
            <a:r>
              <a:rPr lang="en-US" dirty="0"/>
              <a:t>              = </a:t>
            </a:r>
            <a:r>
              <a:rPr lang="en-US" b="1" dirty="0"/>
              <a:t>0.75ml </a:t>
            </a:r>
          </a:p>
          <a:p>
            <a:endParaRPr lang="en-US" dirty="0"/>
          </a:p>
          <a:p>
            <a:r>
              <a:rPr lang="en-US" dirty="0">
                <a:solidFill>
                  <a:srgbClr val="FF0000"/>
                </a:solidFill>
              </a:rPr>
              <a:t>*distractor</a:t>
            </a:r>
            <a:endParaRPr lang="en-US" dirty="0"/>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0.75</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166811" cy="830997"/>
          </a:xfrm>
          <a:prstGeom prst="rect">
            <a:avLst/>
          </a:prstGeom>
          <a:noFill/>
        </p:spPr>
        <p:txBody>
          <a:bodyPr wrap="square" rtlCol="0">
            <a:spAutoFit/>
          </a:bodyPr>
          <a:lstStyle/>
          <a:p>
            <a:r>
              <a:rPr lang="en-US" sz="4800" dirty="0"/>
              <a:t>A4</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5-year-old girl is an inpatient with condition A. She requires treatment with drug B by intravenous infusion at dose of 1.5mg/m</a:t>
            </a:r>
            <a:r>
              <a:rPr lang="en-US" baseline="30000" dirty="0"/>
              <a:t>2 </a:t>
            </a:r>
            <a:r>
              <a:rPr lang="en-US" dirty="0"/>
              <a:t>(maximum dose 1mg). </a:t>
            </a:r>
            <a:r>
              <a:rPr lang="en-US" dirty="0">
                <a:solidFill>
                  <a:srgbClr val="FF0000"/>
                </a:solidFill>
              </a:rPr>
              <a:t>Weight 16kg and height 98cm</a:t>
            </a:r>
            <a:r>
              <a:rPr lang="en-US" dirty="0"/>
              <a:t> corresponding to a body surface area of 0.68m</a:t>
            </a:r>
            <a:r>
              <a:rPr lang="en-US" baseline="30000" dirty="0"/>
              <a:t>2</a:t>
            </a:r>
            <a:r>
              <a:rPr lang="en-US" dirty="0"/>
              <a:t>. Drug B is available at a concentration of 10mg/7.5ml.</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3129921"/>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drug B should be given intravenously? </a:t>
            </a:r>
            <a:r>
              <a:rPr lang="en-US" i="1" dirty="0"/>
              <a:t>(write your answer in the box provided)</a:t>
            </a:r>
          </a:p>
        </p:txBody>
      </p:sp>
      <p:sp>
        <p:nvSpPr>
          <p:cNvPr id="11" name="TextBox 10">
            <a:extLst>
              <a:ext uri="{FF2B5EF4-FFF2-40B4-BE49-F238E27FC236}">
                <a16:creationId xmlns:a16="http://schemas.microsoft.com/office/drawing/2014/main" id="{A8E6464D-5DEE-0D4E-8744-4046143C8895}"/>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Volumes</a:t>
            </a:r>
          </a:p>
        </p:txBody>
      </p:sp>
      <p:sp>
        <p:nvSpPr>
          <p:cNvPr id="15" name="TextBox 14">
            <a:extLst>
              <a:ext uri="{FF2B5EF4-FFF2-40B4-BE49-F238E27FC236}">
                <a16:creationId xmlns:a16="http://schemas.microsoft.com/office/drawing/2014/main" id="{2DAB8E92-4CFF-1449-8923-3FC6B0E0DB7B}"/>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9" name="TextBox 18">
            <a:extLst>
              <a:ext uri="{FF2B5EF4-FFF2-40B4-BE49-F238E27FC236}">
                <a16:creationId xmlns:a16="http://schemas.microsoft.com/office/drawing/2014/main" id="{49A2E844-29FD-8343-930E-782CAF5C16A3}"/>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3382744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5478423"/>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highlight>
                  <a:srgbClr val="FFFF00"/>
                </a:highlight>
              </a:rPr>
              <a:t>volume = dose/concentration</a:t>
            </a:r>
          </a:p>
          <a:p>
            <a:endParaRPr lang="en-US" dirty="0">
              <a:highlight>
                <a:srgbClr val="FFFF00"/>
              </a:highlight>
            </a:endParaRPr>
          </a:p>
          <a:p>
            <a:r>
              <a:rPr lang="en-US" dirty="0"/>
              <a:t>10mg/kg required</a:t>
            </a:r>
          </a:p>
          <a:p>
            <a:r>
              <a:rPr lang="en-US" dirty="0"/>
              <a:t>10mg x 80kg = </a:t>
            </a:r>
            <a:r>
              <a:rPr lang="en-US" b="1" dirty="0"/>
              <a:t>800mg </a:t>
            </a:r>
            <a:r>
              <a:rPr lang="en-US" dirty="0"/>
              <a:t>= </a:t>
            </a:r>
            <a:r>
              <a:rPr lang="en-US" dirty="0">
                <a:highlight>
                  <a:srgbClr val="FFFF00"/>
                </a:highlight>
              </a:rPr>
              <a:t>dose</a:t>
            </a:r>
          </a:p>
          <a:p>
            <a:endParaRPr lang="en-US" dirty="0"/>
          </a:p>
          <a:p>
            <a:r>
              <a:rPr lang="en-US" dirty="0"/>
              <a:t>2.5mg/1ml = </a:t>
            </a:r>
            <a:r>
              <a:rPr lang="en-US" dirty="0">
                <a:highlight>
                  <a:srgbClr val="FFFF00"/>
                </a:highlight>
              </a:rPr>
              <a:t>initial concentration </a:t>
            </a:r>
          </a:p>
          <a:p>
            <a:r>
              <a:rPr lang="en-US" b="1" dirty="0"/>
              <a:t>2.5mg/2ml </a:t>
            </a:r>
            <a:r>
              <a:rPr lang="en-US" dirty="0"/>
              <a:t>=</a:t>
            </a:r>
            <a:r>
              <a:rPr lang="en-US" b="1" dirty="0"/>
              <a:t> </a:t>
            </a:r>
            <a:r>
              <a:rPr lang="en-US" dirty="0">
                <a:highlight>
                  <a:srgbClr val="FFFF00"/>
                </a:highlight>
              </a:rPr>
              <a:t>diluted concentration</a:t>
            </a:r>
            <a:r>
              <a:rPr lang="en-US" dirty="0"/>
              <a:t> (x2, 1:2 dilution)</a:t>
            </a:r>
          </a:p>
          <a:p>
            <a:endParaRPr lang="en-US" dirty="0"/>
          </a:p>
          <a:p>
            <a:r>
              <a:rPr lang="en-US" b="1" u="sng" dirty="0">
                <a:highlight>
                  <a:srgbClr val="FFFF00"/>
                </a:highlight>
              </a:rPr>
              <a:t>diluted</a:t>
            </a:r>
            <a:r>
              <a:rPr lang="en-US" dirty="0">
                <a:highlight>
                  <a:srgbClr val="FFFF00"/>
                </a:highlight>
              </a:rPr>
              <a:t> volume</a:t>
            </a:r>
            <a:r>
              <a:rPr lang="en-US" dirty="0"/>
              <a:t> = 800mg / (2.5mg/2ml)</a:t>
            </a:r>
          </a:p>
          <a:p>
            <a:r>
              <a:rPr lang="en-US" dirty="0"/>
              <a:t>                            = 800</a:t>
            </a:r>
            <a:r>
              <a:rPr lang="en-US" strike="sngStrike" dirty="0"/>
              <a:t>mg</a:t>
            </a:r>
            <a:r>
              <a:rPr lang="en-US" dirty="0"/>
              <a:t> / (2.5</a:t>
            </a:r>
            <a:r>
              <a:rPr lang="en-US" strike="sngStrike" dirty="0"/>
              <a:t>mg</a:t>
            </a:r>
            <a:r>
              <a:rPr lang="en-US" dirty="0"/>
              <a:t>/2ml)</a:t>
            </a:r>
          </a:p>
          <a:p>
            <a:r>
              <a:rPr lang="en-US" dirty="0"/>
              <a:t>                            = 800 / 1.25ml</a:t>
            </a:r>
          </a:p>
          <a:p>
            <a:r>
              <a:rPr lang="en-US" dirty="0"/>
              <a:t>                            = </a:t>
            </a:r>
            <a:r>
              <a:rPr lang="en-US" b="1" dirty="0"/>
              <a:t>640ml</a:t>
            </a:r>
          </a:p>
          <a:p>
            <a:endParaRPr lang="en-US" dirty="0"/>
          </a:p>
          <a:p>
            <a:r>
              <a:rPr lang="en-US" u="sng" dirty="0"/>
              <a:t>or</a:t>
            </a:r>
          </a:p>
          <a:p>
            <a:endParaRPr lang="en-US" dirty="0"/>
          </a:p>
          <a:p>
            <a:r>
              <a:rPr lang="en-US" dirty="0"/>
              <a:t>2.5mg/2ml</a:t>
            </a:r>
          </a:p>
          <a:p>
            <a:r>
              <a:rPr lang="en-US" dirty="0"/>
              <a:t>800mg/</a:t>
            </a:r>
            <a:r>
              <a:rPr lang="en-US" b="1" dirty="0"/>
              <a:t>640ml</a:t>
            </a: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640</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3543579" cy="830997"/>
          </a:xfrm>
          <a:prstGeom prst="rect">
            <a:avLst/>
          </a:prstGeom>
          <a:noFill/>
        </p:spPr>
        <p:txBody>
          <a:bodyPr wrap="square" rtlCol="0">
            <a:spAutoFit/>
          </a:bodyPr>
          <a:lstStyle/>
          <a:p>
            <a:r>
              <a:rPr lang="en-US" sz="4800" dirty="0"/>
              <a:t>EXAMPLE 3</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10mg/kg. Weight 80kg. Drug B is initially available as a 2.5mg/1ml suspension but requires dilution with an equal volume of sodium chloride 0.9% prior to use.</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a:t>
            </a:r>
            <a:r>
              <a:rPr lang="en-US" b="1" u="sng" dirty="0"/>
              <a:t>diluted</a:t>
            </a:r>
            <a:r>
              <a:rPr lang="en-US" dirty="0"/>
              <a:t> drug B should be given intravenously? </a:t>
            </a:r>
          </a:p>
          <a:p>
            <a:r>
              <a:rPr lang="en-US" i="1" dirty="0"/>
              <a:t>(write your answer in the box provided)</a:t>
            </a:r>
          </a:p>
        </p:txBody>
      </p:sp>
      <p:sp>
        <p:nvSpPr>
          <p:cNvPr id="19" name="TextBox 18">
            <a:extLst>
              <a:ext uri="{FF2B5EF4-FFF2-40B4-BE49-F238E27FC236}">
                <a16:creationId xmlns:a16="http://schemas.microsoft.com/office/drawing/2014/main" id="{43FDBCC3-DEA0-464B-A81C-53AE40D0CC3B}"/>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09694268-E590-B446-B6C9-E8BE4ABBB947}"/>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3641178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770537"/>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		</a:t>
            </a:r>
            <a:r>
              <a:rPr lang="en-US" dirty="0">
                <a:solidFill>
                  <a:schemeClr val="bg1">
                    <a:lumMod val="65000"/>
                  </a:schemeClr>
                </a:solidFill>
              </a:rPr>
              <a:t> 	            </a:t>
            </a:r>
            <a:r>
              <a:rPr lang="en-US" dirty="0"/>
              <a:t>ml</a:t>
            </a:r>
          </a:p>
          <a:p>
            <a:endParaRPr lang="en-US" dirty="0"/>
          </a:p>
          <a:p>
            <a:r>
              <a:rPr lang="en-US" dirty="0">
                <a:highlight>
                  <a:srgbClr val="FFFF00"/>
                </a:highlight>
              </a:rPr>
              <a:t>volume = dose/concentration</a:t>
            </a:r>
          </a:p>
          <a:p>
            <a:endParaRPr lang="en-US" dirty="0"/>
          </a:p>
          <a:p>
            <a:r>
              <a:rPr lang="en-US" dirty="0"/>
              <a:t>110mcg/kg required</a:t>
            </a:r>
          </a:p>
          <a:p>
            <a:r>
              <a:rPr lang="en-US" dirty="0"/>
              <a:t>110mcg x 80kg = 8800mcg (but check units!)</a:t>
            </a:r>
          </a:p>
          <a:p>
            <a:r>
              <a:rPr lang="en-US" dirty="0"/>
              <a:t>8800mcg/1000 = </a:t>
            </a:r>
            <a:r>
              <a:rPr lang="en-US" b="1" dirty="0"/>
              <a:t>8.8mg</a:t>
            </a:r>
            <a:r>
              <a:rPr lang="en-US" dirty="0"/>
              <a:t> = </a:t>
            </a:r>
            <a:r>
              <a:rPr lang="en-US" dirty="0">
                <a:highlight>
                  <a:srgbClr val="FFFF00"/>
                </a:highlight>
              </a:rPr>
              <a:t>dose</a:t>
            </a:r>
          </a:p>
          <a:p>
            <a:endParaRPr lang="en-US" dirty="0"/>
          </a:p>
          <a:p>
            <a:r>
              <a:rPr lang="en-US" dirty="0"/>
              <a:t>50mg/25ml = </a:t>
            </a:r>
            <a:r>
              <a:rPr lang="en-US" dirty="0">
                <a:highlight>
                  <a:srgbClr val="FFFF00"/>
                </a:highlight>
              </a:rPr>
              <a:t>initial concentration</a:t>
            </a:r>
          </a:p>
          <a:p>
            <a:r>
              <a:rPr lang="en-US" b="1" dirty="0"/>
              <a:t>50mg/250ml </a:t>
            </a:r>
            <a:r>
              <a:rPr lang="en-US" dirty="0"/>
              <a:t>= </a:t>
            </a:r>
            <a:r>
              <a:rPr lang="en-US" dirty="0">
                <a:highlight>
                  <a:srgbClr val="FFFF00"/>
                </a:highlight>
              </a:rPr>
              <a:t>diluted concentration</a:t>
            </a:r>
            <a:r>
              <a:rPr lang="en-US" dirty="0"/>
              <a:t> (x10, 1:10 dilution)</a:t>
            </a:r>
          </a:p>
          <a:p>
            <a:endParaRPr lang="en-US" dirty="0"/>
          </a:p>
          <a:p>
            <a:r>
              <a:rPr lang="en-US" dirty="0">
                <a:solidFill>
                  <a:srgbClr val="FF0000"/>
                </a:solidFill>
              </a:rPr>
              <a:t>Easy mistake to dilute concentration to 50mg/115mls (25mls + 90mls = 115mls) but this is not correct!</a:t>
            </a:r>
          </a:p>
          <a:p>
            <a:endParaRPr lang="en-US" dirty="0"/>
          </a:p>
          <a:p>
            <a:r>
              <a:rPr lang="en-US" dirty="0">
                <a:highlight>
                  <a:srgbClr val="FFFF00"/>
                </a:highlight>
              </a:rPr>
              <a:t>diluted volume </a:t>
            </a:r>
            <a:r>
              <a:rPr lang="en-US" dirty="0"/>
              <a:t>= 8.8mg / (50mg/250ml)</a:t>
            </a:r>
          </a:p>
          <a:p>
            <a:r>
              <a:rPr lang="en-US" dirty="0"/>
              <a:t>                            = </a:t>
            </a:r>
            <a:r>
              <a:rPr lang="en-US" b="1" dirty="0"/>
              <a:t>44ml</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44</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090611" cy="830997"/>
          </a:xfrm>
          <a:prstGeom prst="rect">
            <a:avLst/>
          </a:prstGeom>
          <a:noFill/>
        </p:spPr>
        <p:txBody>
          <a:bodyPr wrap="square" rtlCol="0">
            <a:spAutoFit/>
          </a:bodyPr>
          <a:lstStyle/>
          <a:p>
            <a:r>
              <a:rPr lang="en-US" sz="4800" dirty="0"/>
              <a:t>A5</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110mcg/kg. Weight 80kg. Drug B is initially available in 10ml ampoules of 50mg/25ml with each ampoule subsequently diluted with 90ml of sodium chloride 0.9% prior to use.</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3129921"/>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diluted drug B should be given intravenously?</a:t>
            </a:r>
          </a:p>
          <a:p>
            <a:r>
              <a:rPr lang="en-US" i="1" dirty="0"/>
              <a:t>(write your answer in the box provided)</a:t>
            </a:r>
          </a:p>
        </p:txBody>
      </p:sp>
      <p:sp>
        <p:nvSpPr>
          <p:cNvPr id="19" name="TextBox 18">
            <a:extLst>
              <a:ext uri="{FF2B5EF4-FFF2-40B4-BE49-F238E27FC236}">
                <a16:creationId xmlns:a16="http://schemas.microsoft.com/office/drawing/2014/main" id="{236AE515-92B2-0C4C-AAD1-A16334B906FE}"/>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3CE7481A-16B5-AF40-BE8A-8AFC92DD405A}"/>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933249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924425"/>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highlight>
                  <a:srgbClr val="FFFF00"/>
                </a:highlight>
              </a:rPr>
              <a:t>volume = dose/concentration</a:t>
            </a:r>
            <a:endParaRPr lang="en-US" dirty="0"/>
          </a:p>
          <a:p>
            <a:endParaRPr lang="en-US" b="1" dirty="0"/>
          </a:p>
          <a:p>
            <a:r>
              <a:rPr lang="en-US" dirty="0"/>
              <a:t>50ml = </a:t>
            </a:r>
            <a:r>
              <a:rPr lang="en-US" dirty="0">
                <a:highlight>
                  <a:srgbClr val="FFFF00"/>
                </a:highlight>
              </a:rPr>
              <a:t>diluted volume</a:t>
            </a:r>
            <a:endParaRPr lang="en-US" dirty="0"/>
          </a:p>
          <a:p>
            <a:r>
              <a:rPr lang="en-US" dirty="0"/>
              <a:t>2mg/1ml = </a:t>
            </a:r>
            <a:r>
              <a:rPr lang="en-US" dirty="0">
                <a:highlight>
                  <a:srgbClr val="FFFF00"/>
                </a:highlight>
              </a:rPr>
              <a:t>diluted concentration</a:t>
            </a:r>
          </a:p>
          <a:p>
            <a:r>
              <a:rPr lang="en-US" dirty="0"/>
              <a:t>100mg/15ml = </a:t>
            </a:r>
            <a:r>
              <a:rPr lang="en-US" dirty="0">
                <a:highlight>
                  <a:srgbClr val="FFFF00"/>
                </a:highlight>
              </a:rPr>
              <a:t>initial concentration</a:t>
            </a:r>
          </a:p>
          <a:p>
            <a:endParaRPr lang="en-US" dirty="0"/>
          </a:p>
          <a:p>
            <a:r>
              <a:rPr lang="en-US" b="1" dirty="0"/>
              <a:t>Work out the dose using the diluted concentration:</a:t>
            </a:r>
          </a:p>
          <a:p>
            <a:r>
              <a:rPr lang="en-US" dirty="0"/>
              <a:t>dose = 50ml x (2mg/1ml) = 100mg</a:t>
            </a:r>
          </a:p>
          <a:p>
            <a:endParaRPr lang="en-US" b="1" dirty="0"/>
          </a:p>
          <a:p>
            <a:r>
              <a:rPr lang="en-US" b="1" dirty="0"/>
              <a:t>Work out the initial volume using the dose and initial concentration:</a:t>
            </a:r>
          </a:p>
          <a:p>
            <a:r>
              <a:rPr lang="en-US" dirty="0"/>
              <a:t>initial volume = 100mg/ (100mg/15ml) = 15ml</a:t>
            </a:r>
          </a:p>
          <a:p>
            <a:endParaRPr lang="en-US" dirty="0"/>
          </a:p>
          <a:p>
            <a:r>
              <a:rPr lang="en-US" b="1" dirty="0"/>
              <a:t>Work out the answer by diluted volume - initial volume:</a:t>
            </a:r>
          </a:p>
          <a:p>
            <a:r>
              <a:rPr lang="en-US" dirty="0"/>
              <a:t>50ml - 15ml = </a:t>
            </a:r>
            <a:r>
              <a:rPr lang="en-US" b="1" dirty="0"/>
              <a:t>35ml</a:t>
            </a: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35</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Dilutions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3382214" cy="830997"/>
          </a:xfrm>
          <a:prstGeom prst="rect">
            <a:avLst/>
          </a:prstGeom>
          <a:noFill/>
        </p:spPr>
        <p:txBody>
          <a:bodyPr wrap="square" rtlCol="0">
            <a:spAutoFit/>
          </a:bodyPr>
          <a:lstStyle/>
          <a:p>
            <a:r>
              <a:rPr lang="en-US" sz="4800" dirty="0"/>
              <a:t>EXAMPLE 4</a:t>
            </a:r>
          </a:p>
        </p:txBody>
      </p:sp>
      <p:sp>
        <p:nvSpPr>
          <p:cNvPr id="12" name="TextBox 11">
            <a:extLst>
              <a:ext uri="{FF2B5EF4-FFF2-40B4-BE49-F238E27FC236}">
                <a16:creationId xmlns:a16="http://schemas.microsoft.com/office/drawing/2014/main" id="{7CE038CC-2988-6E4B-82A8-4D5425BA8B55}"/>
              </a:ext>
            </a:extLst>
          </p:cNvPr>
          <p:cNvSpPr txBox="1"/>
          <p:nvPr/>
        </p:nvSpPr>
        <p:spPr>
          <a:xfrm>
            <a:off x="185738" y="900112"/>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Weight 80kg. Drug B is initially available as 100mg/15ml which must be diluted with glucose 5% to a concentration of 2mg/1ml prior to use. The final volume to be administered is 50ml.</a:t>
            </a:r>
          </a:p>
        </p:txBody>
      </p:sp>
      <p:sp>
        <p:nvSpPr>
          <p:cNvPr id="13" name="TextBox 12">
            <a:extLst>
              <a:ext uri="{FF2B5EF4-FFF2-40B4-BE49-F238E27FC236}">
                <a16:creationId xmlns:a16="http://schemas.microsoft.com/office/drawing/2014/main" id="{A50C35E3-AC04-254B-B7C8-C7370AB8CFD4}"/>
              </a:ext>
            </a:extLst>
          </p:cNvPr>
          <p:cNvSpPr txBox="1"/>
          <p:nvPr/>
        </p:nvSpPr>
        <p:spPr>
          <a:xfrm>
            <a:off x="185738" y="3129921"/>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glucose 5% is required for this dilution?</a:t>
            </a:r>
          </a:p>
          <a:p>
            <a:r>
              <a:rPr lang="en-US" i="1" dirty="0"/>
              <a:t>(write your answer in the box provided)</a:t>
            </a:r>
          </a:p>
        </p:txBody>
      </p:sp>
      <p:sp>
        <p:nvSpPr>
          <p:cNvPr id="19" name="TextBox 18">
            <a:extLst>
              <a:ext uri="{FF2B5EF4-FFF2-40B4-BE49-F238E27FC236}">
                <a16:creationId xmlns:a16="http://schemas.microsoft.com/office/drawing/2014/main" id="{8820786B-B2C7-D947-BFDB-C25F76B3F3D5}"/>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608D24D2-C0F9-CB48-8FF4-D18375021DE3}"/>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grpSp>
        <p:nvGrpSpPr>
          <p:cNvPr id="2" name="Group 1">
            <a:extLst>
              <a:ext uri="{FF2B5EF4-FFF2-40B4-BE49-F238E27FC236}">
                <a16:creationId xmlns:a16="http://schemas.microsoft.com/office/drawing/2014/main" id="{07DC637D-8C54-427E-FCBC-3C56F5B61492}"/>
              </a:ext>
            </a:extLst>
          </p:cNvPr>
          <p:cNvGrpSpPr/>
          <p:nvPr/>
        </p:nvGrpSpPr>
        <p:grpSpPr>
          <a:xfrm>
            <a:off x="9964031" y="1207888"/>
            <a:ext cx="1831138" cy="1578568"/>
            <a:chOff x="9303026" y="3710609"/>
            <a:chExt cx="2050774" cy="1767909"/>
          </a:xfrm>
        </p:grpSpPr>
        <p:sp>
          <p:nvSpPr>
            <p:cNvPr id="3" name="Triangle 2">
              <a:extLst>
                <a:ext uri="{FF2B5EF4-FFF2-40B4-BE49-F238E27FC236}">
                  <a16:creationId xmlns:a16="http://schemas.microsoft.com/office/drawing/2014/main" id="{0E2111B7-E7FC-8AB4-42A0-2FD832166D00}"/>
                </a:ext>
              </a:extLst>
            </p:cNvPr>
            <p:cNvSpPr/>
            <p:nvPr/>
          </p:nvSpPr>
          <p:spPr>
            <a:xfrm>
              <a:off x="9303026" y="3710609"/>
              <a:ext cx="2050774" cy="1767909"/>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C8E808A3-E66A-B76D-5BB4-FC08F3CCDFA6}"/>
                </a:ext>
              </a:extLst>
            </p:cNvPr>
            <p:cNvSpPr txBox="1"/>
            <p:nvPr/>
          </p:nvSpPr>
          <p:spPr>
            <a:xfrm>
              <a:off x="9963977" y="4089687"/>
              <a:ext cx="728869" cy="654916"/>
            </a:xfrm>
            <a:prstGeom prst="rect">
              <a:avLst/>
            </a:prstGeom>
            <a:noFill/>
          </p:spPr>
          <p:txBody>
            <a:bodyPr wrap="square" rtlCol="0">
              <a:spAutoFit/>
            </a:bodyPr>
            <a:lstStyle/>
            <a:p>
              <a:pPr algn="ctr"/>
              <a:r>
                <a:rPr lang="en-US" sz="3200" dirty="0"/>
                <a:t>d</a:t>
              </a:r>
            </a:p>
          </p:txBody>
        </p:sp>
        <p:sp>
          <p:nvSpPr>
            <p:cNvPr id="5" name="TextBox 4">
              <a:extLst>
                <a:ext uri="{FF2B5EF4-FFF2-40B4-BE49-F238E27FC236}">
                  <a16:creationId xmlns:a16="http://schemas.microsoft.com/office/drawing/2014/main" id="{98B71C6D-536D-0CC0-5E0C-5F62DCF3B436}"/>
                </a:ext>
              </a:extLst>
            </p:cNvPr>
            <p:cNvSpPr txBox="1"/>
            <p:nvPr/>
          </p:nvSpPr>
          <p:spPr>
            <a:xfrm>
              <a:off x="9599543" y="4739905"/>
              <a:ext cx="728869" cy="654916"/>
            </a:xfrm>
            <a:prstGeom prst="rect">
              <a:avLst/>
            </a:prstGeom>
            <a:noFill/>
          </p:spPr>
          <p:txBody>
            <a:bodyPr wrap="square" rtlCol="0">
              <a:spAutoFit/>
            </a:bodyPr>
            <a:lstStyle/>
            <a:p>
              <a:pPr algn="ctr"/>
              <a:r>
                <a:rPr lang="en-US" sz="3200" dirty="0"/>
                <a:t>v</a:t>
              </a:r>
            </a:p>
          </p:txBody>
        </p:sp>
        <p:sp>
          <p:nvSpPr>
            <p:cNvPr id="6" name="TextBox 5">
              <a:extLst>
                <a:ext uri="{FF2B5EF4-FFF2-40B4-BE49-F238E27FC236}">
                  <a16:creationId xmlns:a16="http://schemas.microsoft.com/office/drawing/2014/main" id="{8EC08896-1A27-57D0-EDFD-9EE0BEB6A0E7}"/>
                </a:ext>
              </a:extLst>
            </p:cNvPr>
            <p:cNvSpPr txBox="1"/>
            <p:nvPr/>
          </p:nvSpPr>
          <p:spPr>
            <a:xfrm>
              <a:off x="10260494" y="4703669"/>
              <a:ext cx="728869" cy="654916"/>
            </a:xfrm>
            <a:prstGeom prst="rect">
              <a:avLst/>
            </a:prstGeom>
            <a:noFill/>
          </p:spPr>
          <p:txBody>
            <a:bodyPr wrap="square" rtlCol="0">
              <a:spAutoFit/>
            </a:bodyPr>
            <a:lstStyle/>
            <a:p>
              <a:pPr algn="ctr"/>
              <a:r>
                <a:rPr lang="en-US" sz="3200" dirty="0"/>
                <a:t>c</a:t>
              </a:r>
            </a:p>
          </p:txBody>
        </p:sp>
      </p:grpSp>
    </p:spTree>
    <p:extLst>
      <p:ext uri="{BB962C8B-B14F-4D97-AF65-F5344CB8AC3E}">
        <p14:creationId xmlns:p14="http://schemas.microsoft.com/office/powerpoint/2010/main" val="2028120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5755422"/>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highlight>
                  <a:srgbClr val="FFFF00"/>
                </a:highlight>
              </a:rPr>
              <a:t>volume = dose/concentration</a:t>
            </a:r>
            <a:endParaRPr lang="en-US" dirty="0"/>
          </a:p>
          <a:p>
            <a:endParaRPr lang="en-US" dirty="0"/>
          </a:p>
          <a:p>
            <a:endParaRPr lang="en-US" dirty="0"/>
          </a:p>
          <a:p>
            <a:endParaRPr lang="en-US" dirty="0"/>
          </a:p>
          <a:p>
            <a:r>
              <a:rPr lang="en-US" dirty="0"/>
              <a:t>10ml = </a:t>
            </a:r>
            <a:r>
              <a:rPr lang="en-US" dirty="0">
                <a:highlight>
                  <a:srgbClr val="FFFF00"/>
                </a:highlight>
              </a:rPr>
              <a:t>diluted volume</a:t>
            </a:r>
          </a:p>
          <a:p>
            <a:r>
              <a:rPr lang="en-US" dirty="0"/>
              <a:t>100mcg/1ml = diluted concentration (but check units!)</a:t>
            </a:r>
          </a:p>
          <a:p>
            <a:r>
              <a:rPr lang="en-US" dirty="0"/>
              <a:t>0.1mg/1ml = </a:t>
            </a:r>
            <a:r>
              <a:rPr lang="en-US" dirty="0">
                <a:highlight>
                  <a:srgbClr val="FFFF00"/>
                </a:highlight>
              </a:rPr>
              <a:t>diluted concentration</a:t>
            </a:r>
          </a:p>
          <a:p>
            <a:r>
              <a:rPr lang="en-US" dirty="0"/>
              <a:t>25mg/5ml = </a:t>
            </a:r>
            <a:r>
              <a:rPr lang="en-US" dirty="0">
                <a:highlight>
                  <a:srgbClr val="FFFF00"/>
                </a:highlight>
              </a:rPr>
              <a:t>initial concentration</a:t>
            </a:r>
          </a:p>
          <a:p>
            <a:endParaRPr lang="en-US" b="1" dirty="0"/>
          </a:p>
          <a:p>
            <a:r>
              <a:rPr lang="en-US" b="1" dirty="0"/>
              <a:t>Work out the dose using the diluted concentration:</a:t>
            </a:r>
          </a:p>
          <a:p>
            <a:r>
              <a:rPr lang="en-US" dirty="0"/>
              <a:t>dose = 10ml x (0.1mg/1ml) = 1mg</a:t>
            </a:r>
          </a:p>
          <a:p>
            <a:endParaRPr lang="en-US" dirty="0"/>
          </a:p>
          <a:p>
            <a:r>
              <a:rPr lang="en-US" b="1" dirty="0"/>
              <a:t>Work out the initial volume using the dose and initial concentration:</a:t>
            </a:r>
          </a:p>
          <a:p>
            <a:r>
              <a:rPr lang="en-US" dirty="0"/>
              <a:t>initial volume = 1mg / (25mg/5ml) = 0.2ml</a:t>
            </a:r>
          </a:p>
          <a:p>
            <a:endParaRPr lang="en-US" dirty="0"/>
          </a:p>
          <a:p>
            <a:r>
              <a:rPr lang="en-US" b="1" dirty="0"/>
              <a:t>Work out the answer by diluted volume - initial volume:</a:t>
            </a:r>
          </a:p>
          <a:p>
            <a:r>
              <a:rPr lang="en-US" dirty="0"/>
              <a:t>10ml - 0.2ml = </a:t>
            </a:r>
            <a:r>
              <a:rPr lang="en-US" b="1" dirty="0"/>
              <a:t>9.8ml</a:t>
            </a: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9.8</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090611" cy="830997"/>
          </a:xfrm>
          <a:prstGeom prst="rect">
            <a:avLst/>
          </a:prstGeom>
          <a:noFill/>
        </p:spPr>
        <p:txBody>
          <a:bodyPr wrap="square" rtlCol="0">
            <a:spAutoFit/>
          </a:bodyPr>
          <a:lstStyle/>
          <a:p>
            <a:r>
              <a:rPr lang="en-US" sz="4800" dirty="0"/>
              <a:t>A6</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Weight 80kg. Drug B is available in 5ml ampoules containing 25mg each which must be diluted with sodium chloride 0.9% to a concentration of 100mcg/1ml prior to use. The final volume to be administered is 10ml.</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3129921"/>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sodium chloride 0.9% is required for this dilution?</a:t>
            </a:r>
          </a:p>
          <a:p>
            <a:r>
              <a:rPr lang="en-US" i="1" dirty="0"/>
              <a:t>(write your answer in the box provided)</a:t>
            </a:r>
          </a:p>
        </p:txBody>
      </p:sp>
      <p:sp>
        <p:nvSpPr>
          <p:cNvPr id="19" name="TextBox 18">
            <a:extLst>
              <a:ext uri="{FF2B5EF4-FFF2-40B4-BE49-F238E27FC236}">
                <a16:creationId xmlns:a16="http://schemas.microsoft.com/office/drawing/2014/main" id="{C16B04C3-6DBD-324D-8908-2845996AD526}"/>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4815104E-5E8E-2E44-A97F-FB61B2F44AB6}"/>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grpSp>
        <p:nvGrpSpPr>
          <p:cNvPr id="3" name="Group 2">
            <a:extLst>
              <a:ext uri="{FF2B5EF4-FFF2-40B4-BE49-F238E27FC236}">
                <a16:creationId xmlns:a16="http://schemas.microsoft.com/office/drawing/2014/main" id="{D217EB26-00AA-8144-E205-A7CCA8A502B2}"/>
              </a:ext>
            </a:extLst>
          </p:cNvPr>
          <p:cNvGrpSpPr/>
          <p:nvPr/>
        </p:nvGrpSpPr>
        <p:grpSpPr>
          <a:xfrm>
            <a:off x="9964031" y="1207888"/>
            <a:ext cx="1831138" cy="1578568"/>
            <a:chOff x="9303026" y="3710609"/>
            <a:chExt cx="2050774" cy="1767909"/>
          </a:xfrm>
        </p:grpSpPr>
        <p:sp>
          <p:nvSpPr>
            <p:cNvPr id="4" name="Triangle 3">
              <a:extLst>
                <a:ext uri="{FF2B5EF4-FFF2-40B4-BE49-F238E27FC236}">
                  <a16:creationId xmlns:a16="http://schemas.microsoft.com/office/drawing/2014/main" id="{E2AAC88F-C3FC-61F5-DF4D-9655979F4045}"/>
                </a:ext>
              </a:extLst>
            </p:cNvPr>
            <p:cNvSpPr/>
            <p:nvPr/>
          </p:nvSpPr>
          <p:spPr>
            <a:xfrm>
              <a:off x="9303026" y="3710609"/>
              <a:ext cx="2050774" cy="1767909"/>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719ED14-7B24-A83E-1C2A-30C621CDC008}"/>
                </a:ext>
              </a:extLst>
            </p:cNvPr>
            <p:cNvSpPr txBox="1"/>
            <p:nvPr/>
          </p:nvSpPr>
          <p:spPr>
            <a:xfrm>
              <a:off x="9963977" y="4089687"/>
              <a:ext cx="728869" cy="654916"/>
            </a:xfrm>
            <a:prstGeom prst="rect">
              <a:avLst/>
            </a:prstGeom>
            <a:noFill/>
          </p:spPr>
          <p:txBody>
            <a:bodyPr wrap="square" rtlCol="0">
              <a:spAutoFit/>
            </a:bodyPr>
            <a:lstStyle/>
            <a:p>
              <a:pPr algn="ctr"/>
              <a:r>
                <a:rPr lang="en-US" sz="3200" dirty="0"/>
                <a:t>d</a:t>
              </a:r>
            </a:p>
          </p:txBody>
        </p:sp>
        <p:sp>
          <p:nvSpPr>
            <p:cNvPr id="6" name="TextBox 5">
              <a:extLst>
                <a:ext uri="{FF2B5EF4-FFF2-40B4-BE49-F238E27FC236}">
                  <a16:creationId xmlns:a16="http://schemas.microsoft.com/office/drawing/2014/main" id="{AEC4A5D2-B660-6497-4051-AE70D5B0AD81}"/>
                </a:ext>
              </a:extLst>
            </p:cNvPr>
            <p:cNvSpPr txBox="1"/>
            <p:nvPr/>
          </p:nvSpPr>
          <p:spPr>
            <a:xfrm>
              <a:off x="9599543" y="4739905"/>
              <a:ext cx="728869" cy="654916"/>
            </a:xfrm>
            <a:prstGeom prst="rect">
              <a:avLst/>
            </a:prstGeom>
            <a:noFill/>
          </p:spPr>
          <p:txBody>
            <a:bodyPr wrap="square" rtlCol="0">
              <a:spAutoFit/>
            </a:bodyPr>
            <a:lstStyle/>
            <a:p>
              <a:pPr algn="ctr"/>
              <a:r>
                <a:rPr lang="en-US" sz="3200" dirty="0"/>
                <a:t>v</a:t>
              </a:r>
            </a:p>
          </p:txBody>
        </p:sp>
        <p:sp>
          <p:nvSpPr>
            <p:cNvPr id="7" name="TextBox 6">
              <a:extLst>
                <a:ext uri="{FF2B5EF4-FFF2-40B4-BE49-F238E27FC236}">
                  <a16:creationId xmlns:a16="http://schemas.microsoft.com/office/drawing/2014/main" id="{1FE29453-A30D-0074-E043-39F4350E35E3}"/>
                </a:ext>
              </a:extLst>
            </p:cNvPr>
            <p:cNvSpPr txBox="1"/>
            <p:nvPr/>
          </p:nvSpPr>
          <p:spPr>
            <a:xfrm>
              <a:off x="10260494" y="4703669"/>
              <a:ext cx="728869" cy="654916"/>
            </a:xfrm>
            <a:prstGeom prst="rect">
              <a:avLst/>
            </a:prstGeom>
            <a:noFill/>
          </p:spPr>
          <p:txBody>
            <a:bodyPr wrap="square" rtlCol="0">
              <a:spAutoFit/>
            </a:bodyPr>
            <a:lstStyle/>
            <a:p>
              <a:pPr algn="ctr"/>
              <a:r>
                <a:rPr lang="en-US" sz="3200" dirty="0"/>
                <a:t>c</a:t>
              </a:r>
            </a:p>
          </p:txBody>
        </p:sp>
      </p:grpSp>
    </p:spTree>
    <p:extLst>
      <p:ext uri="{BB962C8B-B14F-4D97-AF65-F5344CB8AC3E}">
        <p14:creationId xmlns:p14="http://schemas.microsoft.com/office/powerpoint/2010/main" val="2450832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5047536"/>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t>volume = dose/concentration</a:t>
            </a:r>
          </a:p>
          <a:p>
            <a:endParaRPr lang="en-US" dirty="0"/>
          </a:p>
          <a:p>
            <a:r>
              <a:rPr lang="en-US" dirty="0"/>
              <a:t>5mcg/kg required</a:t>
            </a:r>
          </a:p>
          <a:p>
            <a:r>
              <a:rPr lang="en-US" dirty="0"/>
              <a:t>5mcg x 80kg = 400mcg (but check units!)</a:t>
            </a:r>
          </a:p>
          <a:p>
            <a:r>
              <a:rPr lang="en-US" dirty="0"/>
              <a:t>400mcg/1000 = </a:t>
            </a:r>
            <a:r>
              <a:rPr lang="en-US" b="1" dirty="0"/>
              <a:t>0.4mg</a:t>
            </a:r>
            <a:r>
              <a:rPr lang="en-US" dirty="0"/>
              <a:t> = dose</a:t>
            </a:r>
          </a:p>
          <a:p>
            <a:endParaRPr lang="en-US" dirty="0"/>
          </a:p>
          <a:p>
            <a:r>
              <a:rPr lang="en-US" dirty="0"/>
              <a:t>2mg/5ml = initial concentration</a:t>
            </a:r>
          </a:p>
          <a:p>
            <a:r>
              <a:rPr lang="en-US" b="1" dirty="0"/>
              <a:t>2mg/50ml </a:t>
            </a:r>
            <a:r>
              <a:rPr lang="en-US" dirty="0"/>
              <a:t>= diluted concentration (x10, 1:10 dilution)</a:t>
            </a:r>
          </a:p>
          <a:p>
            <a:endParaRPr lang="en-US" dirty="0"/>
          </a:p>
          <a:p>
            <a:r>
              <a:rPr lang="en-US" dirty="0"/>
              <a:t>diluted volume = 0.4mg / (2mg/50ml)</a:t>
            </a:r>
          </a:p>
          <a:p>
            <a:r>
              <a:rPr lang="en-US" dirty="0"/>
              <a:t>                            = </a:t>
            </a:r>
            <a:r>
              <a:rPr lang="en-US" b="1" dirty="0"/>
              <a:t>10ml</a:t>
            </a:r>
          </a:p>
          <a:p>
            <a:endParaRPr lang="en-US" dirty="0"/>
          </a:p>
          <a:p>
            <a:r>
              <a:rPr lang="en-US" dirty="0"/>
              <a:t>*‘1 part of drug B is diluted with 9 parts of glucose 5%’</a:t>
            </a:r>
          </a:p>
          <a:p>
            <a:r>
              <a:rPr lang="en-US" dirty="0"/>
              <a:t>1 part drug B, 9 parts glucose 5%</a:t>
            </a:r>
          </a:p>
          <a:p>
            <a:r>
              <a:rPr lang="en-US" dirty="0"/>
              <a:t>1:10 dilution as 1 out of every 10 parts is drug B</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10</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Dilutions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5mcg/kg. Weight 80kg. Drug B is initially available at a concentration of 2mg/5ml. 1 part of drug B is diluted with 9 parts of glucose 5% prior to use.</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diluted drug B should be given intravenously?</a:t>
            </a:r>
          </a:p>
          <a:p>
            <a:r>
              <a:rPr lang="en-US" i="1" dirty="0"/>
              <a:t>(write your answer in the box provided)</a:t>
            </a:r>
          </a:p>
        </p:txBody>
      </p:sp>
      <p:sp>
        <p:nvSpPr>
          <p:cNvPr id="21" name="TextBox 20">
            <a:extLst>
              <a:ext uri="{FF2B5EF4-FFF2-40B4-BE49-F238E27FC236}">
                <a16:creationId xmlns:a16="http://schemas.microsoft.com/office/drawing/2014/main" id="{F065AD10-E2D3-424E-A65E-605157145AEC}"/>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2" name="TextBox 21">
            <a:extLst>
              <a:ext uri="{FF2B5EF4-FFF2-40B4-BE49-F238E27FC236}">
                <a16:creationId xmlns:a16="http://schemas.microsoft.com/office/drawing/2014/main" id="{D05B40B5-0C27-744E-A9D8-BE7D8A46B65F}"/>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1221613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493538"/>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t>100mcg/kg required</a:t>
            </a:r>
          </a:p>
          <a:p>
            <a:r>
              <a:rPr lang="en-US" dirty="0"/>
              <a:t>100mcg x 80kg = 8000mcg</a:t>
            </a:r>
          </a:p>
          <a:p>
            <a:r>
              <a:rPr lang="en-US" dirty="0"/>
              <a:t>8000mcg/1000 = 8mg [dose]</a:t>
            </a:r>
          </a:p>
          <a:p>
            <a:r>
              <a:rPr lang="en-US" dirty="0"/>
              <a:t>1mg/1ml [diluted concentration]</a:t>
            </a:r>
          </a:p>
          <a:p>
            <a:endParaRPr lang="en-US" dirty="0"/>
          </a:p>
          <a:p>
            <a:r>
              <a:rPr lang="en-US" dirty="0"/>
              <a:t>8mg/8ml (1ml/1mg x 8mg = 8ml)</a:t>
            </a:r>
          </a:p>
          <a:p>
            <a:endParaRPr lang="en-US" dirty="0"/>
          </a:p>
          <a:p>
            <a:r>
              <a:rPr lang="en-US" dirty="0"/>
              <a:t>volume = dose/concentration</a:t>
            </a:r>
          </a:p>
          <a:p>
            <a:r>
              <a:rPr lang="en-US" dirty="0"/>
              <a:t>concentration = dose/volume</a:t>
            </a:r>
          </a:p>
          <a:p>
            <a:r>
              <a:rPr lang="en-US" dirty="0"/>
              <a:t>volume = 8mg/(1mg/1ml)</a:t>
            </a:r>
          </a:p>
          <a:p>
            <a:r>
              <a:rPr lang="en-US" dirty="0"/>
              <a:t>volume = 8ml</a:t>
            </a:r>
          </a:p>
          <a:p>
            <a:endParaRPr lang="en-US" dirty="0"/>
          </a:p>
          <a:p>
            <a:r>
              <a:rPr lang="en-US" dirty="0">
                <a:solidFill>
                  <a:srgbClr val="FF0000"/>
                </a:solidFill>
              </a:rPr>
              <a:t>*distractors</a:t>
            </a:r>
            <a:endParaRPr lang="en-US" dirty="0"/>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8</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Dilutions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100mcg/kg. Weight 80kg. </a:t>
            </a:r>
            <a:r>
              <a:rPr lang="en-US" dirty="0">
                <a:solidFill>
                  <a:srgbClr val="FF0000"/>
                </a:solidFill>
              </a:rPr>
              <a:t>Drug B is initially available at a concentration of 100mg/25ml </a:t>
            </a:r>
            <a:r>
              <a:rPr lang="en-US" dirty="0"/>
              <a:t>but is diluted with sodium chloride 0.9% to a final concentration of 1mg/1ml prior to use. </a:t>
            </a:r>
            <a:r>
              <a:rPr lang="en-US" dirty="0">
                <a:solidFill>
                  <a:srgbClr val="FF0000"/>
                </a:solidFill>
              </a:rPr>
              <a:t>It is then infused at a rate of 5mls/min.</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3129921"/>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drug B should be given intravenously? </a:t>
            </a:r>
            <a:r>
              <a:rPr lang="en-US" i="1" dirty="0"/>
              <a:t>(write your answer in the box provided)</a:t>
            </a:r>
          </a:p>
        </p:txBody>
      </p:sp>
      <p:sp>
        <p:nvSpPr>
          <p:cNvPr id="19" name="TextBox 18">
            <a:extLst>
              <a:ext uri="{FF2B5EF4-FFF2-40B4-BE49-F238E27FC236}">
                <a16:creationId xmlns:a16="http://schemas.microsoft.com/office/drawing/2014/main" id="{24905BA9-D255-B642-90A5-A76F937C934A}"/>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B2F5C9EE-1DD2-6F46-824D-93D2521D927C}"/>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354299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3939540"/>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t>5mg/kg required</a:t>
            </a:r>
          </a:p>
          <a:p>
            <a:r>
              <a:rPr lang="en-US" dirty="0"/>
              <a:t>5mg x 80kg = 400mg</a:t>
            </a:r>
          </a:p>
          <a:p>
            <a:r>
              <a:rPr lang="en-US" dirty="0"/>
              <a:t>5mg/1ml [initial concentration]</a:t>
            </a:r>
          </a:p>
          <a:p>
            <a:r>
              <a:rPr lang="en-US" dirty="0"/>
              <a:t>5mg/20ml –[diluted concentration – x20, 1:20 dilution]</a:t>
            </a:r>
          </a:p>
          <a:p>
            <a:endParaRPr lang="en-US" dirty="0"/>
          </a:p>
          <a:p>
            <a:r>
              <a:rPr lang="en-US" dirty="0"/>
              <a:t>400mg/1600ml (20ml/5mg x 400mg = 1600ml)</a:t>
            </a:r>
          </a:p>
          <a:p>
            <a:endParaRPr lang="en-US" dirty="0"/>
          </a:p>
          <a:p>
            <a:r>
              <a:rPr lang="en-US" dirty="0"/>
              <a:t>volume = dose/concentration</a:t>
            </a:r>
          </a:p>
          <a:p>
            <a:r>
              <a:rPr lang="en-US" dirty="0"/>
              <a:t>concentration = dose/volume</a:t>
            </a:r>
          </a:p>
          <a:p>
            <a:r>
              <a:rPr lang="en-US" dirty="0"/>
              <a:t>volume = 400mg/(5mg/20ml)</a:t>
            </a:r>
          </a:p>
          <a:p>
            <a:r>
              <a:rPr lang="en-US" dirty="0"/>
              <a:t>volume = 1600ml</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1600</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Dilutions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5mg/kg. Weight 80kg. Drug B is initially available at a concentration of 5mg/1ml. This must be diluted 1-in-20 with sodium chloride 0.9% prior to use.</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diluted drug B should be given intravenously?</a:t>
            </a:r>
          </a:p>
          <a:p>
            <a:r>
              <a:rPr lang="en-US" i="1" dirty="0"/>
              <a:t>(write your answer in the box provided)</a:t>
            </a:r>
          </a:p>
        </p:txBody>
      </p:sp>
      <p:sp>
        <p:nvSpPr>
          <p:cNvPr id="19" name="TextBox 18">
            <a:extLst>
              <a:ext uri="{FF2B5EF4-FFF2-40B4-BE49-F238E27FC236}">
                <a16:creationId xmlns:a16="http://schemas.microsoft.com/office/drawing/2014/main" id="{9CDF6CE0-798C-9C4F-A49C-6A647A768670}"/>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18357057-6A34-5745-A389-88C599CFEE60}"/>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1477195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3385542"/>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t>100mg required [dose]</a:t>
            </a:r>
          </a:p>
          <a:p>
            <a:r>
              <a:rPr lang="en-US" dirty="0"/>
              <a:t>10mg/1ml [diluted concentration]</a:t>
            </a:r>
          </a:p>
          <a:p>
            <a:endParaRPr lang="en-US" dirty="0"/>
          </a:p>
          <a:p>
            <a:r>
              <a:rPr lang="en-US" dirty="0"/>
              <a:t>100mg/10ml (1ml/10mg x 100g = 10ml)</a:t>
            </a:r>
          </a:p>
          <a:p>
            <a:endParaRPr lang="en-US" dirty="0"/>
          </a:p>
          <a:p>
            <a:r>
              <a:rPr lang="en-US" dirty="0"/>
              <a:t>volume = dose/concentration</a:t>
            </a:r>
          </a:p>
          <a:p>
            <a:r>
              <a:rPr lang="en-US" dirty="0"/>
              <a:t>concentration = dose/volume</a:t>
            </a:r>
          </a:p>
          <a:p>
            <a:r>
              <a:rPr lang="en-US" dirty="0"/>
              <a:t>volume = 100mg/(10mg/1ml))</a:t>
            </a:r>
          </a:p>
          <a:p>
            <a:r>
              <a:rPr lang="en-US" dirty="0"/>
              <a:t>volume = 10ml</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10</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Dilutions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100mg. Weight 80kg. Drug B is initially available as a powder which must be diluted with glucose 5% to a concentration of 10mg/1ml prior to use.</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diluted drug B should be given intravenously?</a:t>
            </a:r>
          </a:p>
          <a:p>
            <a:r>
              <a:rPr lang="en-US" i="1" dirty="0"/>
              <a:t>(write your answer in the box provided)</a:t>
            </a:r>
          </a:p>
        </p:txBody>
      </p:sp>
      <p:sp>
        <p:nvSpPr>
          <p:cNvPr id="19" name="TextBox 18">
            <a:extLst>
              <a:ext uri="{FF2B5EF4-FFF2-40B4-BE49-F238E27FC236}">
                <a16:creationId xmlns:a16="http://schemas.microsoft.com/office/drawing/2014/main" id="{0558F530-895B-5E48-B218-233A7EEA67D2}"/>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6811F36E-5FA8-E847-B69B-4DE5D7FD19D6}"/>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1808857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370427"/>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	</a:t>
            </a:r>
            <a:r>
              <a:rPr lang="en-US" dirty="0">
                <a:solidFill>
                  <a:schemeClr val="bg1">
                    <a:lumMod val="65000"/>
                  </a:schemeClr>
                </a:solidFill>
              </a:rPr>
              <a:t> 		            </a:t>
            </a:r>
            <a:r>
              <a:rPr lang="en-US" dirty="0"/>
              <a:t>ml/h</a:t>
            </a:r>
          </a:p>
          <a:p>
            <a:endParaRPr lang="en-US" dirty="0"/>
          </a:p>
          <a:p>
            <a:r>
              <a:rPr lang="en-US" dirty="0">
                <a:highlight>
                  <a:srgbClr val="FFFF00"/>
                </a:highlight>
              </a:rPr>
              <a:t>rate (volume-per-time) = dose-per-time/concentration</a:t>
            </a:r>
          </a:p>
          <a:p>
            <a:endParaRPr lang="en-US" dirty="0"/>
          </a:p>
          <a:p>
            <a:r>
              <a:rPr lang="en-US" dirty="0"/>
              <a:t>5mcg/kg/min required</a:t>
            </a:r>
          </a:p>
          <a:p>
            <a:r>
              <a:rPr lang="en-US" dirty="0"/>
              <a:t>5mcg/min x 80kg = 400mcg/min (but check units!)</a:t>
            </a:r>
          </a:p>
          <a:p>
            <a:r>
              <a:rPr lang="en-US" dirty="0"/>
              <a:t>400mcg/min / 1000 = 0.4mg/min (but still check units!)</a:t>
            </a:r>
          </a:p>
          <a:p>
            <a:r>
              <a:rPr lang="en-US" dirty="0"/>
              <a:t>0.4mg/min x 60 = </a:t>
            </a:r>
            <a:r>
              <a:rPr lang="en-US" b="1" dirty="0"/>
              <a:t>24mg/h</a:t>
            </a:r>
            <a:r>
              <a:rPr lang="en-US" dirty="0"/>
              <a:t> = </a:t>
            </a:r>
            <a:r>
              <a:rPr lang="en-US" dirty="0">
                <a:highlight>
                  <a:srgbClr val="FFFF00"/>
                </a:highlight>
              </a:rPr>
              <a:t>dose-per-time</a:t>
            </a:r>
          </a:p>
          <a:p>
            <a:endParaRPr lang="en-US" dirty="0"/>
          </a:p>
          <a:p>
            <a:r>
              <a:rPr lang="en-US" b="1" dirty="0"/>
              <a:t>20mg/10ml </a:t>
            </a:r>
            <a:r>
              <a:rPr lang="en-US" dirty="0"/>
              <a:t>= </a:t>
            </a:r>
            <a:r>
              <a:rPr lang="en-US" dirty="0">
                <a:highlight>
                  <a:srgbClr val="FFFF00"/>
                </a:highlight>
              </a:rPr>
              <a:t>concentration</a:t>
            </a:r>
          </a:p>
          <a:p>
            <a:endParaRPr lang="en-US" dirty="0">
              <a:highlight>
                <a:srgbClr val="FFFF00"/>
              </a:highlight>
            </a:endParaRPr>
          </a:p>
          <a:p>
            <a:r>
              <a:rPr lang="en-US" dirty="0">
                <a:highlight>
                  <a:srgbClr val="FFFF00"/>
                </a:highlight>
              </a:rPr>
              <a:t>rate (volume-per-time)</a:t>
            </a:r>
            <a:r>
              <a:rPr lang="en-US" b="1" dirty="0"/>
              <a:t> </a:t>
            </a:r>
            <a:r>
              <a:rPr lang="en-US" dirty="0"/>
              <a:t>= 24mg/h / (20mg/10ml)</a:t>
            </a:r>
          </a:p>
          <a:p>
            <a:r>
              <a:rPr lang="en-US" dirty="0"/>
              <a:t>				       = 24</a:t>
            </a:r>
            <a:r>
              <a:rPr lang="en-US" strike="sngStrike" dirty="0"/>
              <a:t>mg</a:t>
            </a:r>
            <a:r>
              <a:rPr lang="en-US" dirty="0"/>
              <a:t>/h / (20</a:t>
            </a:r>
            <a:r>
              <a:rPr lang="en-US" strike="sngStrike" dirty="0"/>
              <a:t>mg</a:t>
            </a:r>
            <a:r>
              <a:rPr lang="en-US" dirty="0"/>
              <a:t>/10ml)</a:t>
            </a:r>
          </a:p>
          <a:p>
            <a:r>
              <a:rPr lang="en-US" dirty="0"/>
              <a:t>				       = 24h / 2ml</a:t>
            </a:r>
          </a:p>
          <a:p>
            <a:r>
              <a:rPr lang="en-US" dirty="0"/>
              <a:t>                                          = </a:t>
            </a:r>
            <a:r>
              <a:rPr lang="en-US" b="1" dirty="0"/>
              <a:t>12ml/h</a:t>
            </a:r>
            <a:endParaRPr lang="en-US" sz="800" b="1"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12</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Rates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347958" cy="830997"/>
          </a:xfrm>
          <a:prstGeom prst="rect">
            <a:avLst/>
          </a:prstGeom>
          <a:noFill/>
        </p:spPr>
        <p:txBody>
          <a:bodyPr wrap="square" rtlCol="0">
            <a:spAutoFit/>
          </a:bodyPr>
          <a:lstStyle/>
          <a:p>
            <a:r>
              <a:rPr lang="en-US" sz="4800" dirty="0"/>
              <a:t>EXAMPLE 5</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5mcg/kg/min. Weight 80kg. Drug B is available in 10ml ampoules containing 20mg each.</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575924"/>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At what rate (ml/h) should the drug B infusion be delivered?</a:t>
            </a:r>
          </a:p>
          <a:p>
            <a:r>
              <a:rPr lang="en-US" i="1" dirty="0"/>
              <a:t>(write your answer in the box provided)</a:t>
            </a:r>
          </a:p>
        </p:txBody>
      </p:sp>
      <p:sp>
        <p:nvSpPr>
          <p:cNvPr id="21" name="TextBox 20">
            <a:extLst>
              <a:ext uri="{FF2B5EF4-FFF2-40B4-BE49-F238E27FC236}">
                <a16:creationId xmlns:a16="http://schemas.microsoft.com/office/drawing/2014/main" id="{3A9E72B0-FD78-F74D-AA5E-1650C7108882}"/>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2" name="TextBox 21">
            <a:extLst>
              <a:ext uri="{FF2B5EF4-FFF2-40B4-BE49-F238E27FC236}">
                <a16:creationId xmlns:a16="http://schemas.microsoft.com/office/drawing/2014/main" id="{EDA8FAB0-D5F4-B74A-87B9-1CA9C70FA330}"/>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3801739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5047536"/>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ml/h</a:t>
            </a:r>
          </a:p>
          <a:p>
            <a:endParaRPr lang="en-US" dirty="0"/>
          </a:p>
          <a:p>
            <a:r>
              <a:rPr lang="en-US" dirty="0">
                <a:highlight>
                  <a:srgbClr val="FFFF00"/>
                </a:highlight>
              </a:rPr>
              <a:t>rate (volume-per-time) = dose-per-time/concentration</a:t>
            </a:r>
            <a:endParaRPr lang="en-US" dirty="0"/>
          </a:p>
          <a:p>
            <a:endParaRPr lang="en-US" dirty="0"/>
          </a:p>
          <a:p>
            <a:r>
              <a:rPr lang="en-US" dirty="0"/>
              <a:t>0.5mg/kg/h required</a:t>
            </a:r>
          </a:p>
          <a:p>
            <a:r>
              <a:rPr lang="en-US" dirty="0"/>
              <a:t>0.5mg/h x 80kg = </a:t>
            </a:r>
            <a:r>
              <a:rPr lang="en-US" b="1" dirty="0"/>
              <a:t>40mg/h</a:t>
            </a:r>
            <a:r>
              <a:rPr lang="en-US" dirty="0"/>
              <a:t> = </a:t>
            </a:r>
            <a:r>
              <a:rPr lang="en-US" dirty="0">
                <a:highlight>
                  <a:srgbClr val="FFFF00"/>
                </a:highlight>
              </a:rPr>
              <a:t>dose-per-time</a:t>
            </a:r>
          </a:p>
          <a:p>
            <a:endParaRPr lang="en-US" dirty="0">
              <a:highlight>
                <a:srgbClr val="FFFF00"/>
              </a:highlight>
            </a:endParaRPr>
          </a:p>
          <a:p>
            <a:r>
              <a:rPr lang="en-US" b="1" dirty="0"/>
              <a:t>5mg/1ml </a:t>
            </a:r>
            <a:r>
              <a:rPr lang="en-US" dirty="0"/>
              <a:t>= </a:t>
            </a:r>
            <a:r>
              <a:rPr lang="en-US" dirty="0">
                <a:highlight>
                  <a:srgbClr val="FFFF00"/>
                </a:highlight>
              </a:rPr>
              <a:t>concentration</a:t>
            </a:r>
          </a:p>
          <a:p>
            <a:endParaRPr lang="en-US" dirty="0">
              <a:highlight>
                <a:srgbClr val="FFFF00"/>
              </a:highlight>
            </a:endParaRPr>
          </a:p>
          <a:p>
            <a:r>
              <a:rPr lang="en-US" dirty="0">
                <a:highlight>
                  <a:srgbClr val="FFFF00"/>
                </a:highlight>
              </a:rPr>
              <a:t>rate (volume-per-time)</a:t>
            </a:r>
            <a:r>
              <a:rPr lang="en-US" dirty="0"/>
              <a:t> = 40mg/h / (5mg/1ml)</a:t>
            </a:r>
          </a:p>
          <a:p>
            <a:r>
              <a:rPr lang="en-US" dirty="0"/>
              <a:t>                                          = 40</a:t>
            </a:r>
            <a:r>
              <a:rPr lang="en-US" strike="sngStrike" dirty="0"/>
              <a:t>mg</a:t>
            </a:r>
            <a:r>
              <a:rPr lang="en-US" dirty="0"/>
              <a:t>/h / (5</a:t>
            </a:r>
            <a:r>
              <a:rPr lang="en-US" strike="sngStrike" dirty="0"/>
              <a:t>mg</a:t>
            </a:r>
            <a:r>
              <a:rPr lang="en-US" dirty="0"/>
              <a:t>/1ml)</a:t>
            </a:r>
          </a:p>
          <a:p>
            <a:r>
              <a:rPr lang="en-US" dirty="0"/>
              <a:t>                                          = 40h / 5ml</a:t>
            </a:r>
          </a:p>
          <a:p>
            <a:r>
              <a:rPr lang="en-US" dirty="0"/>
              <a:t>                                          = </a:t>
            </a:r>
            <a:r>
              <a:rPr lang="en-US" b="1" dirty="0"/>
              <a:t>8ml/h</a:t>
            </a:r>
          </a:p>
          <a:p>
            <a:endParaRPr lang="en-US" dirty="0"/>
          </a:p>
          <a:p>
            <a:r>
              <a:rPr lang="en-US" dirty="0">
                <a:solidFill>
                  <a:srgbClr val="FF0000"/>
                </a:solidFill>
              </a:rPr>
              <a:t>*distractor, they have told you the final diluted concentration so this noes not require calculation, you might be required to do it in other questions though…</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8</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014411" cy="830997"/>
          </a:xfrm>
          <a:prstGeom prst="rect">
            <a:avLst/>
          </a:prstGeom>
          <a:noFill/>
        </p:spPr>
        <p:txBody>
          <a:bodyPr wrap="square" rtlCol="0">
            <a:spAutoFit/>
          </a:bodyPr>
          <a:lstStyle/>
          <a:p>
            <a:r>
              <a:rPr lang="en-US" sz="4800" dirty="0"/>
              <a:t>A7</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0.5mg/kg/h. Weight 80kg. </a:t>
            </a:r>
            <a:r>
              <a:rPr lang="en-US" dirty="0">
                <a:solidFill>
                  <a:srgbClr val="FF0000"/>
                </a:solidFill>
              </a:rPr>
              <a:t>Drug B is initially available as stock solution of 20mg/1ml</a:t>
            </a:r>
            <a:r>
              <a:rPr lang="en-US" dirty="0"/>
              <a:t> which must be diluted with glucose 5% to a concentration of 5mg/1ml prior to use.</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3125973"/>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At what rate (ml/h) should the diluted drug B infusion be delivered?</a:t>
            </a:r>
          </a:p>
          <a:p>
            <a:r>
              <a:rPr lang="en-US" i="1" dirty="0"/>
              <a:t>(write your answer in the box provided)</a:t>
            </a:r>
          </a:p>
        </p:txBody>
      </p:sp>
      <p:sp>
        <p:nvSpPr>
          <p:cNvPr id="19" name="TextBox 18">
            <a:extLst>
              <a:ext uri="{FF2B5EF4-FFF2-40B4-BE49-F238E27FC236}">
                <a16:creationId xmlns:a16="http://schemas.microsoft.com/office/drawing/2014/main" id="{5FB9BA7D-1DFA-664A-9BA9-F081BADDE788}"/>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9596B72C-8092-0344-ABA0-5EBAF9F53F55}"/>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2931403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3662541"/>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mins</a:t>
            </a:r>
          </a:p>
          <a:p>
            <a:endParaRPr lang="en-US" dirty="0"/>
          </a:p>
          <a:p>
            <a:r>
              <a:rPr lang="en-US" dirty="0">
                <a:highlight>
                  <a:srgbClr val="FFFF00"/>
                </a:highlight>
              </a:rPr>
              <a:t>rate = dose/time</a:t>
            </a:r>
            <a:endParaRPr lang="en-US" dirty="0"/>
          </a:p>
          <a:p>
            <a:r>
              <a:rPr lang="en-US" b="1" dirty="0">
                <a:highlight>
                  <a:srgbClr val="FFFF00"/>
                </a:highlight>
              </a:rPr>
              <a:t>time = dose/rate</a:t>
            </a:r>
          </a:p>
          <a:p>
            <a:endParaRPr lang="en-US" dirty="0"/>
          </a:p>
          <a:p>
            <a:r>
              <a:rPr lang="en-US" b="1" dirty="0"/>
              <a:t>5mg/kg </a:t>
            </a:r>
            <a:r>
              <a:rPr lang="en-US" dirty="0"/>
              <a:t>= </a:t>
            </a:r>
            <a:r>
              <a:rPr lang="en-US" dirty="0">
                <a:highlight>
                  <a:srgbClr val="FFFF00"/>
                </a:highlight>
              </a:rPr>
              <a:t>dose</a:t>
            </a:r>
          </a:p>
          <a:p>
            <a:r>
              <a:rPr lang="en-US" b="1" dirty="0"/>
              <a:t>3mg/kg/h </a:t>
            </a:r>
            <a:r>
              <a:rPr lang="en-US" dirty="0"/>
              <a:t>= </a:t>
            </a:r>
            <a:r>
              <a:rPr lang="en-US" dirty="0">
                <a:highlight>
                  <a:srgbClr val="FFFF00"/>
                </a:highlight>
              </a:rPr>
              <a:t>rate</a:t>
            </a:r>
          </a:p>
          <a:p>
            <a:endParaRPr lang="en-US" dirty="0"/>
          </a:p>
          <a:p>
            <a:r>
              <a:rPr lang="en-US" dirty="0">
                <a:highlight>
                  <a:srgbClr val="FFFF00"/>
                </a:highlight>
              </a:rPr>
              <a:t>time</a:t>
            </a:r>
            <a:r>
              <a:rPr lang="en-US" dirty="0"/>
              <a:t> = 5mg/kg / 3mg/kg/h</a:t>
            </a:r>
          </a:p>
          <a:p>
            <a:r>
              <a:rPr lang="en-US" dirty="0"/>
              <a:t>         = 5</a:t>
            </a:r>
            <a:r>
              <a:rPr lang="en-US" strike="sngStrike" dirty="0"/>
              <a:t>mg/kg </a:t>
            </a:r>
            <a:r>
              <a:rPr lang="en-US" dirty="0"/>
              <a:t>/ 3</a:t>
            </a:r>
            <a:r>
              <a:rPr lang="en-US" strike="sngStrike" dirty="0"/>
              <a:t>mg/kg</a:t>
            </a:r>
            <a:r>
              <a:rPr lang="en-US" dirty="0"/>
              <a:t>/h</a:t>
            </a:r>
          </a:p>
          <a:p>
            <a:r>
              <a:rPr lang="en-US" dirty="0"/>
              <a:t>         = 1.67h (but check units!)</a:t>
            </a:r>
          </a:p>
          <a:p>
            <a:r>
              <a:rPr lang="en-US" dirty="0"/>
              <a:t>         = 1.67h x 60 = </a:t>
            </a:r>
            <a:r>
              <a:rPr lang="en-US" b="1" dirty="0"/>
              <a:t>100 mins</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100</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Rates</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5mg/kg. Weight 80kg. The infusion should be at a rate not exceeding 3mg/kg/h.</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57592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is the minimum duration (mins) that drug B can be safely infused?</a:t>
            </a:r>
          </a:p>
          <a:p>
            <a:r>
              <a:rPr lang="en-US" i="1" dirty="0"/>
              <a:t>(write your answer in the box provided)</a:t>
            </a:r>
          </a:p>
        </p:txBody>
      </p:sp>
      <p:sp>
        <p:nvSpPr>
          <p:cNvPr id="19" name="TextBox 18">
            <a:extLst>
              <a:ext uri="{FF2B5EF4-FFF2-40B4-BE49-F238E27FC236}">
                <a16:creationId xmlns:a16="http://schemas.microsoft.com/office/drawing/2014/main" id="{397223D3-B1A1-6E4C-B326-1E35D5CAF1A3}"/>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998DF8FE-139E-E541-A110-F39FDE95D0F6}"/>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3" name="TextBox 2">
            <a:extLst>
              <a:ext uri="{FF2B5EF4-FFF2-40B4-BE49-F238E27FC236}">
                <a16:creationId xmlns:a16="http://schemas.microsoft.com/office/drawing/2014/main" id="{6354AE76-65A8-D396-CFEB-992EAC4D1B3C}"/>
              </a:ext>
            </a:extLst>
          </p:cNvPr>
          <p:cNvSpPr txBox="1"/>
          <p:nvPr/>
        </p:nvSpPr>
        <p:spPr>
          <a:xfrm>
            <a:off x="185739" y="5948964"/>
            <a:ext cx="5347958" cy="830997"/>
          </a:xfrm>
          <a:prstGeom prst="rect">
            <a:avLst/>
          </a:prstGeom>
          <a:noFill/>
        </p:spPr>
        <p:txBody>
          <a:bodyPr wrap="square" rtlCol="0">
            <a:spAutoFit/>
          </a:bodyPr>
          <a:lstStyle/>
          <a:p>
            <a:r>
              <a:rPr lang="en-US" sz="4800" dirty="0"/>
              <a:t>EXAMPLE 6</a:t>
            </a:r>
          </a:p>
        </p:txBody>
      </p:sp>
    </p:spTree>
    <p:extLst>
      <p:ext uri="{BB962C8B-B14F-4D97-AF65-F5344CB8AC3E}">
        <p14:creationId xmlns:p14="http://schemas.microsoft.com/office/powerpoint/2010/main" val="4085222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3939540"/>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h</a:t>
            </a:r>
          </a:p>
          <a:p>
            <a:endParaRPr lang="en-US" dirty="0"/>
          </a:p>
          <a:p>
            <a:r>
              <a:rPr lang="en-US" dirty="0">
                <a:highlight>
                  <a:srgbClr val="FFFF00"/>
                </a:highlight>
              </a:rPr>
              <a:t>rate = dose/time</a:t>
            </a:r>
            <a:endParaRPr lang="en-US" dirty="0"/>
          </a:p>
          <a:p>
            <a:r>
              <a:rPr lang="en-US" b="1" dirty="0">
                <a:highlight>
                  <a:srgbClr val="FFFF00"/>
                </a:highlight>
              </a:rPr>
              <a:t>time = dose/rate</a:t>
            </a:r>
          </a:p>
          <a:p>
            <a:endParaRPr lang="en-US" dirty="0"/>
          </a:p>
          <a:p>
            <a:r>
              <a:rPr lang="en-US" dirty="0">
                <a:highlight>
                  <a:srgbClr val="FFFF00"/>
                </a:highlight>
              </a:rPr>
              <a:t>dose</a:t>
            </a:r>
            <a:r>
              <a:rPr lang="en-US" dirty="0"/>
              <a:t> = 1.2g (but check units!)</a:t>
            </a:r>
          </a:p>
          <a:p>
            <a:r>
              <a:rPr lang="en-US" dirty="0"/>
              <a:t>          = 1.2g x 1000 = </a:t>
            </a:r>
            <a:r>
              <a:rPr lang="en-US" b="1" dirty="0"/>
              <a:t>1200mg</a:t>
            </a:r>
          </a:p>
          <a:p>
            <a:r>
              <a:rPr lang="en-US" dirty="0">
                <a:highlight>
                  <a:srgbClr val="FFFF00"/>
                </a:highlight>
              </a:rPr>
              <a:t>rate</a:t>
            </a:r>
            <a:r>
              <a:rPr lang="en-US" dirty="0"/>
              <a:t> = </a:t>
            </a:r>
            <a:r>
              <a:rPr lang="en-US" b="1" dirty="0"/>
              <a:t>20mg/min</a:t>
            </a:r>
          </a:p>
          <a:p>
            <a:endParaRPr lang="en-US" dirty="0"/>
          </a:p>
          <a:p>
            <a:r>
              <a:rPr lang="en-US" dirty="0">
                <a:highlight>
                  <a:srgbClr val="FFFF00"/>
                </a:highlight>
              </a:rPr>
              <a:t>time</a:t>
            </a:r>
            <a:r>
              <a:rPr lang="en-US" dirty="0"/>
              <a:t> = 1200mg / 20mg/min</a:t>
            </a:r>
          </a:p>
          <a:p>
            <a:r>
              <a:rPr lang="en-US" dirty="0"/>
              <a:t>         = 1200</a:t>
            </a:r>
            <a:r>
              <a:rPr lang="en-US" strike="sngStrike" dirty="0"/>
              <a:t>mg</a:t>
            </a:r>
            <a:r>
              <a:rPr lang="en-US" dirty="0"/>
              <a:t> / 20</a:t>
            </a:r>
            <a:r>
              <a:rPr lang="en-US" strike="sngStrike" dirty="0"/>
              <a:t>mg</a:t>
            </a:r>
            <a:r>
              <a:rPr lang="en-US" dirty="0"/>
              <a:t>/min</a:t>
            </a:r>
          </a:p>
          <a:p>
            <a:r>
              <a:rPr lang="en-US" dirty="0"/>
              <a:t>         = 60 mins (but check units!)</a:t>
            </a:r>
          </a:p>
          <a:p>
            <a:r>
              <a:rPr lang="en-US" dirty="0"/>
              <a:t>         = 60 mins / 60 = </a:t>
            </a:r>
            <a:r>
              <a:rPr lang="en-US" b="1" dirty="0"/>
              <a:t>1h</a:t>
            </a:r>
          </a:p>
          <a:p>
            <a:endParaRPr lang="en-US" sz="800" dirty="0">
              <a:solidFill>
                <a:schemeClr val="bg1">
                  <a:lumMod val="65000"/>
                </a:schemeClr>
              </a:solidFill>
            </a:endParaRPr>
          </a:p>
        </p:txBody>
      </p:sp>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Rates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710295" cy="830997"/>
          </a:xfrm>
          <a:prstGeom prst="rect">
            <a:avLst/>
          </a:prstGeom>
          <a:noFill/>
        </p:spPr>
        <p:txBody>
          <a:bodyPr wrap="square" rtlCol="0">
            <a:spAutoFit/>
          </a:bodyPr>
          <a:lstStyle/>
          <a:p>
            <a:r>
              <a:rPr lang="en-US" sz="4800" dirty="0"/>
              <a:t>A8</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1.2g. Weight 80kg. The infusion should be at a rate not exceeding 20mg/min.</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57592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is the minimum duration (h) that drug B can be safely infused?</a:t>
            </a:r>
          </a:p>
          <a:p>
            <a:r>
              <a:rPr lang="en-US" i="1" dirty="0"/>
              <a:t>(write your answer in the box provided)</a:t>
            </a:r>
          </a:p>
        </p:txBody>
      </p:sp>
      <p:sp>
        <p:nvSpPr>
          <p:cNvPr id="19" name="TextBox 18">
            <a:extLst>
              <a:ext uri="{FF2B5EF4-FFF2-40B4-BE49-F238E27FC236}">
                <a16:creationId xmlns:a16="http://schemas.microsoft.com/office/drawing/2014/main" id="{5DCD6DED-3082-384F-81CD-F5F2207FE2C0}"/>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94E07F98-42BB-8340-A909-EC1F7A3D9F90}"/>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753937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493538"/>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ml/h</a:t>
            </a:r>
          </a:p>
          <a:p>
            <a:endParaRPr lang="en-US" dirty="0"/>
          </a:p>
          <a:p>
            <a:r>
              <a:rPr lang="en-US" dirty="0"/>
              <a:t>200ng/kg/min required</a:t>
            </a:r>
          </a:p>
          <a:p>
            <a:r>
              <a:rPr lang="en-US" dirty="0"/>
              <a:t>200ng x 80kg = 16000ng/min</a:t>
            </a:r>
          </a:p>
          <a:p>
            <a:r>
              <a:rPr lang="en-US" dirty="0"/>
              <a:t>16mcg/min</a:t>
            </a:r>
          </a:p>
          <a:p>
            <a:r>
              <a:rPr lang="en-US" dirty="0"/>
              <a:t>0.016mg/min</a:t>
            </a:r>
          </a:p>
          <a:p>
            <a:r>
              <a:rPr lang="en-US" dirty="0"/>
              <a:t>0.96mg/h [dose-per-time]</a:t>
            </a:r>
          </a:p>
          <a:p>
            <a:r>
              <a:rPr lang="en-US" dirty="0"/>
              <a:t>5mg/100ml [concentration]</a:t>
            </a:r>
          </a:p>
          <a:p>
            <a:endParaRPr lang="en-US" dirty="0"/>
          </a:p>
          <a:p>
            <a:r>
              <a:rPr lang="en-US" dirty="0"/>
              <a:t>0.96mg/19.2ml (100ml/5mg x 0.96mg = 19.2ml)</a:t>
            </a:r>
          </a:p>
          <a:p>
            <a:r>
              <a:rPr lang="en-US" dirty="0"/>
              <a:t>rate = 19.2ml/h</a:t>
            </a:r>
          </a:p>
          <a:p>
            <a:endParaRPr lang="en-US" dirty="0"/>
          </a:p>
          <a:p>
            <a:r>
              <a:rPr lang="en-US" dirty="0"/>
              <a:t>rate = dose-per-time/concentration</a:t>
            </a:r>
          </a:p>
          <a:p>
            <a:r>
              <a:rPr lang="en-US" dirty="0"/>
              <a:t>rate = 0.96mg/h/(5mg/100ml)</a:t>
            </a:r>
          </a:p>
          <a:p>
            <a:r>
              <a:rPr lang="en-US" dirty="0"/>
              <a:t>rate = 19.2ml/h</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19.2</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Rates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200ng/kg/min. Weight 80kg. Drug B is available in 100ml ampoules containing 5mg each. </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575924"/>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At what rate (ml/h) should the drug B infusion be delivered?</a:t>
            </a:r>
          </a:p>
          <a:p>
            <a:r>
              <a:rPr lang="en-US" i="1" dirty="0"/>
              <a:t>(write your answer in the box provided)</a:t>
            </a:r>
          </a:p>
        </p:txBody>
      </p:sp>
      <p:sp>
        <p:nvSpPr>
          <p:cNvPr id="19" name="TextBox 18">
            <a:extLst>
              <a:ext uri="{FF2B5EF4-FFF2-40B4-BE49-F238E27FC236}">
                <a16:creationId xmlns:a16="http://schemas.microsoft.com/office/drawing/2014/main" id="{96DB86B0-9DE4-8A40-80FF-2F1EE23A1420}"/>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68065B48-3A90-A143-A21E-367E9708EB3A}"/>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3211996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216539"/>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ml/h</a:t>
            </a:r>
          </a:p>
          <a:p>
            <a:endParaRPr lang="en-US" dirty="0"/>
          </a:p>
          <a:p>
            <a:r>
              <a:rPr lang="en-US" dirty="0"/>
              <a:t>0.001mg/kg/min required</a:t>
            </a:r>
          </a:p>
          <a:p>
            <a:r>
              <a:rPr lang="en-US" dirty="0"/>
              <a:t>0.001mg x 80kg = 0.08mg/min</a:t>
            </a:r>
          </a:p>
          <a:p>
            <a:r>
              <a:rPr lang="en-US" dirty="0"/>
              <a:t>4.8mg/h [dose-per-time]</a:t>
            </a:r>
          </a:p>
          <a:p>
            <a:r>
              <a:rPr lang="en-US" dirty="0"/>
              <a:t>10mg/5ml [initial concentration]</a:t>
            </a:r>
          </a:p>
          <a:p>
            <a:r>
              <a:rPr lang="en-US" dirty="0"/>
              <a:t>10mg/50ml [diluted concentration]</a:t>
            </a:r>
          </a:p>
          <a:p>
            <a:endParaRPr lang="en-US" dirty="0"/>
          </a:p>
          <a:p>
            <a:r>
              <a:rPr lang="en-US" dirty="0"/>
              <a:t>4.8mg/24ml</a:t>
            </a:r>
          </a:p>
          <a:p>
            <a:r>
              <a:rPr lang="en-US" dirty="0"/>
              <a:t>rate = 24ml/h</a:t>
            </a:r>
          </a:p>
          <a:p>
            <a:endParaRPr lang="en-US" dirty="0"/>
          </a:p>
          <a:p>
            <a:r>
              <a:rPr lang="en-US" dirty="0"/>
              <a:t>rate = dose-per-time/concentration</a:t>
            </a:r>
          </a:p>
          <a:p>
            <a:r>
              <a:rPr lang="en-US" dirty="0"/>
              <a:t>rate = 4.8mg/h/(10mg/50ml)</a:t>
            </a:r>
          </a:p>
          <a:p>
            <a:r>
              <a:rPr lang="en-US" dirty="0"/>
              <a:t>rate = 24ml/h</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24</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Rates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0.001mg/kg/min. Weight 80kg. Drug B is initially available at a concentration of 10mg/5ml which is subsequently diluted with sodium chloride 0.9% from 5ml to 50ml prior to use.</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3125973"/>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At what rate (ml/h) should the diluted drug B infusion be delivered?</a:t>
            </a:r>
          </a:p>
          <a:p>
            <a:r>
              <a:rPr lang="en-US" i="1" dirty="0"/>
              <a:t>(write your answer in the box provided)</a:t>
            </a:r>
          </a:p>
        </p:txBody>
      </p:sp>
      <p:sp>
        <p:nvSpPr>
          <p:cNvPr id="19" name="TextBox 18">
            <a:extLst>
              <a:ext uri="{FF2B5EF4-FFF2-40B4-BE49-F238E27FC236}">
                <a16:creationId xmlns:a16="http://schemas.microsoft.com/office/drawing/2014/main" id="{79A5608F-06CC-B647-9F54-7C58D028ED13}"/>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D6196637-ECB1-2048-9B50-324BC563C160}"/>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2596754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493538"/>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ml/h</a:t>
            </a:r>
          </a:p>
          <a:p>
            <a:endParaRPr lang="en-US" dirty="0"/>
          </a:p>
          <a:p>
            <a:r>
              <a:rPr lang="en-US" dirty="0"/>
              <a:t>0.2mcg/kg/min required</a:t>
            </a:r>
          </a:p>
          <a:p>
            <a:r>
              <a:rPr lang="en-US" dirty="0"/>
              <a:t>0.2mcg x 80kg = 16mcg/min</a:t>
            </a:r>
          </a:p>
          <a:p>
            <a:r>
              <a:rPr lang="en-US" dirty="0"/>
              <a:t>0.016mg/min</a:t>
            </a:r>
          </a:p>
          <a:p>
            <a:r>
              <a:rPr lang="en-US" dirty="0"/>
              <a:t>0.96mg/h [dose-per-time]</a:t>
            </a:r>
          </a:p>
          <a:p>
            <a:r>
              <a:rPr lang="en-US" dirty="0"/>
              <a:t>2.5mg/2ml [initial concentration]</a:t>
            </a:r>
          </a:p>
          <a:p>
            <a:r>
              <a:rPr lang="en-US" dirty="0"/>
              <a:t>2.5mg/20ml [diluted concentration – x10, 1:10 dilution]</a:t>
            </a:r>
          </a:p>
          <a:p>
            <a:endParaRPr lang="en-US" dirty="0"/>
          </a:p>
          <a:p>
            <a:r>
              <a:rPr lang="en-US" dirty="0"/>
              <a:t>0.96mg/7.68ml (20ml/2.5mg x 0.96mg = 7.69ml)</a:t>
            </a:r>
          </a:p>
          <a:p>
            <a:r>
              <a:rPr lang="en-US" dirty="0"/>
              <a:t>rate = 7.68ml/h</a:t>
            </a:r>
          </a:p>
          <a:p>
            <a:endParaRPr lang="en-US" dirty="0"/>
          </a:p>
          <a:p>
            <a:r>
              <a:rPr lang="en-US" dirty="0"/>
              <a:t>rate = dose-per-time/concentration</a:t>
            </a:r>
          </a:p>
          <a:p>
            <a:r>
              <a:rPr lang="en-US" dirty="0"/>
              <a:t>rate = 0.96mg/h/(2.5mg/20ml)</a:t>
            </a:r>
          </a:p>
          <a:p>
            <a:r>
              <a:rPr lang="en-US" dirty="0"/>
              <a:t>rate = 7.68ml/h</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7.68</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0.2mcg/kg/min. Weight 80kg. Drug B is initially  available in 10ml vials of 2.5mg/2ml with each vial subsequently diluted with 90ml of water prior to use.</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At what rate (ml/h) should the diluted drug B infusion be delivered?</a:t>
            </a:r>
          </a:p>
          <a:p>
            <a:r>
              <a:rPr lang="en-US" i="1" dirty="0"/>
              <a:t>(write your answer in the box provided)</a:t>
            </a:r>
          </a:p>
        </p:txBody>
      </p:sp>
      <p:sp>
        <p:nvSpPr>
          <p:cNvPr id="19" name="TextBox 18">
            <a:extLst>
              <a:ext uri="{FF2B5EF4-FFF2-40B4-BE49-F238E27FC236}">
                <a16:creationId xmlns:a16="http://schemas.microsoft.com/office/drawing/2014/main" id="{9AB15C17-BBB1-8945-BDC6-A2ECB3323D8E}"/>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Rates</a:t>
            </a:r>
          </a:p>
        </p:txBody>
      </p:sp>
      <p:sp>
        <p:nvSpPr>
          <p:cNvPr id="15" name="TextBox 14">
            <a:extLst>
              <a:ext uri="{FF2B5EF4-FFF2-40B4-BE49-F238E27FC236}">
                <a16:creationId xmlns:a16="http://schemas.microsoft.com/office/drawing/2014/main" id="{BD9E9402-0BF3-1F4B-BC22-FE3FD7995033}"/>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4B5EEE41-D80B-FD48-B00E-95D7F88C8A9E}"/>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4251208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5324535"/>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mins</a:t>
            </a:r>
          </a:p>
          <a:p>
            <a:endParaRPr lang="en-US" dirty="0"/>
          </a:p>
          <a:p>
            <a:r>
              <a:rPr lang="en-US" dirty="0"/>
              <a:t>200mg required </a:t>
            </a:r>
          </a:p>
          <a:p>
            <a:r>
              <a:rPr lang="en-US" dirty="0"/>
              <a:t>3.33ml/min [rate] (after first 25mg administered)</a:t>
            </a:r>
          </a:p>
          <a:p>
            <a:endParaRPr lang="en-US" dirty="0"/>
          </a:p>
          <a:p>
            <a:r>
              <a:rPr lang="en-US" dirty="0"/>
              <a:t>25mg administered over 15 mins</a:t>
            </a:r>
          </a:p>
          <a:p>
            <a:r>
              <a:rPr lang="en-US" dirty="0"/>
              <a:t>175mg administered of x mins [dose]</a:t>
            </a:r>
          </a:p>
          <a:p>
            <a:endParaRPr lang="en-US" dirty="0"/>
          </a:p>
          <a:p>
            <a:r>
              <a:rPr lang="en-US" dirty="0"/>
              <a:t>time = dose/rate</a:t>
            </a:r>
          </a:p>
          <a:p>
            <a:r>
              <a:rPr lang="en-US" dirty="0"/>
              <a:t>time (x) =  175mg/3.3mg/min</a:t>
            </a:r>
          </a:p>
          <a:p>
            <a:r>
              <a:rPr lang="en-US" dirty="0"/>
              <a:t>time (x) = 53 mins</a:t>
            </a:r>
          </a:p>
          <a:p>
            <a:endParaRPr lang="en-US" dirty="0"/>
          </a:p>
          <a:p>
            <a:r>
              <a:rPr lang="en-US" dirty="0"/>
              <a:t>25mg administered over 15 mins</a:t>
            </a:r>
          </a:p>
          <a:p>
            <a:r>
              <a:rPr lang="en-US" dirty="0"/>
              <a:t>175mg administered over 53 mins</a:t>
            </a:r>
          </a:p>
          <a:p>
            <a:r>
              <a:rPr lang="en-US" dirty="0"/>
              <a:t>time = 15 mins + 53 mins</a:t>
            </a:r>
          </a:p>
          <a:p>
            <a:r>
              <a:rPr lang="en-US" dirty="0"/>
              <a:t>time = 68 mins</a:t>
            </a:r>
          </a:p>
          <a:p>
            <a:endParaRPr lang="en-US" dirty="0"/>
          </a:p>
          <a:p>
            <a:r>
              <a:rPr lang="en-US" dirty="0">
                <a:solidFill>
                  <a:srgbClr val="FF0000"/>
                </a:solidFill>
              </a:rPr>
              <a:t>*distractor</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68</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Rates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 at dose of 200mg. </a:t>
            </a:r>
            <a:r>
              <a:rPr lang="en-US" dirty="0">
                <a:solidFill>
                  <a:srgbClr val="FF0000"/>
                </a:solidFill>
              </a:rPr>
              <a:t>Every 50mg vial of drug B is diluted with 50ml of sodium chloride 0.9% prior to use. </a:t>
            </a:r>
            <a:r>
              <a:rPr lang="en-US" dirty="0"/>
              <a:t>The first 25mg is given over 15 mins with the remaining dose given at a rate not exceeding 3.33mg/min. </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3129921"/>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is the minimum duration (mins) that drug B can be safely infused?</a:t>
            </a:r>
          </a:p>
          <a:p>
            <a:r>
              <a:rPr lang="en-US" i="1" dirty="0"/>
              <a:t>(write your answer in the box provided)</a:t>
            </a:r>
          </a:p>
        </p:txBody>
      </p:sp>
      <p:sp>
        <p:nvSpPr>
          <p:cNvPr id="19" name="TextBox 18">
            <a:extLst>
              <a:ext uri="{FF2B5EF4-FFF2-40B4-BE49-F238E27FC236}">
                <a16:creationId xmlns:a16="http://schemas.microsoft.com/office/drawing/2014/main" id="{BF79145C-A564-F043-8B55-D6EC2FF24B97}"/>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69FF8A8D-78B8-1D43-9B91-5AF19CC1FDC7}"/>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2866405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5324535"/>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mg</a:t>
            </a:r>
          </a:p>
          <a:p>
            <a:endParaRPr lang="en-US" dirty="0"/>
          </a:p>
          <a:p>
            <a:r>
              <a:rPr lang="en-US" dirty="0"/>
              <a:t>0.5g in 100mls = 500mg in 100mls = 5mg in 1ml</a:t>
            </a:r>
          </a:p>
          <a:p>
            <a:r>
              <a:rPr lang="en-US" b="1" dirty="0"/>
              <a:t>5mg/1ml </a:t>
            </a:r>
            <a:r>
              <a:rPr lang="en-US" dirty="0"/>
              <a:t>= </a:t>
            </a:r>
            <a:r>
              <a:rPr lang="en-US" dirty="0">
                <a:highlight>
                  <a:srgbClr val="FFFF00"/>
                </a:highlight>
              </a:rPr>
              <a:t>concentration</a:t>
            </a:r>
          </a:p>
          <a:p>
            <a:r>
              <a:rPr lang="en-US" b="1" dirty="0"/>
              <a:t>10ml</a:t>
            </a:r>
            <a:r>
              <a:rPr lang="en-US" dirty="0"/>
              <a:t> = </a:t>
            </a:r>
            <a:r>
              <a:rPr lang="en-US" dirty="0">
                <a:highlight>
                  <a:srgbClr val="FFFF00"/>
                </a:highlight>
              </a:rPr>
              <a:t>volume</a:t>
            </a:r>
          </a:p>
          <a:p>
            <a:endParaRPr lang="en-US" dirty="0"/>
          </a:p>
          <a:p>
            <a:r>
              <a:rPr lang="en-US" dirty="0">
                <a:highlight>
                  <a:srgbClr val="FFFF00"/>
                </a:highlight>
              </a:rPr>
              <a:t>volume = dose/concentration</a:t>
            </a:r>
          </a:p>
          <a:p>
            <a:r>
              <a:rPr lang="en-US" b="1" dirty="0">
                <a:highlight>
                  <a:srgbClr val="FFFF00"/>
                </a:highlight>
              </a:rPr>
              <a:t>dose = volume x concentration</a:t>
            </a:r>
          </a:p>
          <a:p>
            <a:endParaRPr lang="en-US" dirty="0"/>
          </a:p>
          <a:p>
            <a:r>
              <a:rPr lang="en-US" dirty="0">
                <a:highlight>
                  <a:srgbClr val="FFFF00"/>
                </a:highlight>
              </a:rPr>
              <a:t>dose</a:t>
            </a:r>
            <a:r>
              <a:rPr lang="en-US" dirty="0"/>
              <a:t> = 10ml x (5mg/1ml) = </a:t>
            </a:r>
            <a:r>
              <a:rPr lang="en-US" b="1" dirty="0"/>
              <a:t>50mg</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50</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Percentages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204911" cy="830997"/>
          </a:xfrm>
          <a:prstGeom prst="rect">
            <a:avLst/>
          </a:prstGeom>
          <a:noFill/>
        </p:spPr>
        <p:txBody>
          <a:bodyPr wrap="square" rtlCol="0">
            <a:spAutoFit/>
          </a:bodyPr>
          <a:lstStyle/>
          <a:p>
            <a:r>
              <a:rPr lang="en-US" sz="4800" dirty="0"/>
              <a:t>A9</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has received 10ml of lidocaine hydrochloride 0.5% solution.</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021926"/>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amount (mg) of lidocaine hydrochloride has the patient received?</a:t>
            </a:r>
          </a:p>
          <a:p>
            <a:r>
              <a:rPr lang="en-US" i="1" dirty="0"/>
              <a:t>(write your answer in the box provided)</a:t>
            </a:r>
          </a:p>
        </p:txBody>
      </p:sp>
      <p:pic>
        <p:nvPicPr>
          <p:cNvPr id="20" name="Picture 19">
            <a:extLst>
              <a:ext uri="{FF2B5EF4-FFF2-40B4-BE49-F238E27FC236}">
                <a16:creationId xmlns:a16="http://schemas.microsoft.com/office/drawing/2014/main" id="{8B9878D6-E98D-E04E-8B5C-9494276CA8B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353869" y="4049724"/>
            <a:ext cx="5489773" cy="1899240"/>
          </a:xfrm>
          <a:prstGeom prst="rect">
            <a:avLst/>
          </a:prstGeom>
        </p:spPr>
      </p:pic>
      <p:sp>
        <p:nvSpPr>
          <p:cNvPr id="21" name="TextBox 20">
            <a:extLst>
              <a:ext uri="{FF2B5EF4-FFF2-40B4-BE49-F238E27FC236}">
                <a16:creationId xmlns:a16="http://schemas.microsoft.com/office/drawing/2014/main" id="{82B5D300-3709-F442-B926-7F8424E11054}"/>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2" name="TextBox 21">
            <a:extLst>
              <a:ext uri="{FF2B5EF4-FFF2-40B4-BE49-F238E27FC236}">
                <a16:creationId xmlns:a16="http://schemas.microsoft.com/office/drawing/2014/main" id="{000BFF4E-0DF4-D245-8272-88694D93C83D}"/>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grpSp>
        <p:nvGrpSpPr>
          <p:cNvPr id="2" name="Group 1">
            <a:extLst>
              <a:ext uri="{FF2B5EF4-FFF2-40B4-BE49-F238E27FC236}">
                <a16:creationId xmlns:a16="http://schemas.microsoft.com/office/drawing/2014/main" id="{B58A0ABE-EF44-3B78-78B4-4118C0872BC2}"/>
              </a:ext>
            </a:extLst>
          </p:cNvPr>
          <p:cNvGrpSpPr/>
          <p:nvPr/>
        </p:nvGrpSpPr>
        <p:grpSpPr>
          <a:xfrm>
            <a:off x="9824331" y="2096888"/>
            <a:ext cx="1831138" cy="1578568"/>
            <a:chOff x="9303026" y="3710609"/>
            <a:chExt cx="2050774" cy="1767909"/>
          </a:xfrm>
        </p:grpSpPr>
        <p:sp>
          <p:nvSpPr>
            <p:cNvPr id="3" name="Triangle 2">
              <a:extLst>
                <a:ext uri="{FF2B5EF4-FFF2-40B4-BE49-F238E27FC236}">
                  <a16:creationId xmlns:a16="http://schemas.microsoft.com/office/drawing/2014/main" id="{3A451F38-AE9D-8AE9-D7BB-1CCF932B72AB}"/>
                </a:ext>
              </a:extLst>
            </p:cNvPr>
            <p:cNvSpPr/>
            <p:nvPr/>
          </p:nvSpPr>
          <p:spPr>
            <a:xfrm>
              <a:off x="9303026" y="3710609"/>
              <a:ext cx="2050774" cy="1767909"/>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680E210-1021-842A-0DBF-17F9DBB6A233}"/>
                </a:ext>
              </a:extLst>
            </p:cNvPr>
            <p:cNvSpPr txBox="1"/>
            <p:nvPr/>
          </p:nvSpPr>
          <p:spPr>
            <a:xfrm>
              <a:off x="9963977" y="4089687"/>
              <a:ext cx="728869" cy="654916"/>
            </a:xfrm>
            <a:prstGeom prst="rect">
              <a:avLst/>
            </a:prstGeom>
            <a:noFill/>
          </p:spPr>
          <p:txBody>
            <a:bodyPr wrap="square" rtlCol="0">
              <a:spAutoFit/>
            </a:bodyPr>
            <a:lstStyle/>
            <a:p>
              <a:pPr algn="ctr"/>
              <a:r>
                <a:rPr lang="en-US" sz="3200" dirty="0"/>
                <a:t>d</a:t>
              </a:r>
            </a:p>
          </p:txBody>
        </p:sp>
        <p:sp>
          <p:nvSpPr>
            <p:cNvPr id="5" name="TextBox 4">
              <a:extLst>
                <a:ext uri="{FF2B5EF4-FFF2-40B4-BE49-F238E27FC236}">
                  <a16:creationId xmlns:a16="http://schemas.microsoft.com/office/drawing/2014/main" id="{7A4B4709-07D7-3622-D909-F8004C05C903}"/>
                </a:ext>
              </a:extLst>
            </p:cNvPr>
            <p:cNvSpPr txBox="1"/>
            <p:nvPr/>
          </p:nvSpPr>
          <p:spPr>
            <a:xfrm>
              <a:off x="9599543" y="4739905"/>
              <a:ext cx="728869" cy="654916"/>
            </a:xfrm>
            <a:prstGeom prst="rect">
              <a:avLst/>
            </a:prstGeom>
            <a:noFill/>
          </p:spPr>
          <p:txBody>
            <a:bodyPr wrap="square" rtlCol="0">
              <a:spAutoFit/>
            </a:bodyPr>
            <a:lstStyle/>
            <a:p>
              <a:pPr algn="ctr"/>
              <a:r>
                <a:rPr lang="en-US" sz="3200" dirty="0"/>
                <a:t>v</a:t>
              </a:r>
            </a:p>
          </p:txBody>
        </p:sp>
        <p:sp>
          <p:nvSpPr>
            <p:cNvPr id="6" name="TextBox 5">
              <a:extLst>
                <a:ext uri="{FF2B5EF4-FFF2-40B4-BE49-F238E27FC236}">
                  <a16:creationId xmlns:a16="http://schemas.microsoft.com/office/drawing/2014/main" id="{AEDA7E2E-3C6E-57D9-DC9D-47370E4BD478}"/>
                </a:ext>
              </a:extLst>
            </p:cNvPr>
            <p:cNvSpPr txBox="1"/>
            <p:nvPr/>
          </p:nvSpPr>
          <p:spPr>
            <a:xfrm>
              <a:off x="10260494" y="4703669"/>
              <a:ext cx="728869" cy="654916"/>
            </a:xfrm>
            <a:prstGeom prst="rect">
              <a:avLst/>
            </a:prstGeom>
            <a:noFill/>
          </p:spPr>
          <p:txBody>
            <a:bodyPr wrap="square" rtlCol="0">
              <a:spAutoFit/>
            </a:bodyPr>
            <a:lstStyle/>
            <a:p>
              <a:pPr algn="ctr"/>
              <a:r>
                <a:rPr lang="en-US" sz="3200" dirty="0"/>
                <a:t>c</a:t>
              </a:r>
            </a:p>
          </p:txBody>
        </p:sp>
      </p:grpSp>
      <p:sp>
        <p:nvSpPr>
          <p:cNvPr id="7" name="Rectangle 6">
            <a:extLst>
              <a:ext uri="{FF2B5EF4-FFF2-40B4-BE49-F238E27FC236}">
                <a16:creationId xmlns:a16="http://schemas.microsoft.com/office/drawing/2014/main" id="{38B3D0EA-98CB-F616-4943-E9DA3BF65E70}"/>
              </a:ext>
            </a:extLst>
          </p:cNvPr>
          <p:cNvSpPr/>
          <p:nvPr/>
        </p:nvSpPr>
        <p:spPr>
          <a:xfrm>
            <a:off x="6391969" y="4575325"/>
            <a:ext cx="1621731" cy="27607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108ABC63-A083-14A4-35E8-E788FCC59F0A}"/>
              </a:ext>
            </a:extLst>
          </p:cNvPr>
          <p:cNvSpPr/>
          <p:nvPr/>
        </p:nvSpPr>
        <p:spPr>
          <a:xfrm>
            <a:off x="6593234" y="5388620"/>
            <a:ext cx="1712566" cy="40469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9907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5047536"/>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mg</a:t>
            </a:r>
          </a:p>
          <a:p>
            <a:endParaRPr lang="en-US" dirty="0"/>
          </a:p>
          <a:p>
            <a:r>
              <a:rPr lang="en-US" dirty="0"/>
              <a:t>Remember atropine 1% means a concentration of 1g per 100ml (always g per ml) so 1g/100ml</a:t>
            </a:r>
          </a:p>
          <a:p>
            <a:endParaRPr lang="en-US" dirty="0"/>
          </a:p>
          <a:p>
            <a:r>
              <a:rPr lang="en-US" dirty="0"/>
              <a:t>0.1ml received</a:t>
            </a:r>
          </a:p>
          <a:p>
            <a:r>
              <a:rPr lang="en-US" dirty="0"/>
              <a:t>1g/100ml</a:t>
            </a:r>
          </a:p>
          <a:p>
            <a:r>
              <a:rPr lang="en-US" dirty="0"/>
              <a:t>1000mg/100ml (10mg/1ml as below!)</a:t>
            </a:r>
          </a:p>
          <a:p>
            <a:r>
              <a:rPr lang="en-US" dirty="0"/>
              <a:t>1mg/0.1ml (1000mg/100ml x 0.1ml = 1mg)</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Percentages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has received 0.1ml of atropine 1% eye drops.</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021926"/>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amount (mg) atropine has the patient received?</a:t>
            </a:r>
          </a:p>
          <a:p>
            <a:r>
              <a:rPr lang="en-US" i="1" dirty="0"/>
              <a:t>(write your answer in the box provided)</a:t>
            </a:r>
          </a:p>
        </p:txBody>
      </p:sp>
      <p:pic>
        <p:nvPicPr>
          <p:cNvPr id="21" name="Picture 20">
            <a:extLst>
              <a:ext uri="{FF2B5EF4-FFF2-40B4-BE49-F238E27FC236}">
                <a16:creationId xmlns:a16="http://schemas.microsoft.com/office/drawing/2014/main" id="{358ABB52-C8BD-CD43-A44A-B36D45027DE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353869" y="3793750"/>
            <a:ext cx="5489773" cy="1874216"/>
          </a:xfrm>
          <a:prstGeom prst="rect">
            <a:avLst/>
          </a:prstGeom>
        </p:spPr>
      </p:pic>
      <p:sp>
        <p:nvSpPr>
          <p:cNvPr id="23" name="TextBox 22">
            <a:extLst>
              <a:ext uri="{FF2B5EF4-FFF2-40B4-BE49-F238E27FC236}">
                <a16:creationId xmlns:a16="http://schemas.microsoft.com/office/drawing/2014/main" id="{C121AC5D-77D2-7543-9026-B3573F69A69F}"/>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4" name="TextBox 23">
            <a:extLst>
              <a:ext uri="{FF2B5EF4-FFF2-40B4-BE49-F238E27FC236}">
                <a16:creationId xmlns:a16="http://schemas.microsoft.com/office/drawing/2014/main" id="{ABFA6EFE-C29B-C340-944D-C8B30DB16712}"/>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3178526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493538"/>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mg</a:t>
            </a:r>
          </a:p>
          <a:p>
            <a:endParaRPr lang="en-US" dirty="0"/>
          </a:p>
          <a:p>
            <a:r>
              <a:rPr lang="en-US" dirty="0"/>
              <a:t>1g in 1000mls = 1000mg in 1000mls = 1mg in 1ml</a:t>
            </a:r>
          </a:p>
          <a:p>
            <a:r>
              <a:rPr lang="en-US" b="1" dirty="0"/>
              <a:t>1mg/1ml </a:t>
            </a:r>
            <a:r>
              <a:rPr lang="en-US" dirty="0"/>
              <a:t>= </a:t>
            </a:r>
            <a:r>
              <a:rPr lang="en-US" dirty="0">
                <a:highlight>
                  <a:srgbClr val="FFFF00"/>
                </a:highlight>
              </a:rPr>
              <a:t>concentration</a:t>
            </a:r>
          </a:p>
          <a:p>
            <a:r>
              <a:rPr lang="en-US" b="1" dirty="0"/>
              <a:t>1.5ml</a:t>
            </a:r>
            <a:r>
              <a:rPr lang="en-US" dirty="0"/>
              <a:t> = </a:t>
            </a:r>
            <a:r>
              <a:rPr lang="en-US" dirty="0">
                <a:highlight>
                  <a:srgbClr val="FFFF00"/>
                </a:highlight>
              </a:rPr>
              <a:t>volume</a:t>
            </a:r>
          </a:p>
          <a:p>
            <a:endParaRPr lang="en-US" dirty="0">
              <a:highlight>
                <a:srgbClr val="FFFF00"/>
              </a:highlight>
            </a:endParaRPr>
          </a:p>
          <a:p>
            <a:r>
              <a:rPr lang="en-US" dirty="0">
                <a:highlight>
                  <a:srgbClr val="FFFF00"/>
                </a:highlight>
              </a:rPr>
              <a:t>volume = dose/concentration</a:t>
            </a:r>
          </a:p>
          <a:p>
            <a:r>
              <a:rPr lang="en-US" b="1" dirty="0">
                <a:highlight>
                  <a:srgbClr val="FFFF00"/>
                </a:highlight>
              </a:rPr>
              <a:t>dose = volume x concentration</a:t>
            </a:r>
          </a:p>
          <a:p>
            <a:endParaRPr lang="en-US" dirty="0">
              <a:highlight>
                <a:srgbClr val="FFFF00"/>
              </a:highlight>
            </a:endParaRPr>
          </a:p>
          <a:p>
            <a:r>
              <a:rPr lang="en-US" dirty="0">
                <a:highlight>
                  <a:srgbClr val="FFFF00"/>
                </a:highlight>
              </a:rPr>
              <a:t>dose</a:t>
            </a:r>
            <a:r>
              <a:rPr lang="en-US" dirty="0"/>
              <a:t> = 1.5ml x (1mg/1ml) = </a:t>
            </a:r>
            <a:r>
              <a:rPr lang="en-US" b="1" dirty="0"/>
              <a:t>1.5mg</a:t>
            </a:r>
          </a:p>
          <a:p>
            <a:endParaRPr lang="en-US" dirty="0"/>
          </a:p>
          <a:p>
            <a:r>
              <a:rPr lang="en-US" dirty="0"/>
              <a:t>Anaphylaxis = 0.5ml (0.5mg) of 1:1000 adrenaline intramuscularly (IM)</a:t>
            </a:r>
          </a:p>
          <a:p>
            <a:r>
              <a:rPr lang="en-US" dirty="0"/>
              <a:t>Cardiac arrest = 10ml (1mg) of 1:10,000 adrenaline intravenously (IV)</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1.5</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710295" cy="830997"/>
          </a:xfrm>
          <a:prstGeom prst="rect">
            <a:avLst/>
          </a:prstGeom>
          <a:noFill/>
        </p:spPr>
        <p:txBody>
          <a:bodyPr wrap="square" rtlCol="0">
            <a:spAutoFit/>
          </a:bodyPr>
          <a:lstStyle/>
          <a:p>
            <a:r>
              <a:rPr lang="en-US" sz="4800" dirty="0"/>
              <a:t>A10</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has received 1.5ml of adrenaline 1:1000 intramuscularly during anaphylaxis resuscitation.</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021926"/>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amount (mg) adrenaline has the patient received?</a:t>
            </a:r>
          </a:p>
          <a:p>
            <a:r>
              <a:rPr lang="en-US" i="1" dirty="0"/>
              <a:t>(write your answer in the box provided)</a:t>
            </a:r>
          </a:p>
        </p:txBody>
      </p:sp>
      <p:sp>
        <p:nvSpPr>
          <p:cNvPr id="12" name="TextBox 11">
            <a:extLst>
              <a:ext uri="{FF2B5EF4-FFF2-40B4-BE49-F238E27FC236}">
                <a16:creationId xmlns:a16="http://schemas.microsoft.com/office/drawing/2014/main" id="{F9802135-C21C-2B41-BB8E-725F9987FB43}"/>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Ratios</a:t>
            </a:r>
          </a:p>
        </p:txBody>
      </p:sp>
      <p:sp>
        <p:nvSpPr>
          <p:cNvPr id="19" name="TextBox 18">
            <a:extLst>
              <a:ext uri="{FF2B5EF4-FFF2-40B4-BE49-F238E27FC236}">
                <a16:creationId xmlns:a16="http://schemas.microsoft.com/office/drawing/2014/main" id="{6AA4CBC8-8A9C-3F4A-A72A-DE7BC054E8FE}"/>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9BF906C2-1552-5546-AB35-5E623FA68B73}"/>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grpSp>
        <p:nvGrpSpPr>
          <p:cNvPr id="2" name="Group 1">
            <a:extLst>
              <a:ext uri="{FF2B5EF4-FFF2-40B4-BE49-F238E27FC236}">
                <a16:creationId xmlns:a16="http://schemas.microsoft.com/office/drawing/2014/main" id="{D5BA4018-3EAB-26F2-8BCF-A26C25B2D4F8}"/>
              </a:ext>
            </a:extLst>
          </p:cNvPr>
          <p:cNvGrpSpPr/>
          <p:nvPr/>
        </p:nvGrpSpPr>
        <p:grpSpPr>
          <a:xfrm>
            <a:off x="9824331" y="2096888"/>
            <a:ext cx="1831138" cy="1578568"/>
            <a:chOff x="9303026" y="3710609"/>
            <a:chExt cx="2050774" cy="1767909"/>
          </a:xfrm>
        </p:grpSpPr>
        <p:sp>
          <p:nvSpPr>
            <p:cNvPr id="3" name="Triangle 2">
              <a:extLst>
                <a:ext uri="{FF2B5EF4-FFF2-40B4-BE49-F238E27FC236}">
                  <a16:creationId xmlns:a16="http://schemas.microsoft.com/office/drawing/2014/main" id="{280433F5-011D-D505-CF19-8432785296FF}"/>
                </a:ext>
              </a:extLst>
            </p:cNvPr>
            <p:cNvSpPr/>
            <p:nvPr/>
          </p:nvSpPr>
          <p:spPr>
            <a:xfrm>
              <a:off x="9303026" y="3710609"/>
              <a:ext cx="2050774" cy="1767909"/>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EDD6D81B-A54C-4577-57EE-57BB23477960}"/>
                </a:ext>
              </a:extLst>
            </p:cNvPr>
            <p:cNvSpPr txBox="1"/>
            <p:nvPr/>
          </p:nvSpPr>
          <p:spPr>
            <a:xfrm>
              <a:off x="9963977" y="4089687"/>
              <a:ext cx="728869" cy="654916"/>
            </a:xfrm>
            <a:prstGeom prst="rect">
              <a:avLst/>
            </a:prstGeom>
            <a:noFill/>
          </p:spPr>
          <p:txBody>
            <a:bodyPr wrap="square" rtlCol="0">
              <a:spAutoFit/>
            </a:bodyPr>
            <a:lstStyle/>
            <a:p>
              <a:pPr algn="ctr"/>
              <a:r>
                <a:rPr lang="en-US" sz="3200" dirty="0"/>
                <a:t>d</a:t>
              </a:r>
            </a:p>
          </p:txBody>
        </p:sp>
        <p:sp>
          <p:nvSpPr>
            <p:cNvPr id="5" name="TextBox 4">
              <a:extLst>
                <a:ext uri="{FF2B5EF4-FFF2-40B4-BE49-F238E27FC236}">
                  <a16:creationId xmlns:a16="http://schemas.microsoft.com/office/drawing/2014/main" id="{50E874EC-2297-001F-C086-08F216719504}"/>
                </a:ext>
              </a:extLst>
            </p:cNvPr>
            <p:cNvSpPr txBox="1"/>
            <p:nvPr/>
          </p:nvSpPr>
          <p:spPr>
            <a:xfrm>
              <a:off x="9599543" y="4739905"/>
              <a:ext cx="728869" cy="654916"/>
            </a:xfrm>
            <a:prstGeom prst="rect">
              <a:avLst/>
            </a:prstGeom>
            <a:noFill/>
          </p:spPr>
          <p:txBody>
            <a:bodyPr wrap="square" rtlCol="0">
              <a:spAutoFit/>
            </a:bodyPr>
            <a:lstStyle/>
            <a:p>
              <a:pPr algn="ctr"/>
              <a:r>
                <a:rPr lang="en-US" sz="3200" dirty="0"/>
                <a:t>v</a:t>
              </a:r>
            </a:p>
          </p:txBody>
        </p:sp>
        <p:sp>
          <p:nvSpPr>
            <p:cNvPr id="6" name="TextBox 5">
              <a:extLst>
                <a:ext uri="{FF2B5EF4-FFF2-40B4-BE49-F238E27FC236}">
                  <a16:creationId xmlns:a16="http://schemas.microsoft.com/office/drawing/2014/main" id="{F471E920-67FC-ABD3-9BD1-2F128A2FB47F}"/>
                </a:ext>
              </a:extLst>
            </p:cNvPr>
            <p:cNvSpPr txBox="1"/>
            <p:nvPr/>
          </p:nvSpPr>
          <p:spPr>
            <a:xfrm>
              <a:off x="10260494" y="4703669"/>
              <a:ext cx="728869" cy="654916"/>
            </a:xfrm>
            <a:prstGeom prst="rect">
              <a:avLst/>
            </a:prstGeom>
            <a:noFill/>
          </p:spPr>
          <p:txBody>
            <a:bodyPr wrap="square" rtlCol="0">
              <a:spAutoFit/>
            </a:bodyPr>
            <a:lstStyle/>
            <a:p>
              <a:pPr algn="ctr"/>
              <a:r>
                <a:rPr lang="en-US" sz="3200" dirty="0"/>
                <a:t>c</a:t>
              </a:r>
            </a:p>
          </p:txBody>
        </p:sp>
      </p:grpSp>
    </p:spTree>
    <p:extLst>
      <p:ext uri="{BB962C8B-B14F-4D97-AF65-F5344CB8AC3E}">
        <p14:creationId xmlns:p14="http://schemas.microsoft.com/office/powerpoint/2010/main" val="4278889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2277547"/>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mg</a:t>
            </a:r>
          </a:p>
          <a:p>
            <a:endParaRPr lang="en-US" dirty="0"/>
          </a:p>
          <a:p>
            <a:r>
              <a:rPr lang="en-US" dirty="0"/>
              <a:t>35ml of 1:10,000 adrenaline</a:t>
            </a:r>
          </a:p>
          <a:p>
            <a:r>
              <a:rPr lang="en-US" dirty="0"/>
              <a:t>1g/10,000ml</a:t>
            </a:r>
          </a:p>
          <a:p>
            <a:r>
              <a:rPr lang="en-US" dirty="0"/>
              <a:t>1000mg/10,000ml</a:t>
            </a:r>
          </a:p>
          <a:p>
            <a:r>
              <a:rPr lang="en-US" dirty="0"/>
              <a:t>1mg/10ml</a:t>
            </a:r>
          </a:p>
          <a:p>
            <a:r>
              <a:rPr lang="en-US" dirty="0"/>
              <a:t>3.5mg/35ml</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3.5</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has received 35ml of adrenaline 1:10,000 intravenously during cardiopulmonary resuscitation.</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298925"/>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amount (mg) adrenaline has the patient received?</a:t>
            </a:r>
          </a:p>
          <a:p>
            <a:r>
              <a:rPr lang="en-US" i="1" dirty="0"/>
              <a:t>(write your answer in the box provided)</a:t>
            </a:r>
          </a:p>
        </p:txBody>
      </p:sp>
      <p:sp>
        <p:nvSpPr>
          <p:cNvPr id="12" name="TextBox 11">
            <a:extLst>
              <a:ext uri="{FF2B5EF4-FFF2-40B4-BE49-F238E27FC236}">
                <a16:creationId xmlns:a16="http://schemas.microsoft.com/office/drawing/2014/main" id="{0C1F3D2A-CC86-1C44-9DB5-5D499C49C93B}"/>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Ratios</a:t>
            </a:r>
          </a:p>
        </p:txBody>
      </p:sp>
      <p:sp>
        <p:nvSpPr>
          <p:cNvPr id="19" name="TextBox 18">
            <a:extLst>
              <a:ext uri="{FF2B5EF4-FFF2-40B4-BE49-F238E27FC236}">
                <a16:creationId xmlns:a16="http://schemas.microsoft.com/office/drawing/2014/main" id="{302ABBCD-1F65-A44A-BEB4-C9A9A3820123}"/>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493A077B-A835-C14F-A1E5-B168E30CC4D7}"/>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122734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493538"/>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highlight>
                  <a:srgbClr val="FFFF00"/>
                </a:highlight>
              </a:rPr>
              <a:t>volume = dose/concentration</a:t>
            </a:r>
          </a:p>
          <a:p>
            <a:endParaRPr lang="en-US" dirty="0"/>
          </a:p>
          <a:p>
            <a:r>
              <a:rPr lang="en-US" b="1" dirty="0"/>
              <a:t>Calculate the maximal volume:</a:t>
            </a:r>
          </a:p>
          <a:p>
            <a:r>
              <a:rPr lang="en-US" b="1" dirty="0"/>
              <a:t>200mg</a:t>
            </a:r>
            <a:r>
              <a:rPr lang="en-US" dirty="0"/>
              <a:t> = </a:t>
            </a:r>
            <a:r>
              <a:rPr lang="en-US" dirty="0">
                <a:highlight>
                  <a:srgbClr val="FFFF00"/>
                </a:highlight>
              </a:rPr>
              <a:t>maximum dose</a:t>
            </a:r>
          </a:p>
          <a:p>
            <a:r>
              <a:rPr lang="en-US" dirty="0"/>
              <a:t>0.5% = 0.5g in 100mls = 500mg in 100mls = 5mg in 1ml</a:t>
            </a:r>
          </a:p>
          <a:p>
            <a:r>
              <a:rPr lang="en-US" b="1" dirty="0"/>
              <a:t>5mg/1ml </a:t>
            </a:r>
            <a:r>
              <a:rPr lang="en-US" dirty="0"/>
              <a:t>= </a:t>
            </a:r>
            <a:r>
              <a:rPr lang="en-US" dirty="0">
                <a:highlight>
                  <a:srgbClr val="FFFF00"/>
                </a:highlight>
              </a:rPr>
              <a:t>concentration</a:t>
            </a:r>
          </a:p>
          <a:p>
            <a:endParaRPr lang="en-US" dirty="0">
              <a:highlight>
                <a:srgbClr val="FFFF00"/>
              </a:highlight>
            </a:endParaRPr>
          </a:p>
          <a:p>
            <a:r>
              <a:rPr lang="en-US" dirty="0">
                <a:highlight>
                  <a:srgbClr val="FFFF00"/>
                </a:highlight>
              </a:rPr>
              <a:t>maximum volume</a:t>
            </a:r>
            <a:r>
              <a:rPr lang="en-US" dirty="0"/>
              <a:t> = 200mg / (5mg/1ml)</a:t>
            </a:r>
          </a:p>
          <a:p>
            <a:r>
              <a:rPr lang="en-US" dirty="0"/>
              <a:t>                                 = </a:t>
            </a:r>
            <a:r>
              <a:rPr lang="en-US" b="1" dirty="0"/>
              <a:t>40ml</a:t>
            </a:r>
          </a:p>
          <a:p>
            <a:endParaRPr lang="en-US" dirty="0"/>
          </a:p>
          <a:p>
            <a:r>
              <a:rPr lang="en-US" b="1" dirty="0"/>
              <a:t>Work out the answer by maximal volume - received volume:</a:t>
            </a:r>
          </a:p>
          <a:p>
            <a:r>
              <a:rPr lang="en-US" dirty="0"/>
              <a:t>40ml - 22ml = </a:t>
            </a:r>
            <a:r>
              <a:rPr lang="en-US" b="1" dirty="0"/>
              <a:t>18ml</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18</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has received 22ml of lidocaine hydrochloride 0.5% as a peripheral nerve block. She can still feel some pain and is requesting additional local </a:t>
            </a:r>
            <a:r>
              <a:rPr lang="en-US" dirty="0" err="1"/>
              <a:t>anaesthesia</a:t>
            </a:r>
            <a:r>
              <a:rPr lang="en-US" dirty="0"/>
              <a:t>. The maximal dose for lidocaine hydrochloride 0.5% infiltration is 200mg.</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7"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additional volume (ml) of lidocaine hydrochloride can the patient receive before reaching the maximal dose?</a:t>
            </a:r>
          </a:p>
          <a:p>
            <a:r>
              <a:rPr lang="en-US" i="1" dirty="0"/>
              <a:t>(write your answer in the box provided)</a:t>
            </a:r>
          </a:p>
        </p:txBody>
      </p:sp>
      <p:sp>
        <p:nvSpPr>
          <p:cNvPr id="19" name="TextBox 18">
            <a:extLst>
              <a:ext uri="{FF2B5EF4-FFF2-40B4-BE49-F238E27FC236}">
                <a16:creationId xmlns:a16="http://schemas.microsoft.com/office/drawing/2014/main" id="{327BD6D3-AD7F-264F-89A3-914B24482895}"/>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53881868-9954-694D-B0DA-D635A78A372B}"/>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12" name="TextBox 11">
            <a:extLst>
              <a:ext uri="{FF2B5EF4-FFF2-40B4-BE49-F238E27FC236}">
                <a16:creationId xmlns:a16="http://schemas.microsoft.com/office/drawing/2014/main" id="{DB290F86-AC3C-F04B-A85F-0B1E2BAE7EBB}"/>
              </a:ext>
            </a:extLst>
          </p:cNvPr>
          <p:cNvSpPr txBox="1"/>
          <p:nvPr/>
        </p:nvSpPr>
        <p:spPr>
          <a:xfrm>
            <a:off x="10233213" y="6293543"/>
            <a:ext cx="1773050" cy="353943"/>
          </a:xfrm>
          <a:prstGeom prst="rect">
            <a:avLst/>
          </a:prstGeom>
          <a:noFill/>
          <a:ln>
            <a:solidFill>
              <a:schemeClr val="tx1"/>
            </a:solidFill>
          </a:ln>
        </p:spPr>
        <p:txBody>
          <a:bodyPr wrap="square" rtlCol="0">
            <a:spAutoFit/>
          </a:bodyPr>
          <a:lstStyle/>
          <a:p>
            <a:pPr algn="ctr"/>
            <a:r>
              <a:rPr lang="en-US" sz="1700" dirty="0"/>
              <a:t>‘How much more’</a:t>
            </a:r>
          </a:p>
        </p:txBody>
      </p:sp>
      <p:sp>
        <p:nvSpPr>
          <p:cNvPr id="2" name="TextBox 1">
            <a:extLst>
              <a:ext uri="{FF2B5EF4-FFF2-40B4-BE49-F238E27FC236}">
                <a16:creationId xmlns:a16="http://schemas.microsoft.com/office/drawing/2014/main" id="{11028B3C-F75D-FFF6-449F-70E381381134}"/>
              </a:ext>
            </a:extLst>
          </p:cNvPr>
          <p:cNvSpPr txBox="1"/>
          <p:nvPr/>
        </p:nvSpPr>
        <p:spPr>
          <a:xfrm>
            <a:off x="185739" y="5948964"/>
            <a:ext cx="5347958" cy="830997"/>
          </a:xfrm>
          <a:prstGeom prst="rect">
            <a:avLst/>
          </a:prstGeom>
          <a:noFill/>
        </p:spPr>
        <p:txBody>
          <a:bodyPr wrap="square" rtlCol="0">
            <a:spAutoFit/>
          </a:bodyPr>
          <a:lstStyle/>
          <a:p>
            <a:r>
              <a:rPr lang="en-US" sz="4800" dirty="0"/>
              <a:t>EXAMPLE 7</a:t>
            </a:r>
          </a:p>
        </p:txBody>
      </p:sp>
    </p:spTree>
    <p:extLst>
      <p:ext uri="{BB962C8B-B14F-4D97-AF65-F5344CB8AC3E}">
        <p14:creationId xmlns:p14="http://schemas.microsoft.com/office/powerpoint/2010/main" val="2688527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770537"/>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highlight>
                  <a:srgbClr val="FFFF00"/>
                </a:highlight>
              </a:rPr>
              <a:t>volume = dose/concentration</a:t>
            </a:r>
          </a:p>
          <a:p>
            <a:endParaRPr lang="en-US" dirty="0"/>
          </a:p>
          <a:p>
            <a:r>
              <a:rPr lang="en-US" b="1" dirty="0"/>
              <a:t>Calculate the maximal volume:</a:t>
            </a:r>
          </a:p>
          <a:p>
            <a:r>
              <a:rPr lang="en-US" dirty="0"/>
              <a:t>3mg/kg required</a:t>
            </a:r>
          </a:p>
          <a:p>
            <a:r>
              <a:rPr lang="en-US" dirty="0"/>
              <a:t>3mg x 30kg = </a:t>
            </a:r>
            <a:r>
              <a:rPr lang="en-US" b="1" dirty="0"/>
              <a:t>90mg</a:t>
            </a:r>
            <a:r>
              <a:rPr lang="en-US" dirty="0"/>
              <a:t> = </a:t>
            </a:r>
            <a:r>
              <a:rPr lang="en-US" dirty="0">
                <a:highlight>
                  <a:srgbClr val="FFFF00"/>
                </a:highlight>
              </a:rPr>
              <a:t>dose</a:t>
            </a:r>
          </a:p>
          <a:p>
            <a:r>
              <a:rPr lang="en-US" dirty="0"/>
              <a:t>2% = 2g in 100ml = 2000mg in 100ml = 20mg in 1ml</a:t>
            </a:r>
          </a:p>
          <a:p>
            <a:r>
              <a:rPr lang="en-US" b="1" dirty="0"/>
              <a:t>20mg/1ml </a:t>
            </a:r>
            <a:r>
              <a:rPr lang="en-US" dirty="0"/>
              <a:t>= </a:t>
            </a:r>
            <a:r>
              <a:rPr lang="en-US" dirty="0">
                <a:highlight>
                  <a:srgbClr val="FFFF00"/>
                </a:highlight>
              </a:rPr>
              <a:t>concentration</a:t>
            </a:r>
          </a:p>
          <a:p>
            <a:endParaRPr lang="en-US" dirty="0"/>
          </a:p>
          <a:p>
            <a:r>
              <a:rPr lang="en-US" dirty="0">
                <a:highlight>
                  <a:srgbClr val="FFFF00"/>
                </a:highlight>
              </a:rPr>
              <a:t>maximum volume</a:t>
            </a:r>
            <a:r>
              <a:rPr lang="en-US" dirty="0"/>
              <a:t> = 90mg / (20mg/1ml)</a:t>
            </a:r>
          </a:p>
          <a:p>
            <a:r>
              <a:rPr lang="en-US" dirty="0"/>
              <a:t>                                 = </a:t>
            </a:r>
            <a:r>
              <a:rPr lang="en-US" b="1" dirty="0"/>
              <a:t>4.5ml</a:t>
            </a:r>
          </a:p>
          <a:p>
            <a:endParaRPr lang="en-US" dirty="0"/>
          </a:p>
          <a:p>
            <a:r>
              <a:rPr lang="en-US" b="1" dirty="0"/>
              <a:t>Work out the answer by maximal volume - received volume:</a:t>
            </a:r>
          </a:p>
          <a:p>
            <a:r>
              <a:rPr lang="en-US" dirty="0"/>
              <a:t>4.5ml - 3ml = </a:t>
            </a:r>
            <a:r>
              <a:rPr lang="en-US" b="1" dirty="0"/>
              <a:t>1.5ml</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1.5</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204911" cy="830997"/>
          </a:xfrm>
          <a:prstGeom prst="rect">
            <a:avLst/>
          </a:prstGeom>
          <a:noFill/>
        </p:spPr>
        <p:txBody>
          <a:bodyPr wrap="square" rtlCol="0">
            <a:spAutoFit/>
          </a:bodyPr>
          <a:lstStyle/>
          <a:p>
            <a:r>
              <a:rPr lang="en-US" sz="4800" dirty="0"/>
              <a:t>A11</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An 8-year-old boy has received 3ml of lidocaine hydrochloride 2% as a peripheral nerve block. He can still feel some pain and is requesting additional local </a:t>
            </a:r>
            <a:r>
              <a:rPr lang="en-US" dirty="0" err="1"/>
              <a:t>anaesthesia</a:t>
            </a:r>
            <a:r>
              <a:rPr lang="en-US" dirty="0"/>
              <a:t>. The maximal dose for lidocaine hydrochloride 2% infiltration for his age is 3mg/kg. Weight 30kg.</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7"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additional volume (ml) of lidocaine hydrochloride can the patient receive before reaching the maximal dose?</a:t>
            </a:r>
          </a:p>
          <a:p>
            <a:r>
              <a:rPr lang="en-US" i="1" dirty="0"/>
              <a:t>(write your answer in the box provided)</a:t>
            </a:r>
          </a:p>
        </p:txBody>
      </p:sp>
      <p:sp>
        <p:nvSpPr>
          <p:cNvPr id="19" name="TextBox 18">
            <a:extLst>
              <a:ext uri="{FF2B5EF4-FFF2-40B4-BE49-F238E27FC236}">
                <a16:creationId xmlns:a16="http://schemas.microsoft.com/office/drawing/2014/main" id="{327BD6D3-AD7F-264F-89A3-914B24482895}"/>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53881868-9954-694D-B0DA-D635A78A372B}"/>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21" name="TextBox 20">
            <a:extLst>
              <a:ext uri="{FF2B5EF4-FFF2-40B4-BE49-F238E27FC236}">
                <a16:creationId xmlns:a16="http://schemas.microsoft.com/office/drawing/2014/main" id="{034594F0-BD6D-ED45-A388-940D95D40166}"/>
              </a:ext>
            </a:extLst>
          </p:cNvPr>
          <p:cNvSpPr txBox="1"/>
          <p:nvPr/>
        </p:nvSpPr>
        <p:spPr>
          <a:xfrm>
            <a:off x="10233213" y="6293543"/>
            <a:ext cx="1773050" cy="353943"/>
          </a:xfrm>
          <a:prstGeom prst="rect">
            <a:avLst/>
          </a:prstGeom>
          <a:noFill/>
          <a:ln>
            <a:solidFill>
              <a:schemeClr val="tx1"/>
            </a:solidFill>
          </a:ln>
        </p:spPr>
        <p:txBody>
          <a:bodyPr wrap="square" rtlCol="0">
            <a:spAutoFit/>
          </a:bodyPr>
          <a:lstStyle/>
          <a:p>
            <a:pPr algn="ctr"/>
            <a:r>
              <a:rPr lang="en-US" sz="1700" dirty="0"/>
              <a:t>‘How much more’</a:t>
            </a:r>
          </a:p>
        </p:txBody>
      </p:sp>
    </p:spTree>
    <p:extLst>
      <p:ext uri="{BB962C8B-B14F-4D97-AF65-F5344CB8AC3E}">
        <p14:creationId xmlns:p14="http://schemas.microsoft.com/office/powerpoint/2010/main" val="3869599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3939540"/>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vials</a:t>
            </a:r>
          </a:p>
          <a:p>
            <a:endParaRPr lang="en-US" dirty="0"/>
          </a:p>
          <a:p>
            <a:r>
              <a:rPr lang="en-US" dirty="0"/>
              <a:t>15mg/kg required </a:t>
            </a:r>
          </a:p>
          <a:p>
            <a:r>
              <a:rPr lang="en-US" dirty="0"/>
              <a:t>15mg x 80kg = 1200mg per dose</a:t>
            </a:r>
          </a:p>
          <a:p>
            <a:r>
              <a:rPr lang="en-US" dirty="0"/>
              <a:t>Each vial contains 250mg</a:t>
            </a:r>
          </a:p>
          <a:p>
            <a:r>
              <a:rPr lang="en-US" dirty="0"/>
              <a:t>So 1200mg/250mg = 4.8 vials rounded to 5 vials per dose</a:t>
            </a:r>
          </a:p>
          <a:p>
            <a:r>
              <a:rPr lang="en-US" dirty="0"/>
              <a:t>10 vials per day</a:t>
            </a:r>
          </a:p>
          <a:p>
            <a:r>
              <a:rPr lang="en-US" b="1" dirty="0"/>
              <a:t>70 vials per week</a:t>
            </a:r>
          </a:p>
          <a:p>
            <a:endParaRPr lang="en-US" dirty="0"/>
          </a:p>
          <a:p>
            <a:r>
              <a:rPr lang="en-US" dirty="0"/>
              <a:t>Steps:</a:t>
            </a:r>
          </a:p>
          <a:p>
            <a:pPr marL="342900" indent="-342900">
              <a:buAutoNum type="arabicPeriod"/>
            </a:pPr>
            <a:r>
              <a:rPr lang="en-US" dirty="0"/>
              <a:t>Calculate dose</a:t>
            </a:r>
          </a:p>
          <a:p>
            <a:pPr marL="342900" indent="-342900">
              <a:buAutoNum type="arabicPeriod"/>
            </a:pPr>
            <a:r>
              <a:rPr lang="en-US" dirty="0"/>
              <a:t>Calculate vials needed per dose…then per day…then per week</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70</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‘How many’</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710296" cy="830997"/>
          </a:xfrm>
          <a:prstGeom prst="rect">
            <a:avLst/>
          </a:prstGeom>
          <a:noFill/>
        </p:spPr>
        <p:txBody>
          <a:bodyPr wrap="square" rtlCol="0">
            <a:spAutoFit/>
          </a:bodyPr>
          <a:lstStyle/>
          <a:p>
            <a:r>
              <a:rPr lang="en-US" sz="4800" dirty="0"/>
              <a:t>A12</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15mg/kg twice daily. Weight 80kg. Drug B is available in 250mg vials which cannot be reused and must be discarded. Her next clinic appointment is in 7 days.</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How many 250mg vials of drug B does she require to last her 7 days?</a:t>
            </a:r>
          </a:p>
          <a:p>
            <a:r>
              <a:rPr lang="en-US" i="1" dirty="0"/>
              <a:t>(write your answer in the box provided)</a:t>
            </a:r>
          </a:p>
        </p:txBody>
      </p:sp>
      <p:sp>
        <p:nvSpPr>
          <p:cNvPr id="19" name="TextBox 18">
            <a:extLst>
              <a:ext uri="{FF2B5EF4-FFF2-40B4-BE49-F238E27FC236}">
                <a16:creationId xmlns:a16="http://schemas.microsoft.com/office/drawing/2014/main" id="{38D5A3A6-0B8F-DC41-A380-521C0E43D569}"/>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D1FCABD1-4206-514B-BAE2-DC31D987F50C}"/>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1946855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5047536"/>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bottles</a:t>
            </a:r>
          </a:p>
          <a:p>
            <a:endParaRPr lang="en-US" dirty="0"/>
          </a:p>
          <a:p>
            <a:r>
              <a:rPr lang="en-US" dirty="0">
                <a:highlight>
                  <a:srgbClr val="FFFF00"/>
                </a:highlight>
              </a:rPr>
              <a:t>volume = dose/concentration</a:t>
            </a:r>
          </a:p>
          <a:p>
            <a:endParaRPr lang="en-US" dirty="0"/>
          </a:p>
          <a:p>
            <a:r>
              <a:rPr lang="en-US" dirty="0"/>
              <a:t>5mcg/kg required</a:t>
            </a:r>
          </a:p>
          <a:p>
            <a:r>
              <a:rPr lang="en-US" dirty="0"/>
              <a:t>5mcg x 80kg = 400mcg </a:t>
            </a:r>
          </a:p>
          <a:p>
            <a:r>
              <a:rPr lang="en-US" dirty="0"/>
              <a:t>400mcg/1000 = </a:t>
            </a:r>
            <a:r>
              <a:rPr lang="en-US" b="1" dirty="0"/>
              <a:t>0.4mg</a:t>
            </a:r>
            <a:r>
              <a:rPr lang="en-US" dirty="0"/>
              <a:t> = </a:t>
            </a:r>
            <a:r>
              <a:rPr lang="en-US" dirty="0">
                <a:highlight>
                  <a:srgbClr val="FFFF00"/>
                </a:highlight>
              </a:rPr>
              <a:t>dose</a:t>
            </a:r>
          </a:p>
          <a:p>
            <a:endParaRPr lang="en-US" dirty="0"/>
          </a:p>
          <a:p>
            <a:r>
              <a:rPr lang="en-US" b="1" dirty="0"/>
              <a:t>4mg/100mls </a:t>
            </a:r>
            <a:r>
              <a:rPr lang="en-US" dirty="0"/>
              <a:t>= </a:t>
            </a:r>
            <a:r>
              <a:rPr lang="en-US" dirty="0">
                <a:highlight>
                  <a:srgbClr val="FFFF00"/>
                </a:highlight>
              </a:rPr>
              <a:t>concentration</a:t>
            </a:r>
          </a:p>
          <a:p>
            <a:endParaRPr lang="en-US" dirty="0"/>
          </a:p>
          <a:p>
            <a:r>
              <a:rPr lang="en-US" dirty="0">
                <a:highlight>
                  <a:srgbClr val="FFFF00"/>
                </a:highlight>
              </a:rPr>
              <a:t>volume</a:t>
            </a:r>
            <a:r>
              <a:rPr lang="en-US" dirty="0"/>
              <a:t> = 0.4mg / (4mg/100mls)</a:t>
            </a:r>
          </a:p>
          <a:p>
            <a:r>
              <a:rPr lang="en-US" dirty="0"/>
              <a:t>              = 10mls (per dose)</a:t>
            </a:r>
          </a:p>
          <a:p>
            <a:r>
              <a:rPr lang="en-US" dirty="0"/>
              <a:t>              = 0.1 bottles per dose</a:t>
            </a:r>
          </a:p>
          <a:p>
            <a:r>
              <a:rPr lang="en-US" dirty="0"/>
              <a:t>              = 0.2 bottles per day</a:t>
            </a:r>
          </a:p>
          <a:p>
            <a:r>
              <a:rPr lang="en-US" dirty="0"/>
              <a:t>              = 1.4 bottles per week</a:t>
            </a:r>
          </a:p>
          <a:p>
            <a:r>
              <a:rPr lang="en-US" dirty="0"/>
              <a:t>              = 8.4 bottles per 6 weeks rounded to </a:t>
            </a:r>
            <a:r>
              <a:rPr lang="en-US" b="1" dirty="0"/>
              <a:t>9 bottles for 6       	        weeks</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9</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‘How many’</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2043111" cy="830997"/>
          </a:xfrm>
          <a:prstGeom prst="rect">
            <a:avLst/>
          </a:prstGeom>
          <a:noFill/>
        </p:spPr>
        <p:txBody>
          <a:bodyPr wrap="square" rtlCol="0">
            <a:spAutoFit/>
          </a:bodyPr>
          <a:lstStyle/>
          <a:p>
            <a:r>
              <a:rPr lang="en-US" sz="4800" dirty="0"/>
              <a:t>A13</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by intravenous infusion at a dose of 5mcg/kg twice daily. Weight 80kg. Drug B is available in 100ml bottles at a concentration of 4mg/100ml. Her next appointment is in 6 weeks. </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How many 100ml bottles of drug B does she require to last her 6 weeks?</a:t>
            </a:r>
          </a:p>
          <a:p>
            <a:r>
              <a:rPr lang="en-US" i="1" dirty="0"/>
              <a:t>(write your answer in the box provided)</a:t>
            </a:r>
          </a:p>
        </p:txBody>
      </p:sp>
      <p:sp>
        <p:nvSpPr>
          <p:cNvPr id="21" name="TextBox 20">
            <a:extLst>
              <a:ext uri="{FF2B5EF4-FFF2-40B4-BE49-F238E27FC236}">
                <a16:creationId xmlns:a16="http://schemas.microsoft.com/office/drawing/2014/main" id="{432A4A80-05FF-9D41-AFFD-66E5A5C84C0E}"/>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2" name="TextBox 21">
            <a:extLst>
              <a:ext uri="{FF2B5EF4-FFF2-40B4-BE49-F238E27FC236}">
                <a16:creationId xmlns:a16="http://schemas.microsoft.com/office/drawing/2014/main" id="{95D15A67-731F-414E-9D9F-7972371D7E13}"/>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grpSp>
        <p:nvGrpSpPr>
          <p:cNvPr id="2" name="Group 1">
            <a:extLst>
              <a:ext uri="{FF2B5EF4-FFF2-40B4-BE49-F238E27FC236}">
                <a16:creationId xmlns:a16="http://schemas.microsoft.com/office/drawing/2014/main" id="{4455D84A-DF6B-D961-F4D9-8C8909C56F48}"/>
              </a:ext>
            </a:extLst>
          </p:cNvPr>
          <p:cNvGrpSpPr/>
          <p:nvPr/>
        </p:nvGrpSpPr>
        <p:grpSpPr>
          <a:xfrm>
            <a:off x="9964031" y="1017388"/>
            <a:ext cx="1831138" cy="1578568"/>
            <a:chOff x="9303026" y="3710609"/>
            <a:chExt cx="2050774" cy="1767909"/>
          </a:xfrm>
        </p:grpSpPr>
        <p:sp>
          <p:nvSpPr>
            <p:cNvPr id="3" name="Triangle 2">
              <a:extLst>
                <a:ext uri="{FF2B5EF4-FFF2-40B4-BE49-F238E27FC236}">
                  <a16:creationId xmlns:a16="http://schemas.microsoft.com/office/drawing/2014/main" id="{A1A9B3D5-1EC8-486E-50B6-E8E77C5441D1}"/>
                </a:ext>
              </a:extLst>
            </p:cNvPr>
            <p:cNvSpPr/>
            <p:nvPr/>
          </p:nvSpPr>
          <p:spPr>
            <a:xfrm>
              <a:off x="9303026" y="3710609"/>
              <a:ext cx="2050774" cy="1767909"/>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363B63E3-2DD0-3008-B3EB-8A7A3EEE2E0C}"/>
                </a:ext>
              </a:extLst>
            </p:cNvPr>
            <p:cNvSpPr txBox="1"/>
            <p:nvPr/>
          </p:nvSpPr>
          <p:spPr>
            <a:xfrm>
              <a:off x="9963977" y="4089687"/>
              <a:ext cx="728869" cy="654916"/>
            </a:xfrm>
            <a:prstGeom prst="rect">
              <a:avLst/>
            </a:prstGeom>
            <a:noFill/>
          </p:spPr>
          <p:txBody>
            <a:bodyPr wrap="square" rtlCol="0">
              <a:spAutoFit/>
            </a:bodyPr>
            <a:lstStyle/>
            <a:p>
              <a:pPr algn="ctr"/>
              <a:r>
                <a:rPr lang="en-US" sz="3200" dirty="0"/>
                <a:t>d</a:t>
              </a:r>
            </a:p>
          </p:txBody>
        </p:sp>
        <p:sp>
          <p:nvSpPr>
            <p:cNvPr id="5" name="TextBox 4">
              <a:extLst>
                <a:ext uri="{FF2B5EF4-FFF2-40B4-BE49-F238E27FC236}">
                  <a16:creationId xmlns:a16="http://schemas.microsoft.com/office/drawing/2014/main" id="{CA2DAC8A-CCC5-C6A3-B7C8-CBDC61E982BA}"/>
                </a:ext>
              </a:extLst>
            </p:cNvPr>
            <p:cNvSpPr txBox="1"/>
            <p:nvPr/>
          </p:nvSpPr>
          <p:spPr>
            <a:xfrm>
              <a:off x="9599543" y="4739905"/>
              <a:ext cx="728869" cy="654916"/>
            </a:xfrm>
            <a:prstGeom prst="rect">
              <a:avLst/>
            </a:prstGeom>
            <a:noFill/>
          </p:spPr>
          <p:txBody>
            <a:bodyPr wrap="square" rtlCol="0">
              <a:spAutoFit/>
            </a:bodyPr>
            <a:lstStyle/>
            <a:p>
              <a:pPr algn="ctr"/>
              <a:r>
                <a:rPr lang="en-US" sz="3200" dirty="0"/>
                <a:t>v</a:t>
              </a:r>
            </a:p>
          </p:txBody>
        </p:sp>
        <p:sp>
          <p:nvSpPr>
            <p:cNvPr id="6" name="TextBox 5">
              <a:extLst>
                <a:ext uri="{FF2B5EF4-FFF2-40B4-BE49-F238E27FC236}">
                  <a16:creationId xmlns:a16="http://schemas.microsoft.com/office/drawing/2014/main" id="{0AA3320E-92B7-6C3D-CF81-347DE4B942CC}"/>
                </a:ext>
              </a:extLst>
            </p:cNvPr>
            <p:cNvSpPr txBox="1"/>
            <p:nvPr/>
          </p:nvSpPr>
          <p:spPr>
            <a:xfrm>
              <a:off x="10260494" y="4703669"/>
              <a:ext cx="728869" cy="654916"/>
            </a:xfrm>
            <a:prstGeom prst="rect">
              <a:avLst/>
            </a:prstGeom>
            <a:noFill/>
          </p:spPr>
          <p:txBody>
            <a:bodyPr wrap="square" rtlCol="0">
              <a:spAutoFit/>
            </a:bodyPr>
            <a:lstStyle/>
            <a:p>
              <a:pPr algn="ctr"/>
              <a:r>
                <a:rPr lang="en-US" sz="3200" dirty="0"/>
                <a:t>c</a:t>
              </a:r>
            </a:p>
          </p:txBody>
        </p:sp>
      </p:grpSp>
      <p:sp>
        <p:nvSpPr>
          <p:cNvPr id="7" name="TextBox 6">
            <a:extLst>
              <a:ext uri="{FF2B5EF4-FFF2-40B4-BE49-F238E27FC236}">
                <a16:creationId xmlns:a16="http://schemas.microsoft.com/office/drawing/2014/main" id="{9C8CA24F-CD07-563B-AB73-A5EDDE722B41}"/>
              </a:ext>
            </a:extLst>
          </p:cNvPr>
          <p:cNvSpPr txBox="1"/>
          <p:nvPr/>
        </p:nvSpPr>
        <p:spPr>
          <a:xfrm>
            <a:off x="185738" y="4272510"/>
            <a:ext cx="5815012" cy="1661993"/>
          </a:xfrm>
          <a:prstGeom prst="rect">
            <a:avLst/>
          </a:prstGeom>
          <a:solidFill>
            <a:srgbClr val="ECECEC"/>
          </a:solidFill>
          <a:ln>
            <a:solidFill>
              <a:schemeClr val="tx1"/>
            </a:solidFill>
          </a:ln>
        </p:spPr>
        <p:txBody>
          <a:bodyPr wrap="square" rtlCol="0">
            <a:spAutoFit/>
          </a:bodyPr>
          <a:lstStyle/>
          <a:p>
            <a:r>
              <a:rPr lang="en-US" dirty="0"/>
              <a:t>Steps:</a:t>
            </a:r>
          </a:p>
          <a:p>
            <a:pPr marL="342900" indent="-342900">
              <a:buAutoNum type="arabicPeriod"/>
            </a:pPr>
            <a:r>
              <a:rPr lang="en-US" dirty="0"/>
              <a:t>Calculate dose</a:t>
            </a:r>
          </a:p>
          <a:p>
            <a:pPr marL="342900" indent="-342900">
              <a:buAutoNum type="arabicPeriod"/>
            </a:pPr>
            <a:r>
              <a:rPr lang="en-US" dirty="0"/>
              <a:t>Convert units</a:t>
            </a:r>
          </a:p>
          <a:p>
            <a:pPr marL="342900" indent="-342900">
              <a:buAutoNum type="arabicPeriod"/>
            </a:pPr>
            <a:r>
              <a:rPr lang="en-US" dirty="0"/>
              <a:t>Calculate bottles needed per dose…then per day…then per week…then per 6 weeks</a:t>
            </a:r>
          </a:p>
          <a:p>
            <a:endParaRPr lang="en-US" sz="1200" dirty="0">
              <a:solidFill>
                <a:schemeClr val="bg1">
                  <a:lumMod val="65000"/>
                </a:schemeClr>
              </a:solidFill>
            </a:endParaRPr>
          </a:p>
        </p:txBody>
      </p:sp>
    </p:spTree>
    <p:extLst>
      <p:ext uri="{BB962C8B-B14F-4D97-AF65-F5344CB8AC3E}">
        <p14:creationId xmlns:p14="http://schemas.microsoft.com/office/powerpoint/2010/main" val="2196678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3108543"/>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packs</a:t>
            </a:r>
          </a:p>
          <a:p>
            <a:endParaRPr lang="en-US" dirty="0"/>
          </a:p>
          <a:p>
            <a:r>
              <a:rPr lang="en-US" dirty="0"/>
              <a:t>40mg = 8 tablets, 8 x 7 =  56 tablets</a:t>
            </a:r>
          </a:p>
          <a:p>
            <a:r>
              <a:rPr lang="en-US" dirty="0"/>
              <a:t>30mg = 6 tablets, 6 x 7 = 42 tablets</a:t>
            </a:r>
          </a:p>
          <a:p>
            <a:r>
              <a:rPr lang="en-US" dirty="0"/>
              <a:t>20mg = 4 tablets, 4 x 7 = 28 tablets</a:t>
            </a:r>
          </a:p>
          <a:p>
            <a:r>
              <a:rPr lang="en-US" dirty="0"/>
              <a:t>10mg = 2 tablets, 2 x 7 = 14 tablets</a:t>
            </a:r>
          </a:p>
          <a:p>
            <a:r>
              <a:rPr lang="en-US" dirty="0"/>
              <a:t>5mg = 1 tablet, 1 x 7 = 7 tablets</a:t>
            </a:r>
          </a:p>
          <a:p>
            <a:endParaRPr lang="en-US" dirty="0"/>
          </a:p>
          <a:p>
            <a:r>
              <a:rPr lang="en-US" dirty="0"/>
              <a:t>147 tablets required in total</a:t>
            </a:r>
          </a:p>
          <a:p>
            <a:r>
              <a:rPr lang="en-US" dirty="0"/>
              <a:t>147/28 = 5.25 packs i.e. 6 packs</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6</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‘How many’</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341632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an inpatient with condition A. She requires treatment with drug B on a reducing dose regime. Weight 80kg. Drug B is available in 5mg tablets which come in packs of 28.</a:t>
            </a:r>
          </a:p>
          <a:p>
            <a:endParaRPr lang="en-US" dirty="0"/>
          </a:p>
          <a:p>
            <a:r>
              <a:rPr lang="en-US" dirty="0"/>
              <a:t>Reducing dose regime:</a:t>
            </a:r>
          </a:p>
          <a:p>
            <a:r>
              <a:rPr lang="en-US" dirty="0"/>
              <a:t>7 days 40mg once daily</a:t>
            </a:r>
          </a:p>
          <a:p>
            <a:r>
              <a:rPr lang="en-US" dirty="0"/>
              <a:t>7 days 30mg once daily</a:t>
            </a:r>
          </a:p>
          <a:p>
            <a:r>
              <a:rPr lang="en-US" dirty="0"/>
              <a:t>7 days 20mg once daily</a:t>
            </a:r>
          </a:p>
          <a:p>
            <a:r>
              <a:rPr lang="en-US" dirty="0"/>
              <a:t>7 days 10mg once daily</a:t>
            </a:r>
          </a:p>
          <a:p>
            <a:r>
              <a:rPr lang="en-US" dirty="0"/>
              <a:t>7 days 5mg once daily</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4514916"/>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How many packs of 5mg tablets of drug B does the patient require to last the whole reducing dose regime.</a:t>
            </a:r>
          </a:p>
          <a:p>
            <a:r>
              <a:rPr lang="en-US" i="1" dirty="0"/>
              <a:t>(write your answer in the box provided)</a:t>
            </a:r>
          </a:p>
        </p:txBody>
      </p:sp>
      <p:sp>
        <p:nvSpPr>
          <p:cNvPr id="19" name="TextBox 18">
            <a:extLst>
              <a:ext uri="{FF2B5EF4-FFF2-40B4-BE49-F238E27FC236}">
                <a16:creationId xmlns:a16="http://schemas.microsoft.com/office/drawing/2014/main" id="{6E77EBB6-BD07-F441-834A-6166E4546687}"/>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1D1C70BE-2103-5B41-801F-5BAEFD13CD73}"/>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4239138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3385542"/>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bottles</a:t>
            </a:r>
          </a:p>
          <a:p>
            <a:endParaRPr lang="en-US" dirty="0"/>
          </a:p>
          <a:p>
            <a:r>
              <a:rPr lang="en-US" dirty="0"/>
              <a:t>7 x (10mg x 13kg) x 1 = 910mg</a:t>
            </a:r>
          </a:p>
          <a:p>
            <a:r>
              <a:rPr lang="en-US" dirty="0"/>
              <a:t>7 x (10mg x 13kg) x 2 = 1820mg</a:t>
            </a:r>
          </a:p>
          <a:p>
            <a:r>
              <a:rPr lang="en-US" dirty="0"/>
              <a:t>14 x (15mg x 13kg) x 2 = 5460mg</a:t>
            </a:r>
          </a:p>
          <a:p>
            <a:r>
              <a:rPr lang="en-US" dirty="0"/>
              <a:t>14 x (20mg x 13kg) x 2 = 7280mg</a:t>
            </a:r>
          </a:p>
          <a:p>
            <a:endParaRPr lang="en-US" dirty="0"/>
          </a:p>
          <a:p>
            <a:r>
              <a:rPr lang="en-US" dirty="0"/>
              <a:t>15470mg required in total</a:t>
            </a:r>
          </a:p>
          <a:p>
            <a:r>
              <a:rPr lang="en-US" dirty="0"/>
              <a:t>50mg/1ml</a:t>
            </a:r>
          </a:p>
          <a:p>
            <a:r>
              <a:rPr lang="en-US" dirty="0"/>
              <a:t>15470mg/309.4ml (1ml/50mg x 15470mg = 309.3ml)</a:t>
            </a:r>
          </a:p>
          <a:p>
            <a:r>
              <a:rPr lang="en-US" dirty="0"/>
              <a:t>1 bottle has 250ml so 2 bottles needed to cover 309.4ml</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2</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‘How many’</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3139321"/>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3-year-old girl is an inpatient with condition A. She requires treatment with drug B with a planned </a:t>
            </a:r>
            <a:r>
              <a:rPr lang="en-US" dirty="0" err="1"/>
              <a:t>uptitration</a:t>
            </a:r>
            <a:r>
              <a:rPr lang="en-US" dirty="0"/>
              <a:t>. Weight 13kg. Drug B is available in 250ml bottles at a concentration of 50mg/1ml.</a:t>
            </a:r>
          </a:p>
          <a:p>
            <a:endParaRPr lang="en-US" dirty="0"/>
          </a:p>
          <a:p>
            <a:r>
              <a:rPr lang="en-US" dirty="0"/>
              <a:t>Planned </a:t>
            </a:r>
            <a:r>
              <a:rPr lang="en-US" dirty="0" err="1"/>
              <a:t>uptitration</a:t>
            </a:r>
            <a:r>
              <a:rPr lang="en-US" dirty="0"/>
              <a:t>:</a:t>
            </a:r>
          </a:p>
          <a:p>
            <a:r>
              <a:rPr lang="en-US" dirty="0"/>
              <a:t>7 days 10mg/kg once daily</a:t>
            </a:r>
          </a:p>
          <a:p>
            <a:r>
              <a:rPr lang="en-US" dirty="0"/>
              <a:t>7 days 10mg/kg twice daily</a:t>
            </a:r>
          </a:p>
          <a:p>
            <a:r>
              <a:rPr lang="en-US" dirty="0"/>
              <a:t>14 days 15mg/kg twice daily</a:t>
            </a:r>
          </a:p>
          <a:p>
            <a:r>
              <a:rPr lang="en-US" dirty="0"/>
              <a:t>14 days 20mg/kg twice daily</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4237917"/>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How many bottles of drug B does the patient require to last the whole planned </a:t>
            </a:r>
            <a:r>
              <a:rPr lang="en-US" dirty="0" err="1"/>
              <a:t>uptitration</a:t>
            </a:r>
            <a:r>
              <a:rPr lang="en-US" dirty="0"/>
              <a:t> (42 days)?</a:t>
            </a:r>
          </a:p>
          <a:p>
            <a:r>
              <a:rPr lang="en-US" i="1" dirty="0"/>
              <a:t>(write your answer in the box provided)</a:t>
            </a:r>
          </a:p>
        </p:txBody>
      </p:sp>
      <p:sp>
        <p:nvSpPr>
          <p:cNvPr id="12" name="TextBox 11">
            <a:extLst>
              <a:ext uri="{FF2B5EF4-FFF2-40B4-BE49-F238E27FC236}">
                <a16:creationId xmlns:a16="http://schemas.microsoft.com/office/drawing/2014/main" id="{D1E4DDDC-A893-8845-84D4-E9375A034519}"/>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3" name="TextBox 12">
            <a:extLst>
              <a:ext uri="{FF2B5EF4-FFF2-40B4-BE49-F238E27FC236}">
                <a16:creationId xmlns:a16="http://schemas.microsoft.com/office/drawing/2014/main" id="{BFBDA58D-0716-AC4C-833F-D71D072CE031}"/>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25600250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216539"/>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t>Ferrous </a:t>
            </a:r>
            <a:r>
              <a:rPr lang="en-US" dirty="0" err="1"/>
              <a:t>fumerate</a:t>
            </a:r>
            <a:r>
              <a:rPr lang="en-US" dirty="0"/>
              <a:t> 210mg tablets = 70mg elemental iron</a:t>
            </a:r>
          </a:p>
          <a:p>
            <a:r>
              <a:rPr lang="en-US" dirty="0"/>
              <a:t>70mg x 2 = </a:t>
            </a:r>
            <a:r>
              <a:rPr lang="en-US" b="1" dirty="0"/>
              <a:t>140mg</a:t>
            </a:r>
            <a:r>
              <a:rPr lang="en-US" dirty="0"/>
              <a:t> elemental iron per day = </a:t>
            </a:r>
            <a:r>
              <a:rPr lang="en-US" dirty="0">
                <a:highlight>
                  <a:srgbClr val="FFFF00"/>
                </a:highlight>
              </a:rPr>
              <a:t>dose</a:t>
            </a:r>
          </a:p>
          <a:p>
            <a:endParaRPr lang="en-US" dirty="0"/>
          </a:p>
          <a:p>
            <a:r>
              <a:rPr lang="en-US" dirty="0" err="1"/>
              <a:t>FerroEss</a:t>
            </a:r>
            <a:r>
              <a:rPr lang="en-US" dirty="0"/>
              <a:t> syrup = </a:t>
            </a:r>
            <a:r>
              <a:rPr lang="en-US" b="1" dirty="0"/>
              <a:t>45mg/5ml </a:t>
            </a:r>
            <a:r>
              <a:rPr lang="en-US" dirty="0"/>
              <a:t>elemental iron = </a:t>
            </a:r>
            <a:r>
              <a:rPr lang="en-US" dirty="0">
                <a:highlight>
                  <a:srgbClr val="FFFF00"/>
                </a:highlight>
              </a:rPr>
              <a:t>concentration</a:t>
            </a:r>
          </a:p>
          <a:p>
            <a:endParaRPr lang="en-US" dirty="0"/>
          </a:p>
          <a:p>
            <a:r>
              <a:rPr lang="en-US" dirty="0">
                <a:highlight>
                  <a:srgbClr val="FFFF00"/>
                </a:highlight>
              </a:rPr>
              <a:t>volume = dose/concentration</a:t>
            </a:r>
          </a:p>
          <a:p>
            <a:endParaRPr lang="en-US" dirty="0"/>
          </a:p>
          <a:p>
            <a:r>
              <a:rPr lang="en-US" dirty="0">
                <a:highlight>
                  <a:srgbClr val="FFFF00"/>
                </a:highlight>
              </a:rPr>
              <a:t>volume</a:t>
            </a:r>
            <a:r>
              <a:rPr lang="en-US" dirty="0"/>
              <a:t> = 140mg / (45mg/5ml)</a:t>
            </a:r>
          </a:p>
          <a:p>
            <a:r>
              <a:rPr lang="en-US" dirty="0"/>
              <a:t>              = 15.6ml</a:t>
            </a:r>
          </a:p>
          <a:p>
            <a:r>
              <a:rPr lang="en-US" dirty="0"/>
              <a:t>              = </a:t>
            </a:r>
            <a:r>
              <a:rPr lang="en-US" b="1" dirty="0"/>
              <a:t>15ml</a:t>
            </a:r>
            <a:r>
              <a:rPr lang="en-US" dirty="0"/>
              <a:t> (to the nearest 5ml)</a:t>
            </a:r>
          </a:p>
          <a:p>
            <a:endParaRPr lang="en-US" dirty="0"/>
          </a:p>
          <a:p>
            <a:r>
              <a:rPr lang="en-US" dirty="0">
                <a:solidFill>
                  <a:srgbClr val="FF0000"/>
                </a:solidFill>
              </a:rPr>
              <a:t>*distractor</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15</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Conversions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319211" cy="830997"/>
          </a:xfrm>
          <a:prstGeom prst="rect">
            <a:avLst/>
          </a:prstGeom>
          <a:noFill/>
        </p:spPr>
        <p:txBody>
          <a:bodyPr wrap="square" rtlCol="0">
            <a:spAutoFit/>
          </a:bodyPr>
          <a:lstStyle/>
          <a:p>
            <a:r>
              <a:rPr lang="en-US" sz="4800" dirty="0"/>
              <a:t>A14</a:t>
            </a:r>
          </a:p>
        </p:txBody>
      </p:sp>
      <p:sp>
        <p:nvSpPr>
          <p:cNvPr id="12" name="TextBox 11">
            <a:extLst>
              <a:ext uri="{FF2B5EF4-FFF2-40B4-BE49-F238E27FC236}">
                <a16:creationId xmlns:a16="http://schemas.microsoft.com/office/drawing/2014/main" id="{D8F8C39A-B511-A74D-8A9B-5DE338FC994A}"/>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3" name="TextBox 12">
            <a:extLst>
              <a:ext uri="{FF2B5EF4-FFF2-40B4-BE49-F238E27FC236}">
                <a16:creationId xmlns:a16="http://schemas.microsoft.com/office/drawing/2014/main" id="{07E83523-C3C5-8A4E-941F-685E6CBBE4D8}"/>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19" name="TextBox 18">
            <a:extLst>
              <a:ext uri="{FF2B5EF4-FFF2-40B4-BE49-F238E27FC236}">
                <a16:creationId xmlns:a16="http://schemas.microsoft.com/office/drawing/2014/main" id="{2C97DE8F-7F26-A449-9338-088D3782B445}"/>
              </a:ext>
            </a:extLst>
          </p:cNvPr>
          <p:cNvSpPr txBox="1"/>
          <p:nvPr/>
        </p:nvSpPr>
        <p:spPr>
          <a:xfrm>
            <a:off x="185738" y="900112"/>
            <a:ext cx="5815012" cy="2585323"/>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with iron deficiency </a:t>
            </a:r>
            <a:r>
              <a:rPr lang="en-US" dirty="0" err="1"/>
              <a:t>anaemia</a:t>
            </a:r>
            <a:r>
              <a:rPr lang="en-US" dirty="0"/>
              <a:t> has been taking ferrous </a:t>
            </a:r>
            <a:r>
              <a:rPr lang="en-US" dirty="0" err="1"/>
              <a:t>fumerate</a:t>
            </a:r>
            <a:r>
              <a:rPr lang="en-US" dirty="0"/>
              <a:t> 210mg PO twice daily. Due to difficulty swallowing she has requested conversion to </a:t>
            </a:r>
            <a:r>
              <a:rPr lang="en-US" dirty="0" err="1"/>
              <a:t>FerroEss</a:t>
            </a:r>
            <a:r>
              <a:rPr lang="en-US" dirty="0"/>
              <a:t> syrup. </a:t>
            </a:r>
            <a:r>
              <a:rPr lang="en-US" dirty="0" err="1"/>
              <a:t>FerroEss</a:t>
            </a:r>
            <a:r>
              <a:rPr lang="en-US" dirty="0"/>
              <a:t> syrup </a:t>
            </a:r>
            <a:r>
              <a:rPr lang="en-US" dirty="0">
                <a:solidFill>
                  <a:srgbClr val="FF0000"/>
                </a:solidFill>
              </a:rPr>
              <a:t>contains ferrous </a:t>
            </a:r>
            <a:r>
              <a:rPr lang="en-US" dirty="0" err="1">
                <a:solidFill>
                  <a:srgbClr val="FF0000"/>
                </a:solidFill>
              </a:rPr>
              <a:t>fumerate</a:t>
            </a:r>
            <a:r>
              <a:rPr lang="en-US" dirty="0">
                <a:solidFill>
                  <a:srgbClr val="FF0000"/>
                </a:solidFill>
              </a:rPr>
              <a:t> at a concentration of 140mg/5ml </a:t>
            </a:r>
            <a:r>
              <a:rPr lang="en-US" dirty="0"/>
              <a:t>with each 5ml of syrup equivalent to 45mg of elemental iron. It is measurable to the nearest 5ml. Ferrous </a:t>
            </a:r>
            <a:r>
              <a:rPr lang="en-US" dirty="0" err="1"/>
              <a:t>fumerate</a:t>
            </a:r>
            <a:r>
              <a:rPr lang="en-US" dirty="0"/>
              <a:t> 210mg contains 70mg of elemental iron.</a:t>
            </a:r>
          </a:p>
        </p:txBody>
      </p:sp>
      <p:sp>
        <p:nvSpPr>
          <p:cNvPr id="20" name="TextBox 19">
            <a:extLst>
              <a:ext uri="{FF2B5EF4-FFF2-40B4-BE49-F238E27FC236}">
                <a16:creationId xmlns:a16="http://schemas.microsoft.com/office/drawing/2014/main" id="{18D2A948-ED87-D14C-A104-F726DE5FC3CF}"/>
              </a:ext>
            </a:extLst>
          </p:cNvPr>
          <p:cNvSpPr txBox="1"/>
          <p:nvPr/>
        </p:nvSpPr>
        <p:spPr>
          <a:xfrm>
            <a:off x="185738" y="3683919"/>
            <a:ext cx="5815012" cy="1477328"/>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of </a:t>
            </a:r>
            <a:r>
              <a:rPr lang="en-US" dirty="0" err="1"/>
              <a:t>FerroEss</a:t>
            </a:r>
            <a:r>
              <a:rPr lang="en-US" dirty="0"/>
              <a:t> syrup (to the nearest 5ml) is required per day to meet the elemental iron content of her ferrous </a:t>
            </a:r>
            <a:r>
              <a:rPr lang="en-US" dirty="0" err="1"/>
              <a:t>fumerate</a:t>
            </a:r>
            <a:r>
              <a:rPr lang="en-US" dirty="0"/>
              <a:t> tablets?</a:t>
            </a:r>
          </a:p>
          <a:p>
            <a:r>
              <a:rPr lang="en-US" i="1" dirty="0"/>
              <a:t>(write your answer in the box provided)</a:t>
            </a:r>
          </a:p>
        </p:txBody>
      </p:sp>
    </p:spTree>
    <p:extLst>
      <p:ext uri="{BB962C8B-B14F-4D97-AF65-F5344CB8AC3E}">
        <p14:creationId xmlns:p14="http://schemas.microsoft.com/office/powerpoint/2010/main" val="3838162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5324535"/>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ml/h</a:t>
            </a:r>
          </a:p>
          <a:p>
            <a:endParaRPr lang="en-US" dirty="0"/>
          </a:p>
          <a:p>
            <a:r>
              <a:rPr lang="en-US" dirty="0" err="1"/>
              <a:t>Zomorph</a:t>
            </a:r>
            <a:r>
              <a:rPr lang="en-US" dirty="0"/>
              <a:t> = 60mg x 2 = 120mg</a:t>
            </a:r>
          </a:p>
          <a:p>
            <a:r>
              <a:rPr lang="en-US" dirty="0" err="1"/>
              <a:t>Oromorph</a:t>
            </a:r>
            <a:r>
              <a:rPr lang="en-US" dirty="0"/>
              <a:t> = 10mg + 10mg = 20mg (it is typical for PRN medications to be roughly 1/6 of the regular dose)</a:t>
            </a:r>
          </a:p>
          <a:p>
            <a:endParaRPr lang="en-US" dirty="0"/>
          </a:p>
          <a:p>
            <a:r>
              <a:rPr lang="en-US" dirty="0"/>
              <a:t>120mg + 20mg = 140mg per day of morphine sulphate PO</a:t>
            </a:r>
          </a:p>
          <a:p>
            <a:r>
              <a:rPr lang="en-US" dirty="0"/>
              <a:t>140mg/2 = </a:t>
            </a:r>
            <a:r>
              <a:rPr lang="en-US" b="1" dirty="0"/>
              <a:t>70mg</a:t>
            </a:r>
            <a:r>
              <a:rPr lang="en-US" dirty="0"/>
              <a:t> per day of morphine sulphate SC = </a:t>
            </a:r>
            <a:r>
              <a:rPr lang="en-US" dirty="0">
                <a:highlight>
                  <a:srgbClr val="FFFF00"/>
                </a:highlight>
              </a:rPr>
              <a:t>dose</a:t>
            </a:r>
          </a:p>
          <a:p>
            <a:endParaRPr lang="en-US" dirty="0"/>
          </a:p>
          <a:p>
            <a:r>
              <a:rPr lang="en-US" b="1" dirty="0"/>
              <a:t>10mg/10ml </a:t>
            </a:r>
            <a:r>
              <a:rPr lang="en-US" dirty="0"/>
              <a:t>= </a:t>
            </a:r>
            <a:r>
              <a:rPr lang="en-US" dirty="0">
                <a:highlight>
                  <a:srgbClr val="FFFF00"/>
                </a:highlight>
              </a:rPr>
              <a:t>concentration</a:t>
            </a:r>
          </a:p>
          <a:p>
            <a:endParaRPr lang="en-US" dirty="0">
              <a:highlight>
                <a:srgbClr val="FFFF00"/>
              </a:highlight>
            </a:endParaRPr>
          </a:p>
          <a:p>
            <a:r>
              <a:rPr lang="en-US" dirty="0">
                <a:highlight>
                  <a:srgbClr val="FFFF00"/>
                </a:highlight>
              </a:rPr>
              <a:t>volume = dose/concentration</a:t>
            </a:r>
          </a:p>
          <a:p>
            <a:endParaRPr lang="en-US" dirty="0">
              <a:highlight>
                <a:srgbClr val="FFFF00"/>
              </a:highlight>
            </a:endParaRPr>
          </a:p>
          <a:p>
            <a:r>
              <a:rPr lang="en-US" dirty="0">
                <a:highlight>
                  <a:srgbClr val="FFFF00"/>
                </a:highlight>
              </a:rPr>
              <a:t>volume</a:t>
            </a:r>
            <a:r>
              <a:rPr lang="en-US" dirty="0"/>
              <a:t> = 70mg / (10mg/10ml)</a:t>
            </a:r>
          </a:p>
          <a:p>
            <a:r>
              <a:rPr lang="en-US" dirty="0"/>
              <a:t>              = 70</a:t>
            </a:r>
            <a:r>
              <a:rPr lang="en-US" strike="sngStrike" dirty="0"/>
              <a:t>mg</a:t>
            </a:r>
            <a:r>
              <a:rPr lang="en-US" dirty="0"/>
              <a:t> / 1</a:t>
            </a:r>
            <a:r>
              <a:rPr lang="en-US" strike="sngStrike" dirty="0"/>
              <a:t>mg</a:t>
            </a:r>
            <a:r>
              <a:rPr lang="en-US" dirty="0"/>
              <a:t>/ml</a:t>
            </a:r>
          </a:p>
          <a:p>
            <a:r>
              <a:rPr lang="en-US" dirty="0"/>
              <a:t>              = 70ml per 24h (but check units!)</a:t>
            </a:r>
          </a:p>
          <a:p>
            <a:r>
              <a:rPr lang="en-US" dirty="0"/>
              <a:t>              = 70ml / 24</a:t>
            </a:r>
          </a:p>
          <a:p>
            <a:r>
              <a:rPr lang="en-US" dirty="0"/>
              <a:t>              = 2.92ml per hour</a:t>
            </a:r>
            <a:endParaRPr lang="en-US" sz="800" dirty="0"/>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2.92</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Conversions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1319211" cy="830997"/>
          </a:xfrm>
          <a:prstGeom prst="rect">
            <a:avLst/>
          </a:prstGeom>
          <a:noFill/>
        </p:spPr>
        <p:txBody>
          <a:bodyPr wrap="square" rtlCol="0">
            <a:spAutoFit/>
          </a:bodyPr>
          <a:lstStyle/>
          <a:p>
            <a:r>
              <a:rPr lang="en-US" sz="4800" dirty="0"/>
              <a:t>A15</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341632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with terminal breast cancer has been taking </a:t>
            </a:r>
            <a:r>
              <a:rPr lang="en-US" dirty="0" err="1"/>
              <a:t>Zomorph</a:t>
            </a:r>
            <a:r>
              <a:rPr lang="en-US" dirty="0"/>
              <a:t> (morphine sulphate MR) 60mg twice daily supplemented with </a:t>
            </a:r>
            <a:r>
              <a:rPr lang="en-US" dirty="0" err="1"/>
              <a:t>oromorph</a:t>
            </a:r>
            <a:r>
              <a:rPr lang="en-US" dirty="0"/>
              <a:t> (morphine sulphate oral solution) PO PRN. Over the last 24h she has required:</a:t>
            </a:r>
          </a:p>
          <a:p>
            <a:r>
              <a:rPr lang="en-US" dirty="0"/>
              <a:t>08:00 10mg </a:t>
            </a:r>
            <a:r>
              <a:rPr lang="en-US" dirty="0" err="1"/>
              <a:t>oromorph</a:t>
            </a:r>
            <a:r>
              <a:rPr lang="en-US" dirty="0"/>
              <a:t> (morphine sulfate)</a:t>
            </a:r>
          </a:p>
          <a:p>
            <a:r>
              <a:rPr lang="en-US" dirty="0"/>
              <a:t>18:00 10mg </a:t>
            </a:r>
            <a:r>
              <a:rPr lang="en-US" dirty="0" err="1"/>
              <a:t>oromorph</a:t>
            </a:r>
            <a:r>
              <a:rPr lang="en-US" dirty="0"/>
              <a:t> (morphine sulfate)</a:t>
            </a:r>
          </a:p>
          <a:p>
            <a:r>
              <a:rPr lang="en-US" dirty="0"/>
              <a:t>She would like this to be switched to a syringe driver which is delivered subcutaneously. 10mg morphine sulphate orally is equivalent to 5mg morphine subcutaneously. The concentration of morphine to be administered subcutaneously is 10mg/10ml. </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7" y="452060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At what rate (ml/h) should the morphine sulphate subcutaneous syringe driver be set?</a:t>
            </a:r>
          </a:p>
          <a:p>
            <a:r>
              <a:rPr lang="en-US" i="1" dirty="0"/>
              <a:t>(write your answer in the box provided)</a:t>
            </a:r>
          </a:p>
        </p:txBody>
      </p:sp>
      <p:sp>
        <p:nvSpPr>
          <p:cNvPr id="12" name="TextBox 11">
            <a:extLst>
              <a:ext uri="{FF2B5EF4-FFF2-40B4-BE49-F238E27FC236}">
                <a16:creationId xmlns:a16="http://schemas.microsoft.com/office/drawing/2014/main" id="{73A958CD-4B25-2948-B04A-D0016297312C}"/>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3" name="TextBox 12">
            <a:extLst>
              <a:ext uri="{FF2B5EF4-FFF2-40B4-BE49-F238E27FC236}">
                <a16:creationId xmlns:a16="http://schemas.microsoft.com/office/drawing/2014/main" id="{D2012E0C-10C8-0345-BB40-D43C045BA043}"/>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25314160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2831544"/>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drops</a:t>
            </a:r>
          </a:p>
          <a:p>
            <a:endParaRPr lang="en-US" dirty="0"/>
          </a:p>
          <a:p>
            <a:r>
              <a:rPr lang="en-US" dirty="0"/>
              <a:t>50ng/kg required</a:t>
            </a:r>
          </a:p>
          <a:p>
            <a:r>
              <a:rPr lang="en-US" dirty="0"/>
              <a:t>50ng x 18kg = 900ng</a:t>
            </a:r>
          </a:p>
          <a:p>
            <a:r>
              <a:rPr lang="en-US" dirty="0"/>
              <a:t>900ng/1000 = 0.9mcg</a:t>
            </a:r>
          </a:p>
          <a:p>
            <a:r>
              <a:rPr lang="en-US" dirty="0"/>
              <a:t>One drop = 0.1mcg</a:t>
            </a:r>
          </a:p>
          <a:p>
            <a:r>
              <a:rPr lang="en-US" dirty="0"/>
              <a:t>Nine drops = 0.9mcg</a:t>
            </a:r>
          </a:p>
          <a:p>
            <a:endParaRPr lang="en-US" dirty="0"/>
          </a:p>
          <a:p>
            <a:r>
              <a:rPr lang="en-US" dirty="0">
                <a:solidFill>
                  <a:srgbClr val="FF0000"/>
                </a:solidFill>
              </a:rPr>
              <a:t>*distractors</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chemeClr val="tx1"/>
                </a:solidFill>
              </a:rPr>
              <a:t>9</a:t>
            </a:r>
          </a:p>
        </p:txBody>
      </p:sp>
      <p:sp>
        <p:nvSpPr>
          <p:cNvPr id="15" name="TextBox 14">
            <a:extLst>
              <a:ext uri="{FF2B5EF4-FFF2-40B4-BE49-F238E27FC236}">
                <a16:creationId xmlns:a16="http://schemas.microsoft.com/office/drawing/2014/main" id="{A0B2F48B-5D95-AA4E-88ED-FB202B631159}"/>
              </a:ext>
            </a:extLst>
          </p:cNvPr>
          <p:cNvSpPr txBox="1"/>
          <p:nvPr/>
        </p:nvSpPr>
        <p:spPr>
          <a:xfrm>
            <a:off x="10416209" y="6293543"/>
            <a:ext cx="1590053" cy="353943"/>
          </a:xfrm>
          <a:prstGeom prst="rect">
            <a:avLst/>
          </a:prstGeom>
          <a:noFill/>
          <a:ln>
            <a:solidFill>
              <a:schemeClr val="tx1"/>
            </a:solidFill>
          </a:ln>
        </p:spPr>
        <p:txBody>
          <a:bodyPr wrap="square" rtlCol="0">
            <a:spAutoFit/>
          </a:bodyPr>
          <a:lstStyle/>
          <a:p>
            <a:pPr algn="ctr"/>
            <a:r>
              <a:rPr lang="en-US" sz="1700" dirty="0"/>
              <a:t>Conversions</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9" y="5948964"/>
            <a:ext cx="569636" cy="830997"/>
          </a:xfrm>
          <a:prstGeom prst="rect">
            <a:avLst/>
          </a:prstGeom>
          <a:noFill/>
        </p:spPr>
        <p:txBody>
          <a:bodyPr wrap="square" rtlCol="0">
            <a:spAutoFit/>
          </a:bodyPr>
          <a:lstStyle/>
          <a:p>
            <a:r>
              <a:rPr lang="en-US" sz="4800" dirty="0"/>
              <a:t>A</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5-year-old boy with </a:t>
            </a:r>
            <a:r>
              <a:rPr lang="en-US" dirty="0" err="1"/>
              <a:t>hypophosphataemic</a:t>
            </a:r>
            <a:r>
              <a:rPr lang="en-US" dirty="0"/>
              <a:t> rickets requires treatment with </a:t>
            </a:r>
            <a:r>
              <a:rPr lang="en-US" dirty="0" err="1"/>
              <a:t>alfacalcidol</a:t>
            </a:r>
            <a:r>
              <a:rPr lang="en-US" dirty="0"/>
              <a:t> 50ng/kg once daily (maximum 1mcg daily). Weight 18kg </a:t>
            </a:r>
            <a:r>
              <a:rPr lang="en-US" dirty="0">
                <a:solidFill>
                  <a:srgbClr val="FF0000"/>
                </a:solidFill>
              </a:rPr>
              <a:t>and height 102cm corresponding to a body surface area of 0.74m</a:t>
            </a:r>
            <a:r>
              <a:rPr lang="en-US" baseline="30000" dirty="0">
                <a:solidFill>
                  <a:srgbClr val="FF0000"/>
                </a:solidFill>
              </a:rPr>
              <a:t>2</a:t>
            </a:r>
            <a:r>
              <a:rPr lang="en-US" dirty="0"/>
              <a:t>.</a:t>
            </a:r>
            <a:r>
              <a:rPr lang="en-US" dirty="0">
                <a:solidFill>
                  <a:srgbClr val="FF0000"/>
                </a:solidFill>
              </a:rPr>
              <a:t> </a:t>
            </a:r>
            <a:r>
              <a:rPr lang="en-US" dirty="0"/>
              <a:t>One drop of </a:t>
            </a:r>
            <a:r>
              <a:rPr lang="en-US" dirty="0" err="1"/>
              <a:t>alfacalcidol</a:t>
            </a:r>
            <a:r>
              <a:rPr lang="en-US" dirty="0"/>
              <a:t> </a:t>
            </a:r>
            <a:r>
              <a:rPr lang="en-US" dirty="0">
                <a:solidFill>
                  <a:srgbClr val="FF0000"/>
                </a:solidFill>
              </a:rPr>
              <a:t>5mcg/1ml oral solution </a:t>
            </a:r>
            <a:r>
              <a:rPr lang="en-US" dirty="0"/>
              <a:t>contains 0.1mcg </a:t>
            </a:r>
            <a:r>
              <a:rPr lang="en-US" dirty="0" err="1"/>
              <a:t>alfacalcidol</a:t>
            </a:r>
            <a:r>
              <a:rPr lang="en-US" dirty="0"/>
              <a:t>.</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7" y="285531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How many drops of </a:t>
            </a:r>
            <a:r>
              <a:rPr lang="en-US" dirty="0" err="1"/>
              <a:t>alfacalcidol</a:t>
            </a:r>
            <a:r>
              <a:rPr lang="en-US" dirty="0"/>
              <a:t> solution should the patient be given?</a:t>
            </a:r>
          </a:p>
          <a:p>
            <a:r>
              <a:rPr lang="en-US" i="1" dirty="0"/>
              <a:t>(write your answer in the box provided)</a:t>
            </a:r>
          </a:p>
        </p:txBody>
      </p:sp>
      <p:sp>
        <p:nvSpPr>
          <p:cNvPr id="12" name="TextBox 11">
            <a:extLst>
              <a:ext uri="{FF2B5EF4-FFF2-40B4-BE49-F238E27FC236}">
                <a16:creationId xmlns:a16="http://schemas.microsoft.com/office/drawing/2014/main" id="{73A958CD-4B25-2948-B04A-D0016297312C}"/>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3" name="TextBox 12">
            <a:extLst>
              <a:ext uri="{FF2B5EF4-FFF2-40B4-BE49-F238E27FC236}">
                <a16:creationId xmlns:a16="http://schemas.microsoft.com/office/drawing/2014/main" id="{D2012E0C-10C8-0345-BB40-D43C045BA043}"/>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2211844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6CBA9-AADE-1B0A-CC6C-4F9F9DA23AA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5A76C58-5107-8A72-82D1-B5FFF7FD908B}"/>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A3ED2412-BE66-47F3-0793-5DC9D8DD5F03}"/>
              </a:ext>
            </a:extLst>
          </p:cNvPr>
          <p:cNvPicPr>
            <a:picLocks noChangeAspect="1"/>
          </p:cNvPicPr>
          <p:nvPr/>
        </p:nvPicPr>
        <p:blipFill>
          <a:blip r:embed="rId3"/>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C0432CF8-AE47-D9AB-7109-B94814B8B925}"/>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E05A78F4-E5D6-A070-5577-24D809EC66DA}"/>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91825EF3-3EA1-3B47-7AF3-5272259480E2}"/>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8F215C95-C5E8-3CB2-27B4-935DF236C3A7}"/>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1" name="TextBox 10">
            <a:extLst>
              <a:ext uri="{FF2B5EF4-FFF2-40B4-BE49-F238E27FC236}">
                <a16:creationId xmlns:a16="http://schemas.microsoft.com/office/drawing/2014/main" id="{F6358693-5DCE-EA34-7F24-1BF6E0628677}"/>
              </a:ext>
            </a:extLst>
          </p:cNvPr>
          <p:cNvSpPr txBox="1"/>
          <p:nvPr/>
        </p:nvSpPr>
        <p:spPr>
          <a:xfrm>
            <a:off x="185736" y="899730"/>
            <a:ext cx="5815012" cy="3139321"/>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66-year-old man presents to A&amp;E with lethargy. He has a </a:t>
            </a:r>
            <a:r>
              <a:rPr lang="en-US" dirty="0">
                <a:highlight>
                  <a:srgbClr val="00FF00"/>
                </a:highlight>
              </a:rPr>
              <a:t>two-day history of nausea and vomiting and as not been able to tolerate any oral fluids for the past few days</a:t>
            </a:r>
            <a:r>
              <a:rPr lang="en-US" dirty="0"/>
              <a:t>. Weight 80kg. </a:t>
            </a:r>
            <a:r>
              <a:rPr lang="en-US" b="1" dirty="0"/>
              <a:t>PMH.</a:t>
            </a:r>
            <a:r>
              <a:rPr lang="en-US" dirty="0"/>
              <a:t> Osteoarthritis. </a:t>
            </a:r>
            <a:r>
              <a:rPr lang="en-US" b="1" dirty="0"/>
              <a:t>DH.</a:t>
            </a:r>
            <a:r>
              <a:rPr lang="en-US" dirty="0"/>
              <a:t> Paracetamol 1000mg PO PRN. </a:t>
            </a:r>
          </a:p>
          <a:p>
            <a:r>
              <a:rPr lang="en-US" b="1" dirty="0"/>
              <a:t>On examination</a:t>
            </a:r>
          </a:p>
          <a:p>
            <a:r>
              <a:rPr lang="en-US" dirty="0"/>
              <a:t>Airway patent, alert and talking. </a:t>
            </a:r>
            <a:r>
              <a:rPr lang="en-US" dirty="0" err="1"/>
              <a:t>Sats</a:t>
            </a:r>
            <a:r>
              <a:rPr lang="en-US" dirty="0"/>
              <a:t> 97% on RA, RR 16, chest clear. </a:t>
            </a:r>
            <a:r>
              <a:rPr lang="en-US" dirty="0">
                <a:highlight>
                  <a:srgbClr val="00FF00"/>
                </a:highlight>
              </a:rPr>
              <a:t>BP 92/44</a:t>
            </a:r>
            <a:r>
              <a:rPr lang="en-US" dirty="0"/>
              <a:t>, </a:t>
            </a:r>
            <a:r>
              <a:rPr lang="en-US" dirty="0">
                <a:highlight>
                  <a:srgbClr val="00FF00"/>
                </a:highlight>
              </a:rPr>
              <a:t>HR 120</a:t>
            </a:r>
            <a:r>
              <a:rPr lang="en-US" dirty="0"/>
              <a:t> and regular, HS I+II+0, </a:t>
            </a:r>
            <a:r>
              <a:rPr lang="en-US" dirty="0">
                <a:highlight>
                  <a:srgbClr val="00FF00"/>
                </a:highlight>
              </a:rPr>
              <a:t>cap refill &gt;3s</a:t>
            </a:r>
            <a:r>
              <a:rPr lang="en-US" dirty="0"/>
              <a:t>. T 37.4, PEARL, GCS 15/15, capillary glucose 5.6. Abdomen SNT, no peripheral oedema.</a:t>
            </a:r>
          </a:p>
        </p:txBody>
      </p:sp>
      <p:sp>
        <p:nvSpPr>
          <p:cNvPr id="17" name="Rectangle 16">
            <a:extLst>
              <a:ext uri="{FF2B5EF4-FFF2-40B4-BE49-F238E27FC236}">
                <a16:creationId xmlns:a16="http://schemas.microsoft.com/office/drawing/2014/main" id="{707343EE-BC67-3A5E-3EC1-FE8ACFB47C0F}"/>
              </a:ext>
            </a:extLst>
          </p:cNvPr>
          <p:cNvSpPr/>
          <p:nvPr/>
        </p:nvSpPr>
        <p:spPr>
          <a:xfrm>
            <a:off x="6467477"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sodium chloride 0.9%</a:t>
            </a:r>
          </a:p>
        </p:txBody>
      </p:sp>
      <p:sp>
        <p:nvSpPr>
          <p:cNvPr id="18" name="Rectangle 17">
            <a:extLst>
              <a:ext uri="{FF2B5EF4-FFF2-40B4-BE49-F238E27FC236}">
                <a16:creationId xmlns:a16="http://schemas.microsoft.com/office/drawing/2014/main" id="{367C825C-3B00-94E7-D0E2-634AA5A12185}"/>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500ml	</a:t>
            </a:r>
          </a:p>
        </p:txBody>
      </p:sp>
      <p:sp>
        <p:nvSpPr>
          <p:cNvPr id="20" name="Rectangle 19">
            <a:extLst>
              <a:ext uri="{FF2B5EF4-FFF2-40B4-BE49-F238E27FC236}">
                <a16:creationId xmlns:a16="http://schemas.microsoft.com/office/drawing/2014/main" id="{C94A2D0E-6EFA-EFA8-D2C0-9C6CC63316D1}"/>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10 mins</a:t>
            </a:r>
          </a:p>
        </p:txBody>
      </p:sp>
      <p:sp>
        <p:nvSpPr>
          <p:cNvPr id="15" name="TextBox 14">
            <a:extLst>
              <a:ext uri="{FF2B5EF4-FFF2-40B4-BE49-F238E27FC236}">
                <a16:creationId xmlns:a16="http://schemas.microsoft.com/office/drawing/2014/main" id="{BBDE50BC-AD2D-27A4-5809-9F63EBFAB999}"/>
              </a:ext>
            </a:extLst>
          </p:cNvPr>
          <p:cNvSpPr txBox="1"/>
          <p:nvPr/>
        </p:nvSpPr>
        <p:spPr>
          <a:xfrm>
            <a:off x="185736" y="4237153"/>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to treat his current condition.</a:t>
            </a:r>
          </a:p>
          <a:p>
            <a:r>
              <a:rPr lang="en-US" i="1" dirty="0"/>
              <a:t>(use the ‘hospital IV fluid’ prescription form provided)</a:t>
            </a:r>
          </a:p>
        </p:txBody>
      </p:sp>
      <p:sp>
        <p:nvSpPr>
          <p:cNvPr id="2" name="TextBox 1">
            <a:extLst>
              <a:ext uri="{FF2B5EF4-FFF2-40B4-BE49-F238E27FC236}">
                <a16:creationId xmlns:a16="http://schemas.microsoft.com/office/drawing/2014/main" id="{1D3453F7-E175-FD1D-0A80-EB2F9CA32889}"/>
              </a:ext>
            </a:extLst>
          </p:cNvPr>
          <p:cNvSpPr txBox="1"/>
          <p:nvPr/>
        </p:nvSpPr>
        <p:spPr>
          <a:xfrm>
            <a:off x="185738" y="5948964"/>
            <a:ext cx="3002629" cy="830997"/>
          </a:xfrm>
          <a:prstGeom prst="rect">
            <a:avLst/>
          </a:prstGeom>
          <a:noFill/>
        </p:spPr>
        <p:txBody>
          <a:bodyPr wrap="square" rtlCol="0">
            <a:spAutoFit/>
          </a:bodyPr>
          <a:lstStyle/>
          <a:p>
            <a:r>
              <a:rPr lang="en-US" sz="4800" dirty="0"/>
              <a:t>A1</a:t>
            </a:r>
          </a:p>
        </p:txBody>
      </p:sp>
    </p:spTree>
    <p:extLst>
      <p:ext uri="{BB962C8B-B14F-4D97-AF65-F5344CB8AC3E}">
        <p14:creationId xmlns:p14="http://schemas.microsoft.com/office/powerpoint/2010/main" val="1342049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E1E0F-CC31-186C-BDFB-8EA194E0062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7530A96-1D7B-8A1F-30E2-6F60FA70C954}"/>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79E8B099-74C0-74D9-C353-61435E5DEBAD}"/>
              </a:ext>
            </a:extLst>
          </p:cNvPr>
          <p:cNvPicPr>
            <a:picLocks noChangeAspect="1"/>
          </p:cNvPicPr>
          <p:nvPr/>
        </p:nvPicPr>
        <p:blipFill>
          <a:blip r:embed="rId3"/>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D57DEC1C-E256-F17C-1E87-CED149C8E5C7}"/>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9AC96281-6D9D-E20A-333B-65D168075390}"/>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309F15B9-E454-2696-0B47-FC8D767FB6EC}"/>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2741DD96-FABB-0F6C-63F6-8487887F530D}"/>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1" name="TextBox 10">
            <a:extLst>
              <a:ext uri="{FF2B5EF4-FFF2-40B4-BE49-F238E27FC236}">
                <a16:creationId xmlns:a16="http://schemas.microsoft.com/office/drawing/2014/main" id="{193283FC-CC7A-14A4-2ED1-21E0E71F8AC7}"/>
              </a:ext>
            </a:extLst>
          </p:cNvPr>
          <p:cNvSpPr txBox="1"/>
          <p:nvPr/>
        </p:nvSpPr>
        <p:spPr>
          <a:xfrm>
            <a:off x="185736" y="899730"/>
            <a:ext cx="5815012" cy="3139321"/>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73-year-old woman is being treated on the surgical ward for acute cholecystitis. On the ward round she is found to be </a:t>
            </a:r>
            <a:r>
              <a:rPr lang="en-US" dirty="0">
                <a:highlight>
                  <a:srgbClr val="00FF00"/>
                </a:highlight>
              </a:rPr>
              <a:t>sweaty, confused and drowsy</a:t>
            </a:r>
            <a:r>
              <a:rPr lang="en-US" dirty="0"/>
              <a:t>. Weight 74kg. </a:t>
            </a:r>
            <a:r>
              <a:rPr lang="en-US" b="1" dirty="0"/>
              <a:t>PMH.</a:t>
            </a:r>
            <a:r>
              <a:rPr lang="en-US" dirty="0"/>
              <a:t> Type 2 diabetes. </a:t>
            </a:r>
            <a:r>
              <a:rPr lang="en-US" b="1" dirty="0"/>
              <a:t>DH.</a:t>
            </a:r>
            <a:r>
              <a:rPr lang="en-US" dirty="0"/>
              <a:t> Metformin hydrochloride 1g PO twice daily with meals, empagliflozin 10mg PO once daily. </a:t>
            </a:r>
          </a:p>
          <a:p>
            <a:r>
              <a:rPr lang="en-US" b="1" dirty="0"/>
              <a:t>On examination</a:t>
            </a:r>
          </a:p>
          <a:p>
            <a:r>
              <a:rPr lang="en-US" dirty="0"/>
              <a:t>Airway patent, </a:t>
            </a:r>
            <a:r>
              <a:rPr lang="en-US" dirty="0">
                <a:highlight>
                  <a:srgbClr val="00FF00"/>
                </a:highlight>
              </a:rPr>
              <a:t>drowsy but rousable, confused</a:t>
            </a:r>
            <a:r>
              <a:rPr lang="en-US" dirty="0"/>
              <a:t>. </a:t>
            </a:r>
            <a:r>
              <a:rPr lang="en-US" dirty="0" err="1"/>
              <a:t>Sats</a:t>
            </a:r>
            <a:r>
              <a:rPr lang="en-US" dirty="0"/>
              <a:t> 98% on RA, RR 12, chest clear. BP 146/88, HR 100 and regular, HS I+II+0, cap refill 2s. T 36.9, PEARL, </a:t>
            </a:r>
            <a:r>
              <a:rPr lang="en-US" dirty="0">
                <a:highlight>
                  <a:srgbClr val="00FF00"/>
                </a:highlight>
              </a:rPr>
              <a:t>GCS 13/15</a:t>
            </a:r>
            <a:r>
              <a:rPr lang="en-US" dirty="0"/>
              <a:t>, </a:t>
            </a:r>
            <a:r>
              <a:rPr lang="en-US" dirty="0">
                <a:highlight>
                  <a:srgbClr val="00FF00"/>
                </a:highlight>
              </a:rPr>
              <a:t>capillary glucose 2.3</a:t>
            </a:r>
            <a:r>
              <a:rPr lang="en-US" dirty="0"/>
              <a:t>. Abdomen SNT, no peripheral oedema.</a:t>
            </a:r>
          </a:p>
        </p:txBody>
      </p:sp>
      <p:sp>
        <p:nvSpPr>
          <p:cNvPr id="17" name="Rectangle 16">
            <a:extLst>
              <a:ext uri="{FF2B5EF4-FFF2-40B4-BE49-F238E27FC236}">
                <a16:creationId xmlns:a16="http://schemas.microsoft.com/office/drawing/2014/main" id="{5A71F526-D870-FBE7-41C7-6CD5DE408942}"/>
              </a:ext>
            </a:extLst>
          </p:cNvPr>
          <p:cNvSpPr/>
          <p:nvPr/>
        </p:nvSpPr>
        <p:spPr>
          <a:xfrm>
            <a:off x="6467477"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glucose 20%</a:t>
            </a:r>
          </a:p>
        </p:txBody>
      </p:sp>
      <p:sp>
        <p:nvSpPr>
          <p:cNvPr id="18" name="Rectangle 17">
            <a:extLst>
              <a:ext uri="{FF2B5EF4-FFF2-40B4-BE49-F238E27FC236}">
                <a16:creationId xmlns:a16="http://schemas.microsoft.com/office/drawing/2014/main" id="{B57B0FCB-098E-2D67-8290-A062826351CB}"/>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100ml	</a:t>
            </a:r>
          </a:p>
        </p:txBody>
      </p:sp>
      <p:sp>
        <p:nvSpPr>
          <p:cNvPr id="20" name="Rectangle 19">
            <a:extLst>
              <a:ext uri="{FF2B5EF4-FFF2-40B4-BE49-F238E27FC236}">
                <a16:creationId xmlns:a16="http://schemas.microsoft.com/office/drawing/2014/main" id="{D6272127-74FA-B876-B1C8-5B4BFA494055}"/>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15 mins</a:t>
            </a:r>
          </a:p>
        </p:txBody>
      </p:sp>
      <p:sp>
        <p:nvSpPr>
          <p:cNvPr id="15" name="TextBox 14">
            <a:extLst>
              <a:ext uri="{FF2B5EF4-FFF2-40B4-BE49-F238E27FC236}">
                <a16:creationId xmlns:a16="http://schemas.microsoft.com/office/drawing/2014/main" id="{EB363D93-631F-8787-A547-049D3D6FAFEA}"/>
              </a:ext>
            </a:extLst>
          </p:cNvPr>
          <p:cNvSpPr txBox="1"/>
          <p:nvPr/>
        </p:nvSpPr>
        <p:spPr>
          <a:xfrm>
            <a:off x="185738" y="4237917"/>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to treat her current condition.</a:t>
            </a:r>
          </a:p>
          <a:p>
            <a:r>
              <a:rPr lang="en-US" i="1" dirty="0"/>
              <a:t>(use the ‘hospital IV fluid’ prescription form provided)</a:t>
            </a:r>
          </a:p>
        </p:txBody>
      </p:sp>
      <p:sp>
        <p:nvSpPr>
          <p:cNvPr id="2" name="TextBox 1">
            <a:extLst>
              <a:ext uri="{FF2B5EF4-FFF2-40B4-BE49-F238E27FC236}">
                <a16:creationId xmlns:a16="http://schemas.microsoft.com/office/drawing/2014/main" id="{7C6C63A3-706A-EE21-1747-1CB65B833BBD}"/>
              </a:ext>
            </a:extLst>
          </p:cNvPr>
          <p:cNvSpPr txBox="1"/>
          <p:nvPr/>
        </p:nvSpPr>
        <p:spPr>
          <a:xfrm>
            <a:off x="185738" y="5948964"/>
            <a:ext cx="2906378" cy="830997"/>
          </a:xfrm>
          <a:prstGeom prst="rect">
            <a:avLst/>
          </a:prstGeom>
          <a:noFill/>
        </p:spPr>
        <p:txBody>
          <a:bodyPr wrap="square" rtlCol="0">
            <a:spAutoFit/>
          </a:bodyPr>
          <a:lstStyle/>
          <a:p>
            <a:r>
              <a:rPr lang="en-US" sz="4800" dirty="0"/>
              <a:t>A2</a:t>
            </a:r>
          </a:p>
        </p:txBody>
      </p:sp>
    </p:spTree>
    <p:extLst>
      <p:ext uri="{BB962C8B-B14F-4D97-AF65-F5344CB8AC3E}">
        <p14:creationId xmlns:p14="http://schemas.microsoft.com/office/powerpoint/2010/main" val="3053543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54C4E-FC20-901C-8AAA-1611FBBD9F9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00A8327-D050-8B59-6BA6-C7998F0A7293}"/>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FF899362-25BB-8220-F6E1-288180ACBD04}"/>
              </a:ext>
            </a:extLst>
          </p:cNvPr>
          <p:cNvPicPr>
            <a:picLocks noChangeAspect="1"/>
          </p:cNvPicPr>
          <p:nvPr/>
        </p:nvPicPr>
        <p:blipFill>
          <a:blip r:embed="rId3"/>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234A85B1-F722-C196-8E7C-285F57B455BD}"/>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33EFF9F4-12A5-E10D-F35B-7FC6BACAF699}"/>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51ABC1EE-BFD6-87F7-92A7-E5DD45289FAA}"/>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3B81010F-58F9-814C-8973-F99A2EF8B4B6}"/>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7" name="Rectangle 16">
            <a:extLst>
              <a:ext uri="{FF2B5EF4-FFF2-40B4-BE49-F238E27FC236}">
                <a16:creationId xmlns:a16="http://schemas.microsoft.com/office/drawing/2014/main" id="{77D693A1-F7CC-BE5D-D6D6-ED46E6100341}"/>
              </a:ext>
            </a:extLst>
          </p:cNvPr>
          <p:cNvSpPr/>
          <p:nvPr/>
        </p:nvSpPr>
        <p:spPr>
          <a:xfrm>
            <a:off x="6467475"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sodium chloride 0.9%</a:t>
            </a:r>
          </a:p>
        </p:txBody>
      </p:sp>
      <p:sp>
        <p:nvSpPr>
          <p:cNvPr id="18" name="Rectangle 17">
            <a:extLst>
              <a:ext uri="{FF2B5EF4-FFF2-40B4-BE49-F238E27FC236}">
                <a16:creationId xmlns:a16="http://schemas.microsoft.com/office/drawing/2014/main" id="{0663D4A4-0F3A-807D-5C8F-18E4460F4EA1}"/>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1000ml	</a:t>
            </a:r>
          </a:p>
        </p:txBody>
      </p:sp>
      <p:sp>
        <p:nvSpPr>
          <p:cNvPr id="20" name="Rectangle 19">
            <a:extLst>
              <a:ext uri="{FF2B5EF4-FFF2-40B4-BE49-F238E27FC236}">
                <a16:creationId xmlns:a16="http://schemas.microsoft.com/office/drawing/2014/main" id="{8288DD84-D3D7-5A28-72D2-78F0C0C98142}"/>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hours</a:t>
            </a:r>
          </a:p>
        </p:txBody>
      </p:sp>
      <p:sp>
        <p:nvSpPr>
          <p:cNvPr id="15" name="TextBox 14">
            <a:extLst>
              <a:ext uri="{FF2B5EF4-FFF2-40B4-BE49-F238E27FC236}">
                <a16:creationId xmlns:a16="http://schemas.microsoft.com/office/drawing/2014/main" id="{15E7287B-54F4-1BDA-20E9-549DBF72D3F7}"/>
              </a:ext>
            </a:extLst>
          </p:cNvPr>
          <p:cNvSpPr txBox="1"/>
          <p:nvPr/>
        </p:nvSpPr>
        <p:spPr>
          <a:xfrm>
            <a:off x="185738" y="900112"/>
            <a:ext cx="5815012" cy="2585323"/>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67-year-old woman presents to A&amp;E with </a:t>
            </a:r>
            <a:r>
              <a:rPr lang="en-US" dirty="0">
                <a:highlight>
                  <a:srgbClr val="00FF00"/>
                </a:highlight>
              </a:rPr>
              <a:t>abdominal pain, weakness and confusion</a:t>
            </a:r>
            <a:r>
              <a:rPr lang="en-US" dirty="0"/>
              <a:t>. She has recently seen her GP for </a:t>
            </a:r>
            <a:r>
              <a:rPr lang="en-US" dirty="0">
                <a:highlight>
                  <a:srgbClr val="CBF2CA"/>
                </a:highlight>
              </a:rPr>
              <a:t>lower back pain and bruising</a:t>
            </a:r>
            <a:r>
              <a:rPr lang="en-US" dirty="0"/>
              <a:t>. Weight 91kg. </a:t>
            </a:r>
            <a:r>
              <a:rPr lang="en-US" b="1" dirty="0"/>
              <a:t>PMH.</a:t>
            </a:r>
            <a:r>
              <a:rPr lang="en-US" dirty="0"/>
              <a:t> Hypertension. </a:t>
            </a:r>
            <a:r>
              <a:rPr lang="en-US" b="1" dirty="0"/>
              <a:t>DH.</a:t>
            </a:r>
            <a:r>
              <a:rPr lang="en-US" dirty="0"/>
              <a:t> Amlodipine 5mg PO once daily.</a:t>
            </a:r>
          </a:p>
          <a:p>
            <a:r>
              <a:rPr lang="en-US" b="1" dirty="0"/>
              <a:t>Investigations</a:t>
            </a:r>
          </a:p>
          <a:p>
            <a:r>
              <a:rPr lang="en-US" dirty="0">
                <a:highlight>
                  <a:srgbClr val="CBF2CA"/>
                </a:highlight>
              </a:rPr>
              <a:t>Hb 99</a:t>
            </a:r>
            <a:r>
              <a:rPr lang="en-US" dirty="0"/>
              <a:t>, Na 142 (137-144), K 4.5 (3.5-5.3), U 4.3 (2.5-7.0), </a:t>
            </a:r>
            <a:r>
              <a:rPr lang="en-US" dirty="0">
                <a:highlight>
                  <a:srgbClr val="CBF2CA"/>
                </a:highlight>
              </a:rPr>
              <a:t>Cr 166 (60-110)</a:t>
            </a:r>
            <a:r>
              <a:rPr lang="en-US" dirty="0"/>
              <a:t>, </a:t>
            </a:r>
            <a:r>
              <a:rPr lang="en-US" dirty="0">
                <a:highlight>
                  <a:srgbClr val="CBF2CA"/>
                </a:highlight>
              </a:rPr>
              <a:t>eGFR 45 (&gt;60)</a:t>
            </a:r>
            <a:r>
              <a:rPr lang="en-US" dirty="0"/>
              <a:t>, </a:t>
            </a:r>
            <a:r>
              <a:rPr lang="en-US" dirty="0">
                <a:highlight>
                  <a:srgbClr val="00FF00"/>
                </a:highlight>
              </a:rPr>
              <a:t>Ca 4.8 (2.2-2.6)</a:t>
            </a:r>
            <a:r>
              <a:rPr lang="en-US" dirty="0"/>
              <a:t>, capillary glucose 4.6</a:t>
            </a:r>
          </a:p>
        </p:txBody>
      </p:sp>
      <p:sp>
        <p:nvSpPr>
          <p:cNvPr id="21" name="TextBox 20">
            <a:extLst>
              <a:ext uri="{FF2B5EF4-FFF2-40B4-BE49-F238E27FC236}">
                <a16:creationId xmlns:a16="http://schemas.microsoft.com/office/drawing/2014/main" id="{5C2371F7-5A90-3F61-C6AA-7BF5E8268D0E}"/>
              </a:ext>
            </a:extLst>
          </p:cNvPr>
          <p:cNvSpPr txBox="1"/>
          <p:nvPr/>
        </p:nvSpPr>
        <p:spPr>
          <a:xfrm>
            <a:off x="185738" y="3683919"/>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to treat her current condition.</a:t>
            </a:r>
          </a:p>
          <a:p>
            <a:r>
              <a:rPr lang="en-US" i="1" dirty="0"/>
              <a:t>(use the ‘hospital IV fluid’ prescription form provided)</a:t>
            </a:r>
          </a:p>
        </p:txBody>
      </p:sp>
      <p:sp>
        <p:nvSpPr>
          <p:cNvPr id="19" name="TextBox 18">
            <a:extLst>
              <a:ext uri="{FF2B5EF4-FFF2-40B4-BE49-F238E27FC236}">
                <a16:creationId xmlns:a16="http://schemas.microsoft.com/office/drawing/2014/main" id="{ECB60779-A04C-D04F-B897-E5D2339627AD}"/>
              </a:ext>
            </a:extLst>
          </p:cNvPr>
          <p:cNvSpPr txBox="1"/>
          <p:nvPr/>
        </p:nvSpPr>
        <p:spPr>
          <a:xfrm>
            <a:off x="6191250" y="4432086"/>
            <a:ext cx="5815012" cy="369332"/>
          </a:xfrm>
          <a:prstGeom prst="rect">
            <a:avLst/>
          </a:prstGeom>
          <a:noFill/>
        </p:spPr>
        <p:txBody>
          <a:bodyPr wrap="square" rtlCol="0">
            <a:spAutoFit/>
          </a:bodyPr>
          <a:lstStyle/>
          <a:p>
            <a:r>
              <a:rPr lang="en-US" dirty="0"/>
              <a:t>Spot the diagnosis?</a:t>
            </a:r>
          </a:p>
        </p:txBody>
      </p:sp>
      <p:sp>
        <p:nvSpPr>
          <p:cNvPr id="2" name="TextBox 1">
            <a:extLst>
              <a:ext uri="{FF2B5EF4-FFF2-40B4-BE49-F238E27FC236}">
                <a16:creationId xmlns:a16="http://schemas.microsoft.com/office/drawing/2014/main" id="{0CD95281-F801-252E-A281-7DD3CDB1233C}"/>
              </a:ext>
            </a:extLst>
          </p:cNvPr>
          <p:cNvSpPr txBox="1"/>
          <p:nvPr/>
        </p:nvSpPr>
        <p:spPr>
          <a:xfrm>
            <a:off x="185738" y="5948964"/>
            <a:ext cx="2882315" cy="830997"/>
          </a:xfrm>
          <a:prstGeom prst="rect">
            <a:avLst/>
          </a:prstGeom>
          <a:noFill/>
        </p:spPr>
        <p:txBody>
          <a:bodyPr wrap="square" rtlCol="0">
            <a:spAutoFit/>
          </a:bodyPr>
          <a:lstStyle/>
          <a:p>
            <a:r>
              <a:rPr lang="en-US" sz="4800" dirty="0"/>
              <a:t>A3</a:t>
            </a:r>
          </a:p>
        </p:txBody>
      </p:sp>
    </p:spTree>
    <p:extLst>
      <p:ext uri="{BB962C8B-B14F-4D97-AF65-F5344CB8AC3E}">
        <p14:creationId xmlns:p14="http://schemas.microsoft.com/office/powerpoint/2010/main" val="35267162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D199B-9DDC-C24A-6A23-FCCE2008A11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1E534B4-76B3-9202-598F-629D77210B2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7EAC7BD8-DDB3-A9C2-1108-8430FE1C0CCF}"/>
              </a:ext>
            </a:extLst>
          </p:cNvPr>
          <p:cNvPicPr>
            <a:picLocks noChangeAspect="1"/>
          </p:cNvPicPr>
          <p:nvPr/>
        </p:nvPicPr>
        <p:blipFill>
          <a:blip r:embed="rId3"/>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A36D0368-B007-920A-6C3E-54A3B5BFB4BF}"/>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7B95CBEB-6F58-3FD3-DF53-2CF5DA176586}"/>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41AEE340-F8F3-5893-FB06-3502C1DF0441}"/>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460C8C41-46CA-4EA7-B734-5A1A3089E4CE}"/>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8" name="Rectangle 17">
            <a:extLst>
              <a:ext uri="{FF2B5EF4-FFF2-40B4-BE49-F238E27FC236}">
                <a16:creationId xmlns:a16="http://schemas.microsoft.com/office/drawing/2014/main" id="{552A8985-113A-AA74-BA31-911FDD25ED96}"/>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1000ml	</a:t>
            </a:r>
          </a:p>
        </p:txBody>
      </p:sp>
      <p:sp>
        <p:nvSpPr>
          <p:cNvPr id="20" name="Rectangle 19">
            <a:extLst>
              <a:ext uri="{FF2B5EF4-FFF2-40B4-BE49-F238E27FC236}">
                <a16:creationId xmlns:a16="http://schemas.microsoft.com/office/drawing/2014/main" id="{73A9838B-9D66-5078-8CE2-93EEE4020402}"/>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hours</a:t>
            </a:r>
          </a:p>
        </p:txBody>
      </p:sp>
      <p:sp>
        <p:nvSpPr>
          <p:cNvPr id="16" name="TextBox 15">
            <a:extLst>
              <a:ext uri="{FF2B5EF4-FFF2-40B4-BE49-F238E27FC236}">
                <a16:creationId xmlns:a16="http://schemas.microsoft.com/office/drawing/2014/main" id="{0564771A-9EDB-20DC-AB21-7A98701338B5}"/>
              </a:ext>
            </a:extLst>
          </p:cNvPr>
          <p:cNvSpPr txBox="1"/>
          <p:nvPr/>
        </p:nvSpPr>
        <p:spPr>
          <a:xfrm>
            <a:off x="185738" y="900112"/>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An 87-year-old man is admitted to the medical ward with a </a:t>
            </a:r>
            <a:r>
              <a:rPr lang="en-US" dirty="0">
                <a:highlight>
                  <a:srgbClr val="00FF00"/>
                </a:highlight>
              </a:rPr>
              <a:t>3</a:t>
            </a:r>
            <a:r>
              <a:rPr lang="en-US" dirty="0"/>
              <a:t> </a:t>
            </a:r>
            <a:r>
              <a:rPr lang="en-US" dirty="0">
                <a:highlight>
                  <a:srgbClr val="00FF00"/>
                </a:highlight>
              </a:rPr>
              <a:t>day history of diarrhoea</a:t>
            </a:r>
            <a:r>
              <a:rPr lang="en-US" dirty="0"/>
              <a:t> and is unable to cope alone at home. He has </a:t>
            </a:r>
            <a:r>
              <a:rPr lang="en-US" dirty="0">
                <a:highlight>
                  <a:srgbClr val="00FF00"/>
                </a:highlight>
              </a:rPr>
              <a:t>not managed to eat or drink</a:t>
            </a:r>
            <a:r>
              <a:rPr lang="en-US" dirty="0"/>
              <a:t> properly since the symptoms started. Weight 71kg. </a:t>
            </a:r>
            <a:r>
              <a:rPr lang="en-US" b="1" dirty="0"/>
              <a:t>PMH.</a:t>
            </a:r>
            <a:r>
              <a:rPr lang="en-US" dirty="0"/>
              <a:t> Nil. </a:t>
            </a:r>
            <a:r>
              <a:rPr lang="en-US" b="1" dirty="0"/>
              <a:t>DH.</a:t>
            </a:r>
            <a:r>
              <a:rPr lang="en-US" dirty="0"/>
              <a:t> Nil.</a:t>
            </a:r>
          </a:p>
          <a:p>
            <a:r>
              <a:rPr lang="en-US" b="1" dirty="0"/>
              <a:t>Investigations</a:t>
            </a:r>
          </a:p>
          <a:p>
            <a:r>
              <a:rPr lang="en-US" dirty="0"/>
              <a:t>Na 141 (137-144), </a:t>
            </a:r>
            <a:r>
              <a:rPr lang="en-US" dirty="0">
                <a:highlight>
                  <a:srgbClr val="00FF00"/>
                </a:highlight>
              </a:rPr>
              <a:t>K 2.7 (3.5-5.3)</a:t>
            </a:r>
            <a:r>
              <a:rPr lang="en-US" dirty="0"/>
              <a:t>, U 6.1 (2.5-7.0), Cr 110 (60-110), capillary glucose 4.9</a:t>
            </a:r>
          </a:p>
        </p:txBody>
      </p:sp>
      <p:sp>
        <p:nvSpPr>
          <p:cNvPr id="19" name="TextBox 18">
            <a:extLst>
              <a:ext uri="{FF2B5EF4-FFF2-40B4-BE49-F238E27FC236}">
                <a16:creationId xmlns:a16="http://schemas.microsoft.com/office/drawing/2014/main" id="{2873A9CD-3369-E373-666D-F828DCCE9019}"/>
              </a:ext>
            </a:extLst>
          </p:cNvPr>
          <p:cNvSpPr txBox="1"/>
          <p:nvPr/>
        </p:nvSpPr>
        <p:spPr>
          <a:xfrm>
            <a:off x="185738" y="3406920"/>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to treat his current condition.</a:t>
            </a:r>
          </a:p>
          <a:p>
            <a:r>
              <a:rPr lang="en-US" i="1" dirty="0"/>
              <a:t>(use the ‘hospital IV fluid’ prescription form provided)</a:t>
            </a:r>
          </a:p>
        </p:txBody>
      </p:sp>
      <p:sp>
        <p:nvSpPr>
          <p:cNvPr id="15" name="Rectangle 14">
            <a:extLst>
              <a:ext uri="{FF2B5EF4-FFF2-40B4-BE49-F238E27FC236}">
                <a16:creationId xmlns:a16="http://schemas.microsoft.com/office/drawing/2014/main" id="{C304EA65-E5D9-EBF2-1009-01536930BBF5}"/>
              </a:ext>
            </a:extLst>
          </p:cNvPr>
          <p:cNvSpPr/>
          <p:nvPr/>
        </p:nvSpPr>
        <p:spPr>
          <a:xfrm>
            <a:off x="6467475"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sodium chloride 0.9% / potassium chloride 0.3%</a:t>
            </a:r>
          </a:p>
        </p:txBody>
      </p:sp>
      <p:sp>
        <p:nvSpPr>
          <p:cNvPr id="2" name="TextBox 1">
            <a:extLst>
              <a:ext uri="{FF2B5EF4-FFF2-40B4-BE49-F238E27FC236}">
                <a16:creationId xmlns:a16="http://schemas.microsoft.com/office/drawing/2014/main" id="{3AC9B992-B047-31A9-A1E0-01B7E00ACE0E}"/>
              </a:ext>
            </a:extLst>
          </p:cNvPr>
          <p:cNvSpPr txBox="1"/>
          <p:nvPr/>
        </p:nvSpPr>
        <p:spPr>
          <a:xfrm>
            <a:off x="185738" y="5948964"/>
            <a:ext cx="3098883" cy="830997"/>
          </a:xfrm>
          <a:prstGeom prst="rect">
            <a:avLst/>
          </a:prstGeom>
          <a:noFill/>
        </p:spPr>
        <p:txBody>
          <a:bodyPr wrap="square" rtlCol="0">
            <a:spAutoFit/>
          </a:bodyPr>
          <a:lstStyle/>
          <a:p>
            <a:r>
              <a:rPr lang="en-US" sz="4800" dirty="0"/>
              <a:t>A4</a:t>
            </a:r>
          </a:p>
        </p:txBody>
      </p:sp>
    </p:spTree>
    <p:extLst>
      <p:ext uri="{BB962C8B-B14F-4D97-AF65-F5344CB8AC3E}">
        <p14:creationId xmlns:p14="http://schemas.microsoft.com/office/powerpoint/2010/main" val="26855883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DCB33-2EC5-46B7-CF9F-934A8821217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4258D99-A538-8607-60FE-094D709810B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A1E9D1AB-9036-7A59-DEC3-90F3BE6EB74E}"/>
              </a:ext>
            </a:extLst>
          </p:cNvPr>
          <p:cNvPicPr>
            <a:picLocks noChangeAspect="1"/>
          </p:cNvPicPr>
          <p:nvPr/>
        </p:nvPicPr>
        <p:blipFill>
          <a:blip r:embed="rId4"/>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1F8B89A1-A80F-6338-9EBD-4D74D9DC838F}"/>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695B88BC-61F3-85C7-9043-D8DD2002361F}"/>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160B51BB-C079-FCFD-60A3-D61F583A47D3}"/>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0907440A-DA0C-32E1-A6E0-AC1989078A6A}"/>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7" name="Rectangle 16">
            <a:extLst>
              <a:ext uri="{FF2B5EF4-FFF2-40B4-BE49-F238E27FC236}">
                <a16:creationId xmlns:a16="http://schemas.microsoft.com/office/drawing/2014/main" id="{DA836128-4BE7-5972-2F41-7842C57800C6}"/>
              </a:ext>
            </a:extLst>
          </p:cNvPr>
          <p:cNvSpPr/>
          <p:nvPr/>
        </p:nvSpPr>
        <p:spPr>
          <a:xfrm>
            <a:off x="6467475"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lots of options… see next slide</a:t>
            </a:r>
          </a:p>
        </p:txBody>
      </p:sp>
      <p:sp>
        <p:nvSpPr>
          <p:cNvPr id="18" name="Rectangle 17">
            <a:extLst>
              <a:ext uri="{FF2B5EF4-FFF2-40B4-BE49-F238E27FC236}">
                <a16:creationId xmlns:a16="http://schemas.microsoft.com/office/drawing/2014/main" id="{1E96E8AA-2C83-64FA-512B-08B38773031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1000ml	</a:t>
            </a:r>
          </a:p>
        </p:txBody>
      </p:sp>
      <p:sp>
        <p:nvSpPr>
          <p:cNvPr id="20" name="Rectangle 19">
            <a:extLst>
              <a:ext uri="{FF2B5EF4-FFF2-40B4-BE49-F238E27FC236}">
                <a16:creationId xmlns:a16="http://schemas.microsoft.com/office/drawing/2014/main" id="{F1EABDE8-06A1-E365-8EB5-6D4863E47130}"/>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8-12h (12h)</a:t>
            </a:r>
          </a:p>
        </p:txBody>
      </p:sp>
      <p:sp>
        <p:nvSpPr>
          <p:cNvPr id="15" name="TextBox 14">
            <a:extLst>
              <a:ext uri="{FF2B5EF4-FFF2-40B4-BE49-F238E27FC236}">
                <a16:creationId xmlns:a16="http://schemas.microsoft.com/office/drawing/2014/main" id="{EC39E9F0-8BD0-8B77-1392-C268138378A0}"/>
              </a:ext>
            </a:extLst>
          </p:cNvPr>
          <p:cNvSpPr txBox="1"/>
          <p:nvPr/>
        </p:nvSpPr>
        <p:spPr>
          <a:xfrm>
            <a:off x="185738" y="900112"/>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45-year-old woman is admitted to the surgical ward </a:t>
            </a:r>
            <a:r>
              <a:rPr lang="en-US" dirty="0">
                <a:highlight>
                  <a:srgbClr val="00FF00"/>
                </a:highlight>
              </a:rPr>
              <a:t>awaiting a laparoscopic appendicectomy</a:t>
            </a:r>
            <a:r>
              <a:rPr lang="en-US" dirty="0"/>
              <a:t> for appendicitis. </a:t>
            </a:r>
            <a:r>
              <a:rPr lang="en-US" dirty="0">
                <a:highlight>
                  <a:srgbClr val="00FF00"/>
                </a:highlight>
              </a:rPr>
              <a:t>She is to remain NBM until her operation later this afternoon</a:t>
            </a:r>
            <a:r>
              <a:rPr lang="en-US" dirty="0"/>
              <a:t>. Weight 71kg. </a:t>
            </a:r>
            <a:r>
              <a:rPr lang="en-US" b="1" dirty="0"/>
              <a:t>PMH.</a:t>
            </a:r>
            <a:r>
              <a:rPr lang="en-US" dirty="0"/>
              <a:t> Nil. </a:t>
            </a:r>
            <a:r>
              <a:rPr lang="en-US" b="1" dirty="0"/>
              <a:t>DH.</a:t>
            </a:r>
            <a:r>
              <a:rPr lang="en-US" dirty="0"/>
              <a:t> Nil.</a:t>
            </a:r>
          </a:p>
          <a:p>
            <a:r>
              <a:rPr lang="en-US" b="1" dirty="0"/>
              <a:t>Investigations</a:t>
            </a:r>
          </a:p>
          <a:p>
            <a:r>
              <a:rPr lang="en-US" dirty="0"/>
              <a:t>Na 142 (137-144), K 4.1 (3.5-5.3), U 5.0 (2.5-7.0), Cr 63 (60-110), capillary glucose 7.1</a:t>
            </a:r>
          </a:p>
        </p:txBody>
      </p:sp>
      <p:sp>
        <p:nvSpPr>
          <p:cNvPr id="21" name="TextBox 20">
            <a:extLst>
              <a:ext uri="{FF2B5EF4-FFF2-40B4-BE49-F238E27FC236}">
                <a16:creationId xmlns:a16="http://schemas.microsoft.com/office/drawing/2014/main" id="{C9A9442C-EB39-34E8-29C8-7719BD7D4777}"/>
              </a:ext>
            </a:extLst>
          </p:cNvPr>
          <p:cNvSpPr txBox="1"/>
          <p:nvPr/>
        </p:nvSpPr>
        <p:spPr>
          <a:xfrm>
            <a:off x="185738" y="3406920"/>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for the patient at this stage?</a:t>
            </a:r>
          </a:p>
          <a:p>
            <a:r>
              <a:rPr lang="en-US" i="1" dirty="0"/>
              <a:t>(use the ‘hospital IV fluid’ prescription form provided)</a:t>
            </a:r>
          </a:p>
        </p:txBody>
      </p:sp>
      <p:sp>
        <p:nvSpPr>
          <p:cNvPr id="2" name="TextBox 1">
            <a:extLst>
              <a:ext uri="{FF2B5EF4-FFF2-40B4-BE49-F238E27FC236}">
                <a16:creationId xmlns:a16="http://schemas.microsoft.com/office/drawing/2014/main" id="{4FD1FDC6-BD95-FE03-976C-AF86DCA76F14}"/>
              </a:ext>
            </a:extLst>
          </p:cNvPr>
          <p:cNvSpPr txBox="1"/>
          <p:nvPr/>
        </p:nvSpPr>
        <p:spPr>
          <a:xfrm>
            <a:off x="185738" y="5948964"/>
            <a:ext cx="3086851" cy="830997"/>
          </a:xfrm>
          <a:prstGeom prst="rect">
            <a:avLst/>
          </a:prstGeom>
          <a:noFill/>
        </p:spPr>
        <p:txBody>
          <a:bodyPr wrap="square" rtlCol="0">
            <a:spAutoFit/>
          </a:bodyPr>
          <a:lstStyle/>
          <a:p>
            <a:r>
              <a:rPr lang="en-US" sz="4800" dirty="0"/>
              <a:t>A5</a:t>
            </a:r>
          </a:p>
        </p:txBody>
      </p:sp>
    </p:spTree>
    <p:extLst>
      <p:ext uri="{BB962C8B-B14F-4D97-AF65-F5344CB8AC3E}">
        <p14:creationId xmlns:p14="http://schemas.microsoft.com/office/powerpoint/2010/main" val="19483485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3"/>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386DBB35-BC72-AB41-897A-539B3417561E}"/>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1ED32C0E-D093-134B-890E-1AB5285ACF73}"/>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729C37C9-FC9D-3B44-A8EA-EF3F38ECFF6B}"/>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7" name="Rectangle 16">
            <a:extLst>
              <a:ext uri="{FF2B5EF4-FFF2-40B4-BE49-F238E27FC236}">
                <a16:creationId xmlns:a16="http://schemas.microsoft.com/office/drawing/2014/main" id="{A9B2B51C-0366-C44D-9C3D-FFBE57321895}"/>
              </a:ext>
            </a:extLst>
          </p:cNvPr>
          <p:cNvSpPr/>
          <p:nvPr/>
        </p:nvSpPr>
        <p:spPr>
          <a:xfrm>
            <a:off x="6467475"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p>
        </p:txBody>
      </p:sp>
      <p:sp>
        <p:nvSpPr>
          <p:cNvPr id="20" name="Rectangle 19">
            <a:extLst>
              <a:ext uri="{FF2B5EF4-FFF2-40B4-BE49-F238E27FC236}">
                <a16:creationId xmlns:a16="http://schemas.microsoft.com/office/drawing/2014/main" id="{7E41A487-644D-F048-95FB-FA3562BC67CF}"/>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4" name="TextBox 13">
            <a:extLst>
              <a:ext uri="{FF2B5EF4-FFF2-40B4-BE49-F238E27FC236}">
                <a16:creationId xmlns:a16="http://schemas.microsoft.com/office/drawing/2014/main" id="{FA59F8C5-5A4F-4A4C-A2A7-9577B37FCB87}"/>
              </a:ext>
            </a:extLst>
          </p:cNvPr>
          <p:cNvSpPr txBox="1"/>
          <p:nvPr/>
        </p:nvSpPr>
        <p:spPr>
          <a:xfrm>
            <a:off x="185738" y="5948964"/>
            <a:ext cx="3303420" cy="830997"/>
          </a:xfrm>
          <a:prstGeom prst="rect">
            <a:avLst/>
          </a:prstGeom>
          <a:noFill/>
        </p:spPr>
        <p:txBody>
          <a:bodyPr wrap="square" rtlCol="0">
            <a:spAutoFit/>
          </a:bodyPr>
          <a:lstStyle/>
          <a:p>
            <a:r>
              <a:rPr lang="en-US" sz="4800" dirty="0"/>
              <a:t>Q6 – 2 mins</a:t>
            </a:r>
          </a:p>
        </p:txBody>
      </p:sp>
      <p:sp>
        <p:nvSpPr>
          <p:cNvPr id="16" name="TextBox 15">
            <a:extLst>
              <a:ext uri="{FF2B5EF4-FFF2-40B4-BE49-F238E27FC236}">
                <a16:creationId xmlns:a16="http://schemas.microsoft.com/office/drawing/2014/main" id="{DC164509-E33C-1442-81DE-3E807A490381}"/>
              </a:ext>
            </a:extLst>
          </p:cNvPr>
          <p:cNvSpPr txBox="1"/>
          <p:nvPr/>
        </p:nvSpPr>
        <p:spPr>
          <a:xfrm>
            <a:off x="185738" y="900112"/>
            <a:ext cx="5815012" cy="341632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admitted to hospital for an elective right hemicolectomy. She is waiting for the procedure on the surgical ward, however, the operation is delayed. Weight 60kg. </a:t>
            </a:r>
            <a:r>
              <a:rPr lang="en-US" b="1" dirty="0"/>
              <a:t>PMH.</a:t>
            </a:r>
            <a:r>
              <a:rPr lang="en-US" dirty="0"/>
              <a:t> COPD. </a:t>
            </a:r>
            <a:r>
              <a:rPr lang="en-US" b="1" dirty="0"/>
              <a:t>DH.</a:t>
            </a:r>
            <a:r>
              <a:rPr lang="en-US" dirty="0"/>
              <a:t> Salbutamol MDI 2 puffs PRN, fluticasone </a:t>
            </a:r>
            <a:r>
              <a:rPr lang="en-US" dirty="0" err="1"/>
              <a:t>proprionate</a:t>
            </a:r>
            <a:r>
              <a:rPr lang="en-US" dirty="0"/>
              <a:t> 250mcg/salmeterol 50mcg (Seretide 250 </a:t>
            </a:r>
            <a:r>
              <a:rPr lang="en-US" dirty="0" err="1"/>
              <a:t>Accuhaler</a:t>
            </a:r>
            <a:r>
              <a:rPr lang="en-US" dirty="0"/>
              <a:t>) 1 puff twice daily.</a:t>
            </a:r>
          </a:p>
          <a:p>
            <a:r>
              <a:rPr lang="en-US" b="1" dirty="0"/>
              <a:t>Investigations</a:t>
            </a:r>
          </a:p>
          <a:p>
            <a:r>
              <a:rPr lang="en-US" dirty="0"/>
              <a:t>Na 140 (137-144), K 4.0 (3.5-5.3), U 4.1 (2.5-7.0), Cr 90 (60-110), capillary glucose 5.6</a:t>
            </a:r>
          </a:p>
          <a:p>
            <a:r>
              <a:rPr lang="en-US" dirty="0"/>
              <a:t>She has had one bag of sodium chloride 0.9% / potassium chloride 0.3% 1000ml over the last 12h.</a:t>
            </a:r>
          </a:p>
        </p:txBody>
      </p:sp>
      <p:sp>
        <p:nvSpPr>
          <p:cNvPr id="19" name="TextBox 18">
            <a:extLst>
              <a:ext uri="{FF2B5EF4-FFF2-40B4-BE49-F238E27FC236}">
                <a16:creationId xmlns:a16="http://schemas.microsoft.com/office/drawing/2014/main" id="{49D1928B-B19F-D14E-BBA4-99A0EFB06142}"/>
              </a:ext>
            </a:extLst>
          </p:cNvPr>
          <p:cNvSpPr txBox="1"/>
          <p:nvPr/>
        </p:nvSpPr>
        <p:spPr>
          <a:xfrm>
            <a:off x="185738" y="451705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for the patient at this stage?</a:t>
            </a:r>
          </a:p>
          <a:p>
            <a:r>
              <a:rPr lang="en-US" i="1" dirty="0"/>
              <a:t>(use the ‘hospital IV fluid’ prescription form provided)</a:t>
            </a:r>
          </a:p>
        </p:txBody>
      </p:sp>
    </p:spTree>
    <p:extLst>
      <p:ext uri="{BB962C8B-B14F-4D97-AF65-F5344CB8AC3E}">
        <p14:creationId xmlns:p14="http://schemas.microsoft.com/office/powerpoint/2010/main" val="36944256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BB1E6-1D2F-5375-F592-C086094C2FC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E86D9F9-92D8-5B9F-8376-9774C9655EEF}"/>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53C1D514-41E8-A916-9E36-A4192B9C1BAA}"/>
              </a:ext>
            </a:extLst>
          </p:cNvPr>
          <p:cNvPicPr>
            <a:picLocks noChangeAspect="1"/>
          </p:cNvPicPr>
          <p:nvPr/>
        </p:nvPicPr>
        <p:blipFill>
          <a:blip r:embed="rId3"/>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BB8C9A4F-97F6-B2E9-A759-368932DE24AC}"/>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C0A34B84-06BE-3956-FBB6-BBB9E7687849}"/>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5952B1E3-37C8-E123-0394-5845D6E2CA43}"/>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334CFE33-78D3-9943-8DE1-091D455748B9}"/>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7" name="Rectangle 16">
            <a:extLst>
              <a:ext uri="{FF2B5EF4-FFF2-40B4-BE49-F238E27FC236}">
                <a16:creationId xmlns:a16="http://schemas.microsoft.com/office/drawing/2014/main" id="{D37720B9-79FC-1A1D-7BCC-9670F1146577}"/>
              </a:ext>
            </a:extLst>
          </p:cNvPr>
          <p:cNvSpPr/>
          <p:nvPr/>
        </p:nvSpPr>
        <p:spPr>
          <a:xfrm>
            <a:off x="6467475"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glucose 5% / potassium chloride 0.15%</a:t>
            </a:r>
          </a:p>
        </p:txBody>
      </p:sp>
      <p:sp>
        <p:nvSpPr>
          <p:cNvPr id="18" name="Rectangle 17">
            <a:extLst>
              <a:ext uri="{FF2B5EF4-FFF2-40B4-BE49-F238E27FC236}">
                <a16:creationId xmlns:a16="http://schemas.microsoft.com/office/drawing/2014/main" id="{48545E51-3F4B-B1CE-6962-90BC56E16F6F}"/>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1000ml</a:t>
            </a:r>
          </a:p>
        </p:txBody>
      </p:sp>
      <p:sp>
        <p:nvSpPr>
          <p:cNvPr id="20" name="Rectangle 19">
            <a:extLst>
              <a:ext uri="{FF2B5EF4-FFF2-40B4-BE49-F238E27FC236}">
                <a16:creationId xmlns:a16="http://schemas.microsoft.com/office/drawing/2014/main" id="{CF2F695D-485A-651F-7572-48C8DD2239EA}"/>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8-12h</a:t>
            </a:r>
          </a:p>
        </p:txBody>
      </p:sp>
      <p:sp>
        <p:nvSpPr>
          <p:cNvPr id="16" name="TextBox 15">
            <a:extLst>
              <a:ext uri="{FF2B5EF4-FFF2-40B4-BE49-F238E27FC236}">
                <a16:creationId xmlns:a16="http://schemas.microsoft.com/office/drawing/2014/main" id="{F6841909-0588-EF44-9ACD-FC2C6809E6E4}"/>
              </a:ext>
            </a:extLst>
          </p:cNvPr>
          <p:cNvSpPr txBox="1"/>
          <p:nvPr/>
        </p:nvSpPr>
        <p:spPr>
          <a:xfrm>
            <a:off x="185738" y="900112"/>
            <a:ext cx="5815012" cy="341632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admitted to hospital for an elective right hemicolectomy. She is waiting for the procedure on the surgical ward, however, the operation is delayed. Weight 60kg. </a:t>
            </a:r>
            <a:r>
              <a:rPr lang="en-US" b="1" dirty="0"/>
              <a:t>PMH.</a:t>
            </a:r>
            <a:r>
              <a:rPr lang="en-US" dirty="0"/>
              <a:t> COPD. </a:t>
            </a:r>
            <a:r>
              <a:rPr lang="en-US" b="1" dirty="0"/>
              <a:t>DH.</a:t>
            </a:r>
            <a:r>
              <a:rPr lang="en-US" dirty="0"/>
              <a:t> Salbutamol MDI 2 puffs PRN, fluticasone </a:t>
            </a:r>
            <a:r>
              <a:rPr lang="en-US" dirty="0" err="1"/>
              <a:t>proprionate</a:t>
            </a:r>
            <a:r>
              <a:rPr lang="en-US" dirty="0"/>
              <a:t> 250mcg/salmeterol 50mcg (Seretide 250 </a:t>
            </a:r>
            <a:r>
              <a:rPr lang="en-US" dirty="0" err="1"/>
              <a:t>Accuhaler</a:t>
            </a:r>
            <a:r>
              <a:rPr lang="en-US" dirty="0"/>
              <a:t>) 1 puff twice daily.</a:t>
            </a:r>
          </a:p>
          <a:p>
            <a:r>
              <a:rPr lang="en-US" b="1" dirty="0"/>
              <a:t>Investigations</a:t>
            </a:r>
          </a:p>
          <a:p>
            <a:r>
              <a:rPr lang="en-US" dirty="0"/>
              <a:t>Na 140 (137-144), K 4.0 (3.5-5.3), U 4.1 (2.5-7.0), Cr 90 (60-110), capillary glucose 5.6</a:t>
            </a:r>
          </a:p>
          <a:p>
            <a:r>
              <a:rPr lang="en-US" dirty="0">
                <a:highlight>
                  <a:srgbClr val="00FF00"/>
                </a:highlight>
              </a:rPr>
              <a:t>She has had one bag of sodium chloride 0.9% / potassium chloride 0.3% 1000ml over the last 12h</a:t>
            </a:r>
            <a:r>
              <a:rPr lang="en-US" dirty="0"/>
              <a:t>.</a:t>
            </a:r>
          </a:p>
        </p:txBody>
      </p:sp>
      <p:sp>
        <p:nvSpPr>
          <p:cNvPr id="19" name="TextBox 18">
            <a:extLst>
              <a:ext uri="{FF2B5EF4-FFF2-40B4-BE49-F238E27FC236}">
                <a16:creationId xmlns:a16="http://schemas.microsoft.com/office/drawing/2014/main" id="{F97135A3-5F8B-ABAA-31C7-0F3119F5F91D}"/>
              </a:ext>
            </a:extLst>
          </p:cNvPr>
          <p:cNvSpPr txBox="1"/>
          <p:nvPr/>
        </p:nvSpPr>
        <p:spPr>
          <a:xfrm>
            <a:off x="185738" y="451705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for the patient </a:t>
            </a:r>
            <a:r>
              <a:rPr lang="en-US" dirty="0">
                <a:highlight>
                  <a:srgbClr val="00FF00"/>
                </a:highlight>
              </a:rPr>
              <a:t>at this stage</a:t>
            </a:r>
            <a:r>
              <a:rPr lang="en-US" dirty="0"/>
              <a:t>?</a:t>
            </a:r>
          </a:p>
          <a:p>
            <a:r>
              <a:rPr lang="en-US" i="1" dirty="0"/>
              <a:t>(use the ‘hospital IV fluid’ prescription form provided)</a:t>
            </a:r>
          </a:p>
        </p:txBody>
      </p:sp>
      <p:sp>
        <p:nvSpPr>
          <p:cNvPr id="2" name="TextBox 1">
            <a:extLst>
              <a:ext uri="{FF2B5EF4-FFF2-40B4-BE49-F238E27FC236}">
                <a16:creationId xmlns:a16="http://schemas.microsoft.com/office/drawing/2014/main" id="{522C88C3-6515-6F18-9A5E-0BA8E5731626}"/>
              </a:ext>
            </a:extLst>
          </p:cNvPr>
          <p:cNvSpPr txBox="1"/>
          <p:nvPr/>
        </p:nvSpPr>
        <p:spPr>
          <a:xfrm>
            <a:off x="185738" y="5948964"/>
            <a:ext cx="3303420" cy="830997"/>
          </a:xfrm>
          <a:prstGeom prst="rect">
            <a:avLst/>
          </a:prstGeom>
          <a:noFill/>
        </p:spPr>
        <p:txBody>
          <a:bodyPr wrap="square" rtlCol="0">
            <a:spAutoFit/>
          </a:bodyPr>
          <a:lstStyle/>
          <a:p>
            <a:r>
              <a:rPr lang="en-US" sz="4800" dirty="0"/>
              <a:t>A6</a:t>
            </a:r>
          </a:p>
        </p:txBody>
      </p:sp>
    </p:spTree>
    <p:extLst>
      <p:ext uri="{BB962C8B-B14F-4D97-AF65-F5344CB8AC3E}">
        <p14:creationId xmlns:p14="http://schemas.microsoft.com/office/powerpoint/2010/main" val="3641739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ED515-8095-A1AD-4CEF-E9006FA2272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2E60014-7512-A4AD-D684-B163CE6B7EAC}"/>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C4EB9DA3-BA8B-69C3-323E-F7F24252BDE1}"/>
              </a:ext>
            </a:extLst>
          </p:cNvPr>
          <p:cNvPicPr>
            <a:picLocks noChangeAspect="1"/>
          </p:cNvPicPr>
          <p:nvPr/>
        </p:nvPicPr>
        <p:blipFill>
          <a:blip r:embed="rId3"/>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5528C14B-F0CE-B8C7-E864-25C4B4E9ADE4}"/>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14393CE0-1100-A975-A13B-7A2B13EB4A29}"/>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A8D850F8-216E-9076-C7BE-5EDBA2288CDD}"/>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0ED92C95-B36A-7678-EDBF-286CFE6F541C}"/>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7" name="Rectangle 16">
            <a:extLst>
              <a:ext uri="{FF2B5EF4-FFF2-40B4-BE49-F238E27FC236}">
                <a16:creationId xmlns:a16="http://schemas.microsoft.com/office/drawing/2014/main" id="{BB111066-4120-FA70-7FDC-4481B2135039}"/>
              </a:ext>
            </a:extLst>
          </p:cNvPr>
          <p:cNvSpPr/>
          <p:nvPr/>
        </p:nvSpPr>
        <p:spPr>
          <a:xfrm>
            <a:off x="6467475"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sodium chloride 0.9% / potassium chloride 0.3%</a:t>
            </a:r>
          </a:p>
        </p:txBody>
      </p:sp>
      <p:sp>
        <p:nvSpPr>
          <p:cNvPr id="18" name="Rectangle 17">
            <a:extLst>
              <a:ext uri="{FF2B5EF4-FFF2-40B4-BE49-F238E27FC236}">
                <a16:creationId xmlns:a16="http://schemas.microsoft.com/office/drawing/2014/main" id="{96171B40-3020-6B8E-79D2-371841CA59BF}"/>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1000ml	</a:t>
            </a:r>
          </a:p>
        </p:txBody>
      </p:sp>
      <p:sp>
        <p:nvSpPr>
          <p:cNvPr id="20" name="Rectangle 19">
            <a:extLst>
              <a:ext uri="{FF2B5EF4-FFF2-40B4-BE49-F238E27FC236}">
                <a16:creationId xmlns:a16="http://schemas.microsoft.com/office/drawing/2014/main" id="{91EFAB67-B2BD-5C69-7F51-3551FDC14912}"/>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4-6h</a:t>
            </a:r>
          </a:p>
        </p:txBody>
      </p:sp>
      <p:sp>
        <p:nvSpPr>
          <p:cNvPr id="16" name="TextBox 15">
            <a:extLst>
              <a:ext uri="{FF2B5EF4-FFF2-40B4-BE49-F238E27FC236}">
                <a16:creationId xmlns:a16="http://schemas.microsoft.com/office/drawing/2014/main" id="{B32FE5F8-62F5-8BDA-5EF1-03322F30B22E}"/>
              </a:ext>
            </a:extLst>
          </p:cNvPr>
          <p:cNvSpPr txBox="1"/>
          <p:nvPr/>
        </p:nvSpPr>
        <p:spPr>
          <a:xfrm>
            <a:off x="185738" y="900112"/>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21-year-old man is admitted to hospital with </a:t>
            </a:r>
            <a:r>
              <a:rPr lang="en-US" dirty="0">
                <a:highlight>
                  <a:srgbClr val="00FF00"/>
                </a:highlight>
              </a:rPr>
              <a:t>worsening</a:t>
            </a:r>
            <a:r>
              <a:rPr lang="en-US" dirty="0"/>
              <a:t> </a:t>
            </a:r>
            <a:r>
              <a:rPr lang="en-US" dirty="0">
                <a:highlight>
                  <a:srgbClr val="00FF00"/>
                </a:highlight>
              </a:rPr>
              <a:t>diarrhoea</a:t>
            </a:r>
            <a:r>
              <a:rPr lang="en-US" dirty="0"/>
              <a:t>. </a:t>
            </a:r>
            <a:r>
              <a:rPr lang="en-US" dirty="0">
                <a:highlight>
                  <a:srgbClr val="00FF00"/>
                </a:highlight>
              </a:rPr>
              <a:t>Viral gastroenteritis</a:t>
            </a:r>
            <a:r>
              <a:rPr lang="en-US" dirty="0"/>
              <a:t> is suspected. Symptoms have been </a:t>
            </a:r>
            <a:r>
              <a:rPr lang="en-US" dirty="0">
                <a:highlight>
                  <a:srgbClr val="00FF00"/>
                </a:highlight>
              </a:rPr>
              <a:t>ongoing for 3 days and he has managed to eat and drink little during this time</a:t>
            </a:r>
            <a:r>
              <a:rPr lang="en-US" dirty="0"/>
              <a:t>. Weight 78kg. </a:t>
            </a:r>
            <a:r>
              <a:rPr lang="en-US" b="1" dirty="0"/>
              <a:t>PMH.</a:t>
            </a:r>
            <a:r>
              <a:rPr lang="en-US" dirty="0"/>
              <a:t> Nil. </a:t>
            </a:r>
            <a:r>
              <a:rPr lang="en-US" b="1" dirty="0"/>
              <a:t>DH.</a:t>
            </a:r>
            <a:r>
              <a:rPr lang="en-US" dirty="0"/>
              <a:t> Nil.</a:t>
            </a:r>
          </a:p>
          <a:p>
            <a:r>
              <a:rPr lang="en-US" b="1" dirty="0"/>
              <a:t>On examination</a:t>
            </a:r>
          </a:p>
          <a:p>
            <a:r>
              <a:rPr lang="en-US" dirty="0"/>
              <a:t>Airway patent, alert and talking. </a:t>
            </a:r>
            <a:r>
              <a:rPr lang="en-US" dirty="0" err="1"/>
              <a:t>Sats</a:t>
            </a:r>
            <a:r>
              <a:rPr lang="en-US" dirty="0"/>
              <a:t> 99% on RA, RR 16, chest clear. BP 120/72, HR 102 and regular, HS I+II+0, cap refill 3s. T 37.4, PEARL, GCS 15/15, capillary glucose 4.9. Abdomen SNT, no peripheral oedema.</a:t>
            </a:r>
          </a:p>
          <a:p>
            <a:r>
              <a:rPr lang="en-US" b="1" dirty="0"/>
              <a:t>Investigations</a:t>
            </a:r>
          </a:p>
          <a:p>
            <a:r>
              <a:rPr lang="en-US" dirty="0">
                <a:highlight>
                  <a:srgbClr val="00FF00"/>
                </a:highlight>
              </a:rPr>
              <a:t>Na 137</a:t>
            </a:r>
            <a:r>
              <a:rPr lang="en-US" dirty="0"/>
              <a:t> (137-144), </a:t>
            </a:r>
            <a:r>
              <a:rPr lang="en-US" dirty="0">
                <a:highlight>
                  <a:srgbClr val="00FF00"/>
                </a:highlight>
              </a:rPr>
              <a:t>K 3.4</a:t>
            </a:r>
            <a:r>
              <a:rPr lang="en-US" dirty="0"/>
              <a:t> (3.5-5.3), U 7.0 (2.5-7.0), Cr 100 (60-110)</a:t>
            </a:r>
          </a:p>
        </p:txBody>
      </p:sp>
      <p:sp>
        <p:nvSpPr>
          <p:cNvPr id="19" name="TextBox 18">
            <a:extLst>
              <a:ext uri="{FF2B5EF4-FFF2-40B4-BE49-F238E27FC236}">
                <a16:creationId xmlns:a16="http://schemas.microsoft.com/office/drawing/2014/main" id="{73E28E62-94C7-25BE-2E9C-DF71A9E3148C}"/>
              </a:ext>
            </a:extLst>
          </p:cNvPr>
          <p:cNvSpPr txBox="1"/>
          <p:nvPr/>
        </p:nvSpPr>
        <p:spPr>
          <a:xfrm>
            <a:off x="185738" y="4791915"/>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for the patient at this stage?</a:t>
            </a:r>
          </a:p>
          <a:p>
            <a:r>
              <a:rPr lang="en-US" i="1" dirty="0"/>
              <a:t>(use the ‘hospital IV fluid’ prescription form provided)</a:t>
            </a:r>
          </a:p>
        </p:txBody>
      </p:sp>
      <p:sp>
        <p:nvSpPr>
          <p:cNvPr id="2" name="TextBox 1">
            <a:extLst>
              <a:ext uri="{FF2B5EF4-FFF2-40B4-BE49-F238E27FC236}">
                <a16:creationId xmlns:a16="http://schemas.microsoft.com/office/drawing/2014/main" id="{5BB3E50D-B31F-0BC8-49D8-3FE3D77EF22E}"/>
              </a:ext>
            </a:extLst>
          </p:cNvPr>
          <p:cNvSpPr txBox="1"/>
          <p:nvPr/>
        </p:nvSpPr>
        <p:spPr>
          <a:xfrm>
            <a:off x="185738" y="5948964"/>
            <a:ext cx="3423735" cy="830997"/>
          </a:xfrm>
          <a:prstGeom prst="rect">
            <a:avLst/>
          </a:prstGeom>
          <a:noFill/>
        </p:spPr>
        <p:txBody>
          <a:bodyPr wrap="square" rtlCol="0">
            <a:spAutoFit/>
          </a:bodyPr>
          <a:lstStyle/>
          <a:p>
            <a:r>
              <a:rPr lang="en-US" sz="4800" dirty="0"/>
              <a:t>A7</a:t>
            </a:r>
          </a:p>
        </p:txBody>
      </p:sp>
    </p:spTree>
    <p:extLst>
      <p:ext uri="{BB962C8B-B14F-4D97-AF65-F5344CB8AC3E}">
        <p14:creationId xmlns:p14="http://schemas.microsoft.com/office/powerpoint/2010/main" val="26348482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3"/>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386DBB35-BC72-AB41-897A-539B3417561E}"/>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1ED32C0E-D093-134B-890E-1AB5285ACF73}"/>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729C37C9-FC9D-3B44-A8EA-EF3F38ECFF6B}"/>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7" name="Rectangle 16">
            <a:extLst>
              <a:ext uri="{FF2B5EF4-FFF2-40B4-BE49-F238E27FC236}">
                <a16:creationId xmlns:a16="http://schemas.microsoft.com/office/drawing/2014/main" id="{A9B2B51C-0366-C44D-9C3D-FFBE57321895}"/>
              </a:ext>
            </a:extLst>
          </p:cNvPr>
          <p:cNvSpPr/>
          <p:nvPr/>
        </p:nvSpPr>
        <p:spPr>
          <a:xfrm>
            <a:off x="6467477" y="1498429"/>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p>
        </p:txBody>
      </p:sp>
      <p:sp>
        <p:nvSpPr>
          <p:cNvPr id="20" name="Rectangle 19">
            <a:extLst>
              <a:ext uri="{FF2B5EF4-FFF2-40B4-BE49-F238E27FC236}">
                <a16:creationId xmlns:a16="http://schemas.microsoft.com/office/drawing/2014/main" id="{7E41A487-644D-F048-95FB-FA3562BC67CF}"/>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6E414452-1F3E-7046-A1BD-46718D6F1293}"/>
              </a:ext>
            </a:extLst>
          </p:cNvPr>
          <p:cNvSpPr txBox="1"/>
          <p:nvPr/>
        </p:nvSpPr>
        <p:spPr>
          <a:xfrm>
            <a:off x="185738" y="900112"/>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An 82-year-old man is admitted to hospital 6 hours after an acute stroke. SALT recommend he remains NBM until a swallow assessment is completed. Weight 92kg. </a:t>
            </a:r>
            <a:r>
              <a:rPr lang="en-US" b="1" dirty="0"/>
              <a:t>PMH.</a:t>
            </a:r>
            <a:r>
              <a:rPr lang="en-US" dirty="0"/>
              <a:t> Atrial fibrillation. </a:t>
            </a:r>
            <a:r>
              <a:rPr lang="en-US" b="1" dirty="0"/>
              <a:t>DH.</a:t>
            </a:r>
            <a:r>
              <a:rPr lang="en-US" dirty="0"/>
              <a:t> Bisoprolol 5mg PO once daily.</a:t>
            </a:r>
          </a:p>
          <a:p>
            <a:r>
              <a:rPr lang="en-US" b="1" dirty="0"/>
              <a:t>On examination</a:t>
            </a:r>
          </a:p>
          <a:p>
            <a:r>
              <a:rPr lang="en-US" dirty="0"/>
              <a:t>Airway patent, alert but dysphasic. </a:t>
            </a:r>
            <a:r>
              <a:rPr lang="en-US" dirty="0" err="1"/>
              <a:t>Sats</a:t>
            </a:r>
            <a:r>
              <a:rPr lang="en-US" dirty="0"/>
              <a:t> 97% on RA, RR 16, chest clear. BP 136/82, HR 86 and irregular, HS I+II+0, cap refill 2s. T 37.0, PEARL, GCS 15/15, capillary glucose 5.5. Abdomen SNT, right hemiparesis.</a:t>
            </a:r>
          </a:p>
          <a:p>
            <a:r>
              <a:rPr lang="en-US" b="1" dirty="0"/>
              <a:t>Investigations</a:t>
            </a:r>
          </a:p>
          <a:p>
            <a:r>
              <a:rPr lang="en-US" dirty="0"/>
              <a:t>Na 145 (137-144), K 4.0 (3.5-5.3), U 7.6 (2.5-7.0), Cr 90 (60-110)</a:t>
            </a:r>
          </a:p>
        </p:txBody>
      </p:sp>
      <p:sp>
        <p:nvSpPr>
          <p:cNvPr id="21" name="TextBox 20">
            <a:extLst>
              <a:ext uri="{FF2B5EF4-FFF2-40B4-BE49-F238E27FC236}">
                <a16:creationId xmlns:a16="http://schemas.microsoft.com/office/drawing/2014/main" id="{156B3DA3-D70A-3D46-BA42-D96532C240E9}"/>
              </a:ext>
            </a:extLst>
          </p:cNvPr>
          <p:cNvSpPr txBox="1"/>
          <p:nvPr/>
        </p:nvSpPr>
        <p:spPr>
          <a:xfrm>
            <a:off x="185738" y="4791308"/>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for the patient at this stage?</a:t>
            </a:r>
          </a:p>
          <a:p>
            <a:r>
              <a:rPr lang="en-US" i="1" dirty="0"/>
              <a:t>(use the ‘hospital IV fluid’ prescription form provided)</a:t>
            </a:r>
          </a:p>
        </p:txBody>
      </p:sp>
    </p:spTree>
    <p:extLst>
      <p:ext uri="{BB962C8B-B14F-4D97-AF65-F5344CB8AC3E}">
        <p14:creationId xmlns:p14="http://schemas.microsoft.com/office/powerpoint/2010/main" val="24789419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4"/>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386DBB35-BC72-AB41-897A-539B3417561E}"/>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1ED32C0E-D093-134B-890E-1AB5285ACF73}"/>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729C37C9-FC9D-3B44-A8EA-EF3F38ECFF6B}"/>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7" name="Rectangle 16">
            <a:extLst>
              <a:ext uri="{FF2B5EF4-FFF2-40B4-BE49-F238E27FC236}">
                <a16:creationId xmlns:a16="http://schemas.microsoft.com/office/drawing/2014/main" id="{A9B2B51C-0366-C44D-9C3D-FFBE57321895}"/>
              </a:ext>
            </a:extLst>
          </p:cNvPr>
          <p:cNvSpPr/>
          <p:nvPr/>
        </p:nvSpPr>
        <p:spPr>
          <a:xfrm>
            <a:off x="6467475"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p>
        </p:txBody>
      </p:sp>
      <p:sp>
        <p:nvSpPr>
          <p:cNvPr id="20" name="Rectangle 19">
            <a:extLst>
              <a:ext uri="{FF2B5EF4-FFF2-40B4-BE49-F238E27FC236}">
                <a16:creationId xmlns:a16="http://schemas.microsoft.com/office/drawing/2014/main" id="{7E41A487-644D-F048-95FB-FA3562BC67CF}"/>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AA5B472A-F513-4A4C-BC96-30C60362645F}"/>
              </a:ext>
            </a:extLst>
          </p:cNvPr>
          <p:cNvSpPr txBox="1"/>
          <p:nvPr/>
        </p:nvSpPr>
        <p:spPr>
          <a:xfrm>
            <a:off x="185738" y="900112"/>
            <a:ext cx="5815012" cy="341632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woman is admitted to hospital for an elective right hemicolectomy. She is waiting for the procedure on the surgical ward, however, the operation is delayed. Weight 80kg. </a:t>
            </a:r>
            <a:r>
              <a:rPr lang="en-US" b="1" dirty="0"/>
              <a:t>PMH.</a:t>
            </a:r>
            <a:r>
              <a:rPr lang="en-US" dirty="0"/>
              <a:t> COPD. </a:t>
            </a:r>
            <a:r>
              <a:rPr lang="en-US" b="1" dirty="0"/>
              <a:t>DH.</a:t>
            </a:r>
            <a:r>
              <a:rPr lang="en-US" dirty="0"/>
              <a:t> Salbutamol MDI 2 puffs PRN, fluticasone </a:t>
            </a:r>
            <a:r>
              <a:rPr lang="en-US" dirty="0" err="1"/>
              <a:t>proprionate</a:t>
            </a:r>
            <a:r>
              <a:rPr lang="en-US" dirty="0"/>
              <a:t> 250mcg/salmeterol 50mcg (Seretide 250 </a:t>
            </a:r>
            <a:r>
              <a:rPr lang="en-US" dirty="0" err="1"/>
              <a:t>Accuhaler</a:t>
            </a:r>
            <a:r>
              <a:rPr lang="en-US" dirty="0"/>
              <a:t>) 1 puff twice daily.</a:t>
            </a:r>
          </a:p>
          <a:p>
            <a:r>
              <a:rPr lang="en-US" b="1" dirty="0"/>
              <a:t>Investigations</a:t>
            </a:r>
          </a:p>
          <a:p>
            <a:r>
              <a:rPr lang="en-US" dirty="0"/>
              <a:t>Na 140 (137-144), K 4.0 (3.5-5.3), U 4.1 (2.5-7.0), Cr 90 (60-110), capillary glucose 5.6</a:t>
            </a:r>
          </a:p>
          <a:p>
            <a:r>
              <a:rPr lang="en-US" dirty="0"/>
              <a:t>She has had one bag of sodium chloride 0.9% / potassium chloride 0.3% 1000ml over the last 12h.</a:t>
            </a:r>
          </a:p>
        </p:txBody>
      </p:sp>
      <p:sp>
        <p:nvSpPr>
          <p:cNvPr id="21" name="TextBox 20">
            <a:extLst>
              <a:ext uri="{FF2B5EF4-FFF2-40B4-BE49-F238E27FC236}">
                <a16:creationId xmlns:a16="http://schemas.microsoft.com/office/drawing/2014/main" id="{66A335DA-1634-7D4A-951B-06F216A0CB8A}"/>
              </a:ext>
            </a:extLst>
          </p:cNvPr>
          <p:cNvSpPr txBox="1"/>
          <p:nvPr/>
        </p:nvSpPr>
        <p:spPr>
          <a:xfrm>
            <a:off x="185738" y="451705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for the patient at this stage?</a:t>
            </a:r>
          </a:p>
          <a:p>
            <a:r>
              <a:rPr lang="en-US" i="1" dirty="0"/>
              <a:t>(use the ‘hospital IV fluid’ prescription form provided)</a:t>
            </a:r>
          </a:p>
        </p:txBody>
      </p:sp>
    </p:spTree>
    <p:extLst>
      <p:ext uri="{BB962C8B-B14F-4D97-AF65-F5344CB8AC3E}">
        <p14:creationId xmlns:p14="http://schemas.microsoft.com/office/powerpoint/2010/main" val="5129801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3"/>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386DBB35-BC72-AB41-897A-539B3417561E}"/>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1ED32C0E-D093-134B-890E-1AB5285ACF73}"/>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729C37C9-FC9D-3B44-A8EA-EF3F38ECFF6B}"/>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7" name="Rectangle 16">
            <a:extLst>
              <a:ext uri="{FF2B5EF4-FFF2-40B4-BE49-F238E27FC236}">
                <a16:creationId xmlns:a16="http://schemas.microsoft.com/office/drawing/2014/main" id="{A9B2B51C-0366-C44D-9C3D-FFBE57321895}"/>
              </a:ext>
            </a:extLst>
          </p:cNvPr>
          <p:cNvSpPr/>
          <p:nvPr/>
        </p:nvSpPr>
        <p:spPr>
          <a:xfrm>
            <a:off x="6467475" y="1498583"/>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p>
        </p:txBody>
      </p:sp>
      <p:sp>
        <p:nvSpPr>
          <p:cNvPr id="20" name="Rectangle 19">
            <a:extLst>
              <a:ext uri="{FF2B5EF4-FFF2-40B4-BE49-F238E27FC236}">
                <a16:creationId xmlns:a16="http://schemas.microsoft.com/office/drawing/2014/main" id="{7E41A487-644D-F048-95FB-FA3562BC67CF}"/>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38E2EDCA-FF81-C54B-BB76-B4604FA52FEE}"/>
              </a:ext>
            </a:extLst>
          </p:cNvPr>
          <p:cNvSpPr txBox="1"/>
          <p:nvPr/>
        </p:nvSpPr>
        <p:spPr>
          <a:xfrm>
            <a:off x="185738" y="900112"/>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6-year-old girl presents to A&amp;E with shortness of breath and wheeze. Weight 19kg. </a:t>
            </a:r>
            <a:r>
              <a:rPr lang="en-US" b="1" dirty="0"/>
              <a:t>PMH.</a:t>
            </a:r>
            <a:r>
              <a:rPr lang="en-US" dirty="0"/>
              <a:t> Asthma. </a:t>
            </a:r>
            <a:r>
              <a:rPr lang="en-US" b="1" dirty="0"/>
              <a:t>DH.</a:t>
            </a:r>
            <a:r>
              <a:rPr lang="en-US" dirty="0"/>
              <a:t> Salbutamol MDI 2 puffs PRN, beclomethasone dipropionate 100mcg (</a:t>
            </a:r>
            <a:r>
              <a:rPr lang="en-US" dirty="0" err="1"/>
              <a:t>Clenil</a:t>
            </a:r>
            <a:r>
              <a:rPr lang="en-US" dirty="0"/>
              <a:t> </a:t>
            </a:r>
            <a:r>
              <a:rPr lang="en-US" dirty="0" err="1"/>
              <a:t>Modulite</a:t>
            </a:r>
            <a:r>
              <a:rPr lang="en-US" dirty="0"/>
              <a:t>) 1 puff twice daily.</a:t>
            </a:r>
          </a:p>
          <a:p>
            <a:r>
              <a:rPr lang="en-US" b="1" dirty="0"/>
              <a:t>On examination</a:t>
            </a:r>
          </a:p>
          <a:p>
            <a:r>
              <a:rPr lang="en-US" dirty="0"/>
              <a:t>Airway patent, alert but unable to complete sentences. </a:t>
            </a:r>
            <a:r>
              <a:rPr lang="en-US" dirty="0" err="1"/>
              <a:t>Sats</a:t>
            </a:r>
            <a:r>
              <a:rPr lang="en-US" dirty="0"/>
              <a:t> 96% on 15L NRB, RR 32, chest wheezy ++. BP 80/52, HR 146 and regular, HS I+II+0, cap refill 3s. T 36.9, PEARL, GCS 15/15, capillary glucose 5.1. Abdomen SNT.</a:t>
            </a:r>
          </a:p>
          <a:p>
            <a:r>
              <a:rPr lang="en-US" b="1" dirty="0"/>
              <a:t>Investigations</a:t>
            </a:r>
          </a:p>
          <a:p>
            <a:r>
              <a:rPr lang="en-US" dirty="0"/>
              <a:t>Na 142 (137-144), K 4.1 (3.5-5.3), U 3.6 (2.5-7.0), Cr 65 (60-110)</a:t>
            </a:r>
          </a:p>
        </p:txBody>
      </p:sp>
      <p:sp>
        <p:nvSpPr>
          <p:cNvPr id="21" name="TextBox 20">
            <a:extLst>
              <a:ext uri="{FF2B5EF4-FFF2-40B4-BE49-F238E27FC236}">
                <a16:creationId xmlns:a16="http://schemas.microsoft.com/office/drawing/2014/main" id="{93A91194-BB95-7B49-9652-79ED3C840CD3}"/>
              </a:ext>
            </a:extLst>
          </p:cNvPr>
          <p:cNvSpPr txBox="1"/>
          <p:nvPr/>
        </p:nvSpPr>
        <p:spPr>
          <a:xfrm>
            <a:off x="185738" y="4791915"/>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to treat her current condition.</a:t>
            </a:r>
          </a:p>
          <a:p>
            <a:r>
              <a:rPr lang="en-US" i="1" dirty="0"/>
              <a:t>(use the ‘hospital IV fluid’ prescription form provided)</a:t>
            </a:r>
          </a:p>
        </p:txBody>
      </p:sp>
    </p:spTree>
    <p:extLst>
      <p:ext uri="{BB962C8B-B14F-4D97-AF65-F5344CB8AC3E}">
        <p14:creationId xmlns:p14="http://schemas.microsoft.com/office/powerpoint/2010/main" val="11580245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3"/>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386DBB35-BC72-AB41-897A-539B3417561E}"/>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1ED32C0E-D093-134B-890E-1AB5285ACF73}"/>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729C37C9-FC9D-3B44-A8EA-EF3F38ECFF6B}"/>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7" name="Rectangle 16">
            <a:extLst>
              <a:ext uri="{FF2B5EF4-FFF2-40B4-BE49-F238E27FC236}">
                <a16:creationId xmlns:a16="http://schemas.microsoft.com/office/drawing/2014/main" id="{A9B2B51C-0366-C44D-9C3D-FFBE57321895}"/>
              </a:ext>
            </a:extLst>
          </p:cNvPr>
          <p:cNvSpPr/>
          <p:nvPr/>
        </p:nvSpPr>
        <p:spPr>
          <a:xfrm>
            <a:off x="6467475"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p>
        </p:txBody>
      </p:sp>
      <p:sp>
        <p:nvSpPr>
          <p:cNvPr id="20" name="Rectangle 19">
            <a:extLst>
              <a:ext uri="{FF2B5EF4-FFF2-40B4-BE49-F238E27FC236}">
                <a16:creationId xmlns:a16="http://schemas.microsoft.com/office/drawing/2014/main" id="{7E41A487-644D-F048-95FB-FA3562BC67CF}"/>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6" name="TextBox 15">
            <a:extLst>
              <a:ext uri="{FF2B5EF4-FFF2-40B4-BE49-F238E27FC236}">
                <a16:creationId xmlns:a16="http://schemas.microsoft.com/office/drawing/2014/main" id="{B92A4B75-0CF5-2049-89AB-2663B1FD7209}"/>
              </a:ext>
            </a:extLst>
          </p:cNvPr>
          <p:cNvSpPr txBox="1"/>
          <p:nvPr/>
        </p:nvSpPr>
        <p:spPr>
          <a:xfrm>
            <a:off x="185738" y="900112"/>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9-year-old girl is reviewed on the surgical ward following a laparoscopic appendicectomy. She reports feeling very nauseous and has vomited once. Post-operative ileus is suspected. Weight 28kg. </a:t>
            </a:r>
            <a:r>
              <a:rPr lang="en-US" b="1" dirty="0"/>
              <a:t>PMH.</a:t>
            </a:r>
            <a:r>
              <a:rPr lang="en-US" dirty="0"/>
              <a:t> Nil. </a:t>
            </a:r>
            <a:r>
              <a:rPr lang="en-US" b="1" dirty="0"/>
              <a:t>DH.</a:t>
            </a:r>
            <a:r>
              <a:rPr lang="en-US" dirty="0"/>
              <a:t> Nil</a:t>
            </a:r>
          </a:p>
          <a:p>
            <a:r>
              <a:rPr lang="en-US" b="1" dirty="0"/>
              <a:t>On examination</a:t>
            </a:r>
          </a:p>
          <a:p>
            <a:r>
              <a:rPr lang="en-US" dirty="0"/>
              <a:t>Airway patent, alert and talking. </a:t>
            </a:r>
            <a:r>
              <a:rPr lang="en-US" dirty="0" err="1"/>
              <a:t>Sats</a:t>
            </a:r>
            <a:r>
              <a:rPr lang="en-US" dirty="0"/>
              <a:t> 100% on RA, RR 14, chest clear. BP 108/72, HR 98 and regular, HS I+II+0, cap refill 2s. T 36.8, PEARL, GCS 15/15, capillary glucose 6.1. Abdomen SNT.</a:t>
            </a:r>
          </a:p>
          <a:p>
            <a:r>
              <a:rPr lang="en-US" b="1" dirty="0"/>
              <a:t>Investigations</a:t>
            </a:r>
          </a:p>
          <a:p>
            <a:r>
              <a:rPr lang="en-US" dirty="0"/>
              <a:t>Na 139 (137-144), K 4.5 (3.5-5.3), U 3.8 (2.5-7.0), Cr 70 (60-110)</a:t>
            </a:r>
          </a:p>
        </p:txBody>
      </p:sp>
      <p:sp>
        <p:nvSpPr>
          <p:cNvPr id="19" name="TextBox 18">
            <a:extLst>
              <a:ext uri="{FF2B5EF4-FFF2-40B4-BE49-F238E27FC236}">
                <a16:creationId xmlns:a16="http://schemas.microsoft.com/office/drawing/2014/main" id="{4B44AFF0-4E9C-6647-964A-AD110DD2E8F0}"/>
              </a:ext>
            </a:extLst>
          </p:cNvPr>
          <p:cNvSpPr txBox="1"/>
          <p:nvPr/>
        </p:nvSpPr>
        <p:spPr>
          <a:xfrm>
            <a:off x="185738" y="4791915"/>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for the patient at this stage?</a:t>
            </a:r>
          </a:p>
          <a:p>
            <a:r>
              <a:rPr lang="en-US" i="1" dirty="0"/>
              <a:t>(use the ‘hospital IV fluid’ prescription form provided)</a:t>
            </a:r>
          </a:p>
        </p:txBody>
      </p:sp>
    </p:spTree>
    <p:extLst>
      <p:ext uri="{BB962C8B-B14F-4D97-AF65-F5344CB8AC3E}">
        <p14:creationId xmlns:p14="http://schemas.microsoft.com/office/powerpoint/2010/main" val="27041210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A9B2B51C-0366-C44D-9C3D-FFBE57321895}"/>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3937C5A9-89ED-CB4B-9C01-2AD453B267DD}"/>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FF96494A-C71B-C84B-AA71-735BC0B3DBCC}"/>
              </a:ext>
            </a:extLst>
          </p:cNvPr>
          <p:cNvSpPr txBox="1"/>
          <p:nvPr/>
        </p:nvSpPr>
        <p:spPr>
          <a:xfrm>
            <a:off x="185738" y="900112"/>
            <a:ext cx="5815012" cy="369332"/>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p:txBody>
      </p:sp>
      <p:sp>
        <p:nvSpPr>
          <p:cNvPr id="21" name="TextBox 20">
            <a:extLst>
              <a:ext uri="{FF2B5EF4-FFF2-40B4-BE49-F238E27FC236}">
                <a16:creationId xmlns:a16="http://schemas.microsoft.com/office/drawing/2014/main" id="{4320038F-44B9-F648-96C2-5B6A4B7473DB}"/>
              </a:ext>
            </a:extLst>
          </p:cNvPr>
          <p:cNvSpPr txBox="1"/>
          <p:nvPr/>
        </p:nvSpPr>
        <p:spPr>
          <a:xfrm>
            <a:off x="185738" y="1467928"/>
            <a:ext cx="5815012" cy="646331"/>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i="1" dirty="0"/>
              <a:t>(use the ‘once-only medicines’ prescription form provided)</a:t>
            </a:r>
          </a:p>
        </p:txBody>
      </p:sp>
      <p:sp>
        <p:nvSpPr>
          <p:cNvPr id="22" name="TextBox 21">
            <a:extLst>
              <a:ext uri="{FF2B5EF4-FFF2-40B4-BE49-F238E27FC236}">
                <a16:creationId xmlns:a16="http://schemas.microsoft.com/office/drawing/2014/main" id="{816E2B99-A967-A64C-A5EA-32B8CA22E068}"/>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4AD00EF1-D107-C945-B9B6-1ED04D632231}"/>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22747E27-205C-5040-8F44-9796E7895E19}"/>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3" name="TextBox 12">
            <a:extLst>
              <a:ext uri="{FF2B5EF4-FFF2-40B4-BE49-F238E27FC236}">
                <a16:creationId xmlns:a16="http://schemas.microsoft.com/office/drawing/2014/main" id="{38F3DF2B-AEF8-5B41-ACBA-1F59EF823BE9}"/>
              </a:ext>
            </a:extLst>
          </p:cNvPr>
          <p:cNvSpPr txBox="1"/>
          <p:nvPr/>
        </p:nvSpPr>
        <p:spPr>
          <a:xfrm>
            <a:off x="185736" y="2312743"/>
            <a:ext cx="5815013" cy="1323439"/>
          </a:xfrm>
          <a:prstGeom prst="rect">
            <a:avLst/>
          </a:prstGeom>
          <a:noFill/>
        </p:spPr>
        <p:txBody>
          <a:bodyPr wrap="square" rtlCol="0">
            <a:spAutoFit/>
          </a:bodyPr>
          <a:lstStyle/>
          <a:p>
            <a:r>
              <a:rPr lang="en-US" sz="2000" dirty="0"/>
              <a:t>Question type 1 – </a:t>
            </a:r>
            <a:r>
              <a:rPr lang="en-US" sz="2000" dirty="0">
                <a:solidFill>
                  <a:srgbClr val="FF0000"/>
                </a:solidFill>
              </a:rPr>
              <a:t>Once Only Medicines</a:t>
            </a:r>
            <a:endParaRPr lang="en-US" sz="2000" dirty="0"/>
          </a:p>
          <a:p>
            <a:r>
              <a:rPr lang="en-US" sz="2000" dirty="0"/>
              <a:t>This will be used for more acute conditions needing a one-off dose for example in A&amp;E. At little easier as won’t require a frequency.</a:t>
            </a:r>
          </a:p>
        </p:txBody>
      </p:sp>
      <p:sp>
        <p:nvSpPr>
          <p:cNvPr id="2" name="Rectangle 1">
            <a:extLst>
              <a:ext uri="{FF2B5EF4-FFF2-40B4-BE49-F238E27FC236}">
                <a16:creationId xmlns:a16="http://schemas.microsoft.com/office/drawing/2014/main" id="{8CBF4E5A-66CA-CAE4-D1B1-6D32DA2496F3}"/>
              </a:ext>
            </a:extLst>
          </p:cNvPr>
          <p:cNvSpPr/>
          <p:nvPr/>
        </p:nvSpPr>
        <p:spPr>
          <a:xfrm>
            <a:off x="1450600" y="210071"/>
            <a:ext cx="2188997" cy="4572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982DB31-4AA9-7763-5A15-75244832B27C}"/>
              </a:ext>
            </a:extLst>
          </p:cNvPr>
          <p:cNvSpPr txBox="1"/>
          <p:nvPr/>
        </p:nvSpPr>
        <p:spPr>
          <a:xfrm>
            <a:off x="1168189" y="3834666"/>
            <a:ext cx="3850106" cy="1384995"/>
          </a:xfrm>
          <a:prstGeom prst="rect">
            <a:avLst/>
          </a:prstGeom>
          <a:noFill/>
        </p:spPr>
        <p:txBody>
          <a:bodyPr wrap="square" rtlCol="0">
            <a:spAutoFit/>
          </a:bodyPr>
          <a:lstStyle/>
          <a:p>
            <a:r>
              <a:rPr lang="en-US" sz="2800" dirty="0">
                <a:solidFill>
                  <a:srgbClr val="FF0000"/>
                </a:solidFill>
              </a:rPr>
              <a:t>Sometimes the box at top can help guide your answer!</a:t>
            </a:r>
          </a:p>
        </p:txBody>
      </p:sp>
    </p:spTree>
    <p:extLst>
      <p:ext uri="{BB962C8B-B14F-4D97-AF65-F5344CB8AC3E}">
        <p14:creationId xmlns:p14="http://schemas.microsoft.com/office/powerpoint/2010/main" val="38947740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Route</a:t>
            </a:r>
          </a:p>
          <a:p>
            <a:r>
              <a:rPr lang="en-US" b="1" dirty="0"/>
              <a:t>                                                        </a:t>
            </a:r>
            <a:endParaRPr lang="en-US" dirty="0"/>
          </a:p>
          <a:p>
            <a:endParaRPr lang="en-US" b="1" dirty="0"/>
          </a:p>
          <a:p>
            <a:r>
              <a:rPr lang="en-US" b="1" dirty="0"/>
              <a:t>   Frequency                                  Duration</a:t>
            </a:r>
          </a:p>
          <a:p>
            <a:r>
              <a:rPr lang="en-US" b="1" dirty="0"/>
              <a:t>                                                        </a:t>
            </a:r>
            <a:r>
              <a:rPr lang="en-US" dirty="0"/>
              <a:t>continuous</a:t>
            </a:r>
          </a:p>
          <a:p>
            <a:endParaRPr lang="en-US" b="1" dirty="0"/>
          </a:p>
          <a:p>
            <a:r>
              <a:rPr lang="en-US" b="1" dirty="0"/>
              <a:t>   Prescriber                  	    Date                            </a:t>
            </a:r>
            <a:r>
              <a:rPr lang="en-US" dirty="0"/>
              <a:t> </a:t>
            </a:r>
            <a:endParaRPr lang="en-US" b="1" dirty="0"/>
          </a:p>
          <a:p>
            <a:r>
              <a:rPr lang="en-US" b="1" dirty="0"/>
              <a:t>   </a:t>
            </a:r>
            <a:r>
              <a:rPr lang="en-US" dirty="0">
                <a:solidFill>
                  <a:schemeClr val="bg1">
                    <a:lumMod val="65000"/>
                  </a:schemeClr>
                </a:solidFill>
              </a:rPr>
              <a:t>Joe Bloggs                 	    01/01/2021               </a:t>
            </a:r>
          </a:p>
        </p:txBody>
      </p:sp>
      <p:sp>
        <p:nvSpPr>
          <p:cNvPr id="17" name="Rectangle 16">
            <a:extLst>
              <a:ext uri="{FF2B5EF4-FFF2-40B4-BE49-F238E27FC236}">
                <a16:creationId xmlns:a16="http://schemas.microsoft.com/office/drawing/2014/main" id="{A9B2B51C-0366-C44D-9C3D-FFBE57321895}"/>
              </a:ext>
            </a:extLst>
          </p:cNvPr>
          <p:cNvSpPr/>
          <p:nvPr/>
        </p:nvSpPr>
        <p:spPr>
          <a:xfrm>
            <a:off x="6467476"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0" name="Rectangle 19">
            <a:extLst>
              <a:ext uri="{FF2B5EF4-FFF2-40B4-BE49-F238E27FC236}">
                <a16:creationId xmlns:a16="http://schemas.microsoft.com/office/drawing/2014/main" id="{7E41A487-644D-F048-95FB-FA3562BC67CF}"/>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3937C5A9-89ED-CB4B-9C01-2AD453B267DD}"/>
              </a:ext>
            </a:extLst>
          </p:cNvPr>
          <p:cNvSpPr/>
          <p:nvPr/>
        </p:nvSpPr>
        <p:spPr>
          <a:xfrm>
            <a:off x="9250461"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D7B6842C-12D7-6D4E-9949-07F2468C553B}"/>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1" name="TextBox 20">
            <a:extLst>
              <a:ext uri="{FF2B5EF4-FFF2-40B4-BE49-F238E27FC236}">
                <a16:creationId xmlns:a16="http://schemas.microsoft.com/office/drawing/2014/main" id="{47D92D1B-18DD-AB40-B911-C02D02A82038}"/>
              </a:ext>
            </a:extLst>
          </p:cNvPr>
          <p:cNvSpPr txBox="1"/>
          <p:nvPr/>
        </p:nvSpPr>
        <p:spPr>
          <a:xfrm>
            <a:off x="3300413" y="257177"/>
            <a:ext cx="1096960" cy="353943"/>
          </a:xfrm>
          <a:prstGeom prst="rect">
            <a:avLst/>
          </a:prstGeom>
          <a:noFill/>
        </p:spPr>
        <p:txBody>
          <a:bodyPr wrap="square" rtlCol="0">
            <a:spAutoFit/>
          </a:bodyPr>
          <a:lstStyle/>
          <a:p>
            <a:pPr algn="ctr"/>
            <a:r>
              <a:rPr lang="en-US" sz="1700" b="1" dirty="0"/>
              <a:t>10 marks</a:t>
            </a:r>
          </a:p>
        </p:txBody>
      </p:sp>
      <p:sp>
        <p:nvSpPr>
          <p:cNvPr id="22" name="TextBox 21">
            <a:extLst>
              <a:ext uri="{FF2B5EF4-FFF2-40B4-BE49-F238E27FC236}">
                <a16:creationId xmlns:a16="http://schemas.microsoft.com/office/drawing/2014/main" id="{F19654BF-150F-EF4E-83C2-21ADE06D0E0B}"/>
              </a:ext>
            </a:extLst>
          </p:cNvPr>
          <p:cNvSpPr txBox="1"/>
          <p:nvPr/>
        </p:nvSpPr>
        <p:spPr>
          <a:xfrm>
            <a:off x="1486695" y="257177"/>
            <a:ext cx="1813718" cy="353943"/>
          </a:xfrm>
          <a:prstGeom prst="rect">
            <a:avLst/>
          </a:prstGeom>
          <a:solidFill>
            <a:srgbClr val="D0D0D0"/>
          </a:solidFill>
        </p:spPr>
        <p:txBody>
          <a:bodyPr wrap="square" rtlCol="0">
            <a:spAutoFit/>
          </a:bodyPr>
          <a:lstStyle/>
          <a:p>
            <a:pPr algn="ctr"/>
            <a:r>
              <a:rPr lang="en-US" sz="1700" dirty="0"/>
              <a:t>Regular Medicines</a:t>
            </a:r>
          </a:p>
        </p:txBody>
      </p:sp>
      <p:sp>
        <p:nvSpPr>
          <p:cNvPr id="24" name="TextBox 23">
            <a:extLst>
              <a:ext uri="{FF2B5EF4-FFF2-40B4-BE49-F238E27FC236}">
                <a16:creationId xmlns:a16="http://schemas.microsoft.com/office/drawing/2014/main" id="{C6967B7A-BC77-1446-81F0-92BCB1D49832}"/>
              </a:ext>
            </a:extLst>
          </p:cNvPr>
          <p:cNvSpPr txBox="1"/>
          <p:nvPr/>
        </p:nvSpPr>
        <p:spPr>
          <a:xfrm>
            <a:off x="185738" y="900112"/>
            <a:ext cx="5815012" cy="369332"/>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p:txBody>
      </p:sp>
      <p:sp>
        <p:nvSpPr>
          <p:cNvPr id="25" name="TextBox 24">
            <a:extLst>
              <a:ext uri="{FF2B5EF4-FFF2-40B4-BE49-F238E27FC236}">
                <a16:creationId xmlns:a16="http://schemas.microsoft.com/office/drawing/2014/main" id="{D9F8FFCD-EEB4-A44C-9B71-064864AA8F2E}"/>
              </a:ext>
            </a:extLst>
          </p:cNvPr>
          <p:cNvSpPr txBox="1"/>
          <p:nvPr/>
        </p:nvSpPr>
        <p:spPr>
          <a:xfrm>
            <a:off x="185738" y="1467928"/>
            <a:ext cx="5815012" cy="923330"/>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i="1" dirty="0"/>
              <a:t>(use the ‘hospital regular medicines’ prescription form provided)</a:t>
            </a:r>
          </a:p>
        </p:txBody>
      </p:sp>
      <p:sp>
        <p:nvSpPr>
          <p:cNvPr id="14" name="TextBox 13">
            <a:extLst>
              <a:ext uri="{FF2B5EF4-FFF2-40B4-BE49-F238E27FC236}">
                <a16:creationId xmlns:a16="http://schemas.microsoft.com/office/drawing/2014/main" id="{874B75F3-F660-424A-9FFC-0DBDE60008D4}"/>
              </a:ext>
            </a:extLst>
          </p:cNvPr>
          <p:cNvSpPr txBox="1"/>
          <p:nvPr/>
        </p:nvSpPr>
        <p:spPr>
          <a:xfrm>
            <a:off x="185736" y="2588236"/>
            <a:ext cx="5815013" cy="1631216"/>
          </a:xfrm>
          <a:prstGeom prst="rect">
            <a:avLst/>
          </a:prstGeom>
          <a:noFill/>
        </p:spPr>
        <p:txBody>
          <a:bodyPr wrap="square" rtlCol="0">
            <a:spAutoFit/>
          </a:bodyPr>
          <a:lstStyle/>
          <a:p>
            <a:r>
              <a:rPr lang="en-US" sz="2000" dirty="0"/>
              <a:t>Question type 2 – </a:t>
            </a:r>
            <a:r>
              <a:rPr lang="en-US" sz="2000" dirty="0">
                <a:solidFill>
                  <a:srgbClr val="FF0000"/>
                </a:solidFill>
              </a:rPr>
              <a:t>Regular Medicines</a:t>
            </a:r>
          </a:p>
          <a:p>
            <a:r>
              <a:rPr lang="en-US" sz="2000" dirty="0"/>
              <a:t>This will test your knowledge of hospital medications, commonly things such as thromboprophylaxis, analgesia, antiemetics etc. The duration here will be ‘continuous’ with no set time period.</a:t>
            </a:r>
          </a:p>
        </p:txBody>
      </p:sp>
      <p:sp>
        <p:nvSpPr>
          <p:cNvPr id="2" name="Rectangle 1">
            <a:extLst>
              <a:ext uri="{FF2B5EF4-FFF2-40B4-BE49-F238E27FC236}">
                <a16:creationId xmlns:a16="http://schemas.microsoft.com/office/drawing/2014/main" id="{924AE193-06D5-92BB-836D-767654551E82}"/>
              </a:ext>
            </a:extLst>
          </p:cNvPr>
          <p:cNvSpPr/>
          <p:nvPr/>
        </p:nvSpPr>
        <p:spPr>
          <a:xfrm>
            <a:off x="1452481" y="211321"/>
            <a:ext cx="1882146" cy="4572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77742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3"/>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Route</a:t>
            </a:r>
          </a:p>
          <a:p>
            <a:r>
              <a:rPr lang="en-US" b="1" dirty="0"/>
              <a:t>                                                        </a:t>
            </a:r>
            <a:endParaRPr lang="en-US" dirty="0"/>
          </a:p>
          <a:p>
            <a:endParaRPr lang="en-US" b="1" dirty="0"/>
          </a:p>
          <a:p>
            <a:r>
              <a:rPr lang="en-US" b="1" dirty="0"/>
              <a:t>   Frequency                                  Duration</a:t>
            </a:r>
          </a:p>
          <a:p>
            <a:r>
              <a:rPr lang="en-US" b="1" dirty="0"/>
              <a:t>                                                        </a:t>
            </a:r>
            <a:r>
              <a:rPr lang="en-US" dirty="0"/>
              <a:t>28 days</a:t>
            </a:r>
          </a:p>
          <a:p>
            <a:endParaRPr lang="en-US" b="1" dirty="0"/>
          </a:p>
          <a:p>
            <a:r>
              <a:rPr lang="en-US" b="1" dirty="0"/>
              <a:t>   Prescriber                  	    Date                            </a:t>
            </a:r>
            <a:r>
              <a:rPr lang="en-US" dirty="0"/>
              <a:t> </a:t>
            </a:r>
            <a:endParaRPr lang="en-US" b="1" dirty="0"/>
          </a:p>
          <a:p>
            <a:r>
              <a:rPr lang="en-US" b="1" dirty="0"/>
              <a:t>   </a:t>
            </a:r>
            <a:r>
              <a:rPr lang="en-US" dirty="0">
                <a:solidFill>
                  <a:schemeClr val="bg1">
                    <a:lumMod val="65000"/>
                  </a:schemeClr>
                </a:solidFill>
              </a:rPr>
              <a:t>Joe Bloggs                 	    01/01/2021               </a:t>
            </a:r>
          </a:p>
        </p:txBody>
      </p:sp>
      <p:sp>
        <p:nvSpPr>
          <p:cNvPr id="17" name="Rectangle 16">
            <a:extLst>
              <a:ext uri="{FF2B5EF4-FFF2-40B4-BE49-F238E27FC236}">
                <a16:creationId xmlns:a16="http://schemas.microsoft.com/office/drawing/2014/main" id="{A9B2B51C-0366-C44D-9C3D-FFBE57321895}"/>
              </a:ext>
            </a:extLst>
          </p:cNvPr>
          <p:cNvSpPr/>
          <p:nvPr/>
        </p:nvSpPr>
        <p:spPr>
          <a:xfrm>
            <a:off x="6467477"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0" name="Rectangle 19">
            <a:extLst>
              <a:ext uri="{FF2B5EF4-FFF2-40B4-BE49-F238E27FC236}">
                <a16:creationId xmlns:a16="http://schemas.microsoft.com/office/drawing/2014/main" id="{7E41A487-644D-F048-95FB-FA3562BC67CF}"/>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3937C5A9-89ED-CB4B-9C01-2AD453B267DD}"/>
              </a:ext>
            </a:extLst>
          </p:cNvPr>
          <p:cNvSpPr/>
          <p:nvPr/>
        </p:nvSpPr>
        <p:spPr>
          <a:xfrm>
            <a:off x="9250461"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4" name="TextBox 23">
            <a:extLst>
              <a:ext uri="{FF2B5EF4-FFF2-40B4-BE49-F238E27FC236}">
                <a16:creationId xmlns:a16="http://schemas.microsoft.com/office/drawing/2014/main" id="{C332F23B-F0D8-8E4A-AC00-EF3E6B7F04DD}"/>
              </a:ext>
            </a:extLst>
          </p:cNvPr>
          <p:cNvSpPr txBox="1"/>
          <p:nvPr/>
        </p:nvSpPr>
        <p:spPr>
          <a:xfrm>
            <a:off x="185738" y="900112"/>
            <a:ext cx="5815012" cy="369332"/>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p:txBody>
      </p:sp>
      <p:sp>
        <p:nvSpPr>
          <p:cNvPr id="25" name="TextBox 24">
            <a:extLst>
              <a:ext uri="{FF2B5EF4-FFF2-40B4-BE49-F238E27FC236}">
                <a16:creationId xmlns:a16="http://schemas.microsoft.com/office/drawing/2014/main" id="{C938B698-ED38-D548-BB75-FE1FE25833FF}"/>
              </a:ext>
            </a:extLst>
          </p:cNvPr>
          <p:cNvSpPr txBox="1"/>
          <p:nvPr/>
        </p:nvSpPr>
        <p:spPr>
          <a:xfrm>
            <a:off x="185736" y="1467928"/>
            <a:ext cx="5815012" cy="646331"/>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i="1" dirty="0"/>
              <a:t>(use the ‘general practice’ prescription form provided)</a:t>
            </a:r>
          </a:p>
        </p:txBody>
      </p:sp>
      <p:sp>
        <p:nvSpPr>
          <p:cNvPr id="26" name="TextBox 25">
            <a:extLst>
              <a:ext uri="{FF2B5EF4-FFF2-40B4-BE49-F238E27FC236}">
                <a16:creationId xmlns:a16="http://schemas.microsoft.com/office/drawing/2014/main" id="{A4895618-BF48-4F4B-BEE6-1EBD91E12024}"/>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7" name="TextBox 26">
            <a:extLst>
              <a:ext uri="{FF2B5EF4-FFF2-40B4-BE49-F238E27FC236}">
                <a16:creationId xmlns:a16="http://schemas.microsoft.com/office/drawing/2014/main" id="{E377672B-B88D-0C47-B04B-7DA1EF9CA1C1}"/>
              </a:ext>
            </a:extLst>
          </p:cNvPr>
          <p:cNvSpPr txBox="1"/>
          <p:nvPr/>
        </p:nvSpPr>
        <p:spPr>
          <a:xfrm>
            <a:off x="3146422" y="271466"/>
            <a:ext cx="1096960" cy="353943"/>
          </a:xfrm>
          <a:prstGeom prst="rect">
            <a:avLst/>
          </a:prstGeom>
          <a:noFill/>
        </p:spPr>
        <p:txBody>
          <a:bodyPr wrap="square" rtlCol="0">
            <a:spAutoFit/>
          </a:bodyPr>
          <a:lstStyle/>
          <a:p>
            <a:pPr algn="ctr"/>
            <a:r>
              <a:rPr lang="en-US" sz="1700" b="1" dirty="0"/>
              <a:t>10 marks</a:t>
            </a:r>
          </a:p>
        </p:txBody>
      </p:sp>
      <p:sp>
        <p:nvSpPr>
          <p:cNvPr id="28" name="TextBox 27">
            <a:extLst>
              <a:ext uri="{FF2B5EF4-FFF2-40B4-BE49-F238E27FC236}">
                <a16:creationId xmlns:a16="http://schemas.microsoft.com/office/drawing/2014/main" id="{C01016AE-AE9E-1246-92D5-7C5DA58DFE68}"/>
              </a:ext>
            </a:extLst>
          </p:cNvPr>
          <p:cNvSpPr txBox="1"/>
          <p:nvPr/>
        </p:nvSpPr>
        <p:spPr>
          <a:xfrm>
            <a:off x="1486695" y="257177"/>
            <a:ext cx="1654173" cy="353943"/>
          </a:xfrm>
          <a:prstGeom prst="rect">
            <a:avLst/>
          </a:prstGeom>
          <a:solidFill>
            <a:srgbClr val="D0D0D0"/>
          </a:solidFill>
        </p:spPr>
        <p:txBody>
          <a:bodyPr wrap="square" rtlCol="0">
            <a:spAutoFit/>
          </a:bodyPr>
          <a:lstStyle/>
          <a:p>
            <a:pPr algn="ctr"/>
            <a:r>
              <a:rPr lang="en-US" sz="1700" dirty="0"/>
              <a:t>General Practice</a:t>
            </a:r>
          </a:p>
        </p:txBody>
      </p:sp>
      <p:sp>
        <p:nvSpPr>
          <p:cNvPr id="15" name="TextBox 14">
            <a:extLst>
              <a:ext uri="{FF2B5EF4-FFF2-40B4-BE49-F238E27FC236}">
                <a16:creationId xmlns:a16="http://schemas.microsoft.com/office/drawing/2014/main" id="{7A523034-6048-1745-9B2C-7CE21E08D37A}"/>
              </a:ext>
            </a:extLst>
          </p:cNvPr>
          <p:cNvSpPr txBox="1"/>
          <p:nvPr/>
        </p:nvSpPr>
        <p:spPr>
          <a:xfrm>
            <a:off x="185736" y="2312743"/>
            <a:ext cx="5815013" cy="1938992"/>
          </a:xfrm>
          <a:prstGeom prst="rect">
            <a:avLst/>
          </a:prstGeom>
          <a:noFill/>
        </p:spPr>
        <p:txBody>
          <a:bodyPr wrap="square" rtlCol="0">
            <a:spAutoFit/>
          </a:bodyPr>
          <a:lstStyle/>
          <a:p>
            <a:r>
              <a:rPr lang="en-US" sz="2000" dirty="0"/>
              <a:t>Question type 3 – </a:t>
            </a:r>
            <a:r>
              <a:rPr lang="en-US" sz="2000" dirty="0">
                <a:solidFill>
                  <a:srgbClr val="FF0000"/>
                </a:solidFill>
              </a:rPr>
              <a:t>General Practice</a:t>
            </a:r>
            <a:endParaRPr lang="en-US" sz="2000" dirty="0"/>
          </a:p>
          <a:p>
            <a:r>
              <a:rPr lang="en-US" sz="2000" dirty="0"/>
              <a:t>This will test your knowledge of GP medications, commonly things such as diabetes, depression etc. The duration will already be populated, usually 28 days which would be a standard repeat prescription length.</a:t>
            </a:r>
          </a:p>
        </p:txBody>
      </p:sp>
      <p:sp>
        <p:nvSpPr>
          <p:cNvPr id="2" name="Rectangle 1">
            <a:extLst>
              <a:ext uri="{FF2B5EF4-FFF2-40B4-BE49-F238E27FC236}">
                <a16:creationId xmlns:a16="http://schemas.microsoft.com/office/drawing/2014/main" id="{48D7E35C-9C5B-66B7-2766-DA6ED7B8CC2A}"/>
              </a:ext>
            </a:extLst>
          </p:cNvPr>
          <p:cNvSpPr/>
          <p:nvPr/>
        </p:nvSpPr>
        <p:spPr>
          <a:xfrm>
            <a:off x="1444891" y="205548"/>
            <a:ext cx="1721106" cy="4572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24280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92623-DC47-2A3F-9D63-0E6B1F3004A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A7BA09-71D5-CE37-86B5-F611D32AC5F9}"/>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0178B03D-5039-12D2-6EA4-E181FDE4106A}"/>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93E5E88C-804F-4046-1A2F-86A207982D81}"/>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EEA454B4-E3E7-8670-C9DC-13864433E280}"/>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5061668E-A89E-7718-0EDD-2154361FEBA2}"/>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4" name="TextBox 13">
            <a:extLst>
              <a:ext uri="{FF2B5EF4-FFF2-40B4-BE49-F238E27FC236}">
                <a16:creationId xmlns:a16="http://schemas.microsoft.com/office/drawing/2014/main" id="{59BED724-2AED-5AB4-00DE-4739AD82ED02}"/>
              </a:ext>
            </a:extLst>
          </p:cNvPr>
          <p:cNvSpPr txBox="1"/>
          <p:nvPr/>
        </p:nvSpPr>
        <p:spPr>
          <a:xfrm>
            <a:off x="185738" y="5948964"/>
            <a:ext cx="3992562" cy="830997"/>
          </a:xfrm>
          <a:prstGeom prst="rect">
            <a:avLst/>
          </a:prstGeom>
          <a:noFill/>
        </p:spPr>
        <p:txBody>
          <a:bodyPr wrap="square" rtlCol="0">
            <a:spAutoFit/>
          </a:bodyPr>
          <a:lstStyle/>
          <a:p>
            <a:r>
              <a:rPr lang="en-US" sz="4800" dirty="0"/>
              <a:t>A8</a:t>
            </a:r>
          </a:p>
        </p:txBody>
      </p:sp>
      <p:sp>
        <p:nvSpPr>
          <p:cNvPr id="23" name="Rectangle 22">
            <a:extLst>
              <a:ext uri="{FF2B5EF4-FFF2-40B4-BE49-F238E27FC236}">
                <a16:creationId xmlns:a16="http://schemas.microsoft.com/office/drawing/2014/main" id="{88AB0CBD-F06F-FD3D-1F8A-AC6C7983E1E4}"/>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2" name="TextBox 21">
            <a:extLst>
              <a:ext uri="{FF2B5EF4-FFF2-40B4-BE49-F238E27FC236}">
                <a16:creationId xmlns:a16="http://schemas.microsoft.com/office/drawing/2014/main" id="{C2D3216A-8343-F097-4FC7-25EFF862CDCE}"/>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C4C2E319-9547-E4D9-8432-8104EE503EFC}"/>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D281FD30-F850-1C8F-BC40-0028DAD18BDF}"/>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6" name="TextBox 15">
            <a:extLst>
              <a:ext uri="{FF2B5EF4-FFF2-40B4-BE49-F238E27FC236}">
                <a16:creationId xmlns:a16="http://schemas.microsoft.com/office/drawing/2014/main" id="{E80F9CE7-20F8-4880-1D61-C31E1CA02CB7}"/>
              </a:ext>
            </a:extLst>
          </p:cNvPr>
          <p:cNvSpPr txBox="1"/>
          <p:nvPr/>
        </p:nvSpPr>
        <p:spPr>
          <a:xfrm>
            <a:off x="185738" y="900112"/>
            <a:ext cx="5815012" cy="341632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a:t>
            </a:r>
            <a:r>
              <a:rPr lang="en-US" dirty="0">
                <a:highlight>
                  <a:srgbClr val="00FF00"/>
                </a:highlight>
              </a:rPr>
              <a:t>6-year-old</a:t>
            </a:r>
            <a:r>
              <a:rPr lang="en-US" dirty="0"/>
              <a:t> boy presents to A&amp;E with </a:t>
            </a:r>
            <a:r>
              <a:rPr lang="en-US" dirty="0">
                <a:highlight>
                  <a:srgbClr val="00FF00"/>
                </a:highlight>
              </a:rPr>
              <a:t>worsening shortness of breath, wheeze and chest tightness</a:t>
            </a:r>
            <a:r>
              <a:rPr lang="en-US" dirty="0"/>
              <a:t>. </a:t>
            </a:r>
            <a:r>
              <a:rPr lang="en-US" b="1" dirty="0"/>
              <a:t>PMH</a:t>
            </a:r>
            <a:r>
              <a:rPr lang="en-US" dirty="0"/>
              <a:t>. Asthma. </a:t>
            </a:r>
            <a:r>
              <a:rPr lang="en-US" b="1" dirty="0"/>
              <a:t>DH. </a:t>
            </a:r>
            <a:r>
              <a:rPr lang="en-US" dirty="0"/>
              <a:t>Salbutamol MDI 2 puffs PRN, beclomethasone dipropionate 100mcg (</a:t>
            </a:r>
            <a:r>
              <a:rPr lang="en-US" dirty="0" err="1"/>
              <a:t>Clenil</a:t>
            </a:r>
            <a:r>
              <a:rPr lang="en-US" dirty="0"/>
              <a:t> </a:t>
            </a:r>
            <a:r>
              <a:rPr lang="en-US" dirty="0" err="1"/>
              <a:t>Modulite</a:t>
            </a:r>
            <a:r>
              <a:rPr lang="en-US" dirty="0"/>
              <a:t>) 1 puff twice daily. </a:t>
            </a:r>
            <a:r>
              <a:rPr lang="en-US" dirty="0">
                <a:highlight>
                  <a:srgbClr val="00FF00"/>
                </a:highlight>
              </a:rPr>
              <a:t>His dad has given him 12 puffs of his salbutamol inhaler</a:t>
            </a:r>
            <a:r>
              <a:rPr lang="en-US" dirty="0"/>
              <a:t> at home already.</a:t>
            </a:r>
          </a:p>
          <a:p>
            <a:r>
              <a:rPr lang="en-US" b="1" dirty="0"/>
              <a:t>On examination</a:t>
            </a:r>
          </a:p>
          <a:p>
            <a:r>
              <a:rPr lang="en-US" dirty="0"/>
              <a:t>Acutely short of breath. </a:t>
            </a:r>
            <a:r>
              <a:rPr lang="en-US" dirty="0" err="1">
                <a:highlight>
                  <a:srgbClr val="00FF00"/>
                </a:highlight>
              </a:rPr>
              <a:t>Sats</a:t>
            </a:r>
            <a:r>
              <a:rPr lang="en-US" dirty="0">
                <a:highlight>
                  <a:srgbClr val="00FF00"/>
                </a:highlight>
              </a:rPr>
              <a:t> 93% on 15L NRB</a:t>
            </a:r>
            <a:r>
              <a:rPr lang="en-US" dirty="0"/>
              <a:t>, </a:t>
            </a:r>
            <a:r>
              <a:rPr lang="en-US" dirty="0">
                <a:highlight>
                  <a:srgbClr val="00FF00"/>
                </a:highlight>
              </a:rPr>
              <a:t>RR 42</a:t>
            </a:r>
            <a:r>
              <a:rPr lang="en-US" dirty="0"/>
              <a:t>, </a:t>
            </a:r>
            <a:r>
              <a:rPr lang="en-US" dirty="0">
                <a:highlight>
                  <a:srgbClr val="00FF00"/>
                </a:highlight>
              </a:rPr>
              <a:t>wheeze ++</a:t>
            </a:r>
            <a:r>
              <a:rPr lang="en-US" dirty="0"/>
              <a:t>. BP 120/68, HR 136 and regular, HS I+II+0, cap refill 2s. Temp 37.5, PEARL, GCS 15/15, capillary glucose 5.2. Abdomen SNT, no peripheral oedema.</a:t>
            </a:r>
          </a:p>
        </p:txBody>
      </p:sp>
      <p:sp>
        <p:nvSpPr>
          <p:cNvPr id="19" name="TextBox 18">
            <a:extLst>
              <a:ext uri="{FF2B5EF4-FFF2-40B4-BE49-F238E27FC236}">
                <a16:creationId xmlns:a16="http://schemas.microsoft.com/office/drawing/2014/main" id="{3DD0FFBE-87BF-7A52-EB69-C6542834D2AB}"/>
              </a:ext>
            </a:extLst>
          </p:cNvPr>
          <p:cNvSpPr txBox="1"/>
          <p:nvPr/>
        </p:nvSpPr>
        <p:spPr>
          <a:xfrm>
            <a:off x="185739" y="4495125"/>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provide </a:t>
            </a:r>
            <a:r>
              <a:rPr lang="en-US" dirty="0">
                <a:highlight>
                  <a:srgbClr val="00FF00"/>
                </a:highlight>
              </a:rPr>
              <a:t>rapid relief of his shortness of breath</a:t>
            </a:r>
            <a:r>
              <a:rPr lang="en-US" dirty="0"/>
              <a:t>.</a:t>
            </a:r>
          </a:p>
          <a:p>
            <a:r>
              <a:rPr lang="en-US" i="1" dirty="0"/>
              <a:t>(use the ‘once-only medicines’ prescription form provided)</a:t>
            </a:r>
          </a:p>
        </p:txBody>
      </p:sp>
      <p:sp>
        <p:nvSpPr>
          <p:cNvPr id="15" name="TextBox 14">
            <a:extLst>
              <a:ext uri="{FF2B5EF4-FFF2-40B4-BE49-F238E27FC236}">
                <a16:creationId xmlns:a16="http://schemas.microsoft.com/office/drawing/2014/main" id="{C0205442-EDC8-4FB8-79BE-A748693A1680}"/>
              </a:ext>
            </a:extLst>
          </p:cNvPr>
          <p:cNvSpPr txBox="1"/>
          <p:nvPr/>
        </p:nvSpPr>
        <p:spPr>
          <a:xfrm>
            <a:off x="6191250" y="5363326"/>
            <a:ext cx="5815012" cy="1200329"/>
          </a:xfrm>
          <a:prstGeom prst="rect">
            <a:avLst/>
          </a:prstGeom>
          <a:noFill/>
        </p:spPr>
        <p:txBody>
          <a:bodyPr wrap="square" rtlCol="0">
            <a:spAutoFit/>
          </a:bodyPr>
          <a:lstStyle/>
          <a:p>
            <a:r>
              <a:rPr lang="en-US" dirty="0"/>
              <a:t>Extension questions:</a:t>
            </a:r>
          </a:p>
          <a:p>
            <a:pPr marL="342900" indent="-342900">
              <a:buAutoNum type="arabicPeriod"/>
            </a:pPr>
            <a:r>
              <a:rPr lang="en-US" dirty="0"/>
              <a:t>How is asthma diagnosed?</a:t>
            </a:r>
          </a:p>
          <a:p>
            <a:pPr marL="342900" indent="-342900">
              <a:buAutoNum type="arabicPeriod"/>
            </a:pPr>
            <a:r>
              <a:rPr lang="en-GB" dirty="0"/>
              <a:t>How is asthma treated?</a:t>
            </a:r>
          </a:p>
          <a:p>
            <a:pPr marL="342900" indent="-342900">
              <a:buAutoNum type="arabicPeriod"/>
            </a:pPr>
            <a:r>
              <a:rPr lang="en-US" dirty="0"/>
              <a:t>How is an acute asthma exacerbation treated?</a:t>
            </a:r>
          </a:p>
        </p:txBody>
      </p:sp>
    </p:spTree>
    <p:extLst>
      <p:ext uri="{BB962C8B-B14F-4D97-AF65-F5344CB8AC3E}">
        <p14:creationId xmlns:p14="http://schemas.microsoft.com/office/powerpoint/2010/main" val="67695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B1421-B45F-BA55-32A1-E95C62DE372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5F21116-0BD5-E356-AB20-D22D7949C0AF}"/>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741410E1-0F54-44A7-DBCE-A27E51FB2440}"/>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C346364C-8C07-6176-955A-A934413F3FAF}"/>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Route</a:t>
            </a:r>
          </a:p>
          <a:p>
            <a:r>
              <a:rPr lang="en-US" b="1" dirty="0"/>
              <a:t>                                                        </a:t>
            </a:r>
            <a:endParaRPr lang="en-US" dirty="0"/>
          </a:p>
          <a:p>
            <a:endParaRPr lang="en-US" b="1" dirty="0"/>
          </a:p>
          <a:p>
            <a:r>
              <a:rPr lang="en-US" b="1" dirty="0"/>
              <a:t>   Frequency                                  Duration</a:t>
            </a:r>
          </a:p>
          <a:p>
            <a:r>
              <a:rPr lang="en-US" b="1" dirty="0"/>
              <a:t>                                                        </a:t>
            </a:r>
            <a:r>
              <a:rPr lang="en-US" dirty="0"/>
              <a:t>continuous</a:t>
            </a:r>
          </a:p>
          <a:p>
            <a:endParaRPr lang="en-US" b="1" dirty="0"/>
          </a:p>
          <a:p>
            <a:r>
              <a:rPr lang="en-US" b="1" dirty="0"/>
              <a:t>   Prescriber                  	    Date                            </a:t>
            </a:r>
            <a:r>
              <a:rPr lang="en-US" dirty="0"/>
              <a:t> </a:t>
            </a:r>
            <a:endParaRPr lang="en-US" b="1" dirty="0"/>
          </a:p>
          <a:p>
            <a:r>
              <a:rPr lang="en-US" b="1" dirty="0"/>
              <a:t>   </a:t>
            </a:r>
            <a:r>
              <a:rPr lang="en-US" dirty="0">
                <a:solidFill>
                  <a:schemeClr val="bg1">
                    <a:lumMod val="65000"/>
                  </a:schemeClr>
                </a:solidFill>
              </a:rPr>
              <a:t>Joe Bloggs                 	    01/01/2021               </a:t>
            </a:r>
          </a:p>
        </p:txBody>
      </p:sp>
      <p:sp>
        <p:nvSpPr>
          <p:cNvPr id="17" name="Rectangle 16">
            <a:extLst>
              <a:ext uri="{FF2B5EF4-FFF2-40B4-BE49-F238E27FC236}">
                <a16:creationId xmlns:a16="http://schemas.microsoft.com/office/drawing/2014/main" id="{F0C4E39E-7CF1-50C4-BB9F-51607D379533}"/>
              </a:ext>
            </a:extLst>
          </p:cNvPr>
          <p:cNvSpPr/>
          <p:nvPr/>
        </p:nvSpPr>
        <p:spPr>
          <a:xfrm>
            <a:off x="6467476"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D128C5A3-107E-BDC3-AC8B-3B0B892A7FF5}"/>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0" name="Rectangle 19">
            <a:extLst>
              <a:ext uri="{FF2B5EF4-FFF2-40B4-BE49-F238E27FC236}">
                <a16:creationId xmlns:a16="http://schemas.microsoft.com/office/drawing/2014/main" id="{2C1393AB-A14F-88F1-5410-8C3388985BAB}"/>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A60B471F-7910-0380-F3A0-D86C06996F04}"/>
              </a:ext>
            </a:extLst>
          </p:cNvPr>
          <p:cNvSpPr/>
          <p:nvPr/>
        </p:nvSpPr>
        <p:spPr>
          <a:xfrm>
            <a:off x="9250461"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4A3FD338-D65E-5238-CC47-EE7B584534D7}"/>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1" name="TextBox 20">
            <a:extLst>
              <a:ext uri="{FF2B5EF4-FFF2-40B4-BE49-F238E27FC236}">
                <a16:creationId xmlns:a16="http://schemas.microsoft.com/office/drawing/2014/main" id="{CE049499-B240-5D39-AF15-A84308D821C6}"/>
              </a:ext>
            </a:extLst>
          </p:cNvPr>
          <p:cNvSpPr txBox="1"/>
          <p:nvPr/>
        </p:nvSpPr>
        <p:spPr>
          <a:xfrm>
            <a:off x="3300413" y="257177"/>
            <a:ext cx="1096960" cy="353943"/>
          </a:xfrm>
          <a:prstGeom prst="rect">
            <a:avLst/>
          </a:prstGeom>
          <a:noFill/>
        </p:spPr>
        <p:txBody>
          <a:bodyPr wrap="square" rtlCol="0">
            <a:spAutoFit/>
          </a:bodyPr>
          <a:lstStyle/>
          <a:p>
            <a:pPr algn="ctr"/>
            <a:r>
              <a:rPr lang="en-US" sz="1700" b="1" dirty="0"/>
              <a:t>10 marks</a:t>
            </a:r>
          </a:p>
        </p:txBody>
      </p:sp>
      <p:sp>
        <p:nvSpPr>
          <p:cNvPr id="22" name="TextBox 21">
            <a:extLst>
              <a:ext uri="{FF2B5EF4-FFF2-40B4-BE49-F238E27FC236}">
                <a16:creationId xmlns:a16="http://schemas.microsoft.com/office/drawing/2014/main" id="{DCA54DDD-F2A1-F88C-4F70-56B79C48CF11}"/>
              </a:ext>
            </a:extLst>
          </p:cNvPr>
          <p:cNvSpPr txBox="1"/>
          <p:nvPr/>
        </p:nvSpPr>
        <p:spPr>
          <a:xfrm>
            <a:off x="1486695" y="257177"/>
            <a:ext cx="1813718" cy="353943"/>
          </a:xfrm>
          <a:prstGeom prst="rect">
            <a:avLst/>
          </a:prstGeom>
          <a:solidFill>
            <a:srgbClr val="D0D0D0"/>
          </a:solidFill>
        </p:spPr>
        <p:txBody>
          <a:bodyPr wrap="square" rtlCol="0">
            <a:spAutoFit/>
          </a:bodyPr>
          <a:lstStyle/>
          <a:p>
            <a:pPr algn="ctr"/>
            <a:r>
              <a:rPr lang="en-US" sz="1700" dirty="0"/>
              <a:t>Regular Medicines</a:t>
            </a:r>
          </a:p>
        </p:txBody>
      </p:sp>
      <p:sp>
        <p:nvSpPr>
          <p:cNvPr id="24" name="TextBox 23">
            <a:extLst>
              <a:ext uri="{FF2B5EF4-FFF2-40B4-BE49-F238E27FC236}">
                <a16:creationId xmlns:a16="http://schemas.microsoft.com/office/drawing/2014/main" id="{EABED67B-05F8-5DAB-DDBC-044458E48E6C}"/>
              </a:ext>
            </a:extLst>
          </p:cNvPr>
          <p:cNvSpPr txBox="1"/>
          <p:nvPr/>
        </p:nvSpPr>
        <p:spPr>
          <a:xfrm>
            <a:off x="185738" y="900112"/>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72-year-old man is referred to A&amp;E by his GP with worsening shortness of breath and a dry cough. </a:t>
            </a:r>
            <a:r>
              <a:rPr lang="en-US" b="1" dirty="0"/>
              <a:t>PMH</a:t>
            </a:r>
            <a:r>
              <a:rPr lang="en-US" dirty="0"/>
              <a:t>. COPD. </a:t>
            </a:r>
            <a:r>
              <a:rPr lang="en-US" b="1" dirty="0"/>
              <a:t>DH. </a:t>
            </a:r>
            <a:r>
              <a:rPr lang="en-US" dirty="0"/>
              <a:t>Salbutamol 100mcg 2 puffs PRN, tiotropium 18mcg 1 puff once daily. </a:t>
            </a:r>
          </a:p>
          <a:p>
            <a:r>
              <a:rPr lang="en-US" b="1" dirty="0"/>
              <a:t>On examination</a:t>
            </a:r>
          </a:p>
          <a:p>
            <a:r>
              <a:rPr lang="en-US" dirty="0"/>
              <a:t>Acutely short of breath. </a:t>
            </a:r>
            <a:r>
              <a:rPr lang="en-US" dirty="0" err="1"/>
              <a:t>Sats</a:t>
            </a:r>
            <a:r>
              <a:rPr lang="en-US" dirty="0"/>
              <a:t> 89% on 28% VM, RR 32, reduced air entry. BP 150/98, HR 98 and regular, HS I+II+0, cap refill 2s. Temp 37.3, PEARL, GCS 15/15, capillary glucose 4.8. Abdomen SNT, no peripheral oedema.</a:t>
            </a:r>
          </a:p>
          <a:p>
            <a:r>
              <a:rPr lang="en-US" b="1" dirty="0"/>
              <a:t>Investigations</a:t>
            </a:r>
          </a:p>
          <a:p>
            <a:r>
              <a:rPr lang="en-US" dirty="0"/>
              <a:t>CXR reports hyperinflation only.</a:t>
            </a:r>
          </a:p>
          <a:p>
            <a:r>
              <a:rPr lang="en-US" dirty="0"/>
              <a:t>Salbutamol and ipratropium nebs commenced.</a:t>
            </a:r>
          </a:p>
        </p:txBody>
      </p:sp>
      <p:sp>
        <p:nvSpPr>
          <p:cNvPr id="25" name="TextBox 24">
            <a:extLst>
              <a:ext uri="{FF2B5EF4-FFF2-40B4-BE49-F238E27FC236}">
                <a16:creationId xmlns:a16="http://schemas.microsoft.com/office/drawing/2014/main" id="{06B5D844-6FA7-6CFC-5B83-FF150DFECFAF}"/>
              </a:ext>
            </a:extLst>
          </p:cNvPr>
          <p:cNvSpPr txBox="1"/>
          <p:nvPr/>
        </p:nvSpPr>
        <p:spPr>
          <a:xfrm>
            <a:off x="185738" y="4791915"/>
            <a:ext cx="5815012" cy="1477328"/>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additional drug that is </a:t>
            </a:r>
            <a:r>
              <a:rPr lang="en-US" i="1" dirty="0"/>
              <a:t>most appropriate</a:t>
            </a:r>
            <a:r>
              <a:rPr lang="en-US" dirty="0"/>
              <a:t> to treat his symptoms.</a:t>
            </a:r>
          </a:p>
          <a:p>
            <a:r>
              <a:rPr lang="en-US" i="1" dirty="0"/>
              <a:t>(use the ‘hospital regular medicines’ prescription form provided)</a:t>
            </a:r>
          </a:p>
        </p:txBody>
      </p:sp>
      <p:pic>
        <p:nvPicPr>
          <p:cNvPr id="2" name="Picture 1">
            <a:extLst>
              <a:ext uri="{FF2B5EF4-FFF2-40B4-BE49-F238E27FC236}">
                <a16:creationId xmlns:a16="http://schemas.microsoft.com/office/drawing/2014/main" id="{88BBBC4F-315C-3A98-9C66-5E1519C3FBA5}"/>
              </a:ext>
            </a:extLst>
          </p:cNvPr>
          <p:cNvPicPr>
            <a:picLocks noChangeAspect="1"/>
          </p:cNvPicPr>
          <p:nvPr/>
        </p:nvPicPr>
        <p:blipFill>
          <a:blip r:embed="rId5"/>
          <a:stretch>
            <a:fillRect/>
          </a:stretch>
        </p:blipFill>
        <p:spPr>
          <a:xfrm>
            <a:off x="6191250" y="4533765"/>
            <a:ext cx="5815010" cy="1557240"/>
          </a:xfrm>
          <a:prstGeom prst="rect">
            <a:avLst/>
          </a:prstGeom>
        </p:spPr>
      </p:pic>
    </p:spTree>
    <p:extLst>
      <p:ext uri="{BB962C8B-B14F-4D97-AF65-F5344CB8AC3E}">
        <p14:creationId xmlns:p14="http://schemas.microsoft.com/office/powerpoint/2010/main" val="15571264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34258-7105-08E8-92D0-251A2142F71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4146E2F-6664-1E2E-CF3A-27A3431CDD35}"/>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16D23AE6-F406-19EA-D1E8-1AD309DD4C24}"/>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8C747AC1-8B9A-38B2-5225-777D16FCD215}"/>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Route</a:t>
            </a:r>
          </a:p>
          <a:p>
            <a:r>
              <a:rPr lang="en-US" b="1" dirty="0"/>
              <a:t>                                                        </a:t>
            </a:r>
            <a:endParaRPr lang="en-US" dirty="0"/>
          </a:p>
          <a:p>
            <a:endParaRPr lang="en-US" b="1" dirty="0"/>
          </a:p>
          <a:p>
            <a:r>
              <a:rPr lang="en-US" b="1" dirty="0"/>
              <a:t>   Frequency                                  Duration</a:t>
            </a:r>
          </a:p>
          <a:p>
            <a:r>
              <a:rPr lang="en-US" b="1" dirty="0"/>
              <a:t>                                                        </a:t>
            </a:r>
            <a:r>
              <a:rPr lang="en-US" dirty="0"/>
              <a:t>continuous</a:t>
            </a:r>
          </a:p>
          <a:p>
            <a:endParaRPr lang="en-US" b="1" dirty="0"/>
          </a:p>
          <a:p>
            <a:r>
              <a:rPr lang="en-US" b="1" dirty="0"/>
              <a:t>   Prescriber                  	    Date                            </a:t>
            </a:r>
            <a:r>
              <a:rPr lang="en-US" dirty="0"/>
              <a:t> </a:t>
            </a:r>
            <a:endParaRPr lang="en-US" b="1" dirty="0"/>
          </a:p>
          <a:p>
            <a:r>
              <a:rPr lang="en-US" b="1" dirty="0"/>
              <a:t>   </a:t>
            </a:r>
            <a:r>
              <a:rPr lang="en-US" dirty="0">
                <a:solidFill>
                  <a:schemeClr val="bg1">
                    <a:lumMod val="65000"/>
                  </a:schemeClr>
                </a:solidFill>
              </a:rPr>
              <a:t>Joe Bloggs                 	    01/01/2021               </a:t>
            </a:r>
          </a:p>
        </p:txBody>
      </p:sp>
      <p:sp>
        <p:nvSpPr>
          <p:cNvPr id="17" name="Rectangle 16">
            <a:extLst>
              <a:ext uri="{FF2B5EF4-FFF2-40B4-BE49-F238E27FC236}">
                <a16:creationId xmlns:a16="http://schemas.microsoft.com/office/drawing/2014/main" id="{735DE0A6-9A77-C322-3771-08C2C787667C}"/>
              </a:ext>
            </a:extLst>
          </p:cNvPr>
          <p:cNvSpPr/>
          <p:nvPr/>
        </p:nvSpPr>
        <p:spPr>
          <a:xfrm>
            <a:off x="6467476"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ECCF34E2-9344-3D08-20B1-80F1EDB2FAA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0" name="Rectangle 19">
            <a:extLst>
              <a:ext uri="{FF2B5EF4-FFF2-40B4-BE49-F238E27FC236}">
                <a16:creationId xmlns:a16="http://schemas.microsoft.com/office/drawing/2014/main" id="{39E171D3-90E6-B4B4-D5A6-164115A593F3}"/>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79507B6D-E0ED-EA37-8C14-5F3FC5987389}"/>
              </a:ext>
            </a:extLst>
          </p:cNvPr>
          <p:cNvSpPr/>
          <p:nvPr/>
        </p:nvSpPr>
        <p:spPr>
          <a:xfrm>
            <a:off x="9250461"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5C7FC7C8-A66C-AEC7-5AA4-68499599E5FF}"/>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1" name="TextBox 20">
            <a:extLst>
              <a:ext uri="{FF2B5EF4-FFF2-40B4-BE49-F238E27FC236}">
                <a16:creationId xmlns:a16="http://schemas.microsoft.com/office/drawing/2014/main" id="{004BB1B4-391E-3320-3FA8-64C67FAC5786}"/>
              </a:ext>
            </a:extLst>
          </p:cNvPr>
          <p:cNvSpPr txBox="1"/>
          <p:nvPr/>
        </p:nvSpPr>
        <p:spPr>
          <a:xfrm>
            <a:off x="3300413" y="257177"/>
            <a:ext cx="1096960" cy="353943"/>
          </a:xfrm>
          <a:prstGeom prst="rect">
            <a:avLst/>
          </a:prstGeom>
          <a:noFill/>
        </p:spPr>
        <p:txBody>
          <a:bodyPr wrap="square" rtlCol="0">
            <a:spAutoFit/>
          </a:bodyPr>
          <a:lstStyle/>
          <a:p>
            <a:pPr algn="ctr"/>
            <a:r>
              <a:rPr lang="en-US" sz="1700" b="1" dirty="0"/>
              <a:t>10 marks</a:t>
            </a:r>
          </a:p>
        </p:txBody>
      </p:sp>
      <p:sp>
        <p:nvSpPr>
          <p:cNvPr id="22" name="TextBox 21">
            <a:extLst>
              <a:ext uri="{FF2B5EF4-FFF2-40B4-BE49-F238E27FC236}">
                <a16:creationId xmlns:a16="http://schemas.microsoft.com/office/drawing/2014/main" id="{3465D0CD-8865-530C-A0DD-4D11DB0E6744}"/>
              </a:ext>
            </a:extLst>
          </p:cNvPr>
          <p:cNvSpPr txBox="1"/>
          <p:nvPr/>
        </p:nvSpPr>
        <p:spPr>
          <a:xfrm>
            <a:off x="1486695" y="257177"/>
            <a:ext cx="1813718" cy="353943"/>
          </a:xfrm>
          <a:prstGeom prst="rect">
            <a:avLst/>
          </a:prstGeom>
          <a:solidFill>
            <a:srgbClr val="D0D0D0"/>
          </a:solidFill>
        </p:spPr>
        <p:txBody>
          <a:bodyPr wrap="square" rtlCol="0">
            <a:spAutoFit/>
          </a:bodyPr>
          <a:lstStyle/>
          <a:p>
            <a:pPr algn="ctr"/>
            <a:r>
              <a:rPr lang="en-US" sz="1700" dirty="0"/>
              <a:t>Regular Medicines</a:t>
            </a:r>
          </a:p>
        </p:txBody>
      </p:sp>
      <p:sp>
        <p:nvSpPr>
          <p:cNvPr id="24" name="TextBox 23">
            <a:extLst>
              <a:ext uri="{FF2B5EF4-FFF2-40B4-BE49-F238E27FC236}">
                <a16:creationId xmlns:a16="http://schemas.microsoft.com/office/drawing/2014/main" id="{E46CDC2B-12A6-EBA1-F7F7-8EDF80BE0A36}"/>
              </a:ext>
            </a:extLst>
          </p:cNvPr>
          <p:cNvSpPr txBox="1"/>
          <p:nvPr/>
        </p:nvSpPr>
        <p:spPr>
          <a:xfrm>
            <a:off x="185738" y="900112"/>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72-year-old man is referred to A&amp;E by his GP with </a:t>
            </a:r>
            <a:r>
              <a:rPr lang="en-US" dirty="0">
                <a:highlight>
                  <a:srgbClr val="00FF00"/>
                </a:highlight>
              </a:rPr>
              <a:t>worsening shortness of breath and a dry cough</a:t>
            </a:r>
            <a:r>
              <a:rPr lang="en-US" dirty="0"/>
              <a:t>. </a:t>
            </a:r>
            <a:r>
              <a:rPr lang="en-US" b="1" dirty="0"/>
              <a:t>PMH</a:t>
            </a:r>
            <a:r>
              <a:rPr lang="en-US" dirty="0"/>
              <a:t>. COPD. </a:t>
            </a:r>
            <a:r>
              <a:rPr lang="en-US" b="1" dirty="0"/>
              <a:t>DH. </a:t>
            </a:r>
            <a:r>
              <a:rPr lang="en-US" dirty="0"/>
              <a:t>Salbutamol 100mcg 2 puffs PRN, tiotropium 18mcg 1 puff once daily. </a:t>
            </a:r>
          </a:p>
          <a:p>
            <a:r>
              <a:rPr lang="en-US" b="1" dirty="0"/>
              <a:t>On examination</a:t>
            </a:r>
          </a:p>
          <a:p>
            <a:r>
              <a:rPr lang="en-US" dirty="0">
                <a:highlight>
                  <a:srgbClr val="00FF00"/>
                </a:highlight>
              </a:rPr>
              <a:t>Acutely short of breath. </a:t>
            </a:r>
            <a:r>
              <a:rPr lang="en-US" dirty="0" err="1">
                <a:highlight>
                  <a:srgbClr val="00FF00"/>
                </a:highlight>
              </a:rPr>
              <a:t>Sats</a:t>
            </a:r>
            <a:r>
              <a:rPr lang="en-US" dirty="0">
                <a:highlight>
                  <a:srgbClr val="00FF00"/>
                </a:highlight>
              </a:rPr>
              <a:t> 89% on 28% VM, RR 32</a:t>
            </a:r>
            <a:r>
              <a:rPr lang="en-US" dirty="0"/>
              <a:t>, </a:t>
            </a:r>
            <a:r>
              <a:rPr lang="en-US" dirty="0">
                <a:highlight>
                  <a:srgbClr val="00FF00"/>
                </a:highlight>
              </a:rPr>
              <a:t>reduced air entry</a:t>
            </a:r>
            <a:r>
              <a:rPr lang="en-US" dirty="0"/>
              <a:t>. BP 150/98, HR 98 and regular, HS I+II+0, cap refill 2s. Temp 37.3, PEARL, GCS 15/15, capillary glucose 4.8. Abdomen SNT, no peripheral oedema.</a:t>
            </a:r>
          </a:p>
          <a:p>
            <a:r>
              <a:rPr lang="en-US" b="1" dirty="0"/>
              <a:t>Investigations</a:t>
            </a:r>
          </a:p>
          <a:p>
            <a:r>
              <a:rPr lang="en-US" dirty="0">
                <a:highlight>
                  <a:srgbClr val="00FF00"/>
                </a:highlight>
              </a:rPr>
              <a:t>CXR reports hyperinflation only</a:t>
            </a:r>
            <a:r>
              <a:rPr lang="en-US" dirty="0"/>
              <a:t>.</a:t>
            </a:r>
          </a:p>
          <a:p>
            <a:r>
              <a:rPr lang="en-US" dirty="0">
                <a:highlight>
                  <a:srgbClr val="00FF00"/>
                </a:highlight>
              </a:rPr>
              <a:t>Salbutamol and ipratropium nebs commenced</a:t>
            </a:r>
            <a:r>
              <a:rPr lang="en-US" dirty="0"/>
              <a:t>.</a:t>
            </a:r>
          </a:p>
        </p:txBody>
      </p:sp>
      <p:sp>
        <p:nvSpPr>
          <p:cNvPr id="25" name="TextBox 24">
            <a:extLst>
              <a:ext uri="{FF2B5EF4-FFF2-40B4-BE49-F238E27FC236}">
                <a16:creationId xmlns:a16="http://schemas.microsoft.com/office/drawing/2014/main" id="{39DAD5F2-5C0B-5626-31E6-8FF7E1D768A3}"/>
              </a:ext>
            </a:extLst>
          </p:cNvPr>
          <p:cNvSpPr txBox="1"/>
          <p:nvPr/>
        </p:nvSpPr>
        <p:spPr>
          <a:xfrm>
            <a:off x="185738" y="4791915"/>
            <a:ext cx="5815012" cy="1477328"/>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additional drug that is </a:t>
            </a:r>
            <a:r>
              <a:rPr lang="en-US" i="1" dirty="0"/>
              <a:t>most appropriate</a:t>
            </a:r>
            <a:r>
              <a:rPr lang="en-US" dirty="0"/>
              <a:t> to </a:t>
            </a:r>
            <a:r>
              <a:rPr lang="en-US" dirty="0">
                <a:highlight>
                  <a:srgbClr val="00FF00"/>
                </a:highlight>
              </a:rPr>
              <a:t>treat his symptoms</a:t>
            </a:r>
            <a:r>
              <a:rPr lang="en-US" dirty="0"/>
              <a:t>.</a:t>
            </a:r>
          </a:p>
          <a:p>
            <a:r>
              <a:rPr lang="en-US" i="1" dirty="0"/>
              <a:t>(use the ‘hospital regular medicines’ prescription form provided)</a:t>
            </a:r>
          </a:p>
        </p:txBody>
      </p:sp>
      <p:pic>
        <p:nvPicPr>
          <p:cNvPr id="2" name="Picture 1">
            <a:extLst>
              <a:ext uri="{FF2B5EF4-FFF2-40B4-BE49-F238E27FC236}">
                <a16:creationId xmlns:a16="http://schemas.microsoft.com/office/drawing/2014/main" id="{5E23F260-8051-1977-44CC-A7A99CBCA72D}"/>
              </a:ext>
            </a:extLst>
          </p:cNvPr>
          <p:cNvPicPr>
            <a:picLocks noChangeAspect="1"/>
          </p:cNvPicPr>
          <p:nvPr/>
        </p:nvPicPr>
        <p:blipFill>
          <a:blip r:embed="rId5"/>
          <a:stretch>
            <a:fillRect/>
          </a:stretch>
        </p:blipFill>
        <p:spPr>
          <a:xfrm>
            <a:off x="6191250" y="4533765"/>
            <a:ext cx="5815010" cy="1557240"/>
          </a:xfrm>
          <a:prstGeom prst="rect">
            <a:avLst/>
          </a:prstGeom>
        </p:spPr>
      </p:pic>
    </p:spTree>
    <p:extLst>
      <p:ext uri="{BB962C8B-B14F-4D97-AF65-F5344CB8AC3E}">
        <p14:creationId xmlns:p14="http://schemas.microsoft.com/office/powerpoint/2010/main" val="27417274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2B16D-7879-0A4E-3517-C59E44C22D2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AEE6B5F-BAC5-7831-F3A4-51B56ED7F612}"/>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94E71A1-17D3-D69A-F232-61694A557628}"/>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4A2FD272-92F8-564A-C432-2C323F9433AF}"/>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401B2640-1C7B-1897-7306-50F05242F620}"/>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80E1E087-121F-38B8-BEE2-795A65326AD9}"/>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D7EDAB45-E29E-3488-D826-F68E8ECD3826}"/>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4D81E5D9-76FE-D5C5-9D9D-60A8CA439F74}"/>
              </a:ext>
            </a:extLst>
          </p:cNvPr>
          <p:cNvSpPr txBox="1"/>
          <p:nvPr/>
        </p:nvSpPr>
        <p:spPr>
          <a:xfrm>
            <a:off x="185738" y="900112"/>
            <a:ext cx="5815012" cy="4247317"/>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76-year-old woman presents in A&amp;E with sudden shortness of breath. Weight 69kg. </a:t>
            </a:r>
            <a:r>
              <a:rPr lang="en-US" b="1" dirty="0"/>
              <a:t>PMH.</a:t>
            </a:r>
            <a:r>
              <a:rPr lang="en-US" dirty="0"/>
              <a:t> </a:t>
            </a:r>
            <a:r>
              <a:rPr lang="en-US" dirty="0" err="1"/>
              <a:t>Ischaemic</a:t>
            </a:r>
            <a:r>
              <a:rPr lang="en-US" dirty="0"/>
              <a:t> heart disease, HTN. </a:t>
            </a:r>
            <a:r>
              <a:rPr lang="en-US" b="1" dirty="0"/>
              <a:t>DH. </a:t>
            </a:r>
            <a:r>
              <a:rPr lang="en-US" dirty="0"/>
              <a:t>Bisoprolol 5mg PO once daily, ramipril 5mg PO once daily, aspirin 75mg PO once daily, clopidogrel 75mg PO once daily, atorvastatin 20mg PO once daily.</a:t>
            </a:r>
          </a:p>
          <a:p>
            <a:r>
              <a:rPr lang="en-US" b="1" dirty="0"/>
              <a:t>On examination</a:t>
            </a:r>
          </a:p>
          <a:p>
            <a:r>
              <a:rPr lang="en-US" dirty="0"/>
              <a:t>Acutely short of breath. </a:t>
            </a:r>
            <a:r>
              <a:rPr lang="en-US" dirty="0" err="1"/>
              <a:t>Sats</a:t>
            </a:r>
            <a:r>
              <a:rPr lang="en-US" dirty="0"/>
              <a:t> 91% on 15L NRB, RR 38, coarse bilateral crackles. BP 140/98, HR 110 and irregular, HS I+II+ESM, cap refill 2s. Temp 37.4, PEARL, GCS 15/15, capillary glucose 5.9. Abdomen SNT, pitting oedema to knees.</a:t>
            </a:r>
          </a:p>
          <a:p>
            <a:r>
              <a:rPr lang="en-US" b="1" dirty="0"/>
              <a:t>Investigations</a:t>
            </a:r>
          </a:p>
          <a:p>
            <a:r>
              <a:rPr lang="en-US" dirty="0"/>
              <a:t>Na 138 (137-144), K 5.2 (3.5-5.3), U 4.8 (2.5-7.0), Cr 100 (60-110). ECG shows ST depression in leads V1-V4.</a:t>
            </a:r>
          </a:p>
        </p:txBody>
      </p:sp>
      <p:sp>
        <p:nvSpPr>
          <p:cNvPr id="21" name="TextBox 20">
            <a:extLst>
              <a:ext uri="{FF2B5EF4-FFF2-40B4-BE49-F238E27FC236}">
                <a16:creationId xmlns:a16="http://schemas.microsoft.com/office/drawing/2014/main" id="{B15E79B8-8AFD-762B-69F8-10B055EF2334}"/>
              </a:ext>
            </a:extLst>
          </p:cNvPr>
          <p:cNvSpPr txBox="1"/>
          <p:nvPr/>
        </p:nvSpPr>
        <p:spPr>
          <a:xfrm>
            <a:off x="185738" y="5345913"/>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provide rapid relief of her shortness of breath.</a:t>
            </a:r>
          </a:p>
          <a:p>
            <a:r>
              <a:rPr lang="en-US" i="1" dirty="0"/>
              <a:t>(use the ‘once-only medicines’ prescription form provided)</a:t>
            </a:r>
          </a:p>
        </p:txBody>
      </p:sp>
      <p:sp>
        <p:nvSpPr>
          <p:cNvPr id="22" name="TextBox 21">
            <a:extLst>
              <a:ext uri="{FF2B5EF4-FFF2-40B4-BE49-F238E27FC236}">
                <a16:creationId xmlns:a16="http://schemas.microsoft.com/office/drawing/2014/main" id="{D2CC3B9B-32E7-5E20-C8DC-8E5150DCD7D5}"/>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F9FA5AA7-EC44-57A9-1700-72DAFE83A374}"/>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46127896-46AF-22A8-180A-C770D0154735}"/>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7" name="TextBox 6">
            <a:extLst>
              <a:ext uri="{FF2B5EF4-FFF2-40B4-BE49-F238E27FC236}">
                <a16:creationId xmlns:a16="http://schemas.microsoft.com/office/drawing/2014/main" id="{1B03E60D-4267-2F84-2173-16864A844B3E}"/>
              </a:ext>
            </a:extLst>
          </p:cNvPr>
          <p:cNvSpPr txBox="1"/>
          <p:nvPr/>
        </p:nvSpPr>
        <p:spPr>
          <a:xfrm>
            <a:off x="6191250" y="5363326"/>
            <a:ext cx="5815012" cy="1200329"/>
          </a:xfrm>
          <a:prstGeom prst="rect">
            <a:avLst/>
          </a:prstGeom>
          <a:noFill/>
        </p:spPr>
        <p:txBody>
          <a:bodyPr wrap="square" rtlCol="0">
            <a:spAutoFit/>
          </a:bodyPr>
          <a:lstStyle/>
          <a:p>
            <a:r>
              <a:rPr lang="en-US" dirty="0"/>
              <a:t>Extension questions:</a:t>
            </a:r>
          </a:p>
          <a:p>
            <a:pPr marL="342900" indent="-342900">
              <a:buAutoNum type="arabicPeriod"/>
            </a:pPr>
            <a:r>
              <a:rPr lang="en-US" dirty="0"/>
              <a:t>Given the likely diagnosis, what is that cause?</a:t>
            </a:r>
          </a:p>
          <a:p>
            <a:pPr marL="342900" indent="-342900">
              <a:buAutoNum type="arabicPeriod"/>
            </a:pPr>
            <a:r>
              <a:rPr lang="en-US" dirty="0"/>
              <a:t>What are other causes?</a:t>
            </a:r>
          </a:p>
          <a:p>
            <a:pPr marL="342900" indent="-342900">
              <a:buAutoNum type="arabicPeriod"/>
            </a:pPr>
            <a:r>
              <a:rPr lang="en-US" dirty="0"/>
              <a:t>What are the signs on CXR?</a:t>
            </a:r>
          </a:p>
        </p:txBody>
      </p:sp>
    </p:spTree>
    <p:extLst>
      <p:ext uri="{BB962C8B-B14F-4D97-AF65-F5344CB8AC3E}">
        <p14:creationId xmlns:p14="http://schemas.microsoft.com/office/powerpoint/2010/main" val="22870815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20AB0-D5C3-9DA2-A19A-F02107C604C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2FD881B-C9F9-8685-A88C-E0EBAE487BF6}"/>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977B92A1-BD64-03FD-2180-9265FFD09027}"/>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17B226FE-B864-840C-E9BA-41FAB730E4CA}"/>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6AF24EF9-DCF3-7A5C-8654-8E6079E9D444}"/>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013E978A-F6F9-0EB1-3222-CB4F60974368}"/>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DD14FA92-87F6-18A0-C03F-80938BE57B7F}"/>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EC3CE88F-83A7-402F-158E-C9E50B814246}"/>
              </a:ext>
            </a:extLst>
          </p:cNvPr>
          <p:cNvSpPr txBox="1"/>
          <p:nvPr/>
        </p:nvSpPr>
        <p:spPr>
          <a:xfrm>
            <a:off x="185738" y="900112"/>
            <a:ext cx="5815012" cy="4247317"/>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76-year-old woman presents in A&amp;E with </a:t>
            </a:r>
            <a:r>
              <a:rPr lang="en-US" dirty="0">
                <a:highlight>
                  <a:srgbClr val="00FF00"/>
                </a:highlight>
              </a:rPr>
              <a:t>sudden shortness of breath</a:t>
            </a:r>
            <a:r>
              <a:rPr lang="en-US" dirty="0"/>
              <a:t>. Weight 69kg. </a:t>
            </a:r>
            <a:r>
              <a:rPr lang="en-US" b="1" dirty="0"/>
              <a:t>PMH.</a:t>
            </a:r>
            <a:r>
              <a:rPr lang="en-US" dirty="0"/>
              <a:t> </a:t>
            </a:r>
            <a:r>
              <a:rPr lang="en-US" dirty="0" err="1">
                <a:highlight>
                  <a:srgbClr val="00FF00"/>
                </a:highlight>
              </a:rPr>
              <a:t>Ischaemic</a:t>
            </a:r>
            <a:r>
              <a:rPr lang="en-US" dirty="0">
                <a:highlight>
                  <a:srgbClr val="00FF00"/>
                </a:highlight>
              </a:rPr>
              <a:t> heart disease</a:t>
            </a:r>
            <a:r>
              <a:rPr lang="en-US" dirty="0"/>
              <a:t>, HTN. </a:t>
            </a:r>
            <a:r>
              <a:rPr lang="en-US" b="1" dirty="0"/>
              <a:t>DH. </a:t>
            </a:r>
            <a:r>
              <a:rPr lang="en-US" dirty="0"/>
              <a:t>Bisoprolol 5mg PO once daily, ramipril 5mg PO once daily, aspirin 75mg PO once daily, clopidogrel 75mg PO once daily, atorvastatin 20mg PO once daily.</a:t>
            </a:r>
          </a:p>
          <a:p>
            <a:r>
              <a:rPr lang="en-US" b="1" dirty="0"/>
              <a:t>On examination</a:t>
            </a:r>
          </a:p>
          <a:p>
            <a:r>
              <a:rPr lang="en-US" dirty="0"/>
              <a:t>Acutely short of breath. </a:t>
            </a:r>
            <a:r>
              <a:rPr lang="en-US" dirty="0" err="1">
                <a:highlight>
                  <a:srgbClr val="00FF00"/>
                </a:highlight>
              </a:rPr>
              <a:t>Sats</a:t>
            </a:r>
            <a:r>
              <a:rPr lang="en-US" dirty="0">
                <a:highlight>
                  <a:srgbClr val="00FF00"/>
                </a:highlight>
              </a:rPr>
              <a:t> 91% on 15L NRB</a:t>
            </a:r>
            <a:r>
              <a:rPr lang="en-US" dirty="0"/>
              <a:t>, </a:t>
            </a:r>
            <a:r>
              <a:rPr lang="en-US" dirty="0">
                <a:highlight>
                  <a:srgbClr val="00FF00"/>
                </a:highlight>
              </a:rPr>
              <a:t>RR 38</a:t>
            </a:r>
            <a:r>
              <a:rPr lang="en-US" dirty="0"/>
              <a:t>, </a:t>
            </a:r>
            <a:r>
              <a:rPr lang="en-US" dirty="0">
                <a:highlight>
                  <a:srgbClr val="00FF00"/>
                </a:highlight>
              </a:rPr>
              <a:t>coarse bilateral crackles</a:t>
            </a:r>
            <a:r>
              <a:rPr lang="en-US" dirty="0"/>
              <a:t>. BP 140/98, HR 110 and irregular, HS I+II+</a:t>
            </a:r>
            <a:r>
              <a:rPr lang="en-US" dirty="0">
                <a:highlight>
                  <a:srgbClr val="CBF2CA"/>
                </a:highlight>
              </a:rPr>
              <a:t>ESM</a:t>
            </a:r>
            <a:r>
              <a:rPr lang="en-US" dirty="0"/>
              <a:t>, cap refill 2s. Temp 37.4, PEARL, GCS 15/15, capillary glucose 5.9. Abdomen SNT, </a:t>
            </a:r>
            <a:r>
              <a:rPr lang="en-US" dirty="0">
                <a:highlight>
                  <a:srgbClr val="00FF00"/>
                </a:highlight>
              </a:rPr>
              <a:t>pitting oedema to knees</a:t>
            </a:r>
            <a:r>
              <a:rPr lang="en-US" dirty="0"/>
              <a:t>.</a:t>
            </a:r>
          </a:p>
          <a:p>
            <a:r>
              <a:rPr lang="en-US" b="1" dirty="0"/>
              <a:t>Investigations</a:t>
            </a:r>
          </a:p>
          <a:p>
            <a:r>
              <a:rPr lang="en-US" dirty="0"/>
              <a:t>Na 138 (137-144), K 5.2 (3.5-5.3), U 4.8 (2.5-7.0), Cr 100 (60-110). </a:t>
            </a:r>
            <a:r>
              <a:rPr lang="en-US" dirty="0">
                <a:highlight>
                  <a:srgbClr val="CBF2CA"/>
                </a:highlight>
              </a:rPr>
              <a:t>ECG shows ST depression in leads V1-V4</a:t>
            </a:r>
            <a:r>
              <a:rPr lang="en-US" dirty="0"/>
              <a:t>.</a:t>
            </a:r>
          </a:p>
        </p:txBody>
      </p:sp>
      <p:sp>
        <p:nvSpPr>
          <p:cNvPr id="21" name="TextBox 20">
            <a:extLst>
              <a:ext uri="{FF2B5EF4-FFF2-40B4-BE49-F238E27FC236}">
                <a16:creationId xmlns:a16="http://schemas.microsoft.com/office/drawing/2014/main" id="{024106D6-8C46-5BDF-67CF-F1FF4BA6CEC8}"/>
              </a:ext>
            </a:extLst>
          </p:cNvPr>
          <p:cNvSpPr txBox="1"/>
          <p:nvPr/>
        </p:nvSpPr>
        <p:spPr>
          <a:xfrm>
            <a:off x="185738" y="5345913"/>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provide </a:t>
            </a:r>
            <a:r>
              <a:rPr lang="en-US" dirty="0">
                <a:highlight>
                  <a:srgbClr val="00FF00"/>
                </a:highlight>
              </a:rPr>
              <a:t>rapid relief of her shortness of breath</a:t>
            </a:r>
            <a:r>
              <a:rPr lang="en-US" dirty="0"/>
              <a:t>.</a:t>
            </a:r>
          </a:p>
          <a:p>
            <a:r>
              <a:rPr lang="en-US" i="1" dirty="0"/>
              <a:t>(use the ‘once-only medicines’ prescription form provided)</a:t>
            </a:r>
          </a:p>
        </p:txBody>
      </p:sp>
      <p:sp>
        <p:nvSpPr>
          <p:cNvPr id="22" name="TextBox 21">
            <a:extLst>
              <a:ext uri="{FF2B5EF4-FFF2-40B4-BE49-F238E27FC236}">
                <a16:creationId xmlns:a16="http://schemas.microsoft.com/office/drawing/2014/main" id="{58F75053-649B-75F3-001F-7F4553AB62D6}"/>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A598AEF5-59ED-10AC-B4E2-E7092AC635F3}"/>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200C23A0-8F3E-223C-A2B3-7CCC1A02DBB9}"/>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7" name="TextBox 6">
            <a:extLst>
              <a:ext uri="{FF2B5EF4-FFF2-40B4-BE49-F238E27FC236}">
                <a16:creationId xmlns:a16="http://schemas.microsoft.com/office/drawing/2014/main" id="{1888E3B6-42C8-AD6D-DE6A-A8C87D50ACBF}"/>
              </a:ext>
            </a:extLst>
          </p:cNvPr>
          <p:cNvSpPr txBox="1"/>
          <p:nvPr/>
        </p:nvSpPr>
        <p:spPr>
          <a:xfrm>
            <a:off x="6191250" y="5363326"/>
            <a:ext cx="5815012" cy="1200329"/>
          </a:xfrm>
          <a:prstGeom prst="rect">
            <a:avLst/>
          </a:prstGeom>
          <a:noFill/>
        </p:spPr>
        <p:txBody>
          <a:bodyPr wrap="square" rtlCol="0">
            <a:spAutoFit/>
          </a:bodyPr>
          <a:lstStyle/>
          <a:p>
            <a:r>
              <a:rPr lang="en-US" dirty="0"/>
              <a:t>Extension questions:</a:t>
            </a:r>
          </a:p>
          <a:p>
            <a:pPr marL="342900" indent="-342900">
              <a:buAutoNum type="arabicPeriod"/>
            </a:pPr>
            <a:r>
              <a:rPr lang="en-US" dirty="0"/>
              <a:t>Given the likely diagnosis, what is that cause?</a:t>
            </a:r>
          </a:p>
          <a:p>
            <a:pPr marL="342900" indent="-342900">
              <a:buAutoNum type="arabicPeriod"/>
            </a:pPr>
            <a:r>
              <a:rPr lang="en-US" dirty="0"/>
              <a:t>What are other causes?</a:t>
            </a:r>
          </a:p>
          <a:p>
            <a:pPr marL="342900" indent="-342900">
              <a:buAutoNum type="arabicPeriod"/>
            </a:pPr>
            <a:r>
              <a:rPr lang="en-US" dirty="0"/>
              <a:t>What are the signs on CXR?</a:t>
            </a:r>
          </a:p>
        </p:txBody>
      </p:sp>
    </p:spTree>
    <p:extLst>
      <p:ext uri="{BB962C8B-B14F-4D97-AF65-F5344CB8AC3E}">
        <p14:creationId xmlns:p14="http://schemas.microsoft.com/office/powerpoint/2010/main" val="36269447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7763B-4DD7-B659-6C4D-790D6CEE190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1F4121F-DAB7-9245-101B-F3D9E7A78831}"/>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6F4F7888-9C04-7F01-8008-A1B859567348}"/>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DF8EEC09-4AE7-1C76-FF5A-738FDC3BAC38}"/>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E2744997-F729-EAF8-41B7-43C7768171FC}"/>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479F0E36-13A0-3EB3-2526-B8F760BEC535}"/>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9701077F-7859-0D11-FF4B-3E7059C54BA9}"/>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2" name="TextBox 21">
            <a:extLst>
              <a:ext uri="{FF2B5EF4-FFF2-40B4-BE49-F238E27FC236}">
                <a16:creationId xmlns:a16="http://schemas.microsoft.com/office/drawing/2014/main" id="{A5E9FB14-81DC-6995-1518-12141EEC8847}"/>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08CD3B56-11C8-7698-3ECD-0375C05B2448}"/>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D12D6A4E-A4C4-5C74-8CD7-6D313C168D2F}"/>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6" name="TextBox 15">
            <a:extLst>
              <a:ext uri="{FF2B5EF4-FFF2-40B4-BE49-F238E27FC236}">
                <a16:creationId xmlns:a16="http://schemas.microsoft.com/office/drawing/2014/main" id="{69B56ABD-D040-C4B6-1F61-747876FC05FF}"/>
              </a:ext>
            </a:extLst>
          </p:cNvPr>
          <p:cNvSpPr txBox="1"/>
          <p:nvPr/>
        </p:nvSpPr>
        <p:spPr>
          <a:xfrm>
            <a:off x="185738" y="900112"/>
            <a:ext cx="5815012" cy="2585323"/>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44-year-old woman presents to A&amp;E in a collapsed state. She usually takes medications for Addison's disease but has been unable to due to viral gastroenteritis with nausea and vomiting. </a:t>
            </a:r>
            <a:r>
              <a:rPr lang="en-US" b="1" dirty="0"/>
              <a:t>PMH.</a:t>
            </a:r>
            <a:r>
              <a:rPr lang="en-US" dirty="0"/>
              <a:t> Addison’s disease. </a:t>
            </a:r>
            <a:r>
              <a:rPr lang="en-US" b="1" dirty="0"/>
              <a:t>DH. </a:t>
            </a:r>
            <a:r>
              <a:rPr lang="en-US" dirty="0"/>
              <a:t>Hydrocortisone 10mg PO morning, 5mg PO evening and fludrocortisone 50mcg PO once daily. An Addisonian crisis is diagnosed with hypotension and hypoglycaemia. Appropriate fluid resuscitation including glucose replacement is commenced. </a:t>
            </a:r>
          </a:p>
        </p:txBody>
      </p:sp>
      <p:sp>
        <p:nvSpPr>
          <p:cNvPr id="19" name="TextBox 18">
            <a:extLst>
              <a:ext uri="{FF2B5EF4-FFF2-40B4-BE49-F238E27FC236}">
                <a16:creationId xmlns:a16="http://schemas.microsoft.com/office/drawing/2014/main" id="{23B927CD-3052-C947-06E4-5643F96938E3}"/>
              </a:ext>
            </a:extLst>
          </p:cNvPr>
          <p:cNvSpPr txBox="1"/>
          <p:nvPr/>
        </p:nvSpPr>
        <p:spPr>
          <a:xfrm>
            <a:off x="185738" y="3683919"/>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prescribe acutely. </a:t>
            </a:r>
          </a:p>
          <a:p>
            <a:r>
              <a:rPr lang="en-US" i="1" dirty="0"/>
              <a:t>(use the ‘once-only medicines’ prescription form provided)</a:t>
            </a:r>
          </a:p>
        </p:txBody>
      </p:sp>
      <p:pic>
        <p:nvPicPr>
          <p:cNvPr id="3" name="Picture 2">
            <a:extLst>
              <a:ext uri="{FF2B5EF4-FFF2-40B4-BE49-F238E27FC236}">
                <a16:creationId xmlns:a16="http://schemas.microsoft.com/office/drawing/2014/main" id="{6D87F2B9-D907-FCD4-7B52-E6AA65E9D533}"/>
              </a:ext>
            </a:extLst>
          </p:cNvPr>
          <p:cNvPicPr>
            <a:picLocks noChangeAspect="1"/>
          </p:cNvPicPr>
          <p:nvPr/>
        </p:nvPicPr>
        <p:blipFill>
          <a:blip r:embed="rId5"/>
          <a:stretch>
            <a:fillRect/>
          </a:stretch>
        </p:blipFill>
        <p:spPr>
          <a:xfrm>
            <a:off x="6191252" y="5203556"/>
            <a:ext cx="5815009" cy="1509428"/>
          </a:xfrm>
          <a:prstGeom prst="rect">
            <a:avLst/>
          </a:prstGeom>
        </p:spPr>
      </p:pic>
    </p:spTree>
    <p:extLst>
      <p:ext uri="{BB962C8B-B14F-4D97-AF65-F5344CB8AC3E}">
        <p14:creationId xmlns:p14="http://schemas.microsoft.com/office/powerpoint/2010/main" val="24658946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AFB42-FBA3-7D4E-D634-A665E05E065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C62A69E-C36A-49B2-A594-F39A170D369A}"/>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459B07F-21EA-3BB1-F1D0-62D58AF6E9C6}"/>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2E263332-AA17-963B-9CE1-F1319A11AF99}"/>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D57FAEC8-189B-415D-E523-98643D1FC89E}"/>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72ED5EE-3DE3-B58B-FE42-75C109700A4E}"/>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8908ABE8-404B-D5EA-990A-F5F92766CC1D}"/>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2" name="TextBox 21">
            <a:extLst>
              <a:ext uri="{FF2B5EF4-FFF2-40B4-BE49-F238E27FC236}">
                <a16:creationId xmlns:a16="http://schemas.microsoft.com/office/drawing/2014/main" id="{AD432360-9318-23C2-576D-873EA28E6F50}"/>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76C9EEBB-55A5-21DE-6649-49FD178E571A}"/>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B8763A60-B2E7-299A-E551-234FA57CDBCA}"/>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6" name="TextBox 15">
            <a:extLst>
              <a:ext uri="{FF2B5EF4-FFF2-40B4-BE49-F238E27FC236}">
                <a16:creationId xmlns:a16="http://schemas.microsoft.com/office/drawing/2014/main" id="{E2BC9E67-4258-3D82-003D-796F9B5FA5E6}"/>
              </a:ext>
            </a:extLst>
          </p:cNvPr>
          <p:cNvSpPr txBox="1"/>
          <p:nvPr/>
        </p:nvSpPr>
        <p:spPr>
          <a:xfrm>
            <a:off x="185738" y="900112"/>
            <a:ext cx="5815012" cy="2585323"/>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44-year-old woman presents to A&amp;E in a </a:t>
            </a:r>
            <a:r>
              <a:rPr lang="en-US" dirty="0">
                <a:highlight>
                  <a:srgbClr val="00FF00"/>
                </a:highlight>
              </a:rPr>
              <a:t>collapsed state</a:t>
            </a:r>
            <a:r>
              <a:rPr lang="en-US" dirty="0"/>
              <a:t>. She usually takes medications for </a:t>
            </a:r>
            <a:r>
              <a:rPr lang="en-US" dirty="0">
                <a:highlight>
                  <a:srgbClr val="00FF00"/>
                </a:highlight>
              </a:rPr>
              <a:t>Addison's disease</a:t>
            </a:r>
            <a:r>
              <a:rPr lang="en-US" dirty="0"/>
              <a:t> but has been unable to due to viral gastroenteritis with nausea and vomiting. </a:t>
            </a:r>
            <a:r>
              <a:rPr lang="en-US" b="1" dirty="0"/>
              <a:t>PMH.</a:t>
            </a:r>
            <a:r>
              <a:rPr lang="en-US" dirty="0"/>
              <a:t> Addison’s disease. </a:t>
            </a:r>
            <a:r>
              <a:rPr lang="en-US" b="1" dirty="0"/>
              <a:t>DH. </a:t>
            </a:r>
            <a:r>
              <a:rPr lang="en-US" dirty="0"/>
              <a:t>Hydrocortisone 10mg PO morning, 5mg PO evening and fludrocortisone 50mcg PO once daily. </a:t>
            </a:r>
            <a:r>
              <a:rPr lang="en-US" dirty="0">
                <a:highlight>
                  <a:srgbClr val="00FF00"/>
                </a:highlight>
              </a:rPr>
              <a:t>An Addisonian crisis is diagnosed</a:t>
            </a:r>
            <a:r>
              <a:rPr lang="en-US" dirty="0"/>
              <a:t> with hypotension and hypoglycaemia. </a:t>
            </a:r>
            <a:r>
              <a:rPr lang="en-US" dirty="0">
                <a:highlight>
                  <a:srgbClr val="00FF00"/>
                </a:highlight>
              </a:rPr>
              <a:t>Appropriate fluid resuscitation including glucose replacement is commenced</a:t>
            </a:r>
            <a:r>
              <a:rPr lang="en-US" dirty="0"/>
              <a:t>. </a:t>
            </a:r>
          </a:p>
        </p:txBody>
      </p:sp>
      <p:sp>
        <p:nvSpPr>
          <p:cNvPr id="19" name="TextBox 18">
            <a:extLst>
              <a:ext uri="{FF2B5EF4-FFF2-40B4-BE49-F238E27FC236}">
                <a16:creationId xmlns:a16="http://schemas.microsoft.com/office/drawing/2014/main" id="{8B0E58F4-5FB0-FAE6-9E97-3317BAD339B2}"/>
              </a:ext>
            </a:extLst>
          </p:cNvPr>
          <p:cNvSpPr txBox="1"/>
          <p:nvPr/>
        </p:nvSpPr>
        <p:spPr>
          <a:xfrm>
            <a:off x="185738" y="3683919"/>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a:t>
            </a:r>
            <a:r>
              <a:rPr lang="en-US" dirty="0">
                <a:highlight>
                  <a:srgbClr val="00FF00"/>
                </a:highlight>
              </a:rPr>
              <a:t>prescribe acutely</a:t>
            </a:r>
            <a:r>
              <a:rPr lang="en-US" dirty="0"/>
              <a:t>. </a:t>
            </a:r>
          </a:p>
          <a:p>
            <a:r>
              <a:rPr lang="en-US" i="1" dirty="0"/>
              <a:t>(use the ‘once-only medicines’ prescription form provided)</a:t>
            </a:r>
          </a:p>
        </p:txBody>
      </p:sp>
      <p:pic>
        <p:nvPicPr>
          <p:cNvPr id="3" name="Picture 2">
            <a:extLst>
              <a:ext uri="{FF2B5EF4-FFF2-40B4-BE49-F238E27FC236}">
                <a16:creationId xmlns:a16="http://schemas.microsoft.com/office/drawing/2014/main" id="{1523AF73-5C59-F130-E9F6-4CB9F12ACA66}"/>
              </a:ext>
            </a:extLst>
          </p:cNvPr>
          <p:cNvPicPr>
            <a:picLocks noChangeAspect="1"/>
          </p:cNvPicPr>
          <p:nvPr/>
        </p:nvPicPr>
        <p:blipFill>
          <a:blip r:embed="rId5"/>
          <a:stretch>
            <a:fillRect/>
          </a:stretch>
        </p:blipFill>
        <p:spPr>
          <a:xfrm>
            <a:off x="6191252" y="5203556"/>
            <a:ext cx="5815009" cy="1509428"/>
          </a:xfrm>
          <a:prstGeom prst="rect">
            <a:avLst/>
          </a:prstGeom>
        </p:spPr>
      </p:pic>
    </p:spTree>
    <p:extLst>
      <p:ext uri="{BB962C8B-B14F-4D97-AF65-F5344CB8AC3E}">
        <p14:creationId xmlns:p14="http://schemas.microsoft.com/office/powerpoint/2010/main" val="32694618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A7D16-9C9B-F51D-DB9C-B2E50A2FC64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4C80EFE-4EBC-3AE0-57C3-919E95421C73}"/>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F2ED9BAF-94B4-887E-08B4-7D81BEDD3DC8}"/>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7EAB9CAD-97F8-8DFB-6589-472C1F439BC6}"/>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Route</a:t>
            </a:r>
          </a:p>
          <a:p>
            <a:r>
              <a:rPr lang="en-US" b="1" dirty="0"/>
              <a:t>                                                        </a:t>
            </a:r>
            <a:endParaRPr lang="en-US" dirty="0"/>
          </a:p>
          <a:p>
            <a:endParaRPr lang="en-US" b="1" dirty="0"/>
          </a:p>
          <a:p>
            <a:r>
              <a:rPr lang="en-US" b="1" dirty="0"/>
              <a:t>   Frequency                                  Duration</a:t>
            </a:r>
          </a:p>
          <a:p>
            <a:r>
              <a:rPr lang="en-US" b="1" dirty="0"/>
              <a:t>                                                        </a:t>
            </a:r>
            <a:r>
              <a:rPr lang="en-US" dirty="0"/>
              <a:t>continuous</a:t>
            </a:r>
          </a:p>
          <a:p>
            <a:endParaRPr lang="en-US" b="1" dirty="0"/>
          </a:p>
          <a:p>
            <a:r>
              <a:rPr lang="en-US" b="1" dirty="0"/>
              <a:t>   Prescriber                  	    Date                            </a:t>
            </a:r>
            <a:r>
              <a:rPr lang="en-US" dirty="0"/>
              <a:t> </a:t>
            </a:r>
            <a:endParaRPr lang="en-US" b="1" dirty="0"/>
          </a:p>
          <a:p>
            <a:r>
              <a:rPr lang="en-US" b="1" dirty="0"/>
              <a:t>   </a:t>
            </a:r>
            <a:r>
              <a:rPr lang="en-US" dirty="0">
                <a:solidFill>
                  <a:schemeClr val="bg1">
                    <a:lumMod val="65000"/>
                  </a:schemeClr>
                </a:solidFill>
              </a:rPr>
              <a:t>Joe Bloggs                 	    01/01/2021               </a:t>
            </a:r>
          </a:p>
        </p:txBody>
      </p:sp>
      <p:sp>
        <p:nvSpPr>
          <p:cNvPr id="17" name="Rectangle 16">
            <a:extLst>
              <a:ext uri="{FF2B5EF4-FFF2-40B4-BE49-F238E27FC236}">
                <a16:creationId xmlns:a16="http://schemas.microsoft.com/office/drawing/2014/main" id="{B2507EEB-D1ED-33C2-7EE3-0AE4664931D0}"/>
              </a:ext>
            </a:extLst>
          </p:cNvPr>
          <p:cNvSpPr/>
          <p:nvPr/>
        </p:nvSpPr>
        <p:spPr>
          <a:xfrm>
            <a:off x="6467476"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ECB4EA80-1EAE-D8FF-C204-56E4FC2D6BCA}"/>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0" name="Rectangle 19">
            <a:extLst>
              <a:ext uri="{FF2B5EF4-FFF2-40B4-BE49-F238E27FC236}">
                <a16:creationId xmlns:a16="http://schemas.microsoft.com/office/drawing/2014/main" id="{F7F7538B-0A60-8C45-E0FC-A9F5BDEE2AD7}"/>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2CBA8AB4-FFD1-57C7-3F25-40E672A2DE74}"/>
              </a:ext>
            </a:extLst>
          </p:cNvPr>
          <p:cNvSpPr/>
          <p:nvPr/>
        </p:nvSpPr>
        <p:spPr>
          <a:xfrm>
            <a:off x="9250461"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96A7E2DA-96FB-668A-8808-10E6984C5EFF}"/>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1" name="TextBox 20">
            <a:extLst>
              <a:ext uri="{FF2B5EF4-FFF2-40B4-BE49-F238E27FC236}">
                <a16:creationId xmlns:a16="http://schemas.microsoft.com/office/drawing/2014/main" id="{F880C229-DC31-E1D1-E379-3EF06D44180A}"/>
              </a:ext>
            </a:extLst>
          </p:cNvPr>
          <p:cNvSpPr txBox="1"/>
          <p:nvPr/>
        </p:nvSpPr>
        <p:spPr>
          <a:xfrm>
            <a:off x="3300413" y="257177"/>
            <a:ext cx="1096960" cy="353943"/>
          </a:xfrm>
          <a:prstGeom prst="rect">
            <a:avLst/>
          </a:prstGeom>
          <a:noFill/>
        </p:spPr>
        <p:txBody>
          <a:bodyPr wrap="square" rtlCol="0">
            <a:spAutoFit/>
          </a:bodyPr>
          <a:lstStyle/>
          <a:p>
            <a:pPr algn="ctr"/>
            <a:r>
              <a:rPr lang="en-US" sz="1700" b="1" dirty="0"/>
              <a:t>10 marks</a:t>
            </a:r>
          </a:p>
        </p:txBody>
      </p:sp>
      <p:sp>
        <p:nvSpPr>
          <p:cNvPr id="22" name="TextBox 21">
            <a:extLst>
              <a:ext uri="{FF2B5EF4-FFF2-40B4-BE49-F238E27FC236}">
                <a16:creationId xmlns:a16="http://schemas.microsoft.com/office/drawing/2014/main" id="{63FD53D4-B545-8735-C048-5861125E9614}"/>
              </a:ext>
            </a:extLst>
          </p:cNvPr>
          <p:cNvSpPr txBox="1"/>
          <p:nvPr/>
        </p:nvSpPr>
        <p:spPr>
          <a:xfrm>
            <a:off x="1486695" y="257177"/>
            <a:ext cx="1813718" cy="353943"/>
          </a:xfrm>
          <a:prstGeom prst="rect">
            <a:avLst/>
          </a:prstGeom>
          <a:solidFill>
            <a:srgbClr val="D0D0D0"/>
          </a:solidFill>
        </p:spPr>
        <p:txBody>
          <a:bodyPr wrap="square" rtlCol="0">
            <a:spAutoFit/>
          </a:bodyPr>
          <a:lstStyle/>
          <a:p>
            <a:pPr algn="ctr"/>
            <a:r>
              <a:rPr lang="en-US" sz="1700" dirty="0"/>
              <a:t>Regular Medicines</a:t>
            </a:r>
          </a:p>
        </p:txBody>
      </p:sp>
      <p:sp>
        <p:nvSpPr>
          <p:cNvPr id="14" name="TextBox 13">
            <a:extLst>
              <a:ext uri="{FF2B5EF4-FFF2-40B4-BE49-F238E27FC236}">
                <a16:creationId xmlns:a16="http://schemas.microsoft.com/office/drawing/2014/main" id="{CDF2F99F-F872-2835-68E6-5EA0E1862499}"/>
              </a:ext>
            </a:extLst>
          </p:cNvPr>
          <p:cNvSpPr txBox="1"/>
          <p:nvPr/>
        </p:nvSpPr>
        <p:spPr>
          <a:xfrm>
            <a:off x="185738" y="900112"/>
            <a:ext cx="5815012" cy="2585323"/>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79-year-old woman was admitted to A&amp;E with a swollen and erythematous left leg. Weight 60kg. </a:t>
            </a:r>
            <a:r>
              <a:rPr lang="en-US" b="1" dirty="0"/>
              <a:t>PMH.</a:t>
            </a:r>
            <a:r>
              <a:rPr lang="en-US" dirty="0"/>
              <a:t> Nil. </a:t>
            </a:r>
            <a:r>
              <a:rPr lang="en-US" b="1" dirty="0"/>
              <a:t>DH. </a:t>
            </a:r>
            <a:r>
              <a:rPr lang="en-US" dirty="0"/>
              <a:t>Nil.</a:t>
            </a:r>
          </a:p>
          <a:p>
            <a:r>
              <a:rPr lang="en-US" b="1" dirty="0"/>
              <a:t>On examination</a:t>
            </a:r>
          </a:p>
          <a:p>
            <a:r>
              <a:rPr lang="en-US" dirty="0"/>
              <a:t>Left leg swollen and tender with mild pitting oedema around the left ankle. </a:t>
            </a:r>
          </a:p>
          <a:p>
            <a:r>
              <a:rPr lang="en-US" b="1" dirty="0"/>
              <a:t>Investigations</a:t>
            </a:r>
          </a:p>
          <a:p>
            <a:r>
              <a:rPr lang="en-US" dirty="0"/>
              <a:t>INR 1.0 (&lt;1.4)</a:t>
            </a:r>
          </a:p>
          <a:p>
            <a:r>
              <a:rPr lang="en-US" dirty="0"/>
              <a:t>Doppler US reports a DVT in the left popliteal vein.</a:t>
            </a:r>
          </a:p>
        </p:txBody>
      </p:sp>
      <p:sp>
        <p:nvSpPr>
          <p:cNvPr id="16" name="TextBox 15">
            <a:extLst>
              <a:ext uri="{FF2B5EF4-FFF2-40B4-BE49-F238E27FC236}">
                <a16:creationId xmlns:a16="http://schemas.microsoft.com/office/drawing/2014/main" id="{CABD515E-82B1-6742-39A1-14A763AC61FF}"/>
              </a:ext>
            </a:extLst>
          </p:cNvPr>
          <p:cNvSpPr txBox="1"/>
          <p:nvPr/>
        </p:nvSpPr>
        <p:spPr>
          <a:xfrm>
            <a:off x="185738" y="3683919"/>
            <a:ext cx="5815012" cy="1477328"/>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treat her DVT.</a:t>
            </a:r>
          </a:p>
          <a:p>
            <a:r>
              <a:rPr lang="en-US" i="1" dirty="0"/>
              <a:t>(use the ‘hospital regular medicines’ prescription form provided)</a:t>
            </a:r>
          </a:p>
        </p:txBody>
      </p:sp>
    </p:spTree>
    <p:extLst>
      <p:ext uri="{BB962C8B-B14F-4D97-AF65-F5344CB8AC3E}">
        <p14:creationId xmlns:p14="http://schemas.microsoft.com/office/powerpoint/2010/main" val="4225536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A7395-1530-F5ED-0F35-8485B394344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233BF5D-A776-C0BA-DF81-28760EAA53E3}"/>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29C3F6E0-1CAE-B285-2FFA-BA8F464DB849}"/>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D0D0B8CB-71F8-B1E3-51A1-5D128B3DAD0B}"/>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Route</a:t>
            </a:r>
          </a:p>
          <a:p>
            <a:r>
              <a:rPr lang="en-US" b="1" dirty="0"/>
              <a:t>                                                        </a:t>
            </a:r>
            <a:endParaRPr lang="en-US" dirty="0"/>
          </a:p>
          <a:p>
            <a:endParaRPr lang="en-US" b="1" dirty="0"/>
          </a:p>
          <a:p>
            <a:r>
              <a:rPr lang="en-US" b="1" dirty="0"/>
              <a:t>   Frequency                                  Duration</a:t>
            </a:r>
          </a:p>
          <a:p>
            <a:r>
              <a:rPr lang="en-US" b="1" dirty="0"/>
              <a:t>                                                        </a:t>
            </a:r>
            <a:r>
              <a:rPr lang="en-US" dirty="0"/>
              <a:t>continuous</a:t>
            </a:r>
          </a:p>
          <a:p>
            <a:endParaRPr lang="en-US" b="1" dirty="0"/>
          </a:p>
          <a:p>
            <a:r>
              <a:rPr lang="en-US" b="1" dirty="0"/>
              <a:t>   Prescriber                  	    Date                            </a:t>
            </a:r>
            <a:r>
              <a:rPr lang="en-US" dirty="0"/>
              <a:t> </a:t>
            </a:r>
            <a:endParaRPr lang="en-US" b="1" dirty="0"/>
          </a:p>
          <a:p>
            <a:r>
              <a:rPr lang="en-US" b="1" dirty="0"/>
              <a:t>   </a:t>
            </a:r>
            <a:r>
              <a:rPr lang="en-US" dirty="0">
                <a:solidFill>
                  <a:schemeClr val="bg1">
                    <a:lumMod val="65000"/>
                  </a:schemeClr>
                </a:solidFill>
              </a:rPr>
              <a:t>Joe Bloggs                 	    01/01/2021               </a:t>
            </a:r>
          </a:p>
        </p:txBody>
      </p:sp>
      <p:sp>
        <p:nvSpPr>
          <p:cNvPr id="17" name="Rectangle 16">
            <a:extLst>
              <a:ext uri="{FF2B5EF4-FFF2-40B4-BE49-F238E27FC236}">
                <a16:creationId xmlns:a16="http://schemas.microsoft.com/office/drawing/2014/main" id="{9DCBD934-A23A-ABAE-6BA2-E1A1C1496323}"/>
              </a:ext>
            </a:extLst>
          </p:cNvPr>
          <p:cNvSpPr/>
          <p:nvPr/>
        </p:nvSpPr>
        <p:spPr>
          <a:xfrm>
            <a:off x="6467476"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A77D92C1-52BC-2E0F-188A-3F924D34D940}"/>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0" name="Rectangle 19">
            <a:extLst>
              <a:ext uri="{FF2B5EF4-FFF2-40B4-BE49-F238E27FC236}">
                <a16:creationId xmlns:a16="http://schemas.microsoft.com/office/drawing/2014/main" id="{01086C09-1415-338F-B645-BB6486B71232}"/>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1266A989-3E34-D701-2DE2-A5E1D546B481}"/>
              </a:ext>
            </a:extLst>
          </p:cNvPr>
          <p:cNvSpPr/>
          <p:nvPr/>
        </p:nvSpPr>
        <p:spPr>
          <a:xfrm>
            <a:off x="9250461"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5" name="TextBox 14">
            <a:extLst>
              <a:ext uri="{FF2B5EF4-FFF2-40B4-BE49-F238E27FC236}">
                <a16:creationId xmlns:a16="http://schemas.microsoft.com/office/drawing/2014/main" id="{1D38F677-8067-0741-F6FE-39B6CB0786A2}"/>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1" name="TextBox 20">
            <a:extLst>
              <a:ext uri="{FF2B5EF4-FFF2-40B4-BE49-F238E27FC236}">
                <a16:creationId xmlns:a16="http://schemas.microsoft.com/office/drawing/2014/main" id="{BDD5B5B7-B055-D8F0-81B3-2C672DAA057B}"/>
              </a:ext>
            </a:extLst>
          </p:cNvPr>
          <p:cNvSpPr txBox="1"/>
          <p:nvPr/>
        </p:nvSpPr>
        <p:spPr>
          <a:xfrm>
            <a:off x="3300413" y="257177"/>
            <a:ext cx="1096960" cy="353943"/>
          </a:xfrm>
          <a:prstGeom prst="rect">
            <a:avLst/>
          </a:prstGeom>
          <a:noFill/>
        </p:spPr>
        <p:txBody>
          <a:bodyPr wrap="square" rtlCol="0">
            <a:spAutoFit/>
          </a:bodyPr>
          <a:lstStyle/>
          <a:p>
            <a:pPr algn="ctr"/>
            <a:r>
              <a:rPr lang="en-US" sz="1700" b="1" dirty="0"/>
              <a:t>10 marks</a:t>
            </a:r>
          </a:p>
        </p:txBody>
      </p:sp>
      <p:sp>
        <p:nvSpPr>
          <p:cNvPr id="22" name="TextBox 21">
            <a:extLst>
              <a:ext uri="{FF2B5EF4-FFF2-40B4-BE49-F238E27FC236}">
                <a16:creationId xmlns:a16="http://schemas.microsoft.com/office/drawing/2014/main" id="{69DB2A1D-EF66-96B3-D798-058E126BDA03}"/>
              </a:ext>
            </a:extLst>
          </p:cNvPr>
          <p:cNvSpPr txBox="1"/>
          <p:nvPr/>
        </p:nvSpPr>
        <p:spPr>
          <a:xfrm>
            <a:off x="1486695" y="257177"/>
            <a:ext cx="1813718" cy="353943"/>
          </a:xfrm>
          <a:prstGeom prst="rect">
            <a:avLst/>
          </a:prstGeom>
          <a:solidFill>
            <a:srgbClr val="D0D0D0"/>
          </a:solidFill>
        </p:spPr>
        <p:txBody>
          <a:bodyPr wrap="square" rtlCol="0">
            <a:spAutoFit/>
          </a:bodyPr>
          <a:lstStyle/>
          <a:p>
            <a:pPr algn="ctr"/>
            <a:r>
              <a:rPr lang="en-US" sz="1700" dirty="0"/>
              <a:t>Regular Medicines</a:t>
            </a:r>
          </a:p>
        </p:txBody>
      </p:sp>
      <p:sp>
        <p:nvSpPr>
          <p:cNvPr id="16" name="TextBox 15">
            <a:extLst>
              <a:ext uri="{FF2B5EF4-FFF2-40B4-BE49-F238E27FC236}">
                <a16:creationId xmlns:a16="http://schemas.microsoft.com/office/drawing/2014/main" id="{5B6894CD-5DE4-917E-09B9-EE969980C5B0}"/>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44-year-old man is on the surgical ward after having an appendicectomy. He reports lower abdominal pain around the port sites. Weight 82kg. </a:t>
            </a:r>
            <a:r>
              <a:rPr lang="en-US" b="1" dirty="0"/>
              <a:t>PMH.</a:t>
            </a:r>
            <a:r>
              <a:rPr lang="en-US" dirty="0"/>
              <a:t> Nil. </a:t>
            </a:r>
            <a:r>
              <a:rPr lang="en-US" b="1" dirty="0"/>
              <a:t>DH. </a:t>
            </a:r>
            <a:r>
              <a:rPr lang="en-US" dirty="0"/>
              <a:t>Nil.</a:t>
            </a:r>
          </a:p>
          <a:p>
            <a:r>
              <a:rPr lang="en-US" dirty="0"/>
              <a:t>He has been prescribed paracetamol 1000mg four times daily and ibuprofen 600mg four times daily.</a:t>
            </a:r>
          </a:p>
        </p:txBody>
      </p:sp>
      <p:sp>
        <p:nvSpPr>
          <p:cNvPr id="26" name="TextBox 25">
            <a:extLst>
              <a:ext uri="{FF2B5EF4-FFF2-40B4-BE49-F238E27FC236}">
                <a16:creationId xmlns:a16="http://schemas.microsoft.com/office/drawing/2014/main" id="{DB27DDFD-A9DD-0767-4BB1-88E343A469BD}"/>
              </a:ext>
            </a:extLst>
          </p:cNvPr>
          <p:cNvSpPr txBox="1"/>
          <p:nvPr/>
        </p:nvSpPr>
        <p:spPr>
          <a:xfrm>
            <a:off x="185738" y="2852922"/>
            <a:ext cx="5815012" cy="1477328"/>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provide relief of his pain?</a:t>
            </a:r>
          </a:p>
          <a:p>
            <a:r>
              <a:rPr lang="en-US" i="1" dirty="0"/>
              <a:t>(use the ‘hospital regular medicines’ prescription form provided)</a:t>
            </a:r>
          </a:p>
        </p:txBody>
      </p:sp>
      <p:sp>
        <p:nvSpPr>
          <p:cNvPr id="19" name="TextBox 18">
            <a:extLst>
              <a:ext uri="{FF2B5EF4-FFF2-40B4-BE49-F238E27FC236}">
                <a16:creationId xmlns:a16="http://schemas.microsoft.com/office/drawing/2014/main" id="{CDB6385A-6B34-2D88-A399-58C7CE19B112}"/>
              </a:ext>
            </a:extLst>
          </p:cNvPr>
          <p:cNvSpPr txBox="1"/>
          <p:nvPr/>
        </p:nvSpPr>
        <p:spPr>
          <a:xfrm>
            <a:off x="6191249" y="4514152"/>
            <a:ext cx="5815012" cy="2031325"/>
          </a:xfrm>
          <a:prstGeom prst="rect">
            <a:avLst/>
          </a:prstGeom>
          <a:noFill/>
        </p:spPr>
        <p:txBody>
          <a:bodyPr wrap="square" rtlCol="0">
            <a:spAutoFit/>
          </a:bodyPr>
          <a:lstStyle/>
          <a:p>
            <a:r>
              <a:rPr lang="en-US" dirty="0"/>
              <a:t>Extension questions:</a:t>
            </a:r>
          </a:p>
          <a:p>
            <a:pPr marL="342900" indent="-342900">
              <a:buAutoNum type="arabicPeriod"/>
            </a:pPr>
            <a:r>
              <a:rPr lang="en-GB" dirty="0"/>
              <a:t>What is the WHO analgesic ladder?</a:t>
            </a:r>
          </a:p>
          <a:p>
            <a:pPr marL="342900" indent="-342900">
              <a:buFontTx/>
              <a:buAutoNum type="arabicPeriod"/>
            </a:pPr>
            <a:r>
              <a:rPr lang="en-GB" dirty="0"/>
              <a:t>Which analgesics are first line for neuropathic pain?</a:t>
            </a:r>
          </a:p>
          <a:p>
            <a:pPr marL="342900" indent="-342900">
              <a:buFontTx/>
              <a:buAutoNum type="arabicPeriod"/>
            </a:pPr>
            <a:r>
              <a:rPr lang="en-GB" dirty="0"/>
              <a:t>Which analgesics are first line for a migraine?</a:t>
            </a:r>
          </a:p>
          <a:p>
            <a:pPr marL="342900" indent="-342900">
              <a:buFontTx/>
              <a:buAutoNum type="arabicPeriod"/>
            </a:pPr>
            <a:r>
              <a:rPr lang="en-GB" dirty="0"/>
              <a:t>Which analgesics are first line for lower back pain and sciatica?</a:t>
            </a:r>
          </a:p>
          <a:p>
            <a:pPr marL="342900" indent="-342900">
              <a:buFontTx/>
              <a:buAutoNum type="arabicPeriod"/>
            </a:pPr>
            <a:endParaRPr lang="en-GB" dirty="0"/>
          </a:p>
        </p:txBody>
      </p:sp>
    </p:spTree>
    <p:extLst>
      <p:ext uri="{BB962C8B-B14F-4D97-AF65-F5344CB8AC3E}">
        <p14:creationId xmlns:p14="http://schemas.microsoft.com/office/powerpoint/2010/main" val="34019738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09D46-8894-1477-91D4-66168FA74F3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2A36793-54DB-BFCA-EE79-ACF09F3B85F3}"/>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5CD77CC2-1B82-B0B4-5816-0A714E5C9D6F}"/>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2007B8D4-648E-18B6-DF52-F6A247D30DBF}"/>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0DC56498-0E89-B0F5-8228-E68421EAD127}"/>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ACE900AB-D359-7BB3-2451-CB2B1477549A}"/>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58D42985-01B0-763A-CCFB-9FD2197B1BED}"/>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2" name="TextBox 21">
            <a:extLst>
              <a:ext uri="{FF2B5EF4-FFF2-40B4-BE49-F238E27FC236}">
                <a16:creationId xmlns:a16="http://schemas.microsoft.com/office/drawing/2014/main" id="{EC370F99-A028-DECD-8FC4-EA6772CEAE23}"/>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F4E358FB-8AAF-5C09-62AB-A25924DBB47B}"/>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22CC392D-8D47-0685-48D4-06A1F52EDC68}"/>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4" name="TextBox 13">
            <a:extLst>
              <a:ext uri="{FF2B5EF4-FFF2-40B4-BE49-F238E27FC236}">
                <a16:creationId xmlns:a16="http://schemas.microsoft.com/office/drawing/2014/main" id="{0B9B52EA-0E8B-3DD8-F6DC-9A6E0DC2A14A}"/>
              </a:ext>
            </a:extLst>
          </p:cNvPr>
          <p:cNvSpPr txBox="1"/>
          <p:nvPr/>
        </p:nvSpPr>
        <p:spPr>
          <a:xfrm>
            <a:off x="185738" y="900112"/>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46-year-old man is on the surgical ward after having an cholecystectomy. He reports worsening nausea after the procedure. Weight 82kg. </a:t>
            </a:r>
            <a:r>
              <a:rPr lang="en-US" b="1" dirty="0"/>
              <a:t>PMH. </a:t>
            </a:r>
            <a:r>
              <a:rPr lang="en-US" dirty="0"/>
              <a:t>Parkinson’s disease. </a:t>
            </a:r>
            <a:r>
              <a:rPr lang="en-US" b="1" dirty="0"/>
              <a:t>DH. </a:t>
            </a:r>
            <a:r>
              <a:rPr lang="en-US" dirty="0"/>
              <a:t>Co-</a:t>
            </a:r>
            <a:r>
              <a:rPr lang="en-US" dirty="0" err="1"/>
              <a:t>careldopa</a:t>
            </a:r>
            <a:r>
              <a:rPr lang="en-US" dirty="0"/>
              <a:t> 25/100mg PO three times daily.</a:t>
            </a:r>
          </a:p>
          <a:p>
            <a:r>
              <a:rPr lang="en-US" dirty="0"/>
              <a:t>He has been prescribed paracetamol 1000mg four times daily and ibuprofen 600mg four times daily but no antiemetics.</a:t>
            </a:r>
          </a:p>
        </p:txBody>
      </p:sp>
      <p:sp>
        <p:nvSpPr>
          <p:cNvPr id="16" name="TextBox 15">
            <a:extLst>
              <a:ext uri="{FF2B5EF4-FFF2-40B4-BE49-F238E27FC236}">
                <a16:creationId xmlns:a16="http://schemas.microsoft.com/office/drawing/2014/main" id="{52084369-E24B-B996-08F2-E3E9BC2E2096}"/>
              </a:ext>
            </a:extLst>
          </p:cNvPr>
          <p:cNvSpPr txBox="1"/>
          <p:nvPr/>
        </p:nvSpPr>
        <p:spPr>
          <a:xfrm>
            <a:off x="185738" y="3406920"/>
            <a:ext cx="5815012" cy="1477328"/>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provide relief of his nausea and vomiting?</a:t>
            </a:r>
          </a:p>
          <a:p>
            <a:r>
              <a:rPr lang="en-US" i="1" dirty="0"/>
              <a:t>(use the ‘hospital regular medicines’ prescription form provided)</a:t>
            </a:r>
          </a:p>
        </p:txBody>
      </p:sp>
      <p:sp>
        <p:nvSpPr>
          <p:cNvPr id="20" name="TextBox 19">
            <a:extLst>
              <a:ext uri="{FF2B5EF4-FFF2-40B4-BE49-F238E27FC236}">
                <a16:creationId xmlns:a16="http://schemas.microsoft.com/office/drawing/2014/main" id="{D1A679A4-C699-49B8-4DCD-924965CE0F32}"/>
              </a:ext>
            </a:extLst>
          </p:cNvPr>
          <p:cNvSpPr txBox="1"/>
          <p:nvPr/>
        </p:nvSpPr>
        <p:spPr>
          <a:xfrm>
            <a:off x="6191252" y="5280326"/>
            <a:ext cx="5815012" cy="923330"/>
          </a:xfrm>
          <a:prstGeom prst="rect">
            <a:avLst/>
          </a:prstGeom>
          <a:noFill/>
        </p:spPr>
        <p:txBody>
          <a:bodyPr wrap="square" rtlCol="0">
            <a:spAutoFit/>
          </a:bodyPr>
          <a:lstStyle/>
          <a:p>
            <a:r>
              <a:rPr lang="en-US" dirty="0"/>
              <a:t>Extension questions:</a:t>
            </a:r>
          </a:p>
          <a:p>
            <a:pPr marL="342900" indent="-342900">
              <a:buAutoNum type="arabicPeriod"/>
            </a:pPr>
            <a:r>
              <a:rPr lang="en-GB" dirty="0"/>
              <a:t>Which antiemetics are first line for vertigo?</a:t>
            </a:r>
          </a:p>
          <a:p>
            <a:pPr marL="342900" indent="-342900">
              <a:buAutoNum type="arabicPeriod"/>
            </a:pPr>
            <a:r>
              <a:rPr lang="en-GB" dirty="0"/>
              <a:t>Which antiemetics are used in palliative care?</a:t>
            </a:r>
          </a:p>
        </p:txBody>
      </p:sp>
    </p:spTree>
    <p:extLst>
      <p:ext uri="{BB962C8B-B14F-4D97-AF65-F5344CB8AC3E}">
        <p14:creationId xmlns:p14="http://schemas.microsoft.com/office/powerpoint/2010/main" val="26748503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A9B2B51C-0366-C44D-9C3D-FFBE57321895}"/>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3937C5A9-89ED-CB4B-9C01-2AD453B267DD}"/>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2" name="TextBox 21">
            <a:extLst>
              <a:ext uri="{FF2B5EF4-FFF2-40B4-BE49-F238E27FC236}">
                <a16:creationId xmlns:a16="http://schemas.microsoft.com/office/drawing/2014/main" id="{816E2B99-A967-A64C-A5EA-32B8CA22E068}"/>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4AD00EF1-D107-C945-B9B6-1ED04D632231}"/>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22747E27-205C-5040-8F44-9796E7895E19}"/>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6" name="TextBox 15">
            <a:extLst>
              <a:ext uri="{FF2B5EF4-FFF2-40B4-BE49-F238E27FC236}">
                <a16:creationId xmlns:a16="http://schemas.microsoft.com/office/drawing/2014/main" id="{6E317694-1966-BE48-93BC-0B3A05CDFD3C}"/>
              </a:ext>
            </a:extLst>
          </p:cNvPr>
          <p:cNvSpPr txBox="1"/>
          <p:nvPr/>
        </p:nvSpPr>
        <p:spPr>
          <a:xfrm>
            <a:off x="185738" y="900112"/>
            <a:ext cx="5815012" cy="3139321"/>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26-year-old-man is on the surgical ward with recurrent PR bleeding. He had a severe episode of bleeding causing loss of consciousness on the surgical ward. A met call was put out and 4 units of blood transfused rapidly. The following day he reports numbness of his lower legs and palpitations. </a:t>
            </a:r>
            <a:r>
              <a:rPr lang="en-US" b="1" dirty="0"/>
              <a:t>PMH.</a:t>
            </a:r>
            <a:r>
              <a:rPr lang="en-US" dirty="0"/>
              <a:t> Nil. </a:t>
            </a:r>
            <a:r>
              <a:rPr lang="en-US" b="1" dirty="0"/>
              <a:t>DH.</a:t>
            </a:r>
            <a:r>
              <a:rPr lang="en-US" dirty="0"/>
              <a:t> Nil. </a:t>
            </a:r>
          </a:p>
          <a:p>
            <a:r>
              <a:rPr lang="en-US" b="1" dirty="0"/>
              <a:t>Investigations</a:t>
            </a:r>
          </a:p>
          <a:p>
            <a:r>
              <a:rPr lang="en-US" dirty="0"/>
              <a:t>Hb 105, Na 142 (137-144), K 4.5 (3.5-5.3), U 4.3 (2.5-7.0), Cr 196 (60-110), eGFR 40 (&gt;60), Ca 1.2 (2.2-2.6), capillary glucose 4.6. ECG shows prolonged QT.</a:t>
            </a:r>
          </a:p>
        </p:txBody>
      </p:sp>
      <p:sp>
        <p:nvSpPr>
          <p:cNvPr id="19" name="TextBox 18">
            <a:extLst>
              <a:ext uri="{FF2B5EF4-FFF2-40B4-BE49-F238E27FC236}">
                <a16:creationId xmlns:a16="http://schemas.microsoft.com/office/drawing/2014/main" id="{70555914-5FFF-D148-BA5E-1A0E369D6ED3}"/>
              </a:ext>
            </a:extLst>
          </p:cNvPr>
          <p:cNvSpPr txBox="1"/>
          <p:nvPr/>
        </p:nvSpPr>
        <p:spPr>
          <a:xfrm>
            <a:off x="185738" y="4237917"/>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prescribe acutely. </a:t>
            </a:r>
          </a:p>
          <a:p>
            <a:r>
              <a:rPr lang="en-US" i="1" dirty="0"/>
              <a:t>(use the ‘once-only medicines’ prescription form provided)</a:t>
            </a:r>
          </a:p>
        </p:txBody>
      </p:sp>
      <p:sp>
        <p:nvSpPr>
          <p:cNvPr id="21" name="TextBox 20">
            <a:extLst>
              <a:ext uri="{FF2B5EF4-FFF2-40B4-BE49-F238E27FC236}">
                <a16:creationId xmlns:a16="http://schemas.microsoft.com/office/drawing/2014/main" id="{7246C141-4EFA-094C-ACD1-6589B5EB8F0E}"/>
              </a:ext>
            </a:extLst>
          </p:cNvPr>
          <p:cNvSpPr txBox="1"/>
          <p:nvPr/>
        </p:nvSpPr>
        <p:spPr>
          <a:xfrm>
            <a:off x="6191249" y="5302633"/>
            <a:ext cx="5815012" cy="1477328"/>
          </a:xfrm>
          <a:prstGeom prst="rect">
            <a:avLst/>
          </a:prstGeom>
          <a:noFill/>
        </p:spPr>
        <p:txBody>
          <a:bodyPr wrap="square" rtlCol="0">
            <a:spAutoFit/>
          </a:bodyPr>
          <a:lstStyle/>
          <a:p>
            <a:r>
              <a:rPr lang="en-US" dirty="0"/>
              <a:t>Extension questions:</a:t>
            </a:r>
          </a:p>
          <a:p>
            <a:pPr marL="342900" indent="-342900">
              <a:buAutoNum type="arabicPeriod"/>
            </a:pPr>
            <a:r>
              <a:rPr lang="en-GB" dirty="0"/>
              <a:t>Given the likely diagnosis, what are the common symptoms and signs?</a:t>
            </a:r>
          </a:p>
          <a:p>
            <a:pPr marL="342900" indent="-342900">
              <a:buAutoNum type="arabicPeriod"/>
            </a:pPr>
            <a:r>
              <a:rPr lang="en-GB" dirty="0"/>
              <a:t>Given the likely diagnosis, what is the cause?</a:t>
            </a:r>
          </a:p>
          <a:p>
            <a:pPr marL="342900" indent="-342900">
              <a:buFontTx/>
              <a:buAutoNum type="arabicPeriod"/>
            </a:pPr>
            <a:endParaRPr lang="en-GB" dirty="0"/>
          </a:p>
        </p:txBody>
      </p:sp>
    </p:spTree>
    <p:extLst>
      <p:ext uri="{BB962C8B-B14F-4D97-AF65-F5344CB8AC3E}">
        <p14:creationId xmlns:p14="http://schemas.microsoft.com/office/powerpoint/2010/main" val="28726836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B7CC3-8C81-64EE-2901-73BCE5AA86F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043C179-7B83-2120-B8A4-87722C6337C9}"/>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F940A02D-B2EC-BF46-04E8-1248E886893B}"/>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B9139148-2720-1AC3-4EEB-B3A21B450C20}"/>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3E49A1A5-9945-6D72-E420-719FDED58E7A}"/>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272F4D98-F1CE-08F2-FFD2-98DE8082CF07}"/>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14B89C47-8882-D03F-8D9A-6EE6A074E0E0}"/>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2" name="TextBox 21">
            <a:extLst>
              <a:ext uri="{FF2B5EF4-FFF2-40B4-BE49-F238E27FC236}">
                <a16:creationId xmlns:a16="http://schemas.microsoft.com/office/drawing/2014/main" id="{A39D9DB1-9B98-35F6-465A-39BA0DBF0E99}"/>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16805292-7330-F4D6-3E69-D796ADE6EAE8}"/>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F5CDFFC2-8699-2D7C-AEB0-1697F36ABB4A}"/>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6" name="TextBox 15">
            <a:extLst>
              <a:ext uri="{FF2B5EF4-FFF2-40B4-BE49-F238E27FC236}">
                <a16:creationId xmlns:a16="http://schemas.microsoft.com/office/drawing/2014/main" id="{CA9517F4-A722-B2BA-0E32-ED1C8338E4A8}"/>
              </a:ext>
            </a:extLst>
          </p:cNvPr>
          <p:cNvSpPr txBox="1"/>
          <p:nvPr/>
        </p:nvSpPr>
        <p:spPr>
          <a:xfrm>
            <a:off x="185738" y="900112"/>
            <a:ext cx="5815012" cy="3139321"/>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26-year-old-man is on the surgical ward with recurrent </a:t>
            </a:r>
            <a:r>
              <a:rPr lang="en-US" dirty="0">
                <a:highlight>
                  <a:srgbClr val="CBF2CA"/>
                </a:highlight>
              </a:rPr>
              <a:t>PR</a:t>
            </a:r>
            <a:r>
              <a:rPr lang="en-US" dirty="0"/>
              <a:t> </a:t>
            </a:r>
            <a:r>
              <a:rPr lang="en-US" dirty="0">
                <a:highlight>
                  <a:srgbClr val="CBF2CA"/>
                </a:highlight>
              </a:rPr>
              <a:t>bleeding</a:t>
            </a:r>
            <a:r>
              <a:rPr lang="en-US" dirty="0"/>
              <a:t>. He had a severe episode of bleeding causing loss of consciousness on the surgical ward. A met call was put out and </a:t>
            </a:r>
            <a:r>
              <a:rPr lang="en-US" dirty="0">
                <a:highlight>
                  <a:srgbClr val="CBF2CA"/>
                </a:highlight>
              </a:rPr>
              <a:t>4 units of blood transfused rapidly</a:t>
            </a:r>
            <a:r>
              <a:rPr lang="en-US" dirty="0"/>
              <a:t>. The following day he reports </a:t>
            </a:r>
            <a:r>
              <a:rPr lang="en-US" dirty="0">
                <a:highlight>
                  <a:srgbClr val="00FF00"/>
                </a:highlight>
              </a:rPr>
              <a:t>numbness of his lower legs and palpitations</a:t>
            </a:r>
            <a:r>
              <a:rPr lang="en-US" dirty="0"/>
              <a:t>. </a:t>
            </a:r>
            <a:r>
              <a:rPr lang="en-US" b="1" dirty="0"/>
              <a:t>PMH.</a:t>
            </a:r>
            <a:r>
              <a:rPr lang="en-US" dirty="0"/>
              <a:t> Nil. </a:t>
            </a:r>
            <a:r>
              <a:rPr lang="en-US" b="1" dirty="0"/>
              <a:t>DH.</a:t>
            </a:r>
            <a:r>
              <a:rPr lang="en-US" dirty="0"/>
              <a:t> Nil. </a:t>
            </a:r>
          </a:p>
          <a:p>
            <a:r>
              <a:rPr lang="en-US" b="1" dirty="0"/>
              <a:t>Investigations</a:t>
            </a:r>
          </a:p>
          <a:p>
            <a:r>
              <a:rPr lang="en-US" dirty="0"/>
              <a:t>Hb 105, Na 142 (137-144), K 4.5 (3.5-5.3), U 4.3 (2.5-7.0), Cr 196 (60-110), eGFR 40 (&gt;60), </a:t>
            </a:r>
            <a:r>
              <a:rPr lang="en-US" dirty="0">
                <a:highlight>
                  <a:srgbClr val="00FF00"/>
                </a:highlight>
              </a:rPr>
              <a:t>Ca 1.2</a:t>
            </a:r>
            <a:r>
              <a:rPr lang="en-US" dirty="0"/>
              <a:t> (2.2-2.6), capillary glucose 4.6. </a:t>
            </a:r>
            <a:r>
              <a:rPr lang="en-US" dirty="0">
                <a:highlight>
                  <a:srgbClr val="00FF00"/>
                </a:highlight>
              </a:rPr>
              <a:t>ECG shows prolonged QT</a:t>
            </a:r>
            <a:r>
              <a:rPr lang="en-US" dirty="0"/>
              <a:t>.</a:t>
            </a:r>
          </a:p>
        </p:txBody>
      </p:sp>
      <p:sp>
        <p:nvSpPr>
          <p:cNvPr id="19" name="TextBox 18">
            <a:extLst>
              <a:ext uri="{FF2B5EF4-FFF2-40B4-BE49-F238E27FC236}">
                <a16:creationId xmlns:a16="http://schemas.microsoft.com/office/drawing/2014/main" id="{E426DF10-3EF9-D5DD-D8A9-52D68B4165E8}"/>
              </a:ext>
            </a:extLst>
          </p:cNvPr>
          <p:cNvSpPr txBox="1"/>
          <p:nvPr/>
        </p:nvSpPr>
        <p:spPr>
          <a:xfrm>
            <a:off x="185738" y="4237917"/>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a:t>
            </a:r>
            <a:r>
              <a:rPr lang="en-US" dirty="0">
                <a:highlight>
                  <a:srgbClr val="00FF00"/>
                </a:highlight>
              </a:rPr>
              <a:t>prescribe acutely</a:t>
            </a:r>
            <a:r>
              <a:rPr lang="en-US" dirty="0"/>
              <a:t>. </a:t>
            </a:r>
          </a:p>
          <a:p>
            <a:r>
              <a:rPr lang="en-US" i="1" dirty="0"/>
              <a:t>(use the ‘once-only medicines’ prescription form provided)</a:t>
            </a:r>
          </a:p>
        </p:txBody>
      </p:sp>
      <p:sp>
        <p:nvSpPr>
          <p:cNvPr id="21" name="TextBox 20">
            <a:extLst>
              <a:ext uri="{FF2B5EF4-FFF2-40B4-BE49-F238E27FC236}">
                <a16:creationId xmlns:a16="http://schemas.microsoft.com/office/drawing/2014/main" id="{51A076A0-6A32-F5FF-8DFF-AF5DE951AD92}"/>
              </a:ext>
            </a:extLst>
          </p:cNvPr>
          <p:cNvSpPr txBox="1"/>
          <p:nvPr/>
        </p:nvSpPr>
        <p:spPr>
          <a:xfrm>
            <a:off x="6191249" y="5302633"/>
            <a:ext cx="5815012" cy="1477328"/>
          </a:xfrm>
          <a:prstGeom prst="rect">
            <a:avLst/>
          </a:prstGeom>
          <a:noFill/>
        </p:spPr>
        <p:txBody>
          <a:bodyPr wrap="square" rtlCol="0">
            <a:spAutoFit/>
          </a:bodyPr>
          <a:lstStyle/>
          <a:p>
            <a:r>
              <a:rPr lang="en-US" dirty="0"/>
              <a:t>Extension questions:</a:t>
            </a:r>
          </a:p>
          <a:p>
            <a:pPr marL="342900" indent="-342900">
              <a:buAutoNum type="arabicPeriod"/>
            </a:pPr>
            <a:r>
              <a:rPr lang="en-GB" dirty="0"/>
              <a:t>Given the likely diagnosis, what are the common symptoms and signs?</a:t>
            </a:r>
          </a:p>
          <a:p>
            <a:pPr marL="342900" indent="-342900">
              <a:buAutoNum type="arabicPeriod"/>
            </a:pPr>
            <a:r>
              <a:rPr lang="en-GB" dirty="0"/>
              <a:t>Given the likely diagnosis, what is the cause?</a:t>
            </a:r>
          </a:p>
          <a:p>
            <a:pPr marL="342900" indent="-342900">
              <a:buFontTx/>
              <a:buAutoNum type="arabicPeriod"/>
            </a:pPr>
            <a:endParaRPr lang="en-GB" dirty="0"/>
          </a:p>
        </p:txBody>
      </p:sp>
    </p:spTree>
    <p:extLst>
      <p:ext uri="{BB962C8B-B14F-4D97-AF65-F5344CB8AC3E}">
        <p14:creationId xmlns:p14="http://schemas.microsoft.com/office/powerpoint/2010/main" val="26045647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A9B2B51C-0366-C44D-9C3D-FFBE57321895}"/>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3937C5A9-89ED-CB4B-9C01-2AD453B267DD}"/>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2" name="TextBox 21">
            <a:extLst>
              <a:ext uri="{FF2B5EF4-FFF2-40B4-BE49-F238E27FC236}">
                <a16:creationId xmlns:a16="http://schemas.microsoft.com/office/drawing/2014/main" id="{816E2B99-A967-A64C-A5EA-32B8CA22E068}"/>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4AD00EF1-D107-C945-B9B6-1ED04D632231}"/>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22747E27-205C-5040-8F44-9796E7895E19}"/>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6" name="TextBox 15">
            <a:extLst>
              <a:ext uri="{FF2B5EF4-FFF2-40B4-BE49-F238E27FC236}">
                <a16:creationId xmlns:a16="http://schemas.microsoft.com/office/drawing/2014/main" id="{6E317694-1966-BE48-93BC-0B3A05CDFD3C}"/>
              </a:ext>
            </a:extLst>
          </p:cNvPr>
          <p:cNvSpPr txBox="1"/>
          <p:nvPr/>
        </p:nvSpPr>
        <p:spPr>
          <a:xfrm>
            <a:off x="185738" y="900112"/>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91-year-old man is admitted to hospital a fall at home. He was found by his son and a long lie suspected. Weight 76kg. </a:t>
            </a:r>
            <a:r>
              <a:rPr lang="en-US" b="1" dirty="0"/>
              <a:t>PMH.</a:t>
            </a:r>
            <a:r>
              <a:rPr lang="en-US" dirty="0"/>
              <a:t> Benign prostatic hypertrophy. </a:t>
            </a:r>
            <a:r>
              <a:rPr lang="en-US" b="1" dirty="0"/>
              <a:t>DH. </a:t>
            </a:r>
            <a:r>
              <a:rPr lang="en-US" dirty="0"/>
              <a:t>Finasteride 5mg PO once daily, tamsulosin 400mcg PO once daily. </a:t>
            </a:r>
          </a:p>
          <a:p>
            <a:r>
              <a:rPr lang="en-US" b="1" dirty="0"/>
              <a:t>On examination </a:t>
            </a:r>
          </a:p>
          <a:p>
            <a:r>
              <a:rPr lang="en-US" dirty="0"/>
              <a:t>Airway patent, drowsy but rousable. </a:t>
            </a:r>
            <a:r>
              <a:rPr lang="en-US" dirty="0" err="1"/>
              <a:t>Sats</a:t>
            </a:r>
            <a:r>
              <a:rPr lang="en-US" dirty="0"/>
              <a:t> 96% on RA, RR 18, chest clear. BP 156/102, HR 86 and regular, HS I+II+ESM, cap refill 2s. T 37.4, PEARL, GCS 14, capillary glucose 4.6. </a:t>
            </a:r>
            <a:r>
              <a:rPr lang="en-US" b="1" dirty="0"/>
              <a:t>Investigations</a:t>
            </a:r>
          </a:p>
          <a:p>
            <a:r>
              <a:rPr lang="en-US" dirty="0"/>
              <a:t>Na 139 (137-144), K 6.7 (3.5-5.3), U 5.8 (2.5-7.0), Cr 190 (60-110), eGFR 45 (&gt;60), CK 10032. ECG shows absent P waves, prolonged QRS and peaked T waves.</a:t>
            </a:r>
          </a:p>
        </p:txBody>
      </p:sp>
      <p:sp>
        <p:nvSpPr>
          <p:cNvPr id="19" name="TextBox 18">
            <a:extLst>
              <a:ext uri="{FF2B5EF4-FFF2-40B4-BE49-F238E27FC236}">
                <a16:creationId xmlns:a16="http://schemas.microsoft.com/office/drawing/2014/main" id="{70555914-5FFF-D148-BA5E-1A0E369D6ED3}"/>
              </a:ext>
            </a:extLst>
          </p:cNvPr>
          <p:cNvSpPr txBox="1"/>
          <p:nvPr/>
        </p:nvSpPr>
        <p:spPr>
          <a:xfrm>
            <a:off x="185736" y="4791915"/>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prescribe acutely. </a:t>
            </a:r>
          </a:p>
          <a:p>
            <a:r>
              <a:rPr lang="en-US" i="1" dirty="0"/>
              <a:t>(use the ‘once-only medicines’ prescription form provided)</a:t>
            </a:r>
          </a:p>
        </p:txBody>
      </p:sp>
      <p:sp>
        <p:nvSpPr>
          <p:cNvPr id="15" name="TextBox 14">
            <a:extLst>
              <a:ext uri="{FF2B5EF4-FFF2-40B4-BE49-F238E27FC236}">
                <a16:creationId xmlns:a16="http://schemas.microsoft.com/office/drawing/2014/main" id="{505ED07B-3015-A145-B5F1-DA324D1EB976}"/>
              </a:ext>
            </a:extLst>
          </p:cNvPr>
          <p:cNvSpPr txBox="1"/>
          <p:nvPr/>
        </p:nvSpPr>
        <p:spPr>
          <a:xfrm>
            <a:off x="6191249" y="5241687"/>
            <a:ext cx="5815012" cy="1754326"/>
          </a:xfrm>
          <a:prstGeom prst="rect">
            <a:avLst/>
          </a:prstGeom>
          <a:noFill/>
        </p:spPr>
        <p:txBody>
          <a:bodyPr wrap="square" rtlCol="0">
            <a:spAutoFit/>
          </a:bodyPr>
          <a:lstStyle/>
          <a:p>
            <a:r>
              <a:rPr lang="en-US" dirty="0"/>
              <a:t>Extension questions:</a:t>
            </a:r>
          </a:p>
          <a:p>
            <a:pPr marL="342900" indent="-342900">
              <a:buAutoNum type="arabicPeriod"/>
            </a:pPr>
            <a:r>
              <a:rPr lang="en-GB" dirty="0"/>
              <a:t>Given the likely diagnosis, what are the common symptoms and signs?</a:t>
            </a:r>
          </a:p>
          <a:p>
            <a:pPr marL="342900" indent="-342900">
              <a:buAutoNum type="arabicPeriod"/>
            </a:pPr>
            <a:r>
              <a:rPr lang="en-GB" dirty="0"/>
              <a:t>Given the likely diagnosis, what is the cause?</a:t>
            </a:r>
          </a:p>
          <a:p>
            <a:pPr marL="342900" indent="-342900">
              <a:buAutoNum type="arabicPeriod"/>
            </a:pPr>
            <a:r>
              <a:rPr lang="en-GB" dirty="0"/>
              <a:t>What could contribute to the patient falling?</a:t>
            </a:r>
          </a:p>
          <a:p>
            <a:pPr marL="342900" indent="-342900">
              <a:buFontTx/>
              <a:buAutoNum type="arabicPeriod"/>
            </a:pPr>
            <a:endParaRPr lang="en-GB" dirty="0"/>
          </a:p>
        </p:txBody>
      </p:sp>
    </p:spTree>
    <p:extLst>
      <p:ext uri="{BB962C8B-B14F-4D97-AF65-F5344CB8AC3E}">
        <p14:creationId xmlns:p14="http://schemas.microsoft.com/office/powerpoint/2010/main" val="3488484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7745B-C9EB-741E-7614-23B4B83AE09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E6C41DC-F0A8-CED2-C706-5C7A5D034FB0}"/>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5CEFCDB5-5A01-7258-7918-ABAF3B210C45}"/>
              </a:ext>
            </a:extLst>
          </p:cNvPr>
          <p:cNvPicPr>
            <a:picLocks noChangeAspect="1"/>
          </p:cNvPicPr>
          <p:nvPr/>
        </p:nvPicPr>
        <p:blipFill>
          <a:blip r:embed="rId4"/>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03A1CAC4-1C75-D824-7EE9-D93DB6EE2B97}"/>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1A471DCA-DF57-0922-163E-D2D94793AAF5}"/>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49DFA458-78C0-FB42-5270-0DA43639379B}"/>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09F66ABB-547E-00DE-D357-91E0CEEAF5B4}"/>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2" name="TextBox 21">
            <a:extLst>
              <a:ext uri="{FF2B5EF4-FFF2-40B4-BE49-F238E27FC236}">
                <a16:creationId xmlns:a16="http://schemas.microsoft.com/office/drawing/2014/main" id="{7647F790-67FF-D046-5BE1-9F0404E31558}"/>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84FFABA3-79E9-62F6-AD13-7B702B9C9E38}"/>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CFD26CF5-F427-5886-2F04-1B19E7AE1E3C}"/>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6" name="TextBox 15">
            <a:extLst>
              <a:ext uri="{FF2B5EF4-FFF2-40B4-BE49-F238E27FC236}">
                <a16:creationId xmlns:a16="http://schemas.microsoft.com/office/drawing/2014/main" id="{CA9BC92D-7B53-C52E-478E-D792F6F41097}"/>
              </a:ext>
            </a:extLst>
          </p:cNvPr>
          <p:cNvSpPr txBox="1"/>
          <p:nvPr/>
        </p:nvSpPr>
        <p:spPr>
          <a:xfrm>
            <a:off x="185738" y="900112"/>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91-year-old man is admitted to hospital a </a:t>
            </a:r>
            <a:r>
              <a:rPr lang="en-US" dirty="0">
                <a:highlight>
                  <a:srgbClr val="CBF2CA"/>
                </a:highlight>
              </a:rPr>
              <a:t>fall</a:t>
            </a:r>
            <a:r>
              <a:rPr lang="en-US" dirty="0"/>
              <a:t> at home. He was found by his son and a </a:t>
            </a:r>
            <a:r>
              <a:rPr lang="en-US" dirty="0">
                <a:highlight>
                  <a:srgbClr val="CBF2CA"/>
                </a:highlight>
              </a:rPr>
              <a:t>long lie</a:t>
            </a:r>
            <a:r>
              <a:rPr lang="en-US" dirty="0"/>
              <a:t> suspected. Weight 76kg. </a:t>
            </a:r>
            <a:r>
              <a:rPr lang="en-US" b="1" dirty="0"/>
              <a:t>PMH.</a:t>
            </a:r>
            <a:r>
              <a:rPr lang="en-US" dirty="0"/>
              <a:t> Benign prostatic hypertrophy. </a:t>
            </a:r>
            <a:r>
              <a:rPr lang="en-US" b="1" dirty="0"/>
              <a:t>DH. </a:t>
            </a:r>
            <a:r>
              <a:rPr lang="en-US" dirty="0"/>
              <a:t>Finasteride 5mg PO once daily, </a:t>
            </a:r>
            <a:r>
              <a:rPr lang="en-US" dirty="0">
                <a:highlight>
                  <a:srgbClr val="CBF2CA"/>
                </a:highlight>
              </a:rPr>
              <a:t>tamsulosin</a:t>
            </a:r>
            <a:r>
              <a:rPr lang="en-US" dirty="0"/>
              <a:t> 400mcg PO once daily. </a:t>
            </a:r>
          </a:p>
          <a:p>
            <a:r>
              <a:rPr lang="en-US" b="1" dirty="0"/>
              <a:t>On examination </a:t>
            </a:r>
          </a:p>
          <a:p>
            <a:r>
              <a:rPr lang="en-US" dirty="0"/>
              <a:t>Airway patent, drowsy but rousable. </a:t>
            </a:r>
            <a:r>
              <a:rPr lang="en-US" dirty="0" err="1"/>
              <a:t>Sats</a:t>
            </a:r>
            <a:r>
              <a:rPr lang="en-US" dirty="0"/>
              <a:t> 96% on RA, RR 18, chest clear. BP 156/102, HR 86 and regular, HS I+II+ESM, cap refill 2s. T 37.4, PEARL, GCS 14, capillary glucose 4.6. </a:t>
            </a:r>
            <a:r>
              <a:rPr lang="en-US" b="1" dirty="0"/>
              <a:t>Investigations</a:t>
            </a:r>
          </a:p>
          <a:p>
            <a:r>
              <a:rPr lang="en-US" dirty="0"/>
              <a:t>Na 139 (137-144), </a:t>
            </a:r>
            <a:r>
              <a:rPr lang="en-US" dirty="0">
                <a:highlight>
                  <a:srgbClr val="00FF00"/>
                </a:highlight>
              </a:rPr>
              <a:t>K 6.7 (3.5-5.3)</a:t>
            </a:r>
            <a:r>
              <a:rPr lang="en-US" dirty="0"/>
              <a:t>, </a:t>
            </a:r>
            <a:r>
              <a:rPr lang="en-US" dirty="0">
                <a:highlight>
                  <a:srgbClr val="CBF2CA"/>
                </a:highlight>
              </a:rPr>
              <a:t>U 5.8 (2.5-7.0), Cr 190 (60-110), eGFR 45 (&gt;60), CK 10032</a:t>
            </a:r>
            <a:r>
              <a:rPr lang="en-US" dirty="0"/>
              <a:t>. </a:t>
            </a:r>
            <a:r>
              <a:rPr lang="en-US" dirty="0">
                <a:highlight>
                  <a:srgbClr val="00FF00"/>
                </a:highlight>
              </a:rPr>
              <a:t>ECG shows absent P waves, prolonged QRS and peaked T waves</a:t>
            </a:r>
            <a:r>
              <a:rPr lang="en-US" dirty="0"/>
              <a:t>.</a:t>
            </a:r>
          </a:p>
        </p:txBody>
      </p:sp>
      <p:sp>
        <p:nvSpPr>
          <p:cNvPr id="19" name="TextBox 18">
            <a:extLst>
              <a:ext uri="{FF2B5EF4-FFF2-40B4-BE49-F238E27FC236}">
                <a16:creationId xmlns:a16="http://schemas.microsoft.com/office/drawing/2014/main" id="{D2DB02D6-1C8E-C597-FAEC-BD02B19C0144}"/>
              </a:ext>
            </a:extLst>
          </p:cNvPr>
          <p:cNvSpPr txBox="1"/>
          <p:nvPr/>
        </p:nvSpPr>
        <p:spPr>
          <a:xfrm>
            <a:off x="185736" y="4791915"/>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prescribe acutely. </a:t>
            </a:r>
          </a:p>
          <a:p>
            <a:r>
              <a:rPr lang="en-US" i="1" dirty="0"/>
              <a:t>(use the ‘once-only medicines’ prescription form provided)</a:t>
            </a:r>
          </a:p>
        </p:txBody>
      </p:sp>
      <p:sp>
        <p:nvSpPr>
          <p:cNvPr id="15" name="TextBox 14">
            <a:extLst>
              <a:ext uri="{FF2B5EF4-FFF2-40B4-BE49-F238E27FC236}">
                <a16:creationId xmlns:a16="http://schemas.microsoft.com/office/drawing/2014/main" id="{567A1A07-DB92-CB7B-0985-BBD97D7225C1}"/>
              </a:ext>
            </a:extLst>
          </p:cNvPr>
          <p:cNvSpPr txBox="1"/>
          <p:nvPr/>
        </p:nvSpPr>
        <p:spPr>
          <a:xfrm>
            <a:off x="6191249" y="5241687"/>
            <a:ext cx="5815012" cy="1754326"/>
          </a:xfrm>
          <a:prstGeom prst="rect">
            <a:avLst/>
          </a:prstGeom>
          <a:noFill/>
        </p:spPr>
        <p:txBody>
          <a:bodyPr wrap="square" rtlCol="0">
            <a:spAutoFit/>
          </a:bodyPr>
          <a:lstStyle/>
          <a:p>
            <a:r>
              <a:rPr lang="en-US" dirty="0"/>
              <a:t>Extension questions:</a:t>
            </a:r>
          </a:p>
          <a:p>
            <a:pPr marL="342900" indent="-342900">
              <a:buAutoNum type="arabicPeriod"/>
            </a:pPr>
            <a:r>
              <a:rPr lang="en-GB" dirty="0"/>
              <a:t>Given the likely diagnosis, what are the common symptoms and signs?</a:t>
            </a:r>
          </a:p>
          <a:p>
            <a:pPr marL="342900" indent="-342900">
              <a:buAutoNum type="arabicPeriod"/>
            </a:pPr>
            <a:r>
              <a:rPr lang="en-GB" dirty="0"/>
              <a:t>Given the likely diagnosis, what is the cause?</a:t>
            </a:r>
          </a:p>
          <a:p>
            <a:pPr marL="342900" indent="-342900">
              <a:buAutoNum type="arabicPeriod"/>
            </a:pPr>
            <a:r>
              <a:rPr lang="en-GB" dirty="0"/>
              <a:t>What could contribute to the patient falling?</a:t>
            </a:r>
          </a:p>
          <a:p>
            <a:pPr marL="342900" indent="-342900">
              <a:buFontTx/>
              <a:buAutoNum type="arabicPeriod"/>
            </a:pPr>
            <a:endParaRPr lang="en-GB" dirty="0"/>
          </a:p>
        </p:txBody>
      </p:sp>
    </p:spTree>
    <p:extLst>
      <p:ext uri="{BB962C8B-B14F-4D97-AF65-F5344CB8AC3E}">
        <p14:creationId xmlns:p14="http://schemas.microsoft.com/office/powerpoint/2010/main" val="14746661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pic>
        <p:nvPicPr>
          <p:cNvPr id="474" name="Google Shape;474;p42"/>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475" name="Google Shape;475;p42"/>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891465" y="38279"/>
            <a:ext cx="4157661" cy="643736"/>
          </a:xfrm>
          <a:prstGeom prst="rect">
            <a:avLst/>
          </a:prstGeom>
          <a:noFill/>
          <a:ln>
            <a:noFill/>
          </a:ln>
        </p:spPr>
      </p:pic>
      <p:sp>
        <p:nvSpPr>
          <p:cNvPr id="476" name="Google Shape;476;p42"/>
          <p:cNvSpPr txBox="1"/>
          <p:nvPr/>
        </p:nvSpPr>
        <p:spPr>
          <a:xfrm>
            <a:off x="185738" y="257178"/>
            <a:ext cx="1985962" cy="353943"/>
          </a:xfrm>
          <a:prstGeom prst="rect">
            <a:avLst/>
          </a:prstGeom>
          <a:solidFill>
            <a:srgbClr val="1556C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Prescription review</a:t>
            </a:r>
            <a:endParaRPr sz="1400" b="0" i="0" u="none" strike="noStrike" cap="none">
              <a:solidFill>
                <a:srgbClr val="000000"/>
              </a:solidFill>
              <a:latin typeface="Arial"/>
              <a:ea typeface="Arial"/>
              <a:cs typeface="Arial"/>
              <a:sym typeface="Arial"/>
            </a:endParaRPr>
          </a:p>
        </p:txBody>
      </p:sp>
      <p:sp>
        <p:nvSpPr>
          <p:cNvPr id="477" name="Google Shape;477;p42"/>
          <p:cNvSpPr txBox="1"/>
          <p:nvPr/>
        </p:nvSpPr>
        <p:spPr>
          <a:xfrm>
            <a:off x="2171700" y="25679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4 marks</a:t>
            </a:r>
            <a:endParaRPr sz="1400" b="0" i="0" u="none" strike="noStrike" cap="none">
              <a:solidFill>
                <a:srgbClr val="000000"/>
              </a:solidFill>
              <a:latin typeface="Arial"/>
              <a:ea typeface="Arial"/>
              <a:cs typeface="Arial"/>
              <a:sym typeface="Arial"/>
            </a:endParaRPr>
          </a:p>
        </p:txBody>
      </p:sp>
      <p:sp>
        <p:nvSpPr>
          <p:cNvPr id="478" name="Google Shape;478;p42"/>
          <p:cNvSpPr txBox="1"/>
          <p:nvPr/>
        </p:nvSpPr>
        <p:spPr>
          <a:xfrm>
            <a:off x="6191252" y="898144"/>
            <a:ext cx="5815012" cy="4031873"/>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CURRENT PRESCRIPTIONS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chemeClr val="dk1"/>
              </a:solidFill>
              <a:latin typeface="Calibri"/>
              <a:ea typeface="Calibri"/>
              <a:cs typeface="Calibri"/>
              <a:sym typeface="Calibri"/>
            </a:endParaRPr>
          </a:p>
        </p:txBody>
      </p:sp>
      <p:sp>
        <p:nvSpPr>
          <p:cNvPr id="479" name="Google Shape;479;p42"/>
          <p:cNvSpPr txBox="1"/>
          <p:nvPr/>
        </p:nvSpPr>
        <p:spPr>
          <a:xfrm>
            <a:off x="6191250" y="5219091"/>
            <a:ext cx="5814900" cy="1385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A: Levothyroxine sodium – units error, dose should be in mcg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Alendronic acid – frequency error, should be daily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Simvastatin  – frequency error, should be nightly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Prednisolone – frequency error, should be daily (i.e. OM not ON)</a:t>
            </a:r>
            <a:endParaRPr sz="1400" b="0" i="0" u="none" strike="noStrike" cap="none">
              <a:solidFill>
                <a:srgbClr val="000000"/>
              </a:solidFill>
              <a:latin typeface="Arial"/>
              <a:ea typeface="Arial"/>
              <a:cs typeface="Arial"/>
              <a:sym typeface="Arial"/>
            </a:endParaRPr>
          </a:p>
        </p:txBody>
      </p:sp>
      <p:sp>
        <p:nvSpPr>
          <p:cNvPr id="480" name="Google Shape;480;p42"/>
          <p:cNvSpPr txBox="1"/>
          <p:nvPr/>
        </p:nvSpPr>
        <p:spPr>
          <a:xfrm>
            <a:off x="185736" y="904009"/>
            <a:ext cx="5815012" cy="2862323"/>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74-year-old man is on a medical ward following a fall at home. Weight 79kg. </a:t>
            </a:r>
            <a:r>
              <a:rPr lang="en-US" sz="1800" b="1" i="0" u="none" strike="noStrike" cap="none">
                <a:solidFill>
                  <a:schemeClr val="dk1"/>
                </a:solidFill>
                <a:latin typeface="Calibri"/>
                <a:ea typeface="Calibri"/>
                <a:cs typeface="Calibri"/>
                <a:sym typeface="Calibri"/>
              </a:rPr>
              <a:t>PMH. </a:t>
            </a:r>
            <a:r>
              <a:rPr lang="en-US" sz="1800" b="0" i="0" u="none" strike="noStrike" cap="none">
                <a:solidFill>
                  <a:schemeClr val="dk1"/>
                </a:solidFill>
                <a:latin typeface="Calibri"/>
                <a:ea typeface="Calibri"/>
                <a:cs typeface="Calibri"/>
                <a:sym typeface="Calibri"/>
              </a:rPr>
              <a:t>Hypertension, hypothyroidism, osteoporosis, polymyalgia rheumatica.</a:t>
            </a:r>
            <a:r>
              <a:rPr lang="en-US" sz="1800" b="1" i="0" u="none" strike="noStrike" cap="none">
                <a:solidFill>
                  <a:schemeClr val="dk1"/>
                </a:solidFill>
                <a:latin typeface="Calibri"/>
                <a:ea typeface="Calibri"/>
                <a:cs typeface="Calibri"/>
                <a:sym typeface="Calibri"/>
              </a:rPr>
              <a:t> DH. </a:t>
            </a:r>
            <a:r>
              <a:rPr lang="en-US" sz="1800" b="0" i="0" u="none" strike="noStrike" cap="none">
                <a:solidFill>
                  <a:schemeClr val="dk1"/>
                </a:solidFill>
                <a:latin typeface="Calibri"/>
                <a:ea typeface="Calibri"/>
                <a:cs typeface="Calibri"/>
                <a:sym typeface="Calibri"/>
              </a:rPr>
              <a:t>His current regular medications are listed (right).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Observations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Lying BP 135/78, standing BP 138/80, HR 76 regular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Investigations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Na 141 (137-144), K 4.1 (3.5-5.3), U 5.0 (2.5-7), Cr 100 (60-130), eGFR 56 (&gt;60)</a:t>
            </a:r>
            <a:endParaRPr sz="1400" b="0" i="0" u="none" strike="noStrike" cap="none">
              <a:solidFill>
                <a:srgbClr val="000000"/>
              </a:solidFill>
              <a:latin typeface="Arial"/>
              <a:ea typeface="Arial"/>
              <a:cs typeface="Arial"/>
              <a:sym typeface="Arial"/>
            </a:endParaRPr>
          </a:p>
        </p:txBody>
      </p:sp>
      <p:sp>
        <p:nvSpPr>
          <p:cNvPr id="481" name="Google Shape;481;p42"/>
          <p:cNvSpPr txBox="1"/>
          <p:nvPr/>
        </p:nvSpPr>
        <p:spPr>
          <a:xfrm>
            <a:off x="185736" y="3882056"/>
            <a:ext cx="5815012" cy="1200329"/>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ONE prescriptions that contains a serious dosing error.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A)</a:t>
            </a:r>
            <a:endParaRPr sz="1400" b="0" i="0" u="none" strike="noStrike" cap="none">
              <a:solidFill>
                <a:srgbClr val="000000"/>
              </a:solidFill>
              <a:latin typeface="Arial"/>
              <a:ea typeface="Arial"/>
              <a:cs typeface="Arial"/>
              <a:sym typeface="Arial"/>
            </a:endParaRPr>
          </a:p>
        </p:txBody>
      </p:sp>
      <p:sp>
        <p:nvSpPr>
          <p:cNvPr id="482" name="Google Shape;482;p42"/>
          <p:cNvSpPr txBox="1"/>
          <p:nvPr/>
        </p:nvSpPr>
        <p:spPr>
          <a:xfrm>
            <a:off x="185734" y="5207070"/>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THREE prescriptions that contains frequency errors.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B)</a:t>
            </a:r>
            <a:endParaRPr sz="1400" b="0" i="0" u="none" strike="noStrike" cap="none">
              <a:solidFill>
                <a:srgbClr val="000000"/>
              </a:solidFill>
              <a:latin typeface="Arial"/>
              <a:ea typeface="Arial"/>
              <a:cs typeface="Arial"/>
              <a:sym typeface="Arial"/>
            </a:endParaRPr>
          </a:p>
        </p:txBody>
      </p:sp>
      <p:graphicFrame>
        <p:nvGraphicFramePr>
          <p:cNvPr id="483" name="Google Shape;483;p42"/>
          <p:cNvGraphicFramePr/>
          <p:nvPr/>
        </p:nvGraphicFramePr>
        <p:xfrm>
          <a:off x="6304756" y="1276008"/>
          <a:ext cx="5588000" cy="3484970"/>
        </p:xfrm>
        <a:graphic>
          <a:graphicData uri="http://schemas.openxmlformats.org/drawingml/2006/table">
            <a:tbl>
              <a:tblPr firstRow="1" bandRow="1">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Medicine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Dose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Route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Frequency</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A</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amlodipine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alendronic acid</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weekly</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bisoprolol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colecalciferol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400 units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levothyroxine sodium</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125</a:t>
                      </a:r>
                      <a:r>
                        <a:rPr lang="en-US" sz="1400" u="none" strike="noStrike" cap="none">
                          <a:solidFill>
                            <a:srgbClr val="FF0000"/>
                          </a:solidFill>
                        </a:rPr>
                        <a:t>mg</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paracetamol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four times daily (6-hrly)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prednisolone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nightly</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simvastatin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daily</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484" name="Google Shape;484;p42"/>
          <p:cNvSpPr txBox="1"/>
          <p:nvPr/>
        </p:nvSpPr>
        <p:spPr>
          <a:xfrm>
            <a:off x="185734" y="6071608"/>
            <a:ext cx="1214437"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rgbClr val="000000"/>
                </a:solidFill>
                <a:latin typeface="Arial"/>
                <a:ea typeface="Arial"/>
                <a:cs typeface="Arial"/>
                <a:sym typeface="Arial"/>
              </a:rPr>
              <a:t>A1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pic>
        <p:nvPicPr>
          <p:cNvPr id="512" name="Google Shape;512;p45"/>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513" name="Google Shape;513;p45"/>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891465" y="38279"/>
            <a:ext cx="4157661" cy="643736"/>
          </a:xfrm>
          <a:prstGeom prst="rect">
            <a:avLst/>
          </a:prstGeom>
          <a:noFill/>
          <a:ln>
            <a:noFill/>
          </a:ln>
        </p:spPr>
      </p:pic>
      <p:sp>
        <p:nvSpPr>
          <p:cNvPr id="514" name="Google Shape;514;p45"/>
          <p:cNvSpPr txBox="1"/>
          <p:nvPr/>
        </p:nvSpPr>
        <p:spPr>
          <a:xfrm>
            <a:off x="185738" y="257178"/>
            <a:ext cx="1985962" cy="353943"/>
          </a:xfrm>
          <a:prstGeom prst="rect">
            <a:avLst/>
          </a:prstGeom>
          <a:solidFill>
            <a:srgbClr val="1556C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Prescription review</a:t>
            </a:r>
            <a:endParaRPr sz="1400" b="0" i="0" u="none" strike="noStrike" cap="none">
              <a:solidFill>
                <a:srgbClr val="000000"/>
              </a:solidFill>
              <a:latin typeface="Arial"/>
              <a:ea typeface="Arial"/>
              <a:cs typeface="Arial"/>
              <a:sym typeface="Arial"/>
            </a:endParaRPr>
          </a:p>
        </p:txBody>
      </p:sp>
      <p:sp>
        <p:nvSpPr>
          <p:cNvPr id="515" name="Google Shape;515;p45"/>
          <p:cNvSpPr txBox="1"/>
          <p:nvPr/>
        </p:nvSpPr>
        <p:spPr>
          <a:xfrm>
            <a:off x="2171700" y="25679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4 marks</a:t>
            </a:r>
            <a:endParaRPr sz="1400" b="0" i="0" u="none" strike="noStrike" cap="none">
              <a:solidFill>
                <a:srgbClr val="000000"/>
              </a:solidFill>
              <a:latin typeface="Arial"/>
              <a:ea typeface="Arial"/>
              <a:cs typeface="Arial"/>
              <a:sym typeface="Arial"/>
            </a:endParaRPr>
          </a:p>
        </p:txBody>
      </p:sp>
      <p:sp>
        <p:nvSpPr>
          <p:cNvPr id="516" name="Google Shape;516;p45"/>
          <p:cNvSpPr txBox="1"/>
          <p:nvPr/>
        </p:nvSpPr>
        <p:spPr>
          <a:xfrm>
            <a:off x="6191252" y="899730"/>
            <a:ext cx="5815012" cy="3816429"/>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CURRENT PRESCRIPTIONS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517" name="Google Shape;517;p45"/>
          <p:cNvSpPr txBox="1"/>
          <p:nvPr/>
        </p:nvSpPr>
        <p:spPr>
          <a:xfrm>
            <a:off x="185738" y="900112"/>
            <a:ext cx="5815012" cy="2308324"/>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An 86-year-old woman is on a medical ward following a fall at home. Weight 85kg. </a:t>
            </a:r>
            <a:r>
              <a:rPr lang="en-US" sz="1800" b="1" i="0" u="none" strike="noStrike" cap="none">
                <a:solidFill>
                  <a:schemeClr val="dk1"/>
                </a:solidFill>
                <a:latin typeface="Calibri"/>
                <a:ea typeface="Calibri"/>
                <a:cs typeface="Calibri"/>
                <a:sym typeface="Calibri"/>
              </a:rPr>
              <a:t>PMH. </a:t>
            </a:r>
            <a:r>
              <a:rPr lang="en-US" sz="1800" b="0" i="0" u="none" strike="noStrike" cap="none">
                <a:solidFill>
                  <a:schemeClr val="dk1"/>
                </a:solidFill>
                <a:latin typeface="Calibri"/>
                <a:ea typeface="Calibri"/>
                <a:cs typeface="Calibri"/>
                <a:sym typeface="Calibri"/>
              </a:rPr>
              <a:t>Acid reflux, hypertension, chronic pain, depression, vaginal candidiasis</a:t>
            </a:r>
            <a:r>
              <a:rPr lang="en-US" sz="1800" b="1" i="0" u="none" strike="noStrike" cap="none">
                <a:solidFill>
                  <a:schemeClr val="dk1"/>
                </a:solidFill>
                <a:latin typeface="Calibri"/>
                <a:ea typeface="Calibri"/>
                <a:cs typeface="Calibri"/>
                <a:sym typeface="Calibri"/>
              </a:rPr>
              <a:t>. DH. </a:t>
            </a:r>
            <a:r>
              <a:rPr lang="en-US" sz="1800" b="0" i="0" u="none" strike="noStrike" cap="none">
                <a:solidFill>
                  <a:schemeClr val="dk1"/>
                </a:solidFill>
                <a:latin typeface="Calibri"/>
                <a:ea typeface="Calibri"/>
                <a:cs typeface="Calibri"/>
                <a:sym typeface="Calibri"/>
              </a:rPr>
              <a:t>Her current regular medications are listed (right).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Investigations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Na 139 (137-144), K 5.1 (3.5-5.3), U 4.3 (2.5-7), Cr 109 (60-130), eGFR 62 (&gt;60)</a:t>
            </a:r>
            <a:endParaRPr sz="1400" b="0" i="0" u="none" strike="noStrike" cap="none">
              <a:solidFill>
                <a:srgbClr val="000000"/>
              </a:solidFill>
              <a:latin typeface="Arial"/>
              <a:ea typeface="Arial"/>
              <a:cs typeface="Arial"/>
              <a:sym typeface="Arial"/>
            </a:endParaRPr>
          </a:p>
        </p:txBody>
      </p:sp>
      <p:sp>
        <p:nvSpPr>
          <p:cNvPr id="518" name="Google Shape;518;p45"/>
          <p:cNvSpPr txBox="1"/>
          <p:nvPr/>
        </p:nvSpPr>
        <p:spPr>
          <a:xfrm>
            <a:off x="185736" y="3406920"/>
            <a:ext cx="5815012" cy="1200329"/>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THREE prescriptions that contain a serious dosing errors.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A)</a:t>
            </a:r>
            <a:endParaRPr sz="1400" b="0" i="0" u="none" strike="noStrike" cap="none">
              <a:solidFill>
                <a:srgbClr val="000000"/>
              </a:solidFill>
              <a:latin typeface="Arial"/>
              <a:ea typeface="Arial"/>
              <a:cs typeface="Arial"/>
              <a:sym typeface="Arial"/>
            </a:endParaRPr>
          </a:p>
        </p:txBody>
      </p:sp>
      <p:graphicFrame>
        <p:nvGraphicFramePr>
          <p:cNvPr id="519" name="Google Shape;519;p45"/>
          <p:cNvGraphicFramePr/>
          <p:nvPr/>
        </p:nvGraphicFramePr>
        <p:xfrm>
          <a:off x="6304756" y="1276008"/>
          <a:ext cx="5588000" cy="3337650"/>
        </p:xfrm>
        <a:graphic>
          <a:graphicData uri="http://schemas.openxmlformats.org/drawingml/2006/table">
            <a:tbl>
              <a:tblPr firstRow="1" bandRow="1">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Medicine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Dose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Route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Frequency</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A</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amlodipine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clotrimazole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nightly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escitalopram</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20mg</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gabapentin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twice 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nebivolol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25mg</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omeprazole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80mg</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pregabalin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once 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ramipril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520" name="Google Shape;520;p45"/>
          <p:cNvSpPr txBox="1"/>
          <p:nvPr/>
        </p:nvSpPr>
        <p:spPr>
          <a:xfrm>
            <a:off x="185736" y="4805733"/>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ONE prescription that contains a route error.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B)</a:t>
            </a:r>
            <a:endParaRPr sz="1400" b="0" i="0" u="none" strike="noStrike" cap="none">
              <a:solidFill>
                <a:srgbClr val="000000"/>
              </a:solidFill>
              <a:latin typeface="Arial"/>
              <a:ea typeface="Arial"/>
              <a:cs typeface="Arial"/>
              <a:sym typeface="Arial"/>
            </a:endParaRPr>
          </a:p>
        </p:txBody>
      </p:sp>
      <p:sp>
        <p:nvSpPr>
          <p:cNvPr id="521" name="Google Shape;521;p45"/>
          <p:cNvSpPr txBox="1"/>
          <p:nvPr/>
        </p:nvSpPr>
        <p:spPr>
          <a:xfrm>
            <a:off x="6191252" y="4914261"/>
            <a:ext cx="5815012"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escitalopram – maximum 10mg PO daily in elderly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nebivolol – 2.5mg or 5mg normal dose, this is x10</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omeprazole – 10mg normal dose for acid reflux, this dose is far too high and not indicated</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B: clotrimazole – this cannot be taken orally!</a:t>
            </a:r>
            <a:endParaRPr sz="1400" b="0" i="0" u="none" strike="noStrike" cap="none" dirty="0">
              <a:solidFill>
                <a:srgbClr val="000000"/>
              </a:solidFill>
              <a:latin typeface="Arial"/>
              <a:ea typeface="Arial"/>
              <a:cs typeface="Arial"/>
              <a:sym typeface="Arial"/>
            </a:endParaRPr>
          </a:p>
        </p:txBody>
      </p:sp>
      <p:sp>
        <p:nvSpPr>
          <p:cNvPr id="522" name="Google Shape;522;p45"/>
          <p:cNvSpPr txBox="1"/>
          <p:nvPr/>
        </p:nvSpPr>
        <p:spPr>
          <a:xfrm>
            <a:off x="185738" y="5948964"/>
            <a:ext cx="1214437"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rgbClr val="000000"/>
                </a:solidFill>
                <a:latin typeface="Arial"/>
                <a:ea typeface="Arial"/>
                <a:cs typeface="Arial"/>
                <a:sym typeface="Arial"/>
              </a:rPr>
              <a:t>A2</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8"/>
          <p:cNvSpPr txBox="1"/>
          <p:nvPr/>
        </p:nvSpPr>
        <p:spPr>
          <a:xfrm>
            <a:off x="6191252" y="899730"/>
            <a:ext cx="5815012" cy="4185721"/>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CURRENT PRESCRIPTIONS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p:txBody>
      </p:sp>
      <p:pic>
        <p:nvPicPr>
          <p:cNvPr id="558" name="Google Shape;558;p48"/>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559" name="Google Shape;559;p48"/>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891465" y="38279"/>
            <a:ext cx="4157661" cy="643736"/>
          </a:xfrm>
          <a:prstGeom prst="rect">
            <a:avLst/>
          </a:prstGeom>
          <a:noFill/>
          <a:ln>
            <a:noFill/>
          </a:ln>
        </p:spPr>
      </p:pic>
      <p:sp>
        <p:nvSpPr>
          <p:cNvPr id="560" name="Google Shape;560;p48"/>
          <p:cNvSpPr txBox="1"/>
          <p:nvPr/>
        </p:nvSpPr>
        <p:spPr>
          <a:xfrm>
            <a:off x="185738" y="257178"/>
            <a:ext cx="1985962" cy="353943"/>
          </a:xfrm>
          <a:prstGeom prst="rect">
            <a:avLst/>
          </a:prstGeom>
          <a:solidFill>
            <a:srgbClr val="1556C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Prescription review</a:t>
            </a:r>
            <a:endParaRPr sz="1400" b="0" i="0" u="none" strike="noStrike" cap="none">
              <a:solidFill>
                <a:srgbClr val="000000"/>
              </a:solidFill>
              <a:latin typeface="Arial"/>
              <a:ea typeface="Arial"/>
              <a:cs typeface="Arial"/>
              <a:sym typeface="Arial"/>
            </a:endParaRPr>
          </a:p>
        </p:txBody>
      </p:sp>
      <p:sp>
        <p:nvSpPr>
          <p:cNvPr id="561" name="Google Shape;561;p48"/>
          <p:cNvSpPr txBox="1"/>
          <p:nvPr/>
        </p:nvSpPr>
        <p:spPr>
          <a:xfrm>
            <a:off x="2171700" y="25679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4 marks</a:t>
            </a:r>
            <a:endParaRPr sz="1400" b="0" i="0" u="none" strike="noStrike" cap="none">
              <a:solidFill>
                <a:srgbClr val="000000"/>
              </a:solidFill>
              <a:latin typeface="Arial"/>
              <a:ea typeface="Arial"/>
              <a:cs typeface="Arial"/>
              <a:sym typeface="Arial"/>
            </a:endParaRPr>
          </a:p>
        </p:txBody>
      </p:sp>
      <p:sp>
        <p:nvSpPr>
          <p:cNvPr id="562" name="Google Shape;562;p48"/>
          <p:cNvSpPr txBox="1"/>
          <p:nvPr/>
        </p:nvSpPr>
        <p:spPr>
          <a:xfrm>
            <a:off x="185738" y="900112"/>
            <a:ext cx="5815012" cy="2862322"/>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66-year-old woman is on a medical ward after presenting with an acute exacerbation of COPD. Weight 71kg. </a:t>
            </a:r>
            <a:r>
              <a:rPr lang="en-US" sz="1800" b="1" i="0" u="none" strike="noStrike" cap="none">
                <a:solidFill>
                  <a:schemeClr val="dk1"/>
                </a:solidFill>
                <a:latin typeface="Calibri"/>
                <a:ea typeface="Calibri"/>
                <a:cs typeface="Calibri"/>
                <a:sym typeface="Calibri"/>
              </a:rPr>
              <a:t>PMH.</a:t>
            </a:r>
            <a:r>
              <a:rPr lang="en-US" sz="1800" b="0" i="0" u="none" strike="noStrike" cap="none">
                <a:solidFill>
                  <a:schemeClr val="dk1"/>
                </a:solidFill>
                <a:latin typeface="Calibri"/>
                <a:ea typeface="Calibri"/>
                <a:cs typeface="Calibri"/>
                <a:sym typeface="Calibri"/>
              </a:rPr>
              <a:t> AF, COPD, schizophrenia. </a:t>
            </a:r>
            <a:r>
              <a:rPr lang="en-US" sz="1800" b="1" i="0" u="none" strike="noStrike" cap="none">
                <a:solidFill>
                  <a:schemeClr val="dk1"/>
                </a:solidFill>
                <a:latin typeface="Calibri"/>
                <a:ea typeface="Calibri"/>
                <a:cs typeface="Calibri"/>
                <a:sym typeface="Calibri"/>
              </a:rPr>
              <a:t>DH.</a:t>
            </a:r>
            <a:r>
              <a:rPr lang="en-US" sz="1800" b="0" i="0" u="none" strike="noStrike" cap="none">
                <a:solidFill>
                  <a:schemeClr val="dk1"/>
                </a:solidFill>
                <a:latin typeface="Calibri"/>
                <a:ea typeface="Calibri"/>
                <a:cs typeface="Calibri"/>
                <a:sym typeface="Calibri"/>
              </a:rPr>
              <a:t> Her current regular medications are listed (right).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Examination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Warm, well perfused. On chest auscultation there is some mild expiratory wheeze.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Observations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BP 125/75, HR 78, RR 16, SpO2 96% room air, afebrile</a:t>
            </a:r>
            <a:endParaRPr sz="1400" b="0" i="0" u="none" strike="noStrike" cap="none">
              <a:solidFill>
                <a:srgbClr val="000000"/>
              </a:solidFill>
              <a:latin typeface="Arial"/>
              <a:ea typeface="Arial"/>
              <a:cs typeface="Arial"/>
              <a:sym typeface="Arial"/>
            </a:endParaRPr>
          </a:p>
        </p:txBody>
      </p:sp>
      <p:sp>
        <p:nvSpPr>
          <p:cNvPr id="563" name="Google Shape;563;p48"/>
          <p:cNvSpPr txBox="1"/>
          <p:nvPr/>
        </p:nvSpPr>
        <p:spPr>
          <a:xfrm>
            <a:off x="185737" y="3960918"/>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THREE prescriptions that contain a serious dosing errors. </a:t>
            </a:r>
            <a:r>
              <a:rPr lang="en-US" sz="1800" b="0" i="1" u="none" strike="noStrike" cap="none">
                <a:solidFill>
                  <a:schemeClr val="dk1"/>
                </a:solidFill>
                <a:latin typeface="Calibri"/>
                <a:ea typeface="Calibri"/>
                <a:cs typeface="Calibri"/>
                <a:sym typeface="Calibri"/>
              </a:rPr>
              <a:t>(mark them with a tick in column A)</a:t>
            </a:r>
            <a:endParaRPr sz="1400" b="0" i="0" u="none" strike="noStrike" cap="none">
              <a:solidFill>
                <a:srgbClr val="000000"/>
              </a:solidFill>
              <a:latin typeface="Arial"/>
              <a:ea typeface="Arial"/>
              <a:cs typeface="Arial"/>
              <a:sym typeface="Arial"/>
            </a:endParaRPr>
          </a:p>
        </p:txBody>
      </p:sp>
      <p:sp>
        <p:nvSpPr>
          <p:cNvPr id="564" name="Google Shape;564;p48"/>
          <p:cNvSpPr txBox="1"/>
          <p:nvPr/>
        </p:nvSpPr>
        <p:spPr>
          <a:xfrm>
            <a:off x="185737" y="5029867"/>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ONE prescriptions that contains a route error.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B)</a:t>
            </a:r>
            <a:endParaRPr sz="1400" b="0" i="0" u="none" strike="noStrike" cap="none">
              <a:solidFill>
                <a:srgbClr val="000000"/>
              </a:solidFill>
              <a:latin typeface="Arial"/>
              <a:ea typeface="Arial"/>
              <a:cs typeface="Arial"/>
              <a:sym typeface="Arial"/>
            </a:endParaRPr>
          </a:p>
        </p:txBody>
      </p:sp>
      <p:graphicFrame>
        <p:nvGraphicFramePr>
          <p:cNvPr id="565" name="Google Shape;565;p48"/>
          <p:cNvGraphicFramePr/>
          <p:nvPr/>
        </p:nvGraphicFramePr>
        <p:xfrm>
          <a:off x="6304756" y="1276008"/>
          <a:ext cx="5588000" cy="3632290"/>
        </p:xfrm>
        <a:graphic>
          <a:graphicData uri="http://schemas.openxmlformats.org/drawingml/2006/table">
            <a:tbl>
              <a:tblPr firstRow="1" bandRow="1">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Medicine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Dose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Route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Frequency</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A</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bisoprolol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digoxin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125</a:t>
                      </a:r>
                      <a:r>
                        <a:rPr lang="en-US" sz="1400" u="none" strike="noStrike" cap="none">
                          <a:solidFill>
                            <a:srgbClr val="FF0000"/>
                          </a:solidFill>
                        </a:rPr>
                        <a:t>mg</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ipratropium</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500mcg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NEB</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r>
                        <a:rPr lang="en-US" sz="1400" u="none" strike="noStrike" cap="none">
                          <a:solidFill>
                            <a:schemeClr val="dk1"/>
                          </a:solidFill>
                        </a:rPr>
                        <a:t>four times daily (6-hrly)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prednisolone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300</a:t>
                      </a:r>
                      <a:r>
                        <a:rPr lang="en-US" sz="1400" u="none" strike="noStrike" cap="none">
                          <a:solidFill>
                            <a:schemeClr val="dk1"/>
                          </a:solidFill>
                        </a:rPr>
                        <a:t>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risperidone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25mg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PO</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2 weekly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salbutamol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NEB</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four times daily (6-hrly)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salbutamol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200mcg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INH</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PRN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tiotropium</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18</a:t>
                      </a:r>
                      <a:r>
                        <a:rPr lang="en-US" sz="1400" u="none" strike="noStrike" cap="none">
                          <a:solidFill>
                            <a:srgbClr val="FF0000"/>
                          </a:solidFill>
                        </a:rPr>
                        <a:t>mg</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INH</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566" name="Google Shape;566;p48"/>
          <p:cNvSpPr txBox="1"/>
          <p:nvPr/>
        </p:nvSpPr>
        <p:spPr>
          <a:xfrm>
            <a:off x="6191250" y="5303166"/>
            <a:ext cx="5815012" cy="13849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A: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Digoxin – units error, should be in mcg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Prednisolone – dose error, should be 30mg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Tiotropium – units error, should be in mcg</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B: Risperidone – route error, this is a depot injection</a:t>
            </a:r>
            <a:endParaRPr sz="1400" b="0" i="0" u="none" strike="noStrike" cap="none" dirty="0">
              <a:solidFill>
                <a:srgbClr val="000000"/>
              </a:solidFill>
              <a:latin typeface="Arial"/>
              <a:ea typeface="Arial"/>
              <a:cs typeface="Arial"/>
              <a:sym typeface="Arial"/>
            </a:endParaRPr>
          </a:p>
        </p:txBody>
      </p:sp>
      <p:sp>
        <p:nvSpPr>
          <p:cNvPr id="2" name="Google Shape;552;p47">
            <a:extLst>
              <a:ext uri="{FF2B5EF4-FFF2-40B4-BE49-F238E27FC236}">
                <a16:creationId xmlns:a16="http://schemas.microsoft.com/office/drawing/2014/main" id="{2B661BF9-03B3-2CAC-F0C9-1C96B9056F70}"/>
              </a:ext>
            </a:extLst>
          </p:cNvPr>
          <p:cNvSpPr txBox="1"/>
          <p:nvPr/>
        </p:nvSpPr>
        <p:spPr>
          <a:xfrm>
            <a:off x="185738" y="5948964"/>
            <a:ext cx="1214437"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dirty="0"/>
              <a:t>A</a:t>
            </a:r>
            <a:r>
              <a:rPr lang="en-US" sz="4800" b="0" i="0" u="none" strike="noStrike" cap="none" dirty="0">
                <a:solidFill>
                  <a:srgbClr val="000000"/>
                </a:solidFill>
                <a:latin typeface="Arial"/>
                <a:ea typeface="Arial"/>
                <a:cs typeface="Arial"/>
                <a:sym typeface="Arial"/>
              </a:rPr>
              <a:t>3</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pic>
        <p:nvPicPr>
          <p:cNvPr id="600" name="Google Shape;600;p113"/>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601" name="Google Shape;601;p113"/>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891465" y="38279"/>
            <a:ext cx="4157661" cy="643736"/>
          </a:xfrm>
          <a:prstGeom prst="rect">
            <a:avLst/>
          </a:prstGeom>
          <a:noFill/>
          <a:ln>
            <a:noFill/>
          </a:ln>
        </p:spPr>
      </p:pic>
      <p:sp>
        <p:nvSpPr>
          <p:cNvPr id="602" name="Google Shape;602;p113"/>
          <p:cNvSpPr txBox="1"/>
          <p:nvPr/>
        </p:nvSpPr>
        <p:spPr>
          <a:xfrm>
            <a:off x="185738" y="257178"/>
            <a:ext cx="1985962" cy="353943"/>
          </a:xfrm>
          <a:prstGeom prst="rect">
            <a:avLst/>
          </a:prstGeom>
          <a:solidFill>
            <a:srgbClr val="1556C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Prescription review</a:t>
            </a:r>
            <a:endParaRPr sz="1400" b="0" i="0" u="none" strike="noStrike" cap="none">
              <a:solidFill>
                <a:srgbClr val="000000"/>
              </a:solidFill>
              <a:latin typeface="Arial"/>
              <a:ea typeface="Arial"/>
              <a:cs typeface="Arial"/>
              <a:sym typeface="Arial"/>
            </a:endParaRPr>
          </a:p>
        </p:txBody>
      </p:sp>
      <p:sp>
        <p:nvSpPr>
          <p:cNvPr id="603" name="Google Shape;603;p113"/>
          <p:cNvSpPr txBox="1"/>
          <p:nvPr/>
        </p:nvSpPr>
        <p:spPr>
          <a:xfrm>
            <a:off x="2171700" y="25679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4 marks</a:t>
            </a:r>
            <a:endParaRPr sz="1400" b="0" i="0" u="none" strike="noStrike" cap="none">
              <a:solidFill>
                <a:srgbClr val="000000"/>
              </a:solidFill>
              <a:latin typeface="Arial"/>
              <a:ea typeface="Arial"/>
              <a:cs typeface="Arial"/>
              <a:sym typeface="Arial"/>
            </a:endParaRPr>
          </a:p>
        </p:txBody>
      </p:sp>
      <p:sp>
        <p:nvSpPr>
          <p:cNvPr id="604" name="Google Shape;604;p113"/>
          <p:cNvSpPr txBox="1"/>
          <p:nvPr/>
        </p:nvSpPr>
        <p:spPr>
          <a:xfrm>
            <a:off x="185736" y="899730"/>
            <a:ext cx="5814900" cy="2308284"/>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An 82-year-old man presents to his GP for a medication review. </a:t>
            </a:r>
            <a:r>
              <a:rPr lang="en-US" sz="1800" b="1" i="0" u="none" strike="noStrike" cap="none">
                <a:solidFill>
                  <a:schemeClr val="dk1"/>
                </a:solidFill>
                <a:latin typeface="Calibri"/>
                <a:ea typeface="Calibri"/>
                <a:cs typeface="Calibri"/>
                <a:sym typeface="Calibri"/>
              </a:rPr>
              <a:t>PMH. </a:t>
            </a:r>
            <a:r>
              <a:rPr lang="en-US" sz="1800" b="0" i="0" u="none" strike="noStrike" cap="none">
                <a:solidFill>
                  <a:srgbClr val="000000"/>
                </a:solidFill>
                <a:latin typeface="Calibri"/>
                <a:ea typeface="Calibri"/>
                <a:cs typeface="Calibri"/>
                <a:sym typeface="Calibri"/>
              </a:rPr>
              <a:t>Gout, hypertension, atrial fibrillation, type I diabetes, heart failure.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DH. </a:t>
            </a:r>
            <a:r>
              <a:rPr lang="en-US" sz="1800" b="0" i="0" u="none" strike="noStrike" cap="none">
                <a:solidFill>
                  <a:schemeClr val="dk1"/>
                </a:solidFill>
                <a:latin typeface="Calibri"/>
                <a:ea typeface="Calibri"/>
                <a:cs typeface="Calibri"/>
                <a:sym typeface="Calibri"/>
              </a:rPr>
              <a:t>His current regular medications are listed (right).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Investigations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Na 143 (137-144), K 4.6 (3.5-5.3), U 4.0 (2.5-7), Cr 76 (60-130), eGFR 78 (&gt;60)</a:t>
            </a:r>
            <a:endParaRPr sz="1400" b="0" i="0" u="none" strike="noStrike" cap="none">
              <a:solidFill>
                <a:srgbClr val="000000"/>
              </a:solidFill>
              <a:latin typeface="Arial"/>
              <a:ea typeface="Arial"/>
              <a:cs typeface="Arial"/>
              <a:sym typeface="Arial"/>
            </a:endParaRPr>
          </a:p>
        </p:txBody>
      </p:sp>
      <p:sp>
        <p:nvSpPr>
          <p:cNvPr id="605" name="Google Shape;605;p113"/>
          <p:cNvSpPr txBox="1"/>
          <p:nvPr/>
        </p:nvSpPr>
        <p:spPr>
          <a:xfrm>
            <a:off x="185736" y="3429000"/>
            <a:ext cx="5814900" cy="923289"/>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TWO prescriptions that contain a prescribing error. </a:t>
            </a:r>
            <a:r>
              <a:rPr lang="en-US" sz="1800" b="0" i="1" u="none" strike="noStrike" cap="none">
                <a:solidFill>
                  <a:schemeClr val="dk1"/>
                </a:solidFill>
                <a:latin typeface="Calibri"/>
                <a:ea typeface="Calibri"/>
                <a:cs typeface="Calibri"/>
                <a:sym typeface="Calibri"/>
              </a:rPr>
              <a:t>(mark them with a tick in column A)</a:t>
            </a:r>
            <a:endParaRPr sz="1400" b="0" i="0" u="none" strike="noStrike" cap="none">
              <a:solidFill>
                <a:srgbClr val="000000"/>
              </a:solidFill>
              <a:latin typeface="Arial"/>
              <a:ea typeface="Arial"/>
              <a:cs typeface="Arial"/>
              <a:sym typeface="Arial"/>
            </a:endParaRPr>
          </a:p>
        </p:txBody>
      </p:sp>
      <p:sp>
        <p:nvSpPr>
          <p:cNvPr id="606" name="Google Shape;606;p113"/>
          <p:cNvSpPr txBox="1"/>
          <p:nvPr/>
        </p:nvSpPr>
        <p:spPr>
          <a:xfrm>
            <a:off x="185736" y="4549612"/>
            <a:ext cx="5815012" cy="1200288"/>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TWO prescriptions that are more likely to increase the risk of acute gout.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B)</a:t>
            </a:r>
            <a:endParaRPr sz="1400" b="0" i="0" u="none" strike="noStrike" cap="none">
              <a:solidFill>
                <a:srgbClr val="000000"/>
              </a:solidFill>
              <a:latin typeface="Arial"/>
              <a:ea typeface="Arial"/>
              <a:cs typeface="Arial"/>
              <a:sym typeface="Arial"/>
            </a:endParaRPr>
          </a:p>
        </p:txBody>
      </p:sp>
      <p:sp>
        <p:nvSpPr>
          <p:cNvPr id="607" name="Google Shape;607;p113"/>
          <p:cNvSpPr txBox="1"/>
          <p:nvPr/>
        </p:nvSpPr>
        <p:spPr>
          <a:xfrm>
            <a:off x="6191252" y="899730"/>
            <a:ext cx="5815012" cy="3939500"/>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CURRENT PRESCRIPTIONS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Calibri"/>
              <a:ea typeface="Calibri"/>
              <a:cs typeface="Calibri"/>
              <a:sym typeface="Calibri"/>
            </a:endParaRPr>
          </a:p>
        </p:txBody>
      </p:sp>
      <p:graphicFrame>
        <p:nvGraphicFramePr>
          <p:cNvPr id="608" name="Google Shape;608;p113"/>
          <p:cNvGraphicFramePr/>
          <p:nvPr/>
        </p:nvGraphicFramePr>
        <p:xfrm>
          <a:off x="6304756" y="1276008"/>
          <a:ext cx="5573275" cy="3479370"/>
        </p:xfrm>
        <a:graphic>
          <a:graphicData uri="http://schemas.openxmlformats.org/drawingml/2006/table">
            <a:tbl>
              <a:tblPr firstRow="1" bandRow="1">
                <a:noFill/>
              </a:tblPr>
              <a:tblGrid>
                <a:gridCol w="2038700">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Medicine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Dose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Route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Frequency</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A</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allopurinol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amlodipine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apixaban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twice 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bisoprolol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furosemide </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indapamide MR</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1.5mg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Humalog (insulin lispro)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20 units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SC</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nightly</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Levemir (insulin detemir)</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 units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SC</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TDS (with meals)</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609" name="Google Shape;609;p113"/>
          <p:cNvSpPr txBox="1"/>
          <p:nvPr/>
        </p:nvSpPr>
        <p:spPr>
          <a:xfrm>
            <a:off x="6191251" y="5064859"/>
            <a:ext cx="5815012" cy="116951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Humalog is rapid-acting, Levemir is long-acting</a:t>
            </a:r>
            <a:endParaRPr sz="1400" b="0"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Furosemide and indapamide both increase the risk of acute gout</a:t>
            </a:r>
            <a:endParaRPr sz="1400" b="0" i="0" u="none" strike="noStrike" cap="none">
              <a:solidFill>
                <a:srgbClr val="000000"/>
              </a:solidFill>
              <a:latin typeface="Arial"/>
              <a:ea typeface="Arial"/>
              <a:cs typeface="Arial"/>
              <a:sym typeface="Arial"/>
            </a:endParaRPr>
          </a:p>
        </p:txBody>
      </p:sp>
      <p:sp>
        <p:nvSpPr>
          <p:cNvPr id="610" name="Google Shape;610;p113"/>
          <p:cNvSpPr txBox="1"/>
          <p:nvPr/>
        </p:nvSpPr>
        <p:spPr>
          <a:xfrm>
            <a:off x="185738" y="5948964"/>
            <a:ext cx="1214437"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rgbClr val="000000"/>
                </a:solidFill>
                <a:latin typeface="Arial"/>
                <a:ea typeface="Arial"/>
                <a:cs typeface="Arial"/>
                <a:sym typeface="Arial"/>
              </a:rPr>
              <a:t>A4</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pic>
        <p:nvPicPr>
          <p:cNvPr id="663" name="Google Shape;663;p51"/>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664" name="Google Shape;664;p5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891465" y="38279"/>
            <a:ext cx="4157661" cy="643736"/>
          </a:xfrm>
          <a:prstGeom prst="rect">
            <a:avLst/>
          </a:prstGeom>
          <a:noFill/>
          <a:ln>
            <a:noFill/>
          </a:ln>
        </p:spPr>
      </p:pic>
      <p:sp>
        <p:nvSpPr>
          <p:cNvPr id="665" name="Google Shape;665;p51"/>
          <p:cNvSpPr txBox="1"/>
          <p:nvPr/>
        </p:nvSpPr>
        <p:spPr>
          <a:xfrm>
            <a:off x="185738" y="257178"/>
            <a:ext cx="1985962" cy="353943"/>
          </a:xfrm>
          <a:prstGeom prst="rect">
            <a:avLst/>
          </a:prstGeom>
          <a:solidFill>
            <a:srgbClr val="1556C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Prescription review</a:t>
            </a:r>
            <a:endParaRPr sz="1400" b="0" i="0" u="none" strike="noStrike" cap="none">
              <a:solidFill>
                <a:srgbClr val="000000"/>
              </a:solidFill>
              <a:latin typeface="Arial"/>
              <a:ea typeface="Arial"/>
              <a:cs typeface="Arial"/>
              <a:sym typeface="Arial"/>
            </a:endParaRPr>
          </a:p>
        </p:txBody>
      </p:sp>
      <p:sp>
        <p:nvSpPr>
          <p:cNvPr id="666" name="Google Shape;666;p51"/>
          <p:cNvSpPr txBox="1"/>
          <p:nvPr/>
        </p:nvSpPr>
        <p:spPr>
          <a:xfrm>
            <a:off x="2171700" y="25679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4 marks</a:t>
            </a:r>
            <a:endParaRPr sz="1400" b="0" i="0" u="none" strike="noStrike" cap="none">
              <a:solidFill>
                <a:srgbClr val="000000"/>
              </a:solidFill>
              <a:latin typeface="Arial"/>
              <a:ea typeface="Arial"/>
              <a:cs typeface="Arial"/>
              <a:sym typeface="Arial"/>
            </a:endParaRPr>
          </a:p>
        </p:txBody>
      </p:sp>
      <p:sp>
        <p:nvSpPr>
          <p:cNvPr id="667" name="Google Shape;667;p51"/>
          <p:cNvSpPr txBox="1"/>
          <p:nvPr/>
        </p:nvSpPr>
        <p:spPr>
          <a:xfrm>
            <a:off x="6191251" y="4052487"/>
            <a:ext cx="5815012" cy="20312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Co-amoxiclav – likely cause of </a:t>
            </a:r>
            <a:r>
              <a:rPr lang="en-US" sz="1400" b="0" i="0" u="none" strike="noStrike" cap="none" dirty="0" err="1">
                <a:solidFill>
                  <a:srgbClr val="FF0000"/>
                </a:solidFill>
                <a:latin typeface="Calibri"/>
                <a:ea typeface="Calibri"/>
                <a:cs typeface="Calibri"/>
                <a:sym typeface="Calibri"/>
              </a:rPr>
              <a:t>c.diff</a:t>
            </a:r>
            <a:r>
              <a:rPr lang="en-US" sz="1400" b="0" i="0" u="none" strike="noStrike" cap="none" dirty="0">
                <a:solidFill>
                  <a:srgbClr val="FF0000"/>
                </a:solidFill>
                <a:latin typeface="Calibri"/>
                <a:ea typeface="Calibri"/>
                <a:cs typeface="Calibri"/>
                <a:sym typeface="Calibri"/>
              </a:rPr>
              <a:t> (other causes cephalosporins, clindamycin, fluroquinolones and broad-spectrum </a:t>
            </a:r>
            <a:r>
              <a:rPr lang="en-US" sz="1400" b="0" i="0" u="none" strike="noStrike" cap="none" dirty="0" err="1">
                <a:solidFill>
                  <a:srgbClr val="FF0000"/>
                </a:solidFill>
                <a:latin typeface="Calibri"/>
                <a:ea typeface="Calibri"/>
                <a:cs typeface="Calibri"/>
                <a:sym typeface="Calibri"/>
              </a:rPr>
              <a:t>abx</a:t>
            </a:r>
            <a:r>
              <a:rPr lang="en-US" sz="1400" b="0" i="0" u="none" strike="noStrike" cap="none" dirty="0">
                <a:solidFill>
                  <a:srgbClr val="FF0000"/>
                </a:solidFill>
                <a:latin typeface="Calibri"/>
                <a:ea typeface="Calibri"/>
                <a:cs typeface="Calibri"/>
                <a:sym typeface="Calibri"/>
              </a:rPr>
              <a:t> such as co-amoxiclav and piperacillin-tazobactam)</a:t>
            </a:r>
            <a:endParaRPr sz="1400" b="0" i="0" u="none" strike="noStrike" cap="none" dirty="0">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B:</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Amlodipine – will worsen hypotension whilst dehydrated</a:t>
            </a:r>
            <a:endParaRPr sz="1400" b="0" i="0" u="none" strike="noStrike" cap="none" dirty="0">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Bisoprolol – will worsen hypotension whilst dehydrated</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Ibuprofen (NSAID) – nephrotoxic so hold in AKI</a:t>
            </a:r>
            <a:endParaRPr sz="1400" b="0" i="0" u="none" strike="noStrike" cap="none" dirty="0">
              <a:solidFill>
                <a:srgbClr val="000000"/>
              </a:solidFill>
              <a:latin typeface="Arial"/>
              <a:ea typeface="Arial"/>
              <a:cs typeface="Arial"/>
              <a:sym typeface="Arial"/>
            </a:endParaRPr>
          </a:p>
        </p:txBody>
      </p:sp>
      <p:sp>
        <p:nvSpPr>
          <p:cNvPr id="668" name="Google Shape;668;p51"/>
          <p:cNvSpPr txBox="1"/>
          <p:nvPr/>
        </p:nvSpPr>
        <p:spPr>
          <a:xfrm>
            <a:off x="6191252" y="899730"/>
            <a:ext cx="5814900" cy="2770500"/>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CURRENT PRESCRIPTIONS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chemeClr val="dk1"/>
              </a:solidFill>
              <a:latin typeface="Calibri"/>
              <a:ea typeface="Calibri"/>
              <a:cs typeface="Calibri"/>
              <a:sym typeface="Calibri"/>
            </a:endParaRPr>
          </a:p>
        </p:txBody>
      </p:sp>
      <p:sp>
        <p:nvSpPr>
          <p:cNvPr id="669" name="Google Shape;669;p51"/>
          <p:cNvSpPr txBox="1"/>
          <p:nvPr/>
        </p:nvSpPr>
        <p:spPr>
          <a:xfrm>
            <a:off x="185736" y="899730"/>
            <a:ext cx="5814900" cy="3140100"/>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78-year-old man on the respiratory ward is completing a course of antibiotics for a chest infection. He develops profuse diarrhoea.  </a:t>
            </a:r>
            <a:r>
              <a:rPr lang="en-US" sz="1800" b="1" i="0" u="none" strike="noStrike" cap="none">
                <a:solidFill>
                  <a:schemeClr val="dk1"/>
                </a:solidFill>
                <a:latin typeface="Calibri"/>
                <a:ea typeface="Calibri"/>
                <a:cs typeface="Calibri"/>
                <a:sym typeface="Calibri"/>
              </a:rPr>
              <a:t>PMH. </a:t>
            </a:r>
            <a:r>
              <a:rPr lang="en-US" sz="1800" b="0" i="0" u="none" strike="noStrike" cap="none">
                <a:solidFill>
                  <a:schemeClr val="dk1"/>
                </a:solidFill>
                <a:latin typeface="Calibri"/>
                <a:ea typeface="Calibri"/>
                <a:cs typeface="Calibri"/>
                <a:sym typeface="Calibri"/>
              </a:rPr>
              <a:t>Hypertension &amp; osteoarthritis. </a:t>
            </a:r>
            <a:r>
              <a:rPr lang="en-US" sz="1800" b="1" i="0" u="none" strike="noStrike" cap="none">
                <a:solidFill>
                  <a:schemeClr val="dk1"/>
                </a:solidFill>
                <a:latin typeface="Calibri"/>
                <a:ea typeface="Calibri"/>
                <a:cs typeface="Calibri"/>
                <a:sym typeface="Calibri"/>
              </a:rPr>
              <a:t>DH. </a:t>
            </a:r>
            <a:r>
              <a:rPr lang="en-US" sz="1800" b="0" i="0" u="none" strike="noStrike" cap="none">
                <a:solidFill>
                  <a:schemeClr val="dk1"/>
                </a:solidFill>
                <a:latin typeface="Calibri"/>
                <a:ea typeface="Calibri"/>
                <a:cs typeface="Calibri"/>
                <a:sym typeface="Calibri"/>
              </a:rPr>
              <a:t>His current regular medications are listed (right).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Examination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Cool peripherally, CRT 2-3 seconds. Heart sounds normal and some left sided creps on chest auscultation. BP 110/68</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Investigations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Na 140 (137-144), K 3.6 (3.5-5.3), U 9.0 (2.5-7), Cr 120 (60-130), eGFR 43 (&gt;60)</a:t>
            </a:r>
            <a:endParaRPr sz="1400" b="0" i="0" u="none" strike="noStrike" cap="none">
              <a:solidFill>
                <a:srgbClr val="000000"/>
              </a:solidFill>
              <a:latin typeface="Arial"/>
              <a:ea typeface="Arial"/>
              <a:cs typeface="Arial"/>
              <a:sym typeface="Arial"/>
            </a:endParaRPr>
          </a:p>
        </p:txBody>
      </p:sp>
      <p:graphicFrame>
        <p:nvGraphicFramePr>
          <p:cNvPr id="670" name="Google Shape;670;p51"/>
          <p:cNvGraphicFramePr/>
          <p:nvPr/>
        </p:nvGraphicFramePr>
        <p:xfrm>
          <a:off x="6304694" y="1266608"/>
          <a:ext cx="5588000" cy="2220900"/>
        </p:xfrm>
        <a:graphic>
          <a:graphicData uri="http://schemas.openxmlformats.org/drawingml/2006/table">
            <a:tbl>
              <a:tblPr firstRow="1" bandRow="1">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Medicine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Dose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Route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Frequency</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A</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amlodipine </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10mg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bisoprolol </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5mg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co-amoxiclav</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IV</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TDS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ibuprofen</a:t>
                      </a:r>
                      <a:r>
                        <a:rPr lang="en-US" sz="1400" u="none" strike="noStrike" cap="none"/>
                        <a:t>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TDS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paracetamol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QDS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671" name="Google Shape;671;p51"/>
          <p:cNvSpPr txBox="1"/>
          <p:nvPr/>
        </p:nvSpPr>
        <p:spPr>
          <a:xfrm>
            <a:off x="185736" y="4237153"/>
            <a:ext cx="5814900" cy="923289"/>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ONE prescription that is the </a:t>
            </a:r>
            <a:r>
              <a:rPr lang="en-US" sz="1800" b="1" i="0" u="none" strike="noStrike" cap="none">
                <a:solidFill>
                  <a:schemeClr val="dk1"/>
                </a:solidFill>
                <a:latin typeface="Calibri"/>
                <a:ea typeface="Calibri"/>
                <a:cs typeface="Calibri"/>
                <a:sym typeface="Calibri"/>
              </a:rPr>
              <a:t>most likely</a:t>
            </a:r>
            <a:r>
              <a:rPr lang="en-US" sz="1800" b="0" i="0" u="none" strike="noStrike" cap="none">
                <a:solidFill>
                  <a:schemeClr val="dk1"/>
                </a:solidFill>
                <a:latin typeface="Calibri"/>
                <a:ea typeface="Calibri"/>
                <a:cs typeface="Calibri"/>
                <a:sym typeface="Calibri"/>
              </a:rPr>
              <a:t> cause of his diarrhoea. </a:t>
            </a:r>
            <a:r>
              <a:rPr lang="en-US" sz="1800" b="0" i="1" u="none" strike="noStrike" cap="none">
                <a:solidFill>
                  <a:schemeClr val="dk1"/>
                </a:solidFill>
                <a:latin typeface="Calibri"/>
                <a:ea typeface="Calibri"/>
                <a:cs typeface="Calibri"/>
                <a:sym typeface="Calibri"/>
              </a:rPr>
              <a:t>(mark them with a tick in column A)</a:t>
            </a:r>
            <a:endParaRPr sz="1400" b="0" i="0" u="none" strike="noStrike" cap="none">
              <a:solidFill>
                <a:srgbClr val="000000"/>
              </a:solidFill>
              <a:latin typeface="Arial"/>
              <a:ea typeface="Arial"/>
              <a:cs typeface="Arial"/>
              <a:sym typeface="Arial"/>
            </a:endParaRPr>
          </a:p>
        </p:txBody>
      </p:sp>
      <p:sp>
        <p:nvSpPr>
          <p:cNvPr id="672" name="Google Shape;672;p51"/>
          <p:cNvSpPr txBox="1"/>
          <p:nvPr/>
        </p:nvSpPr>
        <p:spPr>
          <a:xfrm>
            <a:off x="185736" y="5357765"/>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Question B</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Select THREE </a:t>
            </a:r>
            <a:r>
              <a:rPr lang="en-US" sz="1800" b="1" i="0" u="none" strike="noStrike" cap="none" dirty="0">
                <a:solidFill>
                  <a:schemeClr val="dk1"/>
                </a:solidFill>
                <a:latin typeface="Calibri"/>
                <a:ea typeface="Calibri"/>
                <a:cs typeface="Calibri"/>
                <a:sym typeface="Calibri"/>
              </a:rPr>
              <a:t>additional</a:t>
            </a:r>
            <a:r>
              <a:rPr lang="en-US" sz="1800" b="0" i="0" u="none" strike="noStrike" cap="none" dirty="0">
                <a:solidFill>
                  <a:schemeClr val="dk1"/>
                </a:solidFill>
                <a:latin typeface="Calibri"/>
                <a:ea typeface="Calibri"/>
                <a:cs typeface="Calibri"/>
                <a:sym typeface="Calibri"/>
              </a:rPr>
              <a:t> prescriptions that you should consider holding.</a:t>
            </a:r>
            <a:r>
              <a:rPr lang="en-US" sz="1400" b="0" i="0" u="none" strike="noStrike" cap="none" dirty="0">
                <a:solidFill>
                  <a:srgbClr val="000000"/>
                </a:solidFill>
                <a:latin typeface="Arial"/>
                <a:ea typeface="Arial"/>
                <a:cs typeface="Arial"/>
                <a:sym typeface="Arial"/>
              </a:rPr>
              <a:t> </a:t>
            </a:r>
            <a:r>
              <a:rPr lang="en-US" sz="1800" b="0" i="1" u="none" strike="noStrike" cap="none" dirty="0">
                <a:solidFill>
                  <a:schemeClr val="dk1"/>
                </a:solidFill>
                <a:latin typeface="Calibri"/>
                <a:ea typeface="Calibri"/>
                <a:cs typeface="Calibri"/>
                <a:sym typeface="Calibri"/>
              </a:rPr>
              <a:t>(mark them with a tick in column B)</a:t>
            </a:r>
            <a:endParaRPr sz="1400" b="0" i="0" u="none" strike="noStrike" cap="none" dirty="0">
              <a:solidFill>
                <a:srgbClr val="000000"/>
              </a:solidFill>
              <a:latin typeface="Arial"/>
              <a:ea typeface="Arial"/>
              <a:cs typeface="Arial"/>
              <a:sym typeface="Arial"/>
            </a:endParaRPr>
          </a:p>
        </p:txBody>
      </p:sp>
      <p:sp>
        <p:nvSpPr>
          <p:cNvPr id="2" name="Google Shape;595;p112">
            <a:extLst>
              <a:ext uri="{FF2B5EF4-FFF2-40B4-BE49-F238E27FC236}">
                <a16:creationId xmlns:a16="http://schemas.microsoft.com/office/drawing/2014/main" id="{195A378C-7A8E-14B1-38A3-6E48DC9E9F0C}"/>
              </a:ext>
            </a:extLst>
          </p:cNvPr>
          <p:cNvSpPr txBox="1"/>
          <p:nvPr/>
        </p:nvSpPr>
        <p:spPr>
          <a:xfrm>
            <a:off x="10977563" y="6027003"/>
            <a:ext cx="1214437"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dirty="0"/>
              <a:t>A</a:t>
            </a:r>
            <a:r>
              <a:rPr lang="en-US" sz="4800" b="0" i="0" u="none" strike="noStrike" cap="none" dirty="0">
                <a:solidFill>
                  <a:srgbClr val="000000"/>
                </a:solidFill>
                <a:latin typeface="Arial"/>
                <a:ea typeface="Arial"/>
                <a:cs typeface="Arial"/>
                <a:sym typeface="Arial"/>
              </a:rPr>
              <a:t>5</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pic>
        <p:nvPicPr>
          <p:cNvPr id="723" name="Google Shape;723;p58"/>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724" name="Google Shape;724;p58"/>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891465" y="38279"/>
            <a:ext cx="4157661" cy="643736"/>
          </a:xfrm>
          <a:prstGeom prst="rect">
            <a:avLst/>
          </a:prstGeom>
          <a:noFill/>
          <a:ln>
            <a:noFill/>
          </a:ln>
        </p:spPr>
      </p:pic>
      <p:sp>
        <p:nvSpPr>
          <p:cNvPr id="725" name="Google Shape;725;p58"/>
          <p:cNvSpPr txBox="1"/>
          <p:nvPr/>
        </p:nvSpPr>
        <p:spPr>
          <a:xfrm>
            <a:off x="185738" y="257178"/>
            <a:ext cx="1985962" cy="353943"/>
          </a:xfrm>
          <a:prstGeom prst="rect">
            <a:avLst/>
          </a:prstGeom>
          <a:solidFill>
            <a:srgbClr val="1556C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Prescription review</a:t>
            </a:r>
            <a:endParaRPr sz="1400" b="0" i="0" u="none" strike="noStrike" cap="none">
              <a:solidFill>
                <a:srgbClr val="000000"/>
              </a:solidFill>
              <a:latin typeface="Arial"/>
              <a:ea typeface="Arial"/>
              <a:cs typeface="Arial"/>
              <a:sym typeface="Arial"/>
            </a:endParaRPr>
          </a:p>
        </p:txBody>
      </p:sp>
      <p:sp>
        <p:nvSpPr>
          <p:cNvPr id="726" name="Google Shape;726;p58"/>
          <p:cNvSpPr txBox="1"/>
          <p:nvPr/>
        </p:nvSpPr>
        <p:spPr>
          <a:xfrm>
            <a:off x="2171700" y="25679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4 marks</a:t>
            </a:r>
            <a:endParaRPr sz="1400" b="0" i="0" u="none" strike="noStrike" cap="none">
              <a:solidFill>
                <a:srgbClr val="000000"/>
              </a:solidFill>
              <a:latin typeface="Arial"/>
              <a:ea typeface="Arial"/>
              <a:cs typeface="Arial"/>
              <a:sym typeface="Arial"/>
            </a:endParaRPr>
          </a:p>
        </p:txBody>
      </p:sp>
      <p:sp>
        <p:nvSpPr>
          <p:cNvPr id="727" name="Google Shape;727;p58"/>
          <p:cNvSpPr txBox="1"/>
          <p:nvPr/>
        </p:nvSpPr>
        <p:spPr>
          <a:xfrm>
            <a:off x="6191252" y="899730"/>
            <a:ext cx="5815012" cy="3693319"/>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CURRENT PRESCRIPTIONS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p:txBody>
      </p:sp>
      <p:sp>
        <p:nvSpPr>
          <p:cNvPr id="728" name="Google Shape;728;p58"/>
          <p:cNvSpPr txBox="1"/>
          <p:nvPr/>
        </p:nvSpPr>
        <p:spPr>
          <a:xfrm>
            <a:off x="185738" y="900112"/>
            <a:ext cx="5815012" cy="2862322"/>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An 88-year-old lady is being treated on the COTE ward. She is complaining of a painful mouth when eating. She is noted to have an irregularly irregular pulse. </a:t>
            </a:r>
            <a:r>
              <a:rPr lang="en-US" sz="1800" b="1" i="0" u="none" strike="noStrike" cap="none">
                <a:solidFill>
                  <a:schemeClr val="dk1"/>
                </a:solidFill>
                <a:latin typeface="Calibri"/>
                <a:ea typeface="Calibri"/>
                <a:cs typeface="Calibri"/>
                <a:sym typeface="Calibri"/>
              </a:rPr>
              <a:t>PMH. </a:t>
            </a:r>
            <a:r>
              <a:rPr lang="en-US" sz="1800" b="0" i="0" u="none" strike="noStrike" cap="none">
                <a:solidFill>
                  <a:schemeClr val="dk1"/>
                </a:solidFill>
                <a:latin typeface="Calibri"/>
                <a:ea typeface="Calibri"/>
                <a:cs typeface="Calibri"/>
                <a:sym typeface="Calibri"/>
              </a:rPr>
              <a:t>COPD, back pain.  </a:t>
            </a:r>
            <a:r>
              <a:rPr lang="en-US" sz="1800" b="1" i="0" u="none" strike="noStrike" cap="none">
                <a:solidFill>
                  <a:schemeClr val="dk1"/>
                </a:solidFill>
                <a:latin typeface="Calibri"/>
                <a:ea typeface="Calibri"/>
                <a:cs typeface="Calibri"/>
                <a:sym typeface="Calibri"/>
              </a:rPr>
              <a:t>DH. </a:t>
            </a:r>
            <a:r>
              <a:rPr lang="en-US" sz="1800" b="0" i="0" u="none" strike="noStrike" cap="none">
                <a:solidFill>
                  <a:schemeClr val="dk1"/>
                </a:solidFill>
                <a:latin typeface="Calibri"/>
                <a:ea typeface="Calibri"/>
                <a:cs typeface="Calibri"/>
                <a:sym typeface="Calibri"/>
              </a:rPr>
              <a:t>Her current regular medications are listed (right).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Examination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Warm and well perfused. White furry coating over tongue.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Investigations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Na 140 (137-144), K 4.1 (3.5-5.3), U 5.1 (2.5-7), Cr 90 (60-130), eGFR 63 (&gt;60)</a:t>
            </a:r>
            <a:endParaRPr sz="1400" b="0" i="0" u="none" strike="noStrike" cap="none">
              <a:solidFill>
                <a:srgbClr val="000000"/>
              </a:solidFill>
              <a:latin typeface="Arial"/>
              <a:ea typeface="Arial"/>
              <a:cs typeface="Arial"/>
              <a:sym typeface="Arial"/>
            </a:endParaRPr>
          </a:p>
        </p:txBody>
      </p:sp>
      <p:sp>
        <p:nvSpPr>
          <p:cNvPr id="729" name="Google Shape;729;p58"/>
          <p:cNvSpPr txBox="1"/>
          <p:nvPr/>
        </p:nvSpPr>
        <p:spPr>
          <a:xfrm>
            <a:off x="185736" y="3960918"/>
            <a:ext cx="5815012" cy="1200329"/>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TWO prescriptions that would most likely cause oral candidiasis.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A)</a:t>
            </a:r>
            <a:endParaRPr sz="1400" b="0" i="0" u="none" strike="noStrike" cap="none">
              <a:solidFill>
                <a:srgbClr val="000000"/>
              </a:solidFill>
              <a:latin typeface="Arial"/>
              <a:ea typeface="Arial"/>
              <a:cs typeface="Arial"/>
              <a:sym typeface="Arial"/>
            </a:endParaRPr>
          </a:p>
        </p:txBody>
      </p:sp>
      <p:sp>
        <p:nvSpPr>
          <p:cNvPr id="730" name="Google Shape;730;p58"/>
          <p:cNvSpPr txBox="1"/>
          <p:nvPr/>
        </p:nvSpPr>
        <p:spPr>
          <a:xfrm>
            <a:off x="185736" y="5244699"/>
            <a:ext cx="5814900" cy="120060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ONE prescription that should be stopped prior to her starting on apixaban 5mg BD for newly diagnosed AF.</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B)</a:t>
            </a:r>
            <a:endParaRPr sz="1400" b="0" i="0" u="none" strike="noStrike" cap="none">
              <a:solidFill>
                <a:srgbClr val="000000"/>
              </a:solidFill>
              <a:latin typeface="Arial"/>
              <a:ea typeface="Arial"/>
              <a:cs typeface="Arial"/>
              <a:sym typeface="Arial"/>
            </a:endParaRPr>
          </a:p>
        </p:txBody>
      </p:sp>
      <p:graphicFrame>
        <p:nvGraphicFramePr>
          <p:cNvPr id="731" name="Google Shape;731;p58"/>
          <p:cNvGraphicFramePr/>
          <p:nvPr/>
        </p:nvGraphicFramePr>
        <p:xfrm>
          <a:off x="6304756" y="1276008"/>
          <a:ext cx="5588000" cy="3109220"/>
        </p:xfrm>
        <a:graphic>
          <a:graphicData uri="http://schemas.openxmlformats.org/drawingml/2006/table">
            <a:tbl>
              <a:tblPr firstRow="1" bandRow="1">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Medicine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Dose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Route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Frequency</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A</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amoxicillin</a:t>
                      </a:r>
                      <a:r>
                        <a:rPr lang="en-US" sz="1400" u="none" strike="noStrike" cap="none"/>
                        <a:t>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IV</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TDS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dalteparin</a:t>
                      </a:r>
                      <a:r>
                        <a:rPr lang="en-US" sz="1400" u="none" strike="noStrike" cap="none"/>
                        <a:t>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5000 units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SC</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ibuprofen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TDS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lansoprazole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15mg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paracetamol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QDS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1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salbutamol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200mcg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inh</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PRN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70150">
                <a:tc>
                  <a:txBody>
                    <a:bodyPr/>
                    <a:lstStyle/>
                    <a:p>
                      <a:pPr marL="0" marR="0" lvl="0" indent="0" algn="l" rtl="0">
                        <a:lnSpc>
                          <a:spcPct val="100000"/>
                        </a:lnSpc>
                        <a:spcBef>
                          <a:spcPts val="0"/>
                        </a:spcBef>
                        <a:spcAft>
                          <a:spcPts val="0"/>
                        </a:spcAft>
                        <a:buClr>
                          <a:schemeClr val="dk1"/>
                        </a:buClr>
                        <a:buSzPts val="1400"/>
                        <a:buFont typeface="Calibri"/>
                        <a:buNone/>
                      </a:pPr>
                      <a:r>
                        <a:rPr lang="en-US" sz="1400" u="none" strike="noStrike" cap="none">
                          <a:solidFill>
                            <a:srgbClr val="FF0000"/>
                          </a:solidFill>
                          <a:latin typeface="Calibri"/>
                          <a:ea typeface="Calibri"/>
                          <a:cs typeface="Calibri"/>
                          <a:sym typeface="Calibri"/>
                        </a:rPr>
                        <a:t>Symbicort® 100/6</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 puffs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inh</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twice 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732" name="Google Shape;732;p58"/>
          <p:cNvSpPr txBox="1"/>
          <p:nvPr/>
        </p:nvSpPr>
        <p:spPr>
          <a:xfrm>
            <a:off x="6191252" y="4810764"/>
            <a:ext cx="5815012"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Amoxicillin and inhaled corticosteroids can cause oral thrush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Dalteparin – increased bleeding risk </a:t>
            </a:r>
            <a:endParaRPr sz="1400" b="0" i="0" u="none" strike="noStrike" cap="none">
              <a:solidFill>
                <a:srgbClr val="FF0000"/>
              </a:solidFill>
              <a:latin typeface="Calibri"/>
              <a:ea typeface="Calibri"/>
              <a:cs typeface="Calibri"/>
              <a:sym typeface="Calibri"/>
            </a:endParaRPr>
          </a:p>
        </p:txBody>
      </p:sp>
      <p:sp>
        <p:nvSpPr>
          <p:cNvPr id="2" name="Google Shape;595;p112">
            <a:extLst>
              <a:ext uri="{FF2B5EF4-FFF2-40B4-BE49-F238E27FC236}">
                <a16:creationId xmlns:a16="http://schemas.microsoft.com/office/drawing/2014/main" id="{D35EC1FA-B952-ACBD-244E-D7B91018D5D2}"/>
              </a:ext>
            </a:extLst>
          </p:cNvPr>
          <p:cNvSpPr txBox="1"/>
          <p:nvPr/>
        </p:nvSpPr>
        <p:spPr>
          <a:xfrm>
            <a:off x="10977563" y="6027003"/>
            <a:ext cx="1214437"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dirty="0"/>
              <a:t>A6</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pic>
        <p:nvPicPr>
          <p:cNvPr id="759" name="Google Shape;759;p61"/>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760" name="Google Shape;760;p6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891465" y="38279"/>
            <a:ext cx="4157661" cy="643736"/>
          </a:xfrm>
          <a:prstGeom prst="rect">
            <a:avLst/>
          </a:prstGeom>
          <a:noFill/>
          <a:ln>
            <a:noFill/>
          </a:ln>
        </p:spPr>
      </p:pic>
      <p:sp>
        <p:nvSpPr>
          <p:cNvPr id="761" name="Google Shape;761;p61"/>
          <p:cNvSpPr txBox="1"/>
          <p:nvPr/>
        </p:nvSpPr>
        <p:spPr>
          <a:xfrm>
            <a:off x="185738" y="257178"/>
            <a:ext cx="1985962" cy="353943"/>
          </a:xfrm>
          <a:prstGeom prst="rect">
            <a:avLst/>
          </a:prstGeom>
          <a:solidFill>
            <a:srgbClr val="1556C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Prescription review</a:t>
            </a:r>
            <a:endParaRPr sz="1400" b="0" i="0" u="none" strike="noStrike" cap="none">
              <a:solidFill>
                <a:srgbClr val="000000"/>
              </a:solidFill>
              <a:latin typeface="Arial"/>
              <a:ea typeface="Arial"/>
              <a:cs typeface="Arial"/>
              <a:sym typeface="Arial"/>
            </a:endParaRPr>
          </a:p>
        </p:txBody>
      </p:sp>
      <p:sp>
        <p:nvSpPr>
          <p:cNvPr id="762" name="Google Shape;762;p61"/>
          <p:cNvSpPr txBox="1"/>
          <p:nvPr/>
        </p:nvSpPr>
        <p:spPr>
          <a:xfrm>
            <a:off x="2171700" y="25679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4 marks</a:t>
            </a:r>
            <a:endParaRPr sz="1400" b="0" i="0" u="none" strike="noStrike" cap="none">
              <a:solidFill>
                <a:srgbClr val="000000"/>
              </a:solidFill>
              <a:latin typeface="Arial"/>
              <a:ea typeface="Arial"/>
              <a:cs typeface="Arial"/>
              <a:sym typeface="Arial"/>
            </a:endParaRPr>
          </a:p>
        </p:txBody>
      </p:sp>
      <p:sp>
        <p:nvSpPr>
          <p:cNvPr id="763" name="Google Shape;763;p61"/>
          <p:cNvSpPr txBox="1"/>
          <p:nvPr/>
        </p:nvSpPr>
        <p:spPr>
          <a:xfrm>
            <a:off x="6191252" y="899730"/>
            <a:ext cx="5815012" cy="387798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CURRENT PRESCRIPTIONS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endParaRPr sz="1200" b="1" i="0" u="none" strike="noStrike" cap="none">
              <a:solidFill>
                <a:schemeClr val="dk1"/>
              </a:solidFill>
              <a:latin typeface="Calibri"/>
              <a:ea typeface="Calibri"/>
              <a:cs typeface="Calibri"/>
              <a:sym typeface="Calibri"/>
            </a:endParaRPr>
          </a:p>
        </p:txBody>
      </p:sp>
      <p:sp>
        <p:nvSpPr>
          <p:cNvPr id="764" name="Google Shape;764;p61"/>
          <p:cNvSpPr txBox="1"/>
          <p:nvPr/>
        </p:nvSpPr>
        <p:spPr>
          <a:xfrm>
            <a:off x="185738" y="900112"/>
            <a:ext cx="5815012" cy="2031325"/>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Case</a:t>
            </a:r>
            <a:r>
              <a:rPr lang="en-US" sz="1800" b="0" i="0" u="none" strike="noStrike" cap="none" dirty="0">
                <a:solidFill>
                  <a:schemeClr val="dk1"/>
                </a:solidFill>
                <a:latin typeface="Calibri"/>
                <a:ea typeface="Calibri"/>
                <a:cs typeface="Calibri"/>
                <a:sym typeface="Calibri"/>
              </a:rPr>
              <a:t> </a:t>
            </a:r>
            <a:r>
              <a:rPr lang="en-US" sz="1800" b="1" i="0" u="none" strike="noStrike" cap="none" dirty="0">
                <a:solidFill>
                  <a:schemeClr val="dk1"/>
                </a:solidFill>
                <a:latin typeface="Calibri"/>
                <a:ea typeface="Calibri"/>
                <a:cs typeface="Calibri"/>
                <a:sym typeface="Calibri"/>
              </a:rPr>
              <a:t>presentation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A 60-year-old man comes for his annual diabetic review. </a:t>
            </a:r>
            <a:r>
              <a:rPr lang="en-US" sz="1800" b="1" i="0" u="none" strike="noStrike" cap="none" dirty="0">
                <a:solidFill>
                  <a:schemeClr val="dk1"/>
                </a:solidFill>
                <a:latin typeface="Calibri"/>
                <a:ea typeface="Calibri"/>
                <a:cs typeface="Calibri"/>
                <a:sym typeface="Calibri"/>
              </a:rPr>
              <a:t>PMH. </a:t>
            </a:r>
            <a:r>
              <a:rPr lang="en-US" sz="1800" b="0" i="0" u="none" strike="noStrike" cap="none" dirty="0">
                <a:solidFill>
                  <a:schemeClr val="dk1"/>
                </a:solidFill>
                <a:latin typeface="Calibri"/>
                <a:ea typeface="Calibri"/>
                <a:cs typeface="Calibri"/>
                <a:sym typeface="Calibri"/>
              </a:rPr>
              <a:t>T2DM, gout, high cholesterol and hypertension. </a:t>
            </a:r>
            <a:r>
              <a:rPr lang="en-US" sz="1800" b="1" i="0" u="none" strike="noStrike" cap="none" dirty="0">
                <a:solidFill>
                  <a:schemeClr val="dk1"/>
                </a:solidFill>
                <a:latin typeface="Calibri"/>
                <a:ea typeface="Calibri"/>
                <a:cs typeface="Calibri"/>
                <a:sym typeface="Calibri"/>
              </a:rPr>
              <a:t>DH. </a:t>
            </a:r>
            <a:r>
              <a:rPr lang="en-US" sz="1800" b="0" i="0" u="none" strike="noStrike" cap="none" dirty="0">
                <a:solidFill>
                  <a:schemeClr val="dk1"/>
                </a:solidFill>
                <a:latin typeface="Calibri"/>
                <a:ea typeface="Calibri"/>
                <a:cs typeface="Calibri"/>
                <a:sym typeface="Calibri"/>
              </a:rPr>
              <a:t>His current regular medications are listed (right).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Investigations: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HbA1c 53mmol/mol (7%)</a:t>
            </a:r>
            <a:endParaRPr sz="1400" b="0" i="0" u="none" strike="noStrike" cap="none" dirty="0">
              <a:solidFill>
                <a:srgbClr val="000000"/>
              </a:solidFill>
              <a:latin typeface="Arial"/>
              <a:ea typeface="Arial"/>
              <a:cs typeface="Arial"/>
              <a:sym typeface="Arial"/>
            </a:endParaRPr>
          </a:p>
        </p:txBody>
      </p:sp>
      <p:sp>
        <p:nvSpPr>
          <p:cNvPr id="765" name="Google Shape;765;p61"/>
          <p:cNvSpPr txBox="1"/>
          <p:nvPr/>
        </p:nvSpPr>
        <p:spPr>
          <a:xfrm>
            <a:off x="185736" y="3120772"/>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ONE prescription that contains a dosing error.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A)</a:t>
            </a:r>
            <a:endParaRPr sz="1400" b="0" i="0" u="none" strike="noStrike" cap="none">
              <a:solidFill>
                <a:srgbClr val="000000"/>
              </a:solidFill>
              <a:latin typeface="Arial"/>
              <a:ea typeface="Arial"/>
              <a:cs typeface="Arial"/>
              <a:sym typeface="Arial"/>
            </a:endParaRPr>
          </a:p>
        </p:txBody>
      </p:sp>
      <p:graphicFrame>
        <p:nvGraphicFramePr>
          <p:cNvPr id="766" name="Google Shape;766;p61"/>
          <p:cNvGraphicFramePr/>
          <p:nvPr/>
        </p:nvGraphicFramePr>
        <p:xfrm>
          <a:off x="6304756" y="1276008"/>
          <a:ext cx="5588000" cy="3337650"/>
        </p:xfrm>
        <a:graphic>
          <a:graphicData uri="http://schemas.openxmlformats.org/drawingml/2006/table">
            <a:tbl>
              <a:tblPr firstRow="1" bandRow="1">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Medicine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Dose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Route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Frequency</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A</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allopurinol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amlodipine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bezafibrate MR</a:t>
                      </a:r>
                      <a:endParaRPr sz="14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nightly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canagliflozin</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losartan</a:t>
                      </a:r>
                      <a:endParaRPr sz="14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100mg</a:t>
                      </a:r>
                      <a:endParaRPr sz="14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chemeClr val="tx1"/>
                          </a:solidFill>
                        </a:rPr>
                        <a:t>metformin</a:t>
                      </a:r>
                      <a:endParaRPr sz="1400" u="none" strike="noStrike" cap="none" dirty="0">
                        <a:solidFill>
                          <a:schemeClr val="tx1"/>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rPr>
                        <a:t>500mcg</a:t>
                      </a:r>
                      <a:endParaRPr sz="1400" u="none" strike="noStrike" cap="none" dirty="0">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TDS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pioglitazone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simvastatin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nightly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767" name="Google Shape;767;p61"/>
          <p:cNvSpPr txBox="1"/>
          <p:nvPr/>
        </p:nvSpPr>
        <p:spPr>
          <a:xfrm>
            <a:off x="185736" y="4240759"/>
            <a:ext cx="5815012" cy="1200329"/>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ONE prescription which is most likely to cause euglycemic diabetic ketoacidosis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B)</a:t>
            </a:r>
            <a:endParaRPr sz="1400" b="0" i="0" u="none" strike="noStrike" cap="none">
              <a:solidFill>
                <a:srgbClr val="000000"/>
              </a:solidFill>
              <a:latin typeface="Arial"/>
              <a:ea typeface="Arial"/>
              <a:cs typeface="Arial"/>
              <a:sym typeface="Arial"/>
            </a:endParaRPr>
          </a:p>
        </p:txBody>
      </p:sp>
      <p:sp>
        <p:nvSpPr>
          <p:cNvPr id="768" name="Google Shape;768;p61"/>
          <p:cNvSpPr txBox="1"/>
          <p:nvPr/>
        </p:nvSpPr>
        <p:spPr>
          <a:xfrm>
            <a:off x="6191252" y="4975817"/>
            <a:ext cx="5815012"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Metformin: units incorrect, 500mg would be reasonable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Canagliflozin – SGLT2s (e.g. dapagliflozin/empagliflozin) can cause DKA without marked hyperglycaemia</a:t>
            </a:r>
            <a:endParaRPr sz="1400" b="0" i="0" u="none" strike="noStrike" cap="none">
              <a:solidFill>
                <a:srgbClr val="FF0000"/>
              </a:solidFill>
              <a:latin typeface="Calibri"/>
              <a:ea typeface="Calibri"/>
              <a:cs typeface="Calibri"/>
              <a:sym typeface="Calibri"/>
            </a:endParaRPr>
          </a:p>
        </p:txBody>
      </p:sp>
      <p:sp>
        <p:nvSpPr>
          <p:cNvPr id="769" name="Google Shape;769;p61"/>
          <p:cNvSpPr txBox="1"/>
          <p:nvPr/>
        </p:nvSpPr>
        <p:spPr>
          <a:xfrm>
            <a:off x="185738" y="5948964"/>
            <a:ext cx="1214437"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rgbClr val="000000"/>
                </a:solidFill>
                <a:latin typeface="Arial"/>
                <a:ea typeface="Arial"/>
                <a:cs typeface="Arial"/>
                <a:sym typeface="Arial"/>
              </a:rPr>
              <a:t>A7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pic>
        <p:nvPicPr>
          <p:cNvPr id="795" name="Google Shape;795;p64"/>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796" name="Google Shape;796;p64"/>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891465" y="38279"/>
            <a:ext cx="4157661" cy="643736"/>
          </a:xfrm>
          <a:prstGeom prst="rect">
            <a:avLst/>
          </a:prstGeom>
          <a:noFill/>
          <a:ln>
            <a:noFill/>
          </a:ln>
        </p:spPr>
      </p:pic>
      <p:sp>
        <p:nvSpPr>
          <p:cNvPr id="797" name="Google Shape;797;p64"/>
          <p:cNvSpPr txBox="1"/>
          <p:nvPr/>
        </p:nvSpPr>
        <p:spPr>
          <a:xfrm>
            <a:off x="185738" y="257178"/>
            <a:ext cx="1985962" cy="353943"/>
          </a:xfrm>
          <a:prstGeom prst="rect">
            <a:avLst/>
          </a:prstGeom>
          <a:solidFill>
            <a:srgbClr val="1556C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Prescription review</a:t>
            </a:r>
            <a:endParaRPr sz="1400" b="0" i="0" u="none" strike="noStrike" cap="none">
              <a:solidFill>
                <a:srgbClr val="000000"/>
              </a:solidFill>
              <a:latin typeface="Arial"/>
              <a:ea typeface="Arial"/>
              <a:cs typeface="Arial"/>
              <a:sym typeface="Arial"/>
            </a:endParaRPr>
          </a:p>
        </p:txBody>
      </p:sp>
      <p:sp>
        <p:nvSpPr>
          <p:cNvPr id="798" name="Google Shape;798;p64"/>
          <p:cNvSpPr txBox="1"/>
          <p:nvPr/>
        </p:nvSpPr>
        <p:spPr>
          <a:xfrm>
            <a:off x="2171700" y="25679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4 marks</a:t>
            </a:r>
            <a:endParaRPr sz="1400" b="0" i="0" u="none" strike="noStrike" cap="none">
              <a:solidFill>
                <a:srgbClr val="000000"/>
              </a:solidFill>
              <a:latin typeface="Arial"/>
              <a:ea typeface="Arial"/>
              <a:cs typeface="Arial"/>
              <a:sym typeface="Arial"/>
            </a:endParaRPr>
          </a:p>
        </p:txBody>
      </p:sp>
      <p:sp>
        <p:nvSpPr>
          <p:cNvPr id="799" name="Google Shape;799;p64"/>
          <p:cNvSpPr txBox="1"/>
          <p:nvPr/>
        </p:nvSpPr>
        <p:spPr>
          <a:xfrm>
            <a:off x="6191252" y="899730"/>
            <a:ext cx="5815012" cy="3416320"/>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CURRENT PRESCRIPTIONS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p:txBody>
      </p:sp>
      <p:sp>
        <p:nvSpPr>
          <p:cNvPr id="800" name="Google Shape;800;p64"/>
          <p:cNvSpPr txBox="1"/>
          <p:nvPr/>
        </p:nvSpPr>
        <p:spPr>
          <a:xfrm>
            <a:off x="185738" y="900112"/>
            <a:ext cx="5815012" cy="3416320"/>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26-year-old has been admitted with abdominal pain and vomiting. </a:t>
            </a:r>
            <a:r>
              <a:rPr lang="en-US" sz="1800" b="1" i="0" u="none" strike="noStrike" cap="none">
                <a:solidFill>
                  <a:schemeClr val="dk1"/>
                </a:solidFill>
                <a:latin typeface="Calibri"/>
                <a:ea typeface="Calibri"/>
                <a:cs typeface="Calibri"/>
                <a:sym typeface="Calibri"/>
              </a:rPr>
              <a:t>PMH. </a:t>
            </a:r>
            <a:r>
              <a:rPr lang="en-US" sz="1800" b="0" i="0" u="none" strike="noStrike" cap="none">
                <a:solidFill>
                  <a:schemeClr val="dk1"/>
                </a:solidFill>
                <a:latin typeface="Calibri"/>
                <a:ea typeface="Calibri"/>
                <a:cs typeface="Calibri"/>
                <a:sym typeface="Calibri"/>
              </a:rPr>
              <a:t>Anxiety, depression, back pain.</a:t>
            </a:r>
            <a:r>
              <a:rPr lang="en-US" sz="1800" b="1" i="0" u="none" strike="noStrike" cap="none">
                <a:solidFill>
                  <a:schemeClr val="dk1"/>
                </a:solidFill>
                <a:latin typeface="Calibri"/>
                <a:ea typeface="Calibri"/>
                <a:cs typeface="Calibri"/>
                <a:sym typeface="Calibri"/>
              </a:rPr>
              <a:t> DH. </a:t>
            </a:r>
            <a:r>
              <a:rPr lang="en-US" sz="1800" b="0" i="0" u="none" strike="noStrike" cap="none">
                <a:solidFill>
                  <a:schemeClr val="dk1"/>
                </a:solidFill>
                <a:latin typeface="Calibri"/>
                <a:ea typeface="Calibri"/>
                <a:cs typeface="Calibri"/>
                <a:sym typeface="Calibri"/>
              </a:rPr>
              <a:t>Her current regular medications are listed (right).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Examination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Dry mucous membranes. Non specific abdominal tenderness, no guarding or peritonism.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Observations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BP 108/68, HR 96, RR 20, SpO2 98% RA, T 38.1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Investigations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Na 142 (137-144), K 4.5 (3.5-5.3), U 4.0 (2.5-7), Cr 58 (60-130), eGFR 90 (&gt;60)</a:t>
            </a:r>
            <a:endParaRPr sz="1400" b="0" i="0" u="none" strike="noStrike" cap="none">
              <a:solidFill>
                <a:srgbClr val="000000"/>
              </a:solidFill>
              <a:latin typeface="Arial"/>
              <a:ea typeface="Arial"/>
              <a:cs typeface="Arial"/>
              <a:sym typeface="Arial"/>
            </a:endParaRPr>
          </a:p>
        </p:txBody>
      </p:sp>
      <p:sp>
        <p:nvSpPr>
          <p:cNvPr id="801" name="Google Shape;801;p64"/>
          <p:cNvSpPr txBox="1"/>
          <p:nvPr/>
        </p:nvSpPr>
        <p:spPr>
          <a:xfrm>
            <a:off x="185736" y="4514916"/>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ONE prescription that contains a serious dosing error.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A)</a:t>
            </a:r>
            <a:endParaRPr sz="1400" b="0" i="0" u="none" strike="noStrike" cap="none">
              <a:solidFill>
                <a:srgbClr val="000000"/>
              </a:solidFill>
              <a:latin typeface="Arial"/>
              <a:ea typeface="Arial"/>
              <a:cs typeface="Arial"/>
              <a:sym typeface="Arial"/>
            </a:endParaRPr>
          </a:p>
        </p:txBody>
      </p:sp>
      <p:graphicFrame>
        <p:nvGraphicFramePr>
          <p:cNvPr id="802" name="Google Shape;802;p64"/>
          <p:cNvGraphicFramePr/>
          <p:nvPr/>
        </p:nvGraphicFramePr>
        <p:xfrm>
          <a:off x="6304756" y="1276008"/>
          <a:ext cx="5588000" cy="2966800"/>
        </p:xfrm>
        <a:graphic>
          <a:graphicData uri="http://schemas.openxmlformats.org/drawingml/2006/table">
            <a:tbl>
              <a:tblPr firstRow="1" bandRow="1">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Medicine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Dose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Route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Frequency</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A</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rPr>
                        <a:t>amitriptyline</a:t>
                      </a:r>
                      <a:endParaRPr sz="1400" u="none" strike="noStrike" cap="none" dirty="0">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nightly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co-amoxiclav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1.2g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IV</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TDS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morphine sulphate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 hourly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rPr>
                        <a:t>ondansetron</a:t>
                      </a:r>
                      <a:endParaRPr sz="1400" u="none" strike="noStrike" cap="none" dirty="0">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4mg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IV</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 hourly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propranolol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rPr>
                        <a:t>sertraline</a:t>
                      </a:r>
                      <a:endParaRPr sz="1400" u="none" strike="noStrike" cap="none" dirty="0">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zopiclone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solidFill>
                            <a:srgbClr val="FF0000"/>
                          </a:solidFill>
                        </a:rPr>
                        <a:t>75mg</a:t>
                      </a:r>
                      <a:endParaRPr sz="1400" u="none" strike="noStrike" cap="none" dirty="0">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nightly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803" name="Google Shape;803;p64"/>
          <p:cNvSpPr txBox="1"/>
          <p:nvPr/>
        </p:nvSpPr>
        <p:spPr>
          <a:xfrm>
            <a:off x="185736" y="5521673"/>
            <a:ext cx="5814900" cy="92340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THREE prescriptions that would most likely cause QT interval prolongation. </a:t>
            </a:r>
            <a:r>
              <a:rPr lang="en-US" sz="1800" b="0" i="1" u="none" strike="noStrike" cap="none">
                <a:solidFill>
                  <a:schemeClr val="dk1"/>
                </a:solidFill>
                <a:latin typeface="Calibri"/>
                <a:ea typeface="Calibri"/>
                <a:cs typeface="Calibri"/>
                <a:sym typeface="Calibri"/>
              </a:rPr>
              <a:t>(mark them with a tick in column B)</a:t>
            </a:r>
            <a:endParaRPr sz="1400" b="0" i="0" u="none" strike="noStrike" cap="none">
              <a:solidFill>
                <a:srgbClr val="000000"/>
              </a:solidFill>
              <a:latin typeface="Arial"/>
              <a:ea typeface="Arial"/>
              <a:cs typeface="Arial"/>
              <a:sym typeface="Arial"/>
            </a:endParaRPr>
          </a:p>
        </p:txBody>
      </p:sp>
      <p:sp>
        <p:nvSpPr>
          <p:cNvPr id="804" name="Google Shape;804;p64"/>
          <p:cNvSpPr txBox="1"/>
          <p:nvPr/>
        </p:nvSpPr>
        <p:spPr>
          <a:xfrm>
            <a:off x="6119813" y="5948964"/>
            <a:ext cx="5929313"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endParaRPr sz="4800" b="0" i="0" u="none" strike="noStrike" cap="none">
              <a:solidFill>
                <a:srgbClr val="FF0000"/>
              </a:solidFill>
              <a:latin typeface="Calibri"/>
              <a:ea typeface="Calibri"/>
              <a:cs typeface="Calibri"/>
              <a:sym typeface="Calibri"/>
            </a:endParaRPr>
          </a:p>
        </p:txBody>
      </p:sp>
      <p:sp>
        <p:nvSpPr>
          <p:cNvPr id="805" name="Google Shape;805;p64"/>
          <p:cNvSpPr txBox="1"/>
          <p:nvPr/>
        </p:nvSpPr>
        <p:spPr>
          <a:xfrm>
            <a:off x="6191252" y="4514152"/>
            <a:ext cx="5815012"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Zopiclone: 7.5mg (75mg is a massive dose!)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Amitriptyline, ondansetron and sertraline can all cause QT prolongation. Also note that </a:t>
            </a:r>
            <a:r>
              <a:rPr lang="en-US" sz="1400" b="1" i="0" u="none" strike="noStrike" cap="none">
                <a:solidFill>
                  <a:srgbClr val="FF0000"/>
                </a:solidFill>
                <a:latin typeface="Calibri"/>
                <a:ea typeface="Calibri"/>
                <a:cs typeface="Calibri"/>
                <a:sym typeface="Calibri"/>
              </a:rPr>
              <a:t>sertraline and ondansetron together </a:t>
            </a:r>
            <a:r>
              <a:rPr lang="en-US" sz="1400" b="0" i="0" u="none" strike="noStrike" cap="none">
                <a:solidFill>
                  <a:srgbClr val="FF0000"/>
                </a:solidFill>
                <a:latin typeface="Calibri"/>
                <a:ea typeface="Calibri"/>
                <a:cs typeface="Calibri"/>
                <a:sym typeface="Calibri"/>
              </a:rPr>
              <a:t>can cause increased risk of </a:t>
            </a:r>
            <a:r>
              <a:rPr lang="en-US" sz="1400" b="1" i="0" u="none" strike="noStrike" cap="none">
                <a:solidFill>
                  <a:srgbClr val="FF0000"/>
                </a:solidFill>
                <a:latin typeface="Calibri"/>
                <a:ea typeface="Calibri"/>
                <a:cs typeface="Calibri"/>
                <a:sym typeface="Calibri"/>
              </a:rPr>
              <a:t>serotonin syndrome </a:t>
            </a:r>
            <a:endParaRPr sz="1400" b="0" i="0" u="none" strike="noStrike" cap="none">
              <a:solidFill>
                <a:srgbClr val="000000"/>
              </a:solidFill>
              <a:latin typeface="Arial"/>
              <a:ea typeface="Arial"/>
              <a:cs typeface="Arial"/>
              <a:sym typeface="Arial"/>
            </a:endParaRPr>
          </a:p>
        </p:txBody>
      </p:sp>
      <p:sp>
        <p:nvSpPr>
          <p:cNvPr id="2" name="Google Shape;595;p112">
            <a:extLst>
              <a:ext uri="{FF2B5EF4-FFF2-40B4-BE49-F238E27FC236}">
                <a16:creationId xmlns:a16="http://schemas.microsoft.com/office/drawing/2014/main" id="{8ED4D850-0FE7-1C1A-C3D1-38BDA86CDF65}"/>
              </a:ext>
            </a:extLst>
          </p:cNvPr>
          <p:cNvSpPr txBox="1"/>
          <p:nvPr/>
        </p:nvSpPr>
        <p:spPr>
          <a:xfrm>
            <a:off x="10977563" y="6027003"/>
            <a:ext cx="1214437"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dirty="0"/>
              <a:t>A8</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pic>
        <p:nvPicPr>
          <p:cNvPr id="838" name="Google Shape;838;p67"/>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839" name="Google Shape;839;p6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891465" y="38279"/>
            <a:ext cx="4157661" cy="643736"/>
          </a:xfrm>
          <a:prstGeom prst="rect">
            <a:avLst/>
          </a:prstGeom>
          <a:noFill/>
          <a:ln>
            <a:noFill/>
          </a:ln>
        </p:spPr>
      </p:pic>
      <p:sp>
        <p:nvSpPr>
          <p:cNvPr id="840" name="Google Shape;840;p67"/>
          <p:cNvSpPr txBox="1"/>
          <p:nvPr/>
        </p:nvSpPr>
        <p:spPr>
          <a:xfrm>
            <a:off x="185738" y="257178"/>
            <a:ext cx="1985962" cy="353943"/>
          </a:xfrm>
          <a:prstGeom prst="rect">
            <a:avLst/>
          </a:prstGeom>
          <a:solidFill>
            <a:srgbClr val="1556C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Prescription review</a:t>
            </a:r>
            <a:endParaRPr sz="1400" b="0" i="0" u="none" strike="noStrike" cap="none">
              <a:solidFill>
                <a:srgbClr val="000000"/>
              </a:solidFill>
              <a:latin typeface="Arial"/>
              <a:ea typeface="Arial"/>
              <a:cs typeface="Arial"/>
              <a:sym typeface="Arial"/>
            </a:endParaRPr>
          </a:p>
        </p:txBody>
      </p:sp>
      <p:sp>
        <p:nvSpPr>
          <p:cNvPr id="841" name="Google Shape;841;p67"/>
          <p:cNvSpPr txBox="1"/>
          <p:nvPr/>
        </p:nvSpPr>
        <p:spPr>
          <a:xfrm>
            <a:off x="2171700" y="25679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4 marks</a:t>
            </a:r>
            <a:endParaRPr sz="1400" b="0" i="0" u="none" strike="noStrike" cap="none">
              <a:solidFill>
                <a:srgbClr val="000000"/>
              </a:solidFill>
              <a:latin typeface="Arial"/>
              <a:ea typeface="Arial"/>
              <a:cs typeface="Arial"/>
              <a:sym typeface="Arial"/>
            </a:endParaRPr>
          </a:p>
        </p:txBody>
      </p:sp>
      <p:sp>
        <p:nvSpPr>
          <p:cNvPr id="842" name="Google Shape;842;p67"/>
          <p:cNvSpPr txBox="1"/>
          <p:nvPr/>
        </p:nvSpPr>
        <p:spPr>
          <a:xfrm>
            <a:off x="6191252" y="899730"/>
            <a:ext cx="5815012" cy="3416320"/>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CURRENT PRESCRIPTIONS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p:txBody>
      </p:sp>
      <p:sp>
        <p:nvSpPr>
          <p:cNvPr id="843" name="Google Shape;843;p67"/>
          <p:cNvSpPr txBox="1"/>
          <p:nvPr/>
        </p:nvSpPr>
        <p:spPr>
          <a:xfrm>
            <a:off x="185736" y="899730"/>
            <a:ext cx="5815012" cy="3139321"/>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An 84-year-old man with Parkinson’s disease presented with an acute deterioration in his mobility. He had just been started on some new medications.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PMH </a:t>
            </a:r>
            <a:r>
              <a:rPr lang="en-US" sz="1800" b="0" i="0" u="none" strike="noStrike" cap="none">
                <a:solidFill>
                  <a:schemeClr val="dk1"/>
                </a:solidFill>
                <a:latin typeface="Calibri"/>
                <a:ea typeface="Calibri"/>
                <a:cs typeface="Calibri"/>
                <a:sym typeface="Calibri"/>
              </a:rPr>
              <a:t>PD, psychotic depression, previous fractured NOF, GORD. </a:t>
            </a:r>
            <a:r>
              <a:rPr lang="en-US" sz="1800" b="1" i="0" u="none" strike="noStrike" cap="none">
                <a:solidFill>
                  <a:schemeClr val="dk1"/>
                </a:solidFill>
                <a:latin typeface="Calibri"/>
                <a:ea typeface="Calibri"/>
                <a:cs typeface="Calibri"/>
                <a:sym typeface="Calibri"/>
              </a:rPr>
              <a:t>DH </a:t>
            </a:r>
            <a:r>
              <a:rPr lang="en-US" sz="1800" b="0" i="0" u="none" strike="noStrike" cap="none">
                <a:solidFill>
                  <a:schemeClr val="dk1"/>
                </a:solidFill>
                <a:latin typeface="Calibri"/>
                <a:ea typeface="Calibri"/>
                <a:cs typeface="Calibri"/>
                <a:sym typeface="Calibri"/>
              </a:rPr>
              <a:t>His most recent prescriptions are listed on the right.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Examination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Shuffling gait, difficulty initiating movements and episodes of freezing. </a:t>
            </a: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Observations </a:t>
            </a:r>
            <a:r>
              <a:rPr lang="en-US" sz="1800" b="0" i="0" u="none" strike="noStrike" cap="none">
                <a:solidFill>
                  <a:schemeClr val="dk1"/>
                </a:solidFill>
                <a:latin typeface="Calibri"/>
                <a:ea typeface="Calibri"/>
                <a:cs typeface="Calibri"/>
                <a:sym typeface="Calibri"/>
              </a:rPr>
              <a:t>HR 80, BP 125/80, RR 16, T 36.7, Sats 97% RA</a:t>
            </a:r>
            <a:endParaRPr sz="1800" b="1" i="0" u="none" strike="noStrike" cap="none">
              <a:solidFill>
                <a:schemeClr val="dk1"/>
              </a:solidFill>
              <a:latin typeface="Calibri"/>
              <a:ea typeface="Calibri"/>
              <a:cs typeface="Calibri"/>
              <a:sym typeface="Calibri"/>
            </a:endParaRPr>
          </a:p>
        </p:txBody>
      </p:sp>
      <p:sp>
        <p:nvSpPr>
          <p:cNvPr id="844" name="Google Shape;844;p67"/>
          <p:cNvSpPr txBox="1"/>
          <p:nvPr/>
        </p:nvSpPr>
        <p:spPr>
          <a:xfrm>
            <a:off x="185736" y="4237153"/>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TWO prescriptions that are most likely causing his symptoms to worsen. </a:t>
            </a:r>
            <a:r>
              <a:rPr lang="en-US" sz="1800" b="0" i="1" u="none" strike="noStrike" cap="none">
                <a:solidFill>
                  <a:schemeClr val="dk1"/>
                </a:solidFill>
                <a:latin typeface="Calibri"/>
                <a:ea typeface="Calibri"/>
                <a:cs typeface="Calibri"/>
                <a:sym typeface="Calibri"/>
              </a:rPr>
              <a:t>(mark them with a tick in column A)</a:t>
            </a:r>
            <a:endParaRPr sz="1400" b="0" i="0" u="none" strike="noStrike" cap="none">
              <a:solidFill>
                <a:srgbClr val="000000"/>
              </a:solidFill>
              <a:latin typeface="Arial"/>
              <a:ea typeface="Arial"/>
              <a:cs typeface="Arial"/>
              <a:sym typeface="Arial"/>
            </a:endParaRPr>
          </a:p>
        </p:txBody>
      </p:sp>
      <p:sp>
        <p:nvSpPr>
          <p:cNvPr id="845" name="Google Shape;845;p67"/>
          <p:cNvSpPr txBox="1"/>
          <p:nvPr/>
        </p:nvSpPr>
        <p:spPr>
          <a:xfrm>
            <a:off x="185736" y="5358585"/>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THREE prescriptions that can cause galactorrhoea.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B)</a:t>
            </a:r>
            <a:endParaRPr sz="1400" b="0" i="0" u="none" strike="noStrike" cap="none">
              <a:solidFill>
                <a:srgbClr val="000000"/>
              </a:solidFill>
              <a:latin typeface="Arial"/>
              <a:ea typeface="Arial"/>
              <a:cs typeface="Arial"/>
              <a:sym typeface="Arial"/>
            </a:endParaRPr>
          </a:p>
        </p:txBody>
      </p:sp>
      <p:graphicFrame>
        <p:nvGraphicFramePr>
          <p:cNvPr id="846" name="Google Shape;846;p67"/>
          <p:cNvGraphicFramePr/>
          <p:nvPr/>
        </p:nvGraphicFramePr>
        <p:xfrm>
          <a:off x="6304756" y="1276008"/>
          <a:ext cx="5588000" cy="2966800"/>
        </p:xfrm>
        <a:graphic>
          <a:graphicData uri="http://schemas.openxmlformats.org/drawingml/2006/table">
            <a:tbl>
              <a:tblPr firstRow="1" bandRow="1">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Medicine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Dose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Route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Frequency</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A</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citalopram</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co-careldopa</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25/100mg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 hrly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gaviscon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10ml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TDS PRN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lansoprazole </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metoclopramide</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 hrly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olanzapine</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risedronate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weekly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847" name="Google Shape;847;p67"/>
          <p:cNvSpPr txBox="1"/>
          <p:nvPr/>
        </p:nvSpPr>
        <p:spPr>
          <a:xfrm>
            <a:off x="6191252" y="4514152"/>
            <a:ext cx="5511317"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A: Metoclopramide (acts on central dopamine receptors) and olanzapine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(can exacerbate PD symptoms)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FF0000"/>
                </a:solidFill>
                <a:latin typeface="Calibri"/>
                <a:ea typeface="Calibri"/>
                <a:cs typeface="Calibri"/>
                <a:sym typeface="Calibri"/>
              </a:rPr>
              <a:t>B: Citalopram, metoclopramide and olanzapine</a:t>
            </a:r>
            <a:endParaRPr sz="1400" b="0" i="0" u="none" strike="noStrike" cap="none" dirty="0">
              <a:solidFill>
                <a:srgbClr val="000000"/>
              </a:solidFill>
              <a:latin typeface="Arial"/>
              <a:ea typeface="Arial"/>
              <a:cs typeface="Arial"/>
              <a:sym typeface="Arial"/>
            </a:endParaRPr>
          </a:p>
        </p:txBody>
      </p:sp>
      <p:sp>
        <p:nvSpPr>
          <p:cNvPr id="2" name="Google Shape;595;p112">
            <a:extLst>
              <a:ext uri="{FF2B5EF4-FFF2-40B4-BE49-F238E27FC236}">
                <a16:creationId xmlns:a16="http://schemas.microsoft.com/office/drawing/2014/main" id="{BD5ADCB8-C29F-0220-2B31-4F30F382BCE8}"/>
              </a:ext>
            </a:extLst>
          </p:cNvPr>
          <p:cNvSpPr txBox="1"/>
          <p:nvPr/>
        </p:nvSpPr>
        <p:spPr>
          <a:xfrm>
            <a:off x="10977563" y="6027003"/>
            <a:ext cx="1214437"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dirty="0"/>
              <a:t>A</a:t>
            </a:r>
            <a:r>
              <a:rPr lang="en-US" sz="4800" b="0" i="0" u="none" strike="noStrike" cap="none" dirty="0">
                <a:solidFill>
                  <a:srgbClr val="000000"/>
                </a:solidFill>
                <a:latin typeface="Arial"/>
                <a:ea typeface="Arial"/>
                <a:cs typeface="Arial"/>
                <a:sym typeface="Arial"/>
              </a:rPr>
              <a:t>9</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pic>
        <p:nvPicPr>
          <p:cNvPr id="873" name="Google Shape;873;p70"/>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874" name="Google Shape;874;p70"/>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7891465" y="38279"/>
            <a:ext cx="4157661" cy="643736"/>
          </a:xfrm>
          <a:prstGeom prst="rect">
            <a:avLst/>
          </a:prstGeom>
          <a:noFill/>
          <a:ln>
            <a:noFill/>
          </a:ln>
        </p:spPr>
      </p:pic>
      <p:sp>
        <p:nvSpPr>
          <p:cNvPr id="875" name="Google Shape;875;p70"/>
          <p:cNvSpPr txBox="1"/>
          <p:nvPr/>
        </p:nvSpPr>
        <p:spPr>
          <a:xfrm>
            <a:off x="185738" y="257178"/>
            <a:ext cx="1985962" cy="353943"/>
          </a:xfrm>
          <a:prstGeom prst="rect">
            <a:avLst/>
          </a:prstGeom>
          <a:solidFill>
            <a:srgbClr val="1556C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Prescription review</a:t>
            </a:r>
            <a:endParaRPr sz="1400" b="0" i="0" u="none" strike="noStrike" cap="none">
              <a:solidFill>
                <a:srgbClr val="000000"/>
              </a:solidFill>
              <a:latin typeface="Arial"/>
              <a:ea typeface="Arial"/>
              <a:cs typeface="Arial"/>
              <a:sym typeface="Arial"/>
            </a:endParaRPr>
          </a:p>
        </p:txBody>
      </p:sp>
      <p:sp>
        <p:nvSpPr>
          <p:cNvPr id="876" name="Google Shape;876;p70"/>
          <p:cNvSpPr txBox="1"/>
          <p:nvPr/>
        </p:nvSpPr>
        <p:spPr>
          <a:xfrm>
            <a:off x="2171700" y="25679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4 marks</a:t>
            </a:r>
            <a:endParaRPr sz="1400" b="0" i="0" u="none" strike="noStrike" cap="none">
              <a:solidFill>
                <a:srgbClr val="000000"/>
              </a:solidFill>
              <a:latin typeface="Arial"/>
              <a:ea typeface="Arial"/>
              <a:cs typeface="Arial"/>
              <a:sym typeface="Arial"/>
            </a:endParaRPr>
          </a:p>
        </p:txBody>
      </p:sp>
      <p:sp>
        <p:nvSpPr>
          <p:cNvPr id="877" name="Google Shape;877;p70"/>
          <p:cNvSpPr txBox="1"/>
          <p:nvPr/>
        </p:nvSpPr>
        <p:spPr>
          <a:xfrm>
            <a:off x="6191252" y="899730"/>
            <a:ext cx="5815012" cy="3416320"/>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CURRENT PRESCRIPTIONS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p:txBody>
      </p:sp>
      <p:graphicFrame>
        <p:nvGraphicFramePr>
          <p:cNvPr id="878" name="Google Shape;878;p70"/>
          <p:cNvGraphicFramePr/>
          <p:nvPr/>
        </p:nvGraphicFramePr>
        <p:xfrm>
          <a:off x="6304756" y="1276008"/>
          <a:ext cx="5588000" cy="2890590"/>
        </p:xfrm>
        <a:graphic>
          <a:graphicData uri="http://schemas.openxmlformats.org/drawingml/2006/table">
            <a:tbl>
              <a:tblPr firstRow="1" bandRow="1">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Medicine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Dose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Route</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Frequency</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A</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rPr>
                        <a:t>B</a:t>
                      </a: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candesartan</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8mg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cyclizine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IV</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3 times daily (8-hrly)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gentamicin</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405mg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naproxen</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500mg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daily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1400"/>
                        <a:buFont typeface="Calibri"/>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paracetamol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1000mg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4 times daily (6-hrly)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alibri"/>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7085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simvastatin</a:t>
                      </a:r>
                      <a:endParaRPr sz="1400" u="none" strike="noStrike" cap="none">
                        <a:solidFill>
                          <a:srgbClr val="FF0000"/>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20mg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PO</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nightly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rPr>
                        <a:t>✓</a:t>
                      </a:r>
                      <a:endParaRPr sz="14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879" name="Google Shape;879;p70"/>
          <p:cNvSpPr txBox="1"/>
          <p:nvPr/>
        </p:nvSpPr>
        <p:spPr>
          <a:xfrm>
            <a:off x="6191252" y="4514152"/>
            <a:ext cx="5815011"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A: Nephrotoxics  - candesartan (ARB), gentamicin (aminoglycoside), naproxen (NSAID)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FF0000"/>
                </a:solidFill>
                <a:latin typeface="Calibri"/>
                <a:ea typeface="Calibri"/>
                <a:cs typeface="Calibri"/>
                <a:sym typeface="Calibri"/>
              </a:rPr>
              <a:t>B: Statins can impair hepatic function</a:t>
            </a:r>
            <a:endParaRPr sz="1400" b="0" i="0" u="none" strike="noStrike" cap="none">
              <a:solidFill>
                <a:srgbClr val="000000"/>
              </a:solidFill>
              <a:latin typeface="Arial"/>
              <a:ea typeface="Arial"/>
              <a:cs typeface="Arial"/>
              <a:sym typeface="Arial"/>
            </a:endParaRPr>
          </a:p>
        </p:txBody>
      </p:sp>
      <p:sp>
        <p:nvSpPr>
          <p:cNvPr id="880" name="Google Shape;880;p70"/>
          <p:cNvSpPr txBox="1"/>
          <p:nvPr/>
        </p:nvSpPr>
        <p:spPr>
          <a:xfrm>
            <a:off x="185738" y="900112"/>
            <a:ext cx="5815012" cy="2862322"/>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79-year-old woman is on a surgical ward with acute cholecystitis. Weight 81kg. </a:t>
            </a:r>
            <a:r>
              <a:rPr lang="en-US" sz="1800" b="1" i="0" u="none" strike="noStrike" cap="none">
                <a:solidFill>
                  <a:schemeClr val="dk1"/>
                </a:solidFill>
                <a:latin typeface="Calibri"/>
                <a:ea typeface="Calibri"/>
                <a:cs typeface="Calibri"/>
                <a:sym typeface="Calibri"/>
              </a:rPr>
              <a:t>PMH. </a:t>
            </a:r>
            <a:r>
              <a:rPr lang="en-US" sz="1800" b="0" i="0" u="none" strike="noStrike" cap="none">
                <a:solidFill>
                  <a:schemeClr val="dk1"/>
                </a:solidFill>
                <a:latin typeface="Calibri"/>
                <a:ea typeface="Calibri"/>
                <a:cs typeface="Calibri"/>
                <a:sym typeface="Calibri"/>
              </a:rPr>
              <a:t>Hypercholesterolaemia, hypertension, osteoarthritis. </a:t>
            </a:r>
            <a:r>
              <a:rPr lang="en-US" sz="1800" b="1" i="0" u="none" strike="noStrike" cap="none">
                <a:solidFill>
                  <a:schemeClr val="dk1"/>
                </a:solidFill>
                <a:latin typeface="Calibri"/>
                <a:ea typeface="Calibri"/>
                <a:cs typeface="Calibri"/>
                <a:sym typeface="Calibri"/>
              </a:rPr>
              <a:t>DH. </a:t>
            </a:r>
            <a:r>
              <a:rPr lang="en-US" sz="1800" b="0" i="0" u="none" strike="noStrike" cap="none">
                <a:solidFill>
                  <a:schemeClr val="dk1"/>
                </a:solidFill>
                <a:latin typeface="Calibri"/>
                <a:ea typeface="Calibri"/>
                <a:cs typeface="Calibri"/>
                <a:sym typeface="Calibri"/>
              </a:rPr>
              <a:t>Her current regular medications are listed (right).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Examination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RUQ tenderness, Murphy’s sign positive.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Investigations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Na 141 (137-144), K 4.1 (3.5-5.3), Cr 190 (60-130), eGFR 23 (&gt;60), bili 44 (&lt;21) ALP 135 (35-130), ALT 38 (5-40)</a:t>
            </a:r>
            <a:endParaRPr sz="1400" b="0" i="0" u="none" strike="noStrike" cap="none">
              <a:solidFill>
                <a:srgbClr val="000000"/>
              </a:solidFill>
              <a:latin typeface="Arial"/>
              <a:ea typeface="Arial"/>
              <a:cs typeface="Arial"/>
              <a:sym typeface="Arial"/>
            </a:endParaRPr>
          </a:p>
        </p:txBody>
      </p:sp>
      <p:sp>
        <p:nvSpPr>
          <p:cNvPr id="881" name="Google Shape;881;p70"/>
          <p:cNvSpPr txBox="1"/>
          <p:nvPr/>
        </p:nvSpPr>
        <p:spPr>
          <a:xfrm>
            <a:off x="185736" y="3960918"/>
            <a:ext cx="5815012" cy="1200329"/>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A</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THREE prescriptions that are </a:t>
            </a:r>
            <a:r>
              <a:rPr lang="en-US" sz="1800" b="0" i="1" u="none" strike="noStrike" cap="none">
                <a:solidFill>
                  <a:schemeClr val="dk1"/>
                </a:solidFill>
                <a:latin typeface="Calibri"/>
                <a:ea typeface="Calibri"/>
                <a:cs typeface="Calibri"/>
                <a:sym typeface="Calibri"/>
              </a:rPr>
              <a:t>most likely</a:t>
            </a:r>
            <a:r>
              <a:rPr lang="en-US" sz="1800" b="0" i="0" u="none" strike="noStrike" cap="none">
                <a:solidFill>
                  <a:schemeClr val="dk1"/>
                </a:solidFill>
                <a:latin typeface="Calibri"/>
                <a:ea typeface="Calibri"/>
                <a:cs typeface="Calibri"/>
                <a:sym typeface="Calibri"/>
              </a:rPr>
              <a:t> contributing to her impaired renal function.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A)</a:t>
            </a:r>
            <a:endParaRPr sz="1400" b="0" i="0" u="none" strike="noStrike" cap="none">
              <a:solidFill>
                <a:srgbClr val="000000"/>
              </a:solidFill>
              <a:latin typeface="Arial"/>
              <a:ea typeface="Arial"/>
              <a:cs typeface="Arial"/>
              <a:sym typeface="Arial"/>
            </a:endParaRPr>
          </a:p>
        </p:txBody>
      </p:sp>
      <p:sp>
        <p:nvSpPr>
          <p:cNvPr id="882" name="Google Shape;882;p70"/>
          <p:cNvSpPr txBox="1"/>
          <p:nvPr/>
        </p:nvSpPr>
        <p:spPr>
          <a:xfrm>
            <a:off x="185736" y="5256270"/>
            <a:ext cx="5814900" cy="120060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 B</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ONE prescription that is </a:t>
            </a:r>
            <a:r>
              <a:rPr lang="en-US" sz="1800" b="0" i="1" u="none" strike="noStrike" cap="none">
                <a:solidFill>
                  <a:schemeClr val="dk1"/>
                </a:solidFill>
                <a:latin typeface="Calibri"/>
                <a:ea typeface="Calibri"/>
                <a:cs typeface="Calibri"/>
                <a:sym typeface="Calibri"/>
              </a:rPr>
              <a:t>most likely</a:t>
            </a:r>
            <a:r>
              <a:rPr lang="en-US" sz="1800" b="0" i="0" u="none" strike="noStrike" cap="none">
                <a:solidFill>
                  <a:schemeClr val="dk1"/>
                </a:solidFill>
                <a:latin typeface="Calibri"/>
                <a:ea typeface="Calibri"/>
                <a:cs typeface="Calibri"/>
                <a:sym typeface="Calibri"/>
              </a:rPr>
              <a:t> contributing to her impaired hepatic function.</a:t>
            </a:r>
            <a:endParaRPr sz="1800" b="0" i="1"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1" u="none" strike="noStrike" cap="none">
                <a:solidFill>
                  <a:schemeClr val="dk1"/>
                </a:solidFill>
                <a:latin typeface="Calibri"/>
                <a:ea typeface="Calibri"/>
                <a:cs typeface="Calibri"/>
                <a:sym typeface="Calibri"/>
              </a:rPr>
              <a:t>(mark them with a tick in column B)</a:t>
            </a:r>
            <a:endParaRPr sz="1400" b="0" i="0" u="none" strike="noStrike" cap="none">
              <a:solidFill>
                <a:srgbClr val="000000"/>
              </a:solidFill>
              <a:latin typeface="Arial"/>
              <a:ea typeface="Arial"/>
              <a:cs typeface="Arial"/>
              <a:sym typeface="Arial"/>
            </a:endParaRPr>
          </a:p>
        </p:txBody>
      </p:sp>
      <p:sp>
        <p:nvSpPr>
          <p:cNvPr id="2" name="Google Shape;595;p112">
            <a:extLst>
              <a:ext uri="{FF2B5EF4-FFF2-40B4-BE49-F238E27FC236}">
                <a16:creationId xmlns:a16="http://schemas.microsoft.com/office/drawing/2014/main" id="{8D3396D2-8B6D-79E2-6357-E429F47D420E}"/>
              </a:ext>
            </a:extLst>
          </p:cNvPr>
          <p:cNvSpPr txBox="1"/>
          <p:nvPr/>
        </p:nvSpPr>
        <p:spPr>
          <a:xfrm>
            <a:off x="10827327" y="6027003"/>
            <a:ext cx="1364673"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800"/>
              <a:buFont typeface="Arial"/>
              <a:buNone/>
            </a:pPr>
            <a:r>
              <a:rPr lang="en-US" sz="4800" dirty="0"/>
              <a:t>A</a:t>
            </a:r>
            <a:r>
              <a:rPr lang="en-US" sz="4800" b="0" i="0" u="none" strike="noStrike" cap="none" dirty="0">
                <a:solidFill>
                  <a:srgbClr val="000000"/>
                </a:solidFill>
                <a:latin typeface="Arial"/>
                <a:ea typeface="Arial"/>
                <a:cs typeface="Arial"/>
                <a:sym typeface="Arial"/>
              </a:rPr>
              <a:t>10</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19"/>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135" name="Google Shape;135;p19"/>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136" name="Google Shape;136;p19"/>
          <p:cNvSpPr txBox="1"/>
          <p:nvPr/>
        </p:nvSpPr>
        <p:spPr>
          <a:xfrm>
            <a:off x="185737" y="257178"/>
            <a:ext cx="2243137" cy="353943"/>
          </a:xfrm>
          <a:prstGeom prst="rect">
            <a:avLst/>
          </a:prstGeom>
          <a:solidFill>
            <a:srgbClr val="A02C2B"/>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Planning Management</a:t>
            </a:r>
            <a:endParaRPr sz="1400" b="0" i="0" u="none" strike="noStrike" cap="none">
              <a:solidFill>
                <a:srgbClr val="000000"/>
              </a:solidFill>
              <a:latin typeface="Arial"/>
              <a:ea typeface="Arial"/>
              <a:cs typeface="Arial"/>
              <a:sym typeface="Arial"/>
            </a:endParaRPr>
          </a:p>
        </p:txBody>
      </p:sp>
      <p:sp>
        <p:nvSpPr>
          <p:cNvPr id="137" name="Google Shape;137;p19"/>
          <p:cNvSpPr txBox="1"/>
          <p:nvPr/>
        </p:nvSpPr>
        <p:spPr>
          <a:xfrm>
            <a:off x="2428874" y="256799"/>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138" name="Google Shape;138;p19"/>
          <p:cNvSpPr txBox="1"/>
          <p:nvPr/>
        </p:nvSpPr>
        <p:spPr>
          <a:xfrm>
            <a:off x="185738" y="5948964"/>
            <a:ext cx="1118631"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A1</a:t>
            </a:r>
            <a:endParaRPr sz="1400" b="0" i="0" u="none" strike="noStrike" cap="none">
              <a:solidFill>
                <a:srgbClr val="000000"/>
              </a:solidFill>
              <a:latin typeface="Arial"/>
              <a:ea typeface="Arial"/>
              <a:cs typeface="Arial"/>
              <a:sym typeface="Arial"/>
            </a:endParaRPr>
          </a:p>
        </p:txBody>
      </p:sp>
      <p:sp>
        <p:nvSpPr>
          <p:cNvPr id="139" name="Google Shape;139;p19"/>
          <p:cNvSpPr txBox="1"/>
          <p:nvPr/>
        </p:nvSpPr>
        <p:spPr>
          <a:xfrm>
            <a:off x="6191252" y="899730"/>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MANAGEMENT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140" name="Google Shape;140;p19"/>
          <p:cNvSpPr txBox="1"/>
          <p:nvPr/>
        </p:nvSpPr>
        <p:spPr>
          <a:xfrm>
            <a:off x="185736" y="899730"/>
            <a:ext cx="5815012" cy="1754326"/>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28-year-old women presents to her GP complaining of vaginal discharge.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On examination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On speculum examination there is a thin, white vaginal discharge with a fishy smell. Swabs are taken. </a:t>
            </a:r>
            <a:endParaRPr sz="1400" b="0" i="0" u="none" strike="noStrike" cap="none">
              <a:solidFill>
                <a:srgbClr val="000000"/>
              </a:solidFill>
              <a:latin typeface="Arial"/>
              <a:ea typeface="Arial"/>
              <a:cs typeface="Arial"/>
              <a:sym typeface="Arial"/>
            </a:endParaRPr>
          </a:p>
        </p:txBody>
      </p:sp>
      <p:sp>
        <p:nvSpPr>
          <p:cNvPr id="141" name="Google Shape;141;p19"/>
          <p:cNvSpPr txBox="1"/>
          <p:nvPr/>
        </p:nvSpPr>
        <p:spPr>
          <a:xfrm>
            <a:off x="185736" y="2852158"/>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most appropriate management option at this stage.</a:t>
            </a:r>
            <a:endParaRPr sz="1400" b="0" i="0" u="none" strike="noStrike" cap="none">
              <a:solidFill>
                <a:srgbClr val="000000"/>
              </a:solidFill>
              <a:latin typeface="Arial"/>
              <a:ea typeface="Arial"/>
              <a:cs typeface="Arial"/>
              <a:sym typeface="Arial"/>
            </a:endParaRPr>
          </a:p>
        </p:txBody>
      </p:sp>
      <p:pic>
        <p:nvPicPr>
          <p:cNvPr id="142" name="Google Shape;142;p19" descr="Text&#10;&#10;Description automatically generated"/>
          <p:cNvPicPr preferRelativeResize="0"/>
          <p:nvPr/>
        </p:nvPicPr>
        <p:blipFill rotWithShape="1">
          <a:blip r:embed="rId5">
            <a:alphaModFix/>
          </a:blip>
          <a:srcRect/>
          <a:stretch/>
        </p:blipFill>
        <p:spPr>
          <a:xfrm>
            <a:off x="6823446" y="5337719"/>
            <a:ext cx="4236294" cy="1241102"/>
          </a:xfrm>
          <a:prstGeom prst="rect">
            <a:avLst/>
          </a:prstGeom>
          <a:noFill/>
          <a:ln>
            <a:noFill/>
          </a:ln>
        </p:spPr>
      </p:pic>
      <p:graphicFrame>
        <p:nvGraphicFramePr>
          <p:cNvPr id="143" name="Google Shape;143;p19"/>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aciclovir 200mg PO 5 times/day </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clotrimazole pessary 200mg PV ON</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fluconazole 150mg PO every 3 days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metronidazole 2g PO stat dose </a:t>
                      </a:r>
                      <a:endParaRPr sz="1800" u="none" strike="noStrike" cap="none">
                        <a:solidFill>
                          <a:srgbClr val="FF0000"/>
                        </a:solidFill>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D</a:t>
                      </a:r>
                      <a:endParaRPr sz="1400" u="none" strike="noStrike" cap="none">
                        <a:solidFill>
                          <a:srgbClr val="FF0000"/>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nystatin 100000 units QDS for 7 days</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44" name="Google Shape;144;p19"/>
          <p:cNvSpPr txBox="1"/>
          <p:nvPr/>
        </p:nvSpPr>
        <p:spPr>
          <a:xfrm>
            <a:off x="6191250" y="3548880"/>
            <a:ext cx="5815011" cy="175428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FF0000"/>
              </a:buClr>
              <a:buSzPts val="1800"/>
              <a:buFont typeface="Arial"/>
              <a:buChar char="•"/>
            </a:pPr>
            <a:r>
              <a:rPr lang="en-US" sz="1800" b="0" i="0" u="none" strike="noStrike" cap="none" dirty="0">
                <a:solidFill>
                  <a:srgbClr val="FF0000"/>
                </a:solidFill>
                <a:latin typeface="Calibri"/>
                <a:ea typeface="Calibri"/>
                <a:cs typeface="Calibri"/>
                <a:sym typeface="Calibri"/>
              </a:rPr>
              <a:t>Metronidazole – correct answer either 400-500mg twice daily for 5-7 days or 2g for 1 dose</a:t>
            </a:r>
            <a:endParaRPr sz="1800" b="0" i="0" u="none" strike="noStrike" cap="none" dirty="0">
              <a:solidFill>
                <a:srgbClr val="FF0000"/>
              </a:solidFill>
              <a:latin typeface="Calibri"/>
              <a:ea typeface="Calibri"/>
              <a:cs typeface="Calibri"/>
              <a:sym typeface="Calibri"/>
            </a:endParaRPr>
          </a:p>
          <a:p>
            <a:pPr marL="285750" marR="0" lvl="0" indent="-285750" algn="l" rtl="0">
              <a:lnSpc>
                <a:spcPct val="100000"/>
              </a:lnSpc>
              <a:spcBef>
                <a:spcPts val="0"/>
              </a:spcBef>
              <a:spcAft>
                <a:spcPts val="0"/>
              </a:spcAft>
              <a:buClr>
                <a:srgbClr val="FF0000"/>
              </a:buClr>
              <a:buSzPts val="1800"/>
              <a:buFont typeface="Arial"/>
              <a:buChar char="•"/>
            </a:pPr>
            <a:r>
              <a:rPr lang="en-US" sz="1800" b="0" i="0" u="none" strike="noStrike" cap="none" dirty="0" err="1">
                <a:solidFill>
                  <a:srgbClr val="FF0000"/>
                </a:solidFill>
                <a:latin typeface="Calibri"/>
                <a:ea typeface="Calibri"/>
                <a:cs typeface="Calibri"/>
                <a:sym typeface="Calibri"/>
              </a:rPr>
              <a:t>Aciclovir</a:t>
            </a:r>
            <a:r>
              <a:rPr lang="en-US" sz="1800" b="0" i="0" u="none" strike="noStrike" cap="none" dirty="0">
                <a:solidFill>
                  <a:srgbClr val="FF0000"/>
                </a:solidFill>
                <a:latin typeface="Calibri"/>
                <a:ea typeface="Calibri"/>
                <a:cs typeface="Calibri"/>
                <a:sym typeface="Calibri"/>
              </a:rPr>
              <a:t> – anti-viral</a:t>
            </a:r>
            <a:endParaRPr dirty="0"/>
          </a:p>
          <a:p>
            <a:pPr marL="285750" marR="0" lvl="0" indent="-285750" algn="l" rtl="0">
              <a:lnSpc>
                <a:spcPct val="100000"/>
              </a:lnSpc>
              <a:spcBef>
                <a:spcPts val="0"/>
              </a:spcBef>
              <a:spcAft>
                <a:spcPts val="0"/>
              </a:spcAft>
              <a:buClr>
                <a:srgbClr val="FF0000"/>
              </a:buClr>
              <a:buSzPts val="1800"/>
              <a:buFont typeface="Arial"/>
              <a:buChar char="•"/>
            </a:pPr>
            <a:r>
              <a:rPr lang="en-US" sz="1800" b="0" i="0" u="none" strike="noStrike" cap="none" dirty="0">
                <a:solidFill>
                  <a:srgbClr val="FF0000"/>
                </a:solidFill>
                <a:latin typeface="Calibri"/>
                <a:ea typeface="Calibri"/>
                <a:cs typeface="Calibri"/>
                <a:sym typeface="Calibri"/>
              </a:rPr>
              <a:t>Clotrimazole – vaginal candidiasis</a:t>
            </a:r>
            <a:endParaRPr dirty="0"/>
          </a:p>
          <a:p>
            <a:pPr marL="285750" marR="0" lvl="0" indent="-285750" algn="l" rtl="0">
              <a:lnSpc>
                <a:spcPct val="100000"/>
              </a:lnSpc>
              <a:spcBef>
                <a:spcPts val="0"/>
              </a:spcBef>
              <a:spcAft>
                <a:spcPts val="0"/>
              </a:spcAft>
              <a:buClr>
                <a:srgbClr val="FF0000"/>
              </a:buClr>
              <a:buSzPts val="1800"/>
              <a:buFont typeface="Arial"/>
              <a:buChar char="•"/>
            </a:pPr>
            <a:r>
              <a:rPr lang="en-US" sz="1800" b="0" i="0" u="none" strike="noStrike" cap="none" dirty="0">
                <a:solidFill>
                  <a:srgbClr val="FF0000"/>
                </a:solidFill>
                <a:latin typeface="Calibri"/>
                <a:ea typeface="Calibri"/>
                <a:cs typeface="Calibri"/>
                <a:sym typeface="Calibri"/>
              </a:rPr>
              <a:t>Fluconazole – recurrent vulvovaginal candidiasis</a:t>
            </a:r>
            <a:endParaRPr dirty="0"/>
          </a:p>
          <a:p>
            <a:pPr marL="285750" marR="0" lvl="0" indent="-285750" algn="l" rtl="0">
              <a:lnSpc>
                <a:spcPct val="100000"/>
              </a:lnSpc>
              <a:spcBef>
                <a:spcPts val="0"/>
              </a:spcBef>
              <a:spcAft>
                <a:spcPts val="0"/>
              </a:spcAft>
              <a:buClr>
                <a:srgbClr val="FF0000"/>
              </a:buClr>
              <a:buSzPts val="1800"/>
              <a:buFont typeface="Arial"/>
              <a:buChar char="•"/>
            </a:pPr>
            <a:r>
              <a:rPr lang="en-US" sz="1800" b="0" i="0" u="none" strike="noStrike" cap="none" dirty="0">
                <a:solidFill>
                  <a:srgbClr val="FF0000"/>
                </a:solidFill>
                <a:latin typeface="Calibri"/>
                <a:ea typeface="Calibri"/>
                <a:cs typeface="Calibri"/>
                <a:sym typeface="Calibri"/>
              </a:rPr>
              <a:t>Nystatin – oral candidiasis</a:t>
            </a:r>
            <a:endParaRPr sz="1800" b="0" i="0" u="none" strike="noStrike" cap="none" dirty="0">
              <a:solidFill>
                <a:srgbClr val="FF0000"/>
              </a:solidFill>
              <a:latin typeface="Arial"/>
              <a:ea typeface="Arial"/>
              <a:cs typeface="Arial"/>
              <a:sym typeface="Arial"/>
            </a:endParaRPr>
          </a:p>
        </p:txBody>
      </p:sp>
      <p:sp>
        <p:nvSpPr>
          <p:cNvPr id="2" name="TextBox 1">
            <a:extLst>
              <a:ext uri="{FF2B5EF4-FFF2-40B4-BE49-F238E27FC236}">
                <a16:creationId xmlns:a16="http://schemas.microsoft.com/office/drawing/2014/main" id="{C2D356E9-1A54-F37B-944C-1D58A3BB69E8}"/>
              </a:ext>
            </a:extLst>
          </p:cNvPr>
          <p:cNvSpPr txBox="1"/>
          <p:nvPr/>
        </p:nvSpPr>
        <p:spPr>
          <a:xfrm>
            <a:off x="185736" y="3973590"/>
            <a:ext cx="5815011" cy="1384995"/>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br>
              <a:rPr lang="en-US"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If you know medication? </a:t>
            </a:r>
            <a:r>
              <a:rPr lang="en-US" dirty="0">
                <a:latin typeface="Calibri" panose="020F0502020204030204" pitchFamily="34" charset="0"/>
                <a:cs typeface="Calibri" panose="020F0502020204030204" pitchFamily="34" charset="0"/>
              </a:rPr>
              <a:t>Metronidazole drug page then scroll to indication for bacterial vaginosis (dose as per screenshot on right)</a:t>
            </a:r>
          </a:p>
          <a:p>
            <a:r>
              <a:rPr lang="en-US" b="1" dirty="0">
                <a:latin typeface="Calibri" panose="020F0502020204030204" pitchFamily="34" charset="0"/>
                <a:cs typeface="Calibri" panose="020F0502020204030204" pitchFamily="34" charset="0"/>
              </a:rPr>
              <a:t>If you know diagnosis? </a:t>
            </a:r>
            <a:r>
              <a:rPr lang="en-US" dirty="0">
                <a:latin typeface="Calibri" panose="020F0502020204030204" pitchFamily="34" charset="0"/>
                <a:cs typeface="Calibri" panose="020F0502020204030204" pitchFamily="34" charset="0"/>
              </a:rPr>
              <a:t>Search ‘bacterial vaginosis’ – metronidazole and ‘Genital system infections’ Treatment summary are listed</a:t>
            </a:r>
          </a:p>
          <a:p>
            <a:r>
              <a:rPr lang="en-US" b="1" dirty="0">
                <a:latin typeface="Calibri" panose="020F0502020204030204" pitchFamily="34" charset="0"/>
                <a:cs typeface="Calibri" panose="020F0502020204030204" pitchFamily="34" charset="0"/>
              </a:rPr>
              <a:t>If you are unsure? </a:t>
            </a:r>
            <a:r>
              <a:rPr lang="en-US" dirty="0">
                <a:latin typeface="Calibri" panose="020F0502020204030204" pitchFamily="34" charset="0"/>
                <a:cs typeface="Calibri" panose="020F0502020204030204" pitchFamily="34" charset="0"/>
              </a:rPr>
              <a:t>‘Genital system infections’ Treatment summary</a:t>
            </a:r>
          </a:p>
        </p:txBody>
      </p:sp>
      <p:sp>
        <p:nvSpPr>
          <p:cNvPr id="3" name="TextBox 2">
            <a:extLst>
              <a:ext uri="{FF2B5EF4-FFF2-40B4-BE49-F238E27FC236}">
                <a16:creationId xmlns:a16="http://schemas.microsoft.com/office/drawing/2014/main" id="{B97B4C9C-FA2C-952D-FDF8-7D2F887311FE}"/>
              </a:ext>
            </a:extLst>
          </p:cNvPr>
          <p:cNvSpPr txBox="1"/>
          <p:nvPr/>
        </p:nvSpPr>
        <p:spPr>
          <a:xfrm>
            <a:off x="8527214" y="6550223"/>
            <a:ext cx="3664786"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6"/>
              </a:rPr>
              <a:t>https://bnf.nice.org.uk/drugs/metronidazole/</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21"/>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175" name="Google Shape;175;p21"/>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176" name="Google Shape;176;p21"/>
          <p:cNvSpPr txBox="1"/>
          <p:nvPr/>
        </p:nvSpPr>
        <p:spPr>
          <a:xfrm>
            <a:off x="185737" y="257178"/>
            <a:ext cx="2243137" cy="353943"/>
          </a:xfrm>
          <a:prstGeom prst="rect">
            <a:avLst/>
          </a:prstGeom>
          <a:solidFill>
            <a:srgbClr val="A02C2B"/>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Planning Management</a:t>
            </a:r>
            <a:endParaRPr sz="1400" b="0" i="0" u="none" strike="noStrike" cap="none">
              <a:solidFill>
                <a:srgbClr val="000000"/>
              </a:solidFill>
              <a:latin typeface="Arial"/>
              <a:ea typeface="Arial"/>
              <a:cs typeface="Arial"/>
              <a:sym typeface="Arial"/>
            </a:endParaRPr>
          </a:p>
        </p:txBody>
      </p:sp>
      <p:sp>
        <p:nvSpPr>
          <p:cNvPr id="177" name="Google Shape;177;p21"/>
          <p:cNvSpPr txBox="1"/>
          <p:nvPr/>
        </p:nvSpPr>
        <p:spPr>
          <a:xfrm>
            <a:off x="2428874" y="256799"/>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178" name="Google Shape;178;p21"/>
          <p:cNvSpPr txBox="1"/>
          <p:nvPr/>
        </p:nvSpPr>
        <p:spPr>
          <a:xfrm>
            <a:off x="185738" y="5948964"/>
            <a:ext cx="1118631"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A2</a:t>
            </a:r>
            <a:endParaRPr sz="1400" b="0" i="0" u="none" strike="noStrike" cap="none">
              <a:solidFill>
                <a:srgbClr val="000000"/>
              </a:solidFill>
              <a:latin typeface="Arial"/>
              <a:ea typeface="Arial"/>
              <a:cs typeface="Arial"/>
              <a:sym typeface="Arial"/>
            </a:endParaRPr>
          </a:p>
        </p:txBody>
      </p:sp>
      <p:sp>
        <p:nvSpPr>
          <p:cNvPr id="179" name="Google Shape;179;p21"/>
          <p:cNvSpPr txBox="1"/>
          <p:nvPr/>
        </p:nvSpPr>
        <p:spPr>
          <a:xfrm>
            <a:off x="6191252" y="899730"/>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MANAGEMENT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180" name="Google Shape;180;p21"/>
          <p:cNvSpPr txBox="1"/>
          <p:nvPr/>
        </p:nvSpPr>
        <p:spPr>
          <a:xfrm>
            <a:off x="185736" y="899730"/>
            <a:ext cx="5815012" cy="2585323"/>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An 18-year-old girl presents to A&amp;E following an intentional overdose. She reported taking 11 x 500mg paracetamol tablets 6 hours ago. She reports some nausea and mild epigastric discomfort. She has no known drug allergies. Observations are all within normal parameters.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Investigations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INR 1.2 (&lt;1.4), ALT 15 (&lt;33), ALP 49 (30-130), Bili 12 (&lt;21), Paracetamol level 10mg/L</a:t>
            </a:r>
            <a:endParaRPr sz="1800" b="1" i="0" u="none" strike="noStrike" cap="none">
              <a:solidFill>
                <a:schemeClr val="dk1"/>
              </a:solidFill>
              <a:latin typeface="Calibri"/>
              <a:ea typeface="Calibri"/>
              <a:cs typeface="Calibri"/>
              <a:sym typeface="Calibri"/>
            </a:endParaRPr>
          </a:p>
        </p:txBody>
      </p:sp>
      <p:sp>
        <p:nvSpPr>
          <p:cNvPr id="181" name="Google Shape;181;p21"/>
          <p:cNvSpPr txBox="1"/>
          <p:nvPr/>
        </p:nvSpPr>
        <p:spPr>
          <a:xfrm>
            <a:off x="185736" y="3683155"/>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most appropriate management option at this stage.</a:t>
            </a:r>
            <a:endParaRPr sz="1400" b="0" i="0" u="none" strike="noStrike" cap="none">
              <a:solidFill>
                <a:srgbClr val="000000"/>
              </a:solidFill>
              <a:latin typeface="Arial"/>
              <a:ea typeface="Arial"/>
              <a:cs typeface="Arial"/>
              <a:sym typeface="Arial"/>
            </a:endParaRPr>
          </a:p>
        </p:txBody>
      </p:sp>
      <p:graphicFrame>
        <p:nvGraphicFramePr>
          <p:cNvPr id="182" name="Google Shape;182;p21"/>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activated charcoal</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solidFill>
                            <a:srgbClr val="FF0000"/>
                          </a:solidFill>
                          <a:latin typeface="Calibri"/>
                          <a:ea typeface="Calibri"/>
                          <a:cs typeface="Calibri"/>
                          <a:sym typeface="Calibri"/>
                        </a:rPr>
                        <a:t>admit for observation</a:t>
                      </a:r>
                      <a:endParaRPr sz="1400" u="none" strike="noStrike" cap="none">
                        <a:solidFill>
                          <a:srgbClr val="FF0000"/>
                        </a:solidFill>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solidFill>
                            <a:srgbClr val="FF0000"/>
                          </a:solidFill>
                          <a:latin typeface="Calibri"/>
                          <a:ea typeface="Calibri"/>
                          <a:cs typeface="Calibri"/>
                          <a:sym typeface="Calibri"/>
                        </a:rPr>
                        <a:t>B</a:t>
                      </a:r>
                      <a:endParaRPr sz="1400" u="none" strike="noStrike" cap="none">
                        <a:solidFill>
                          <a:srgbClr val="FF0000"/>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N-acetylcysteine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naloxone</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sodium chloride 0.9% IV over 8 hours </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E40C184F-CB7D-4579-16CE-06BABF4E8A71}"/>
              </a:ext>
            </a:extLst>
          </p:cNvPr>
          <p:cNvSpPr txBox="1"/>
          <p:nvPr/>
        </p:nvSpPr>
        <p:spPr>
          <a:xfrm>
            <a:off x="185736" y="4827532"/>
            <a:ext cx="5416061" cy="523220"/>
          </a:xfrm>
          <a:prstGeom prst="rect">
            <a:avLst/>
          </a:prstGeom>
          <a:noFill/>
        </p:spPr>
        <p:txBody>
          <a:bodyPr wrap="square" rtlCol="0">
            <a:spAutoFit/>
          </a:bodyPr>
          <a:lstStyle/>
          <a:p>
            <a:r>
              <a:rPr lang="en-US" b="1" dirty="0"/>
              <a:t>How to find on BNF?</a:t>
            </a:r>
            <a:br>
              <a:rPr lang="en-US" dirty="0"/>
            </a:br>
            <a:r>
              <a:rPr lang="en-US" dirty="0"/>
              <a:t>‘Poisoning, emergency treatment’ Treatment summary</a:t>
            </a:r>
          </a:p>
        </p:txBody>
      </p:sp>
      <p:sp>
        <p:nvSpPr>
          <p:cNvPr id="3" name="TextBox 2">
            <a:extLst>
              <a:ext uri="{FF2B5EF4-FFF2-40B4-BE49-F238E27FC236}">
                <a16:creationId xmlns:a16="http://schemas.microsoft.com/office/drawing/2014/main" id="{35A91B10-04D6-975B-5835-9166E7675F23}"/>
              </a:ext>
            </a:extLst>
          </p:cNvPr>
          <p:cNvSpPr txBox="1"/>
          <p:nvPr/>
        </p:nvSpPr>
        <p:spPr>
          <a:xfrm>
            <a:off x="5933555" y="6550223"/>
            <a:ext cx="6258445" cy="307777"/>
          </a:xfrm>
          <a:prstGeom prst="rect">
            <a:avLst/>
          </a:prstGeom>
          <a:noFill/>
        </p:spPr>
        <p:txBody>
          <a:bodyPr wrap="none" rtlCol="0">
            <a:spAutoFit/>
          </a:bodyPr>
          <a:lstStyle/>
          <a:p>
            <a:pPr algn="r"/>
            <a:r>
              <a:rPr lang="en-US" dirty="0">
                <a:latin typeface="Calibri" panose="020F0502020204030204" pitchFamily="34" charset="0"/>
                <a:cs typeface="Calibri" panose="020F0502020204030204" pitchFamily="34" charset="0"/>
                <a:hlinkClick r:id="rId5"/>
              </a:rPr>
              <a:t>https://bnf.nice.org.uk/treatment-summaries/poisoning-emergency-treatment/</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Google Shape;215;p34"/>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216" name="Google Shape;216;p34"/>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217" name="Google Shape;217;p34"/>
          <p:cNvSpPr txBox="1"/>
          <p:nvPr/>
        </p:nvSpPr>
        <p:spPr>
          <a:xfrm>
            <a:off x="185737" y="257178"/>
            <a:ext cx="2243137" cy="353943"/>
          </a:xfrm>
          <a:prstGeom prst="rect">
            <a:avLst/>
          </a:prstGeom>
          <a:solidFill>
            <a:srgbClr val="A02C2B"/>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Planning Management</a:t>
            </a:r>
            <a:endParaRPr sz="1400" b="0" i="0" u="none" strike="noStrike" cap="none">
              <a:solidFill>
                <a:srgbClr val="000000"/>
              </a:solidFill>
              <a:latin typeface="Arial"/>
              <a:ea typeface="Arial"/>
              <a:cs typeface="Arial"/>
              <a:sym typeface="Arial"/>
            </a:endParaRPr>
          </a:p>
        </p:txBody>
      </p:sp>
      <p:sp>
        <p:nvSpPr>
          <p:cNvPr id="218" name="Google Shape;218;p34"/>
          <p:cNvSpPr txBox="1"/>
          <p:nvPr/>
        </p:nvSpPr>
        <p:spPr>
          <a:xfrm>
            <a:off x="2428874" y="256799"/>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219" name="Google Shape;219;p34"/>
          <p:cNvSpPr txBox="1"/>
          <p:nvPr/>
        </p:nvSpPr>
        <p:spPr>
          <a:xfrm>
            <a:off x="185738" y="5948964"/>
            <a:ext cx="1118631"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dirty="0">
                <a:solidFill>
                  <a:schemeClr val="dk1"/>
                </a:solidFill>
                <a:latin typeface="Calibri"/>
                <a:ea typeface="Calibri"/>
                <a:cs typeface="Calibri"/>
                <a:sym typeface="Calibri"/>
              </a:rPr>
              <a:t>A3</a:t>
            </a:r>
            <a:endParaRPr sz="1400" b="0" i="0" u="none" strike="noStrike" cap="none" dirty="0">
              <a:solidFill>
                <a:srgbClr val="000000"/>
              </a:solidFill>
              <a:latin typeface="Arial"/>
              <a:ea typeface="Arial"/>
              <a:cs typeface="Arial"/>
              <a:sym typeface="Arial"/>
            </a:endParaRPr>
          </a:p>
        </p:txBody>
      </p:sp>
      <p:sp>
        <p:nvSpPr>
          <p:cNvPr id="220" name="Google Shape;220;p34"/>
          <p:cNvSpPr txBox="1"/>
          <p:nvPr/>
        </p:nvSpPr>
        <p:spPr>
          <a:xfrm>
            <a:off x="6191252" y="899730"/>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MANAGEMENT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221" name="Google Shape;221;p34"/>
          <p:cNvSpPr txBox="1"/>
          <p:nvPr/>
        </p:nvSpPr>
        <p:spPr>
          <a:xfrm>
            <a:off x="185736" y="909796"/>
            <a:ext cx="5815012" cy="2862322"/>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68-year-old lady has end-stage oesophageal cancer and has been admitted as she is not managing at home with her pain. She is struggling to tolerate oral intake. She has been taking morphine sulphate MR 60mg orally BD and oramorph oral solution (10mg/5ml) 7.5ml. Over the last few days she has been requiring her oramorph 6 hourly.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She would like to try a patch for her pain as she is finding it difficult to tolerate any oral medication.</a:t>
            </a:r>
            <a:endParaRPr sz="1400" b="0" i="0" u="none" strike="noStrike" cap="none">
              <a:solidFill>
                <a:srgbClr val="000000"/>
              </a:solidFill>
              <a:latin typeface="Arial"/>
              <a:ea typeface="Arial"/>
              <a:cs typeface="Arial"/>
              <a:sym typeface="Arial"/>
            </a:endParaRPr>
          </a:p>
        </p:txBody>
      </p:sp>
      <p:sp>
        <p:nvSpPr>
          <p:cNvPr id="222" name="Google Shape;222;p34"/>
          <p:cNvSpPr txBox="1"/>
          <p:nvPr/>
        </p:nvSpPr>
        <p:spPr>
          <a:xfrm>
            <a:off x="185736" y="3980286"/>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most appropriate management option at this stage.</a:t>
            </a:r>
            <a:endParaRPr sz="1400" b="0" i="0" u="none" strike="noStrike" cap="none">
              <a:solidFill>
                <a:srgbClr val="000000"/>
              </a:solidFill>
              <a:latin typeface="Arial"/>
              <a:ea typeface="Arial"/>
              <a:cs typeface="Arial"/>
              <a:sym typeface="Arial"/>
            </a:endParaRPr>
          </a:p>
        </p:txBody>
      </p:sp>
      <p:graphicFrame>
        <p:nvGraphicFramePr>
          <p:cNvPr id="223" name="Google Shape;223;p34"/>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‘50’ fentanyl patch transdermally (replace every 3 days)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solidFill>
                            <a:srgbClr val="FF0000"/>
                          </a:solidFill>
                          <a:latin typeface="Calibri"/>
                          <a:ea typeface="Calibri"/>
                          <a:cs typeface="Calibri"/>
                          <a:sym typeface="Calibri"/>
                        </a:rPr>
                        <a:t>‘75’ fentanyl patch transdermally (replace every 3 days)</a:t>
                      </a:r>
                      <a:endParaRPr sz="1600" u="none" strike="noStrike" cap="none">
                        <a:solidFill>
                          <a:srgbClr val="FF0000"/>
                        </a:solidFill>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FF0000"/>
                        </a:buClr>
                        <a:buSzPts val="1800"/>
                        <a:buFont typeface="Calibri"/>
                        <a:buNone/>
                      </a:pPr>
                      <a:r>
                        <a:rPr lang="en-US" sz="1800" u="none" strike="noStrike" cap="none">
                          <a:solidFill>
                            <a:srgbClr val="FF0000"/>
                          </a:solidFill>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‘75’ fentanyl patch transdermally (replace every 5 days)</a:t>
                      </a:r>
                      <a:endParaRPr sz="16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‘100’ fentanyl patch transdermally (replace every 3 days)</a:t>
                      </a:r>
                      <a:endParaRPr sz="16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chemeClr val="dk1"/>
                        </a:buClr>
                        <a:buSzPts val="1600"/>
                        <a:buFont typeface="Calibri"/>
                        <a:buNone/>
                      </a:pPr>
                      <a:r>
                        <a:rPr lang="en-US" sz="1600" u="none" strike="noStrike" cap="none">
                          <a:latin typeface="Calibri"/>
                          <a:ea typeface="Calibri"/>
                          <a:cs typeface="Calibri"/>
                          <a:sym typeface="Calibri"/>
                        </a:rPr>
                        <a:t>‘100’ fentanyl patch transdermally (replace every 5 days)</a:t>
                      </a:r>
                      <a:endParaRPr sz="16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 name="TextBox 2">
            <a:extLst>
              <a:ext uri="{FF2B5EF4-FFF2-40B4-BE49-F238E27FC236}">
                <a16:creationId xmlns:a16="http://schemas.microsoft.com/office/drawing/2014/main" id="{24FB0630-222E-0732-3C2C-B283A307982C}"/>
              </a:ext>
            </a:extLst>
          </p:cNvPr>
          <p:cNvSpPr txBox="1"/>
          <p:nvPr/>
        </p:nvSpPr>
        <p:spPr>
          <a:xfrm>
            <a:off x="185736" y="5076615"/>
            <a:ext cx="6154614" cy="523220"/>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How to find on BNF?</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‘Prescribing in palliative care’ on Medicines guidance</a:t>
            </a:r>
          </a:p>
        </p:txBody>
      </p:sp>
      <p:sp>
        <p:nvSpPr>
          <p:cNvPr id="4" name="TextBox 3">
            <a:extLst>
              <a:ext uri="{FF2B5EF4-FFF2-40B4-BE49-F238E27FC236}">
                <a16:creationId xmlns:a16="http://schemas.microsoft.com/office/drawing/2014/main" id="{A982DE0B-5043-B4E8-36EA-5DEC0CA652FA}"/>
              </a:ext>
            </a:extLst>
          </p:cNvPr>
          <p:cNvSpPr txBox="1"/>
          <p:nvPr/>
        </p:nvSpPr>
        <p:spPr>
          <a:xfrm>
            <a:off x="6544300" y="6554437"/>
            <a:ext cx="5647700"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5"/>
              </a:rPr>
              <a:t>https://bnf.nice.org.uk/medicines-guidance/prescribing-in-palliative-care/</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36"/>
          <p:cNvPicPr preferRelativeResize="0"/>
          <p:nvPr/>
        </p:nvPicPr>
        <p:blipFill rotWithShape="1">
          <a:blip r:embed="rId3">
            <a:alphaModFix/>
          </a:blip>
          <a:srcRect/>
          <a:stretch/>
        </p:blipFill>
        <p:spPr>
          <a:xfrm>
            <a:off x="6191252" y="3526836"/>
            <a:ext cx="5815012" cy="2167580"/>
          </a:xfrm>
          <a:prstGeom prst="rect">
            <a:avLst/>
          </a:prstGeom>
          <a:noFill/>
          <a:ln>
            <a:noFill/>
          </a:ln>
        </p:spPr>
      </p:pic>
      <p:pic>
        <p:nvPicPr>
          <p:cNvPr id="255" name="Google Shape;255;p36"/>
          <p:cNvPicPr preferRelativeResize="0"/>
          <p:nvPr/>
        </p:nvPicPr>
        <p:blipFill rotWithShape="1">
          <a:blip r:embed="rId4">
            <a:alphaModFix/>
          </a:blip>
          <a:srcRect/>
          <a:stretch/>
        </p:blipFill>
        <p:spPr>
          <a:xfrm>
            <a:off x="4822825" y="57487"/>
            <a:ext cx="2593975" cy="644141"/>
          </a:xfrm>
          <a:prstGeom prst="rect">
            <a:avLst/>
          </a:prstGeom>
          <a:noFill/>
          <a:ln>
            <a:noFill/>
          </a:ln>
        </p:spPr>
      </p:pic>
      <p:pic>
        <p:nvPicPr>
          <p:cNvPr id="256" name="Google Shape;256;p36"/>
          <p:cNvPicPr preferRelativeResize="0"/>
          <p:nvPr/>
        </p:nvPicPr>
        <p:blipFill rotWithShape="1">
          <a:blip r:embed="rId5">
            <a:alphaModFix/>
          </a:blip>
          <a:srcRect/>
          <a:stretch/>
        </p:blipFill>
        <p:spPr>
          <a:xfrm>
            <a:off x="7891465" y="38279"/>
            <a:ext cx="4157661" cy="643736"/>
          </a:xfrm>
          <a:prstGeom prst="rect">
            <a:avLst/>
          </a:prstGeom>
          <a:noFill/>
          <a:ln>
            <a:noFill/>
          </a:ln>
        </p:spPr>
      </p:pic>
      <p:sp>
        <p:nvSpPr>
          <p:cNvPr id="257" name="Google Shape;257;p36"/>
          <p:cNvSpPr txBox="1"/>
          <p:nvPr/>
        </p:nvSpPr>
        <p:spPr>
          <a:xfrm>
            <a:off x="185737" y="257178"/>
            <a:ext cx="2243137" cy="353943"/>
          </a:xfrm>
          <a:prstGeom prst="rect">
            <a:avLst/>
          </a:prstGeom>
          <a:solidFill>
            <a:srgbClr val="A02C2B"/>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Planning Management</a:t>
            </a:r>
            <a:endParaRPr sz="1400" b="0" i="0" u="none" strike="noStrike" cap="none">
              <a:solidFill>
                <a:srgbClr val="000000"/>
              </a:solidFill>
              <a:latin typeface="Arial"/>
              <a:ea typeface="Arial"/>
              <a:cs typeface="Arial"/>
              <a:sym typeface="Arial"/>
            </a:endParaRPr>
          </a:p>
        </p:txBody>
      </p:sp>
      <p:sp>
        <p:nvSpPr>
          <p:cNvPr id="258" name="Google Shape;258;p36"/>
          <p:cNvSpPr txBox="1"/>
          <p:nvPr/>
        </p:nvSpPr>
        <p:spPr>
          <a:xfrm>
            <a:off x="2428874" y="256799"/>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259" name="Google Shape;259;p36"/>
          <p:cNvSpPr txBox="1"/>
          <p:nvPr/>
        </p:nvSpPr>
        <p:spPr>
          <a:xfrm>
            <a:off x="6191252" y="899730"/>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MANAGEMENT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260" name="Google Shape;260;p36"/>
          <p:cNvSpPr txBox="1"/>
          <p:nvPr/>
        </p:nvSpPr>
        <p:spPr>
          <a:xfrm>
            <a:off x="185738" y="5948964"/>
            <a:ext cx="1118631"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A4</a:t>
            </a:r>
            <a:endParaRPr sz="1400" b="0" i="0" u="none" strike="noStrike" cap="none">
              <a:solidFill>
                <a:srgbClr val="000000"/>
              </a:solidFill>
              <a:latin typeface="Arial"/>
              <a:ea typeface="Arial"/>
              <a:cs typeface="Arial"/>
              <a:sym typeface="Arial"/>
            </a:endParaRPr>
          </a:p>
        </p:txBody>
      </p:sp>
      <p:sp>
        <p:nvSpPr>
          <p:cNvPr id="261" name="Google Shape;261;p36"/>
          <p:cNvSpPr txBox="1"/>
          <p:nvPr/>
        </p:nvSpPr>
        <p:spPr>
          <a:xfrm>
            <a:off x="185736" y="899730"/>
            <a:ext cx="5815012" cy="2031325"/>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73-year-old lady presents with a painful and itchy rash on her abdomen. She said it initially felt sore before some small blisters appeared. The rash seems to be spreading and more blisters are appearing. She has a PMH of HTN.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On examination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Vesicular rash that does not cross the midline. </a:t>
            </a:r>
            <a:endParaRPr sz="1400" b="0" i="0" u="none" strike="noStrike" cap="none">
              <a:solidFill>
                <a:srgbClr val="000000"/>
              </a:solidFill>
              <a:latin typeface="Arial"/>
              <a:ea typeface="Arial"/>
              <a:cs typeface="Arial"/>
              <a:sym typeface="Arial"/>
            </a:endParaRPr>
          </a:p>
        </p:txBody>
      </p:sp>
      <p:sp>
        <p:nvSpPr>
          <p:cNvPr id="262" name="Google Shape;262;p36"/>
          <p:cNvSpPr txBox="1"/>
          <p:nvPr/>
        </p:nvSpPr>
        <p:spPr>
          <a:xfrm>
            <a:off x="185736" y="3129157"/>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most appropriate management option at this stage.</a:t>
            </a:r>
            <a:endParaRPr sz="1400" b="0" i="0" u="none" strike="noStrike" cap="none">
              <a:solidFill>
                <a:srgbClr val="000000"/>
              </a:solidFill>
              <a:latin typeface="Arial"/>
              <a:ea typeface="Arial"/>
              <a:cs typeface="Arial"/>
              <a:sym typeface="Arial"/>
            </a:endParaRPr>
          </a:p>
        </p:txBody>
      </p:sp>
      <p:pic>
        <p:nvPicPr>
          <p:cNvPr id="263" name="Google Shape;263;p36" descr="A close-up of a person's chest&#10;&#10;Description automatically generated with low confidence"/>
          <p:cNvPicPr preferRelativeResize="0"/>
          <p:nvPr/>
        </p:nvPicPr>
        <p:blipFill rotWithShape="1">
          <a:blip r:embed="rId6">
            <a:alphaModFix/>
          </a:blip>
          <a:srcRect/>
          <a:stretch/>
        </p:blipFill>
        <p:spPr>
          <a:xfrm>
            <a:off x="8761605" y="4344284"/>
            <a:ext cx="2883858" cy="2020178"/>
          </a:xfrm>
          <a:prstGeom prst="rect">
            <a:avLst/>
          </a:prstGeom>
          <a:noFill/>
          <a:ln>
            <a:noFill/>
          </a:ln>
        </p:spPr>
      </p:pic>
      <p:graphicFrame>
        <p:nvGraphicFramePr>
          <p:cNvPr id="264" name="Google Shape;264;p36"/>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aciclovir 400mg BD PO</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aciclovir 800mg 5 times a day PO</a:t>
                      </a:r>
                      <a:endParaRPr sz="1400" u="none" strike="noStrike" cap="none">
                        <a:solidFill>
                          <a:srgbClr val="FF0000"/>
                        </a:solidFill>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solidFill>
                            <a:srgbClr val="FF0000"/>
                          </a:solidFill>
                          <a:latin typeface="Calibri"/>
                          <a:ea typeface="Calibri"/>
                          <a:cs typeface="Calibri"/>
                          <a:sym typeface="Calibri"/>
                        </a:rPr>
                        <a:t>B</a:t>
                      </a:r>
                      <a:endParaRPr sz="1400" u="none" strike="noStrike" cap="none">
                        <a:solidFill>
                          <a:srgbClr val="FF0000"/>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aciclovir 5mg/kg IV 8hrly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aciclovir 0.5% cream BD </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aciclovir 5% cream BD</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F3E52E5C-EBC9-0F21-A1CF-EA4A28673C99}"/>
              </a:ext>
            </a:extLst>
          </p:cNvPr>
          <p:cNvSpPr txBox="1"/>
          <p:nvPr/>
        </p:nvSpPr>
        <p:spPr>
          <a:xfrm>
            <a:off x="185737" y="4250589"/>
            <a:ext cx="5815011" cy="1600438"/>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br>
              <a:rPr lang="en-US" dirty="0">
                <a:latin typeface="Calibri" panose="020F0502020204030204" pitchFamily="34" charset="0"/>
                <a:cs typeface="Calibri" panose="020F0502020204030204" pitchFamily="34" charset="0"/>
              </a:rPr>
            </a:br>
            <a:r>
              <a:rPr lang="en-US" b="1" dirty="0">
                <a:latin typeface="Calibri" panose="020F0502020204030204" pitchFamily="34" charset="0"/>
                <a:cs typeface="Calibri" panose="020F0502020204030204" pitchFamily="34" charset="0"/>
              </a:rPr>
              <a:t>If you know medication? </a:t>
            </a:r>
            <a:r>
              <a:rPr lang="en-US" dirty="0" err="1">
                <a:latin typeface="Calibri" panose="020F0502020204030204" pitchFamily="34" charset="0"/>
                <a:cs typeface="Calibri" panose="020F0502020204030204" pitchFamily="34" charset="0"/>
              </a:rPr>
              <a:t>Aciclovir</a:t>
            </a:r>
            <a:r>
              <a:rPr lang="en-US" dirty="0">
                <a:latin typeface="Calibri" panose="020F0502020204030204" pitchFamily="34" charset="0"/>
                <a:cs typeface="Calibri" panose="020F0502020204030204" pitchFamily="34" charset="0"/>
              </a:rPr>
              <a:t> drug page then scroll to indication for Herpes zoster (dose as per screenshot on right)</a:t>
            </a:r>
          </a:p>
          <a:p>
            <a:r>
              <a:rPr lang="en-US" b="1" dirty="0">
                <a:latin typeface="Calibri" panose="020F0502020204030204" pitchFamily="34" charset="0"/>
                <a:cs typeface="Calibri" panose="020F0502020204030204" pitchFamily="34" charset="0"/>
              </a:rPr>
              <a:t>If you know diagnosis? </a:t>
            </a:r>
            <a:r>
              <a:rPr lang="en-US" dirty="0">
                <a:latin typeface="Calibri" panose="020F0502020204030204" pitchFamily="34" charset="0"/>
                <a:cs typeface="Calibri" panose="020F0502020204030204" pitchFamily="34" charset="0"/>
              </a:rPr>
              <a:t>Search ‘shingles’ – </a:t>
            </a:r>
            <a:r>
              <a:rPr lang="en-US" dirty="0" err="1">
                <a:latin typeface="Calibri" panose="020F0502020204030204" pitchFamily="34" charset="0"/>
                <a:cs typeface="Calibri" panose="020F0502020204030204" pitchFamily="34" charset="0"/>
              </a:rPr>
              <a:t>aciclovir</a:t>
            </a:r>
            <a:r>
              <a:rPr lang="en-US" dirty="0">
                <a:latin typeface="Calibri" panose="020F0502020204030204" pitchFamily="34" charset="0"/>
                <a:cs typeface="Calibri" panose="020F0502020204030204" pitchFamily="34" charset="0"/>
              </a:rPr>
              <a:t> and ‘Herpesvirus infections’ Treatment summary are listed</a:t>
            </a:r>
          </a:p>
          <a:p>
            <a:r>
              <a:rPr lang="en-US" b="1" dirty="0">
                <a:latin typeface="Calibri" panose="020F0502020204030204" pitchFamily="34" charset="0"/>
                <a:cs typeface="Calibri" panose="020F0502020204030204" pitchFamily="34" charset="0"/>
              </a:rPr>
              <a:t>If you are unsure? </a:t>
            </a:r>
            <a:r>
              <a:rPr lang="en-US" dirty="0">
                <a:latin typeface="Calibri" panose="020F0502020204030204" pitchFamily="34" charset="0"/>
                <a:cs typeface="Calibri" panose="020F0502020204030204" pitchFamily="34" charset="0"/>
              </a:rPr>
              <a:t>‘Herpesvirus infections’ Treatment summary then see ‘Drug choice for treatment’ or ‘Related drugs’ at bottom</a:t>
            </a:r>
          </a:p>
        </p:txBody>
      </p:sp>
      <p:sp>
        <p:nvSpPr>
          <p:cNvPr id="3" name="TextBox 2">
            <a:extLst>
              <a:ext uri="{FF2B5EF4-FFF2-40B4-BE49-F238E27FC236}">
                <a16:creationId xmlns:a16="http://schemas.microsoft.com/office/drawing/2014/main" id="{20131E36-B302-C71C-43DB-C76BA95311A4}"/>
              </a:ext>
            </a:extLst>
          </p:cNvPr>
          <p:cNvSpPr txBox="1"/>
          <p:nvPr/>
        </p:nvSpPr>
        <p:spPr>
          <a:xfrm>
            <a:off x="9003307" y="6554437"/>
            <a:ext cx="3188693" cy="307777"/>
          </a:xfrm>
          <a:prstGeom prst="rect">
            <a:avLst/>
          </a:prstGeom>
          <a:noFill/>
        </p:spPr>
        <p:txBody>
          <a:bodyPr wrap="none" rtlCol="0">
            <a:spAutoFit/>
          </a:bodyPr>
          <a:lstStyle/>
          <a:p>
            <a:r>
              <a:rPr lang="en-US" dirty="0">
                <a:hlinkClick r:id="rId7"/>
              </a:rPr>
              <a:t>https://bnf.nice.org.uk/drugs/aciclovir/</a:t>
            </a:r>
            <a:r>
              <a:rPr lang="en-US" dirty="0"/>
              <a:t>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48"/>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337" name="Google Shape;337;p48"/>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338" name="Google Shape;338;p48"/>
          <p:cNvSpPr txBox="1"/>
          <p:nvPr/>
        </p:nvSpPr>
        <p:spPr>
          <a:xfrm>
            <a:off x="185737" y="257178"/>
            <a:ext cx="2757160" cy="353943"/>
          </a:xfrm>
          <a:prstGeom prst="rect">
            <a:avLst/>
          </a:prstGeom>
          <a:solidFill>
            <a:srgbClr val="56C0D9"/>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Communicating Information</a:t>
            </a:r>
            <a:endParaRPr sz="1400" b="0" i="0" u="none" strike="noStrike" cap="none">
              <a:solidFill>
                <a:srgbClr val="000000"/>
              </a:solidFill>
              <a:latin typeface="Arial"/>
              <a:ea typeface="Arial"/>
              <a:cs typeface="Arial"/>
              <a:sym typeface="Arial"/>
            </a:endParaRPr>
          </a:p>
        </p:txBody>
      </p:sp>
      <p:sp>
        <p:nvSpPr>
          <p:cNvPr id="339" name="Google Shape;339;p48"/>
          <p:cNvSpPr txBox="1"/>
          <p:nvPr/>
        </p:nvSpPr>
        <p:spPr>
          <a:xfrm>
            <a:off x="2942897" y="26995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340" name="Google Shape;340;p48"/>
          <p:cNvSpPr txBox="1"/>
          <p:nvPr/>
        </p:nvSpPr>
        <p:spPr>
          <a:xfrm>
            <a:off x="6191250"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INFORMATION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341" name="Google Shape;341;p48"/>
          <p:cNvSpPr txBox="1"/>
          <p:nvPr/>
        </p:nvSpPr>
        <p:spPr>
          <a:xfrm>
            <a:off x="185739" y="5948964"/>
            <a:ext cx="163712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A5</a:t>
            </a:r>
            <a:endParaRPr sz="1400" b="0" i="0" u="none" strike="noStrike" cap="none">
              <a:solidFill>
                <a:srgbClr val="000000"/>
              </a:solidFill>
              <a:latin typeface="Arial"/>
              <a:ea typeface="Arial"/>
              <a:cs typeface="Arial"/>
              <a:sym typeface="Arial"/>
            </a:endParaRPr>
          </a:p>
        </p:txBody>
      </p:sp>
      <p:sp>
        <p:nvSpPr>
          <p:cNvPr id="342" name="Google Shape;342;p48"/>
          <p:cNvSpPr txBox="1"/>
          <p:nvPr/>
        </p:nvSpPr>
        <p:spPr>
          <a:xfrm>
            <a:off x="185738" y="900112"/>
            <a:ext cx="5815012" cy="1200329"/>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22-year-old man is diagnosed as having schizophrenia. He is advised to commence on clozapine on an uptitrating course starting at 12.5mg for the first dose.</a:t>
            </a:r>
            <a:endParaRPr sz="1400" b="0" i="0" u="none" strike="noStrike" cap="none">
              <a:solidFill>
                <a:srgbClr val="000000"/>
              </a:solidFill>
              <a:latin typeface="Arial"/>
              <a:ea typeface="Arial"/>
              <a:cs typeface="Arial"/>
              <a:sym typeface="Arial"/>
            </a:endParaRPr>
          </a:p>
        </p:txBody>
      </p:sp>
      <p:sp>
        <p:nvSpPr>
          <p:cNvPr id="343" name="Google Shape;343;p48"/>
          <p:cNvSpPr txBox="1"/>
          <p:nvPr/>
        </p:nvSpPr>
        <p:spPr>
          <a:xfrm>
            <a:off x="185737" y="2298925"/>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a:t>
            </a:r>
            <a:r>
              <a:rPr lang="en-US" sz="1800" b="0" i="1" u="none" strike="noStrike" cap="none">
                <a:solidFill>
                  <a:schemeClr val="dk1"/>
                </a:solidFill>
                <a:latin typeface="Calibri"/>
                <a:ea typeface="Calibri"/>
                <a:cs typeface="Calibri"/>
                <a:sym typeface="Calibri"/>
              </a:rPr>
              <a:t>most important</a:t>
            </a:r>
            <a:r>
              <a:rPr lang="en-US" sz="1800" b="0" i="0" u="none" strike="noStrike" cap="none">
                <a:solidFill>
                  <a:schemeClr val="dk1"/>
                </a:solidFill>
                <a:latin typeface="Calibri"/>
                <a:ea typeface="Calibri"/>
                <a:cs typeface="Calibri"/>
                <a:sym typeface="Calibri"/>
              </a:rPr>
              <a:t> information option that should be provided for the patient.</a:t>
            </a:r>
            <a:endParaRPr sz="1800" b="0" i="1" u="none" strike="noStrike" cap="none">
              <a:solidFill>
                <a:schemeClr val="dk1"/>
              </a:solidFill>
              <a:latin typeface="Calibri"/>
              <a:ea typeface="Calibri"/>
              <a:cs typeface="Calibri"/>
              <a:sym typeface="Calibri"/>
            </a:endParaRPr>
          </a:p>
        </p:txBody>
      </p:sp>
      <p:graphicFrame>
        <p:nvGraphicFramePr>
          <p:cNvPr id="344" name="Google Shape;344;p48"/>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clozapine may cause increased photosensitisation</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clozapine must not be stopped abruptly</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FF0000"/>
                        </a:buClr>
                        <a:buSzPts val="1800"/>
                        <a:buFont typeface="Calibri"/>
                        <a:buNone/>
                      </a:pPr>
                      <a:r>
                        <a:rPr lang="en-US" sz="1800" u="none" strike="noStrike" cap="none">
                          <a:solidFill>
                            <a:srgbClr val="FF0000"/>
                          </a:solidFill>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clozapine may cause diarrhoea</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clozapine may cause him to gain weight</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clozapine must not be taken with alcohol </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Calibri"/>
                          <a:ea typeface="Calibri"/>
                          <a:cs typeface="Calibri"/>
                          <a:sym typeface="Calibri"/>
                        </a:rPr>
                        <a:t>E</a:t>
                      </a:r>
                      <a:endParaRPr sz="1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348" name="Google Shape;348;p48" descr="Screen Shot 2021-01-21 at 18.23.21.png"/>
          <p:cNvPicPr preferRelativeResize="0"/>
          <p:nvPr/>
        </p:nvPicPr>
        <p:blipFill rotWithShape="1">
          <a:blip r:embed="rId5">
            <a:alphaModFix/>
          </a:blip>
          <a:srcRect t="23146"/>
          <a:stretch>
            <a:fillRect/>
          </a:stretch>
        </p:blipFill>
        <p:spPr>
          <a:xfrm>
            <a:off x="6225330" y="3526454"/>
            <a:ext cx="5575373" cy="2771322"/>
          </a:xfrm>
          <a:prstGeom prst="rect">
            <a:avLst/>
          </a:prstGeom>
          <a:noFill/>
          <a:ln>
            <a:noFill/>
          </a:ln>
        </p:spPr>
      </p:pic>
      <p:sp>
        <p:nvSpPr>
          <p:cNvPr id="2" name="TextBox 1">
            <a:extLst>
              <a:ext uri="{FF2B5EF4-FFF2-40B4-BE49-F238E27FC236}">
                <a16:creationId xmlns:a16="http://schemas.microsoft.com/office/drawing/2014/main" id="{463505A5-C81B-1AF5-9958-5CE63D9E9A37}"/>
              </a:ext>
            </a:extLst>
          </p:cNvPr>
          <p:cNvSpPr txBox="1"/>
          <p:nvPr/>
        </p:nvSpPr>
        <p:spPr>
          <a:xfrm>
            <a:off x="185737" y="3455136"/>
            <a:ext cx="5815011" cy="1815882"/>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‘Most important’ information is key here as all options are possible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The most important is the risk of rebound psychosis – sudden return or exacerbation of symptoms which can be more severe than original symptoms prior to treatment – risk as high as 20%</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Need to apply clinical judgement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Clozapine drug page then click on ‘Treatment cessation’ on navigation bar at top (see screenshot right)</a:t>
            </a:r>
          </a:p>
        </p:txBody>
      </p:sp>
      <p:sp>
        <p:nvSpPr>
          <p:cNvPr id="3" name="TextBox 2">
            <a:extLst>
              <a:ext uri="{FF2B5EF4-FFF2-40B4-BE49-F238E27FC236}">
                <a16:creationId xmlns:a16="http://schemas.microsoft.com/office/drawing/2014/main" id="{40CEF025-D79C-8BF7-178A-A9F1A5F057E2}"/>
              </a:ext>
            </a:extLst>
          </p:cNvPr>
          <p:cNvSpPr txBox="1"/>
          <p:nvPr/>
        </p:nvSpPr>
        <p:spPr>
          <a:xfrm>
            <a:off x="8894302" y="6550223"/>
            <a:ext cx="3297698"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6"/>
              </a:rPr>
              <a:t>https://</a:t>
            </a:r>
            <a:r>
              <a:rPr lang="en-US" dirty="0" err="1">
                <a:latin typeface="Calibri" panose="020F0502020204030204" pitchFamily="34" charset="0"/>
                <a:cs typeface="Calibri" panose="020F0502020204030204" pitchFamily="34" charset="0"/>
                <a:hlinkClick r:id="rId6"/>
              </a:rPr>
              <a:t>bnf.nice.org.uk</a:t>
            </a:r>
            <a:r>
              <a:rPr lang="en-US" dirty="0">
                <a:latin typeface="Calibri" panose="020F0502020204030204" pitchFamily="34" charset="0"/>
                <a:cs typeface="Calibri" panose="020F0502020204030204" pitchFamily="34" charset="0"/>
                <a:hlinkClick r:id="rId6"/>
              </a:rPr>
              <a:t>/drugs/clozapine/</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7" name="Google Shape;367;p49"/>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368" name="Google Shape;368;p49"/>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369" name="Google Shape;369;p49"/>
          <p:cNvSpPr txBox="1"/>
          <p:nvPr/>
        </p:nvSpPr>
        <p:spPr>
          <a:xfrm>
            <a:off x="185737" y="257178"/>
            <a:ext cx="2757160" cy="353943"/>
          </a:xfrm>
          <a:prstGeom prst="rect">
            <a:avLst/>
          </a:prstGeom>
          <a:solidFill>
            <a:srgbClr val="56C0D9"/>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Communicating Information</a:t>
            </a:r>
            <a:endParaRPr sz="1400" b="0" i="0" u="none" strike="noStrike" cap="none">
              <a:solidFill>
                <a:srgbClr val="000000"/>
              </a:solidFill>
              <a:latin typeface="Arial"/>
              <a:ea typeface="Arial"/>
              <a:cs typeface="Arial"/>
              <a:sym typeface="Arial"/>
            </a:endParaRPr>
          </a:p>
        </p:txBody>
      </p:sp>
      <p:sp>
        <p:nvSpPr>
          <p:cNvPr id="370" name="Google Shape;370;p49"/>
          <p:cNvSpPr txBox="1"/>
          <p:nvPr/>
        </p:nvSpPr>
        <p:spPr>
          <a:xfrm>
            <a:off x="2942897" y="26995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371" name="Google Shape;371;p49"/>
          <p:cNvSpPr txBox="1"/>
          <p:nvPr/>
        </p:nvSpPr>
        <p:spPr>
          <a:xfrm>
            <a:off x="6191250"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INFORMATION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372" name="Google Shape;372;p49"/>
          <p:cNvSpPr txBox="1"/>
          <p:nvPr/>
        </p:nvSpPr>
        <p:spPr>
          <a:xfrm>
            <a:off x="185739" y="5948964"/>
            <a:ext cx="163712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A6</a:t>
            </a:r>
            <a:endParaRPr sz="1400" b="0" i="0" u="none" strike="noStrike" cap="none">
              <a:solidFill>
                <a:srgbClr val="000000"/>
              </a:solidFill>
              <a:latin typeface="Arial"/>
              <a:ea typeface="Arial"/>
              <a:cs typeface="Arial"/>
              <a:sym typeface="Arial"/>
            </a:endParaRPr>
          </a:p>
        </p:txBody>
      </p:sp>
      <p:sp>
        <p:nvSpPr>
          <p:cNvPr id="373" name="Google Shape;373;p49"/>
          <p:cNvSpPr txBox="1"/>
          <p:nvPr/>
        </p:nvSpPr>
        <p:spPr>
          <a:xfrm>
            <a:off x="185737" y="900112"/>
            <a:ext cx="5815012" cy="923330"/>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56-year-old man has just had a metallic heart valve replacement and is being started on Warfarin. </a:t>
            </a:r>
            <a:endParaRPr sz="1400" b="0" i="0" u="none" strike="noStrike" cap="none">
              <a:solidFill>
                <a:srgbClr val="000000"/>
              </a:solidFill>
              <a:latin typeface="Arial"/>
              <a:ea typeface="Arial"/>
              <a:cs typeface="Arial"/>
              <a:sym typeface="Arial"/>
            </a:endParaRPr>
          </a:p>
        </p:txBody>
      </p:sp>
      <p:sp>
        <p:nvSpPr>
          <p:cNvPr id="374" name="Google Shape;374;p49"/>
          <p:cNvSpPr txBox="1"/>
          <p:nvPr/>
        </p:nvSpPr>
        <p:spPr>
          <a:xfrm>
            <a:off x="185737" y="2017753"/>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a:t>
            </a:r>
            <a:r>
              <a:rPr lang="en-US" sz="1800" b="0" i="1" u="none" strike="noStrike" cap="none">
                <a:solidFill>
                  <a:schemeClr val="dk1"/>
                </a:solidFill>
                <a:latin typeface="Calibri"/>
                <a:ea typeface="Calibri"/>
                <a:cs typeface="Calibri"/>
                <a:sym typeface="Calibri"/>
              </a:rPr>
              <a:t>most important</a:t>
            </a:r>
            <a:r>
              <a:rPr lang="en-US" sz="1800" b="0" i="0" u="none" strike="noStrike" cap="none">
                <a:solidFill>
                  <a:schemeClr val="dk1"/>
                </a:solidFill>
                <a:latin typeface="Calibri"/>
                <a:ea typeface="Calibri"/>
                <a:cs typeface="Calibri"/>
                <a:sym typeface="Calibri"/>
              </a:rPr>
              <a:t> information option that should be provided for the patient.</a:t>
            </a:r>
            <a:endParaRPr sz="1800" b="0" i="1" u="none" strike="noStrike" cap="none">
              <a:solidFill>
                <a:schemeClr val="dk1"/>
              </a:solidFill>
              <a:latin typeface="Calibri"/>
              <a:ea typeface="Calibri"/>
              <a:cs typeface="Calibri"/>
              <a:sym typeface="Calibri"/>
            </a:endParaRPr>
          </a:p>
        </p:txBody>
      </p:sp>
      <p:graphicFrame>
        <p:nvGraphicFramePr>
          <p:cNvPr id="375" name="Google Shape;375;p49"/>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he must not drink alcohol whilst on warfarin </a:t>
                      </a:r>
                      <a:endParaRPr sz="16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he must not eat leafy green vegetables</a:t>
                      </a:r>
                      <a:endParaRPr sz="16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he must use barrier contraception during sexual intercourse</a:t>
                      </a:r>
                      <a:endParaRPr sz="16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solidFill>
                            <a:srgbClr val="FF0000"/>
                          </a:solidFill>
                          <a:latin typeface="Calibri"/>
                          <a:ea typeface="Calibri"/>
                          <a:cs typeface="Calibri"/>
                          <a:sym typeface="Calibri"/>
                        </a:rPr>
                        <a:t>if he has blood in his urine he should seek medical attention</a:t>
                      </a:r>
                      <a:endParaRPr sz="1600" u="none" strike="noStrike" cap="none">
                        <a:solidFill>
                          <a:srgbClr val="FF0000"/>
                        </a:solidFill>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if he requires antibiotics, he will need to stop warfarin</a:t>
                      </a:r>
                      <a:endParaRPr sz="16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76" name="Google Shape;376;p49"/>
          <p:cNvSpPr txBox="1"/>
          <p:nvPr/>
        </p:nvSpPr>
        <p:spPr>
          <a:xfrm>
            <a:off x="6191249" y="3490604"/>
            <a:ext cx="5815012" cy="28622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FF0000"/>
                </a:solidFill>
                <a:latin typeface="Calibri"/>
                <a:ea typeface="Calibri"/>
                <a:cs typeface="Calibri"/>
                <a:sym typeface="Calibri"/>
              </a:rPr>
              <a:t>Unexplained bleeding must be investigated </a:t>
            </a:r>
            <a:endParaRPr dirty="0"/>
          </a:p>
          <a:p>
            <a:pPr marL="285750" marR="0" lvl="0" indent="-171450" algn="l" rtl="0">
              <a:lnSpc>
                <a:spcPct val="100000"/>
              </a:lnSpc>
              <a:spcBef>
                <a:spcPts val="0"/>
              </a:spcBef>
              <a:spcAft>
                <a:spcPts val="0"/>
              </a:spcAft>
              <a:buClr>
                <a:srgbClr val="FF0000"/>
              </a:buClr>
              <a:buSzPts val="1800"/>
              <a:buFont typeface="Arial"/>
              <a:buNone/>
            </a:pPr>
            <a:endParaRPr sz="1800" b="0" i="0" u="none" strike="noStrike" cap="none" dirty="0">
              <a:solidFill>
                <a:srgbClr val="FF0000"/>
              </a:solidFill>
              <a:latin typeface="Calibri"/>
              <a:ea typeface="Calibri"/>
              <a:cs typeface="Calibri"/>
              <a:sym typeface="Calibri"/>
            </a:endParaRPr>
          </a:p>
          <a:p>
            <a:pPr marL="285750" marR="0" lvl="0" indent="-285750" algn="l" rtl="0">
              <a:lnSpc>
                <a:spcPct val="100000"/>
              </a:lnSpc>
              <a:spcBef>
                <a:spcPts val="0"/>
              </a:spcBef>
              <a:spcAft>
                <a:spcPts val="0"/>
              </a:spcAft>
              <a:buClr>
                <a:srgbClr val="FF0000"/>
              </a:buClr>
              <a:buSzPts val="1800"/>
              <a:buFont typeface="Arial"/>
              <a:buChar char="•"/>
            </a:pPr>
            <a:r>
              <a:rPr lang="en-US" sz="1800" b="0" i="0" u="none" strike="noStrike" cap="none" dirty="0">
                <a:solidFill>
                  <a:srgbClr val="FF0000"/>
                </a:solidFill>
                <a:latin typeface="Calibri"/>
                <a:ea typeface="Calibri"/>
                <a:cs typeface="Calibri"/>
                <a:sym typeface="Calibri"/>
              </a:rPr>
              <a:t>Leafy veg contains vitamin K (warfarin is a vitamin k antagonist)</a:t>
            </a:r>
            <a:endParaRPr dirty="0"/>
          </a:p>
          <a:p>
            <a:pPr marL="285750" marR="0" lvl="0" indent="-285750" algn="l" rtl="0">
              <a:lnSpc>
                <a:spcPct val="100000"/>
              </a:lnSpc>
              <a:spcBef>
                <a:spcPts val="0"/>
              </a:spcBef>
              <a:spcAft>
                <a:spcPts val="0"/>
              </a:spcAft>
              <a:buClr>
                <a:srgbClr val="FF0000"/>
              </a:buClr>
              <a:buSzPts val="1800"/>
              <a:buFont typeface="Arial"/>
              <a:buChar char="•"/>
            </a:pPr>
            <a:r>
              <a:rPr lang="en-US" sz="1800" b="0" i="0" u="none" strike="noStrike" cap="none" dirty="0">
                <a:solidFill>
                  <a:srgbClr val="FF0000"/>
                </a:solidFill>
                <a:latin typeface="Calibri"/>
                <a:ea typeface="Calibri"/>
                <a:cs typeface="Calibri"/>
                <a:sym typeface="Calibri"/>
              </a:rPr>
              <a:t>Alcohol – ideally abstain or drink similar amounts (avoid binges as can cause enzyme inhibition of the enzymes of warfarin metabolism) (increases bleeding risk)</a:t>
            </a:r>
            <a:endParaRPr dirty="0"/>
          </a:p>
          <a:p>
            <a:pPr marL="285750" marR="0" lvl="0" indent="-285750" algn="l" rtl="0">
              <a:lnSpc>
                <a:spcPct val="100000"/>
              </a:lnSpc>
              <a:spcBef>
                <a:spcPts val="0"/>
              </a:spcBef>
              <a:spcAft>
                <a:spcPts val="0"/>
              </a:spcAft>
              <a:buClr>
                <a:srgbClr val="FF0000"/>
              </a:buClr>
              <a:buSzPts val="1800"/>
              <a:buFont typeface="Arial"/>
              <a:buChar char="•"/>
            </a:pPr>
            <a:r>
              <a:rPr lang="en-US" sz="1800" b="0" i="0" u="none" strike="noStrike" cap="none" dirty="0">
                <a:solidFill>
                  <a:srgbClr val="FF0000"/>
                </a:solidFill>
                <a:latin typeface="Calibri"/>
                <a:ea typeface="Calibri"/>
                <a:cs typeface="Calibri"/>
                <a:sym typeface="Calibri"/>
              </a:rPr>
              <a:t>Antibiotics may be enzyme inducers/inhibitors of warfarin metabolism. Monitor INR, don’t necessarily need to stop warfarin.</a:t>
            </a:r>
            <a:endParaRPr dirty="0"/>
          </a:p>
        </p:txBody>
      </p:sp>
      <p:grpSp>
        <p:nvGrpSpPr>
          <p:cNvPr id="3" name="Group 2">
            <a:extLst>
              <a:ext uri="{FF2B5EF4-FFF2-40B4-BE49-F238E27FC236}">
                <a16:creationId xmlns:a16="http://schemas.microsoft.com/office/drawing/2014/main" id="{276E50D5-979A-A7A2-75CC-48558DE4A316}"/>
              </a:ext>
            </a:extLst>
          </p:cNvPr>
          <p:cNvGrpSpPr/>
          <p:nvPr/>
        </p:nvGrpSpPr>
        <p:grpSpPr>
          <a:xfrm>
            <a:off x="253619" y="4348522"/>
            <a:ext cx="5842380" cy="1372074"/>
            <a:chOff x="6206746" y="3571473"/>
            <a:chExt cx="5842380" cy="1372074"/>
          </a:xfrm>
        </p:grpSpPr>
        <p:pic>
          <p:nvPicPr>
            <p:cNvPr id="377" name="Google Shape;377;p49"/>
            <p:cNvPicPr preferRelativeResize="0"/>
            <p:nvPr/>
          </p:nvPicPr>
          <p:blipFill rotWithShape="1">
            <a:blip r:embed="rId5">
              <a:alphaModFix/>
            </a:blip>
            <a:srcRect/>
            <a:stretch/>
          </p:blipFill>
          <p:spPr>
            <a:xfrm>
              <a:off x="6206746" y="3571473"/>
              <a:ext cx="5842380" cy="1372074"/>
            </a:xfrm>
            <a:prstGeom prst="rect">
              <a:avLst/>
            </a:prstGeom>
            <a:noFill/>
            <a:ln>
              <a:noFill/>
            </a:ln>
          </p:spPr>
        </p:pic>
        <p:sp>
          <p:nvSpPr>
            <p:cNvPr id="378" name="Google Shape;378;p49"/>
            <p:cNvSpPr/>
            <p:nvPr/>
          </p:nvSpPr>
          <p:spPr>
            <a:xfrm>
              <a:off x="6206746" y="4232109"/>
              <a:ext cx="5686010" cy="631991"/>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89B3A284-18A3-9352-A82E-C765CD6E39D4}"/>
              </a:ext>
            </a:extLst>
          </p:cNvPr>
          <p:cNvSpPr txBox="1"/>
          <p:nvPr/>
        </p:nvSpPr>
        <p:spPr>
          <a:xfrm>
            <a:off x="8378135" y="6550223"/>
            <a:ext cx="3813865"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6"/>
              </a:rPr>
              <a:t>https://bnf.nice.org.uk/drugs/warfarin-sodium/</a:t>
            </a:r>
            <a:r>
              <a:rPr lang="en-US" dirty="0">
                <a:latin typeface="Calibri" panose="020F0502020204030204" pitchFamily="34" charset="0"/>
                <a:cs typeface="Calibri" panose="020F0502020204030204" pitchFamily="34" charset="0"/>
              </a:rPr>
              <a:t> </a:t>
            </a:r>
          </a:p>
        </p:txBody>
      </p:sp>
      <p:sp>
        <p:nvSpPr>
          <p:cNvPr id="4" name="TextBox 3">
            <a:extLst>
              <a:ext uri="{FF2B5EF4-FFF2-40B4-BE49-F238E27FC236}">
                <a16:creationId xmlns:a16="http://schemas.microsoft.com/office/drawing/2014/main" id="{03F02E31-2A95-DD86-6371-1FAFCDD3407B}"/>
              </a:ext>
            </a:extLst>
          </p:cNvPr>
          <p:cNvSpPr txBox="1"/>
          <p:nvPr/>
        </p:nvSpPr>
        <p:spPr>
          <a:xfrm>
            <a:off x="185737" y="3135394"/>
            <a:ext cx="5815011" cy="738664"/>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Essentially need to check on warfarin drug page and apply clinical judgement as to the </a:t>
            </a:r>
            <a:r>
              <a:rPr lang="en-US" i="1" dirty="0">
                <a:latin typeface="Calibri" panose="020F0502020204030204" pitchFamily="34" charset="0"/>
                <a:cs typeface="Calibri" panose="020F0502020204030204" pitchFamily="34" charset="0"/>
              </a:rPr>
              <a:t>most important </a:t>
            </a:r>
            <a:r>
              <a:rPr lang="en-US" dirty="0">
                <a:latin typeface="Calibri" panose="020F0502020204030204" pitchFamily="34" charset="0"/>
                <a:cs typeface="Calibri" panose="020F0502020204030204" pitchFamily="34" charset="0"/>
              </a:rPr>
              <a:t>information option</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pic>
        <p:nvPicPr>
          <p:cNvPr id="402" name="Google Shape;402;p52"/>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403" name="Google Shape;403;p52"/>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404" name="Google Shape;404;p52"/>
          <p:cNvSpPr txBox="1"/>
          <p:nvPr/>
        </p:nvSpPr>
        <p:spPr>
          <a:xfrm>
            <a:off x="185737" y="257178"/>
            <a:ext cx="2757160" cy="353943"/>
          </a:xfrm>
          <a:prstGeom prst="rect">
            <a:avLst/>
          </a:prstGeom>
          <a:solidFill>
            <a:srgbClr val="56C0D9"/>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Communicating Information</a:t>
            </a:r>
            <a:endParaRPr sz="1400" b="0" i="0" u="none" strike="noStrike" cap="none">
              <a:solidFill>
                <a:srgbClr val="000000"/>
              </a:solidFill>
              <a:latin typeface="Arial"/>
              <a:ea typeface="Arial"/>
              <a:cs typeface="Arial"/>
              <a:sym typeface="Arial"/>
            </a:endParaRPr>
          </a:p>
        </p:txBody>
      </p:sp>
      <p:sp>
        <p:nvSpPr>
          <p:cNvPr id="405" name="Google Shape;405;p52"/>
          <p:cNvSpPr txBox="1"/>
          <p:nvPr/>
        </p:nvSpPr>
        <p:spPr>
          <a:xfrm>
            <a:off x="2942897" y="269956"/>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406" name="Google Shape;406;p52"/>
          <p:cNvSpPr txBox="1"/>
          <p:nvPr/>
        </p:nvSpPr>
        <p:spPr>
          <a:xfrm>
            <a:off x="6191250" y="900112"/>
            <a:ext cx="5815012" cy="2585323"/>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INFORMATION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p:txBody>
      </p:sp>
      <p:sp>
        <p:nvSpPr>
          <p:cNvPr id="407" name="Google Shape;407;p52"/>
          <p:cNvSpPr txBox="1"/>
          <p:nvPr/>
        </p:nvSpPr>
        <p:spPr>
          <a:xfrm>
            <a:off x="185739" y="5948964"/>
            <a:ext cx="163712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A7</a:t>
            </a:r>
            <a:endParaRPr sz="1400" b="0" i="0" u="none" strike="noStrike" cap="none">
              <a:solidFill>
                <a:srgbClr val="000000"/>
              </a:solidFill>
              <a:latin typeface="Arial"/>
              <a:ea typeface="Arial"/>
              <a:cs typeface="Arial"/>
              <a:sym typeface="Arial"/>
            </a:endParaRPr>
          </a:p>
        </p:txBody>
      </p:sp>
      <p:sp>
        <p:nvSpPr>
          <p:cNvPr id="408" name="Google Shape;408;p52"/>
          <p:cNvSpPr txBox="1"/>
          <p:nvPr/>
        </p:nvSpPr>
        <p:spPr>
          <a:xfrm>
            <a:off x="185738" y="900112"/>
            <a:ext cx="5815012" cy="1754326"/>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16-year-old girl is seeing the dermatologist with severe acne. She has tried topical treatments and several courses of oral antibiotics with no improvement. The dermatologist advises starting isotretinoin and discusses further information about the drug.</a:t>
            </a:r>
            <a:endParaRPr sz="1400" b="0" i="0" u="none" strike="noStrike" cap="none">
              <a:solidFill>
                <a:srgbClr val="000000"/>
              </a:solidFill>
              <a:latin typeface="Arial"/>
              <a:ea typeface="Arial"/>
              <a:cs typeface="Arial"/>
              <a:sym typeface="Arial"/>
            </a:endParaRPr>
          </a:p>
        </p:txBody>
      </p:sp>
      <p:sp>
        <p:nvSpPr>
          <p:cNvPr id="409" name="Google Shape;409;p52"/>
          <p:cNvSpPr txBox="1"/>
          <p:nvPr/>
        </p:nvSpPr>
        <p:spPr>
          <a:xfrm>
            <a:off x="185737" y="2852922"/>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a:t>
            </a:r>
            <a:r>
              <a:rPr lang="en-US" sz="1800" b="0" i="1" u="none" strike="noStrike" cap="none">
                <a:solidFill>
                  <a:schemeClr val="dk1"/>
                </a:solidFill>
                <a:latin typeface="Calibri"/>
                <a:ea typeface="Calibri"/>
                <a:cs typeface="Calibri"/>
                <a:sym typeface="Calibri"/>
              </a:rPr>
              <a:t>most important</a:t>
            </a:r>
            <a:r>
              <a:rPr lang="en-US" sz="1800" b="0" i="0" u="none" strike="noStrike" cap="none">
                <a:solidFill>
                  <a:schemeClr val="dk1"/>
                </a:solidFill>
                <a:latin typeface="Calibri"/>
                <a:ea typeface="Calibri"/>
                <a:cs typeface="Calibri"/>
                <a:sym typeface="Calibri"/>
              </a:rPr>
              <a:t> information option that should be provided for the patient.</a:t>
            </a:r>
            <a:endParaRPr sz="1800" b="0" i="1" u="none" strike="noStrike" cap="none">
              <a:solidFill>
                <a:schemeClr val="dk1"/>
              </a:solidFill>
              <a:latin typeface="Calibri"/>
              <a:ea typeface="Calibri"/>
              <a:cs typeface="Calibri"/>
              <a:sym typeface="Calibri"/>
            </a:endParaRPr>
          </a:p>
        </p:txBody>
      </p:sp>
      <p:graphicFrame>
        <p:nvGraphicFramePr>
          <p:cNvPr id="410" name="Google Shape;410;p52"/>
          <p:cNvGraphicFramePr/>
          <p:nvPr/>
        </p:nvGraphicFramePr>
        <p:xfrm>
          <a:off x="6304754" y="972819"/>
          <a:ext cx="5588000" cy="243338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isotretinoin causes dry skin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isotretinoin can cause malaise </a:t>
                      </a:r>
                      <a:endParaRPr sz="16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B</a:t>
                      </a:r>
                      <a:endParaRPr sz="1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she should have her renal function closely monitored</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C</a:t>
                      </a:r>
                      <a:endParaRPr sz="1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she should take isotretinoin with PPI cover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FF0000"/>
                        </a:buClr>
                        <a:buSzPts val="1600"/>
                        <a:buFont typeface="Calibri"/>
                        <a:buNone/>
                      </a:pPr>
                      <a:r>
                        <a:rPr lang="en-US" sz="1600" u="none" strike="noStrike" cap="none" dirty="0">
                          <a:solidFill>
                            <a:srgbClr val="FF0000"/>
                          </a:solidFill>
                          <a:latin typeface="Calibri"/>
                          <a:ea typeface="Calibri"/>
                          <a:cs typeface="Calibri"/>
                          <a:sym typeface="Calibri"/>
                        </a:rPr>
                        <a:t>she should be using two </a:t>
                      </a:r>
                      <a:r>
                        <a:rPr lang="en-US" sz="1600" b="0" i="0" u="none" strike="noStrike" cap="none" dirty="0">
                          <a:solidFill>
                            <a:srgbClr val="FF0000"/>
                          </a:solidFill>
                          <a:latin typeface="Calibri"/>
                          <a:ea typeface="Calibri"/>
                          <a:cs typeface="Calibri"/>
                          <a:sym typeface="Calibri"/>
                        </a:rPr>
                        <a:t>complementary user-dependent forms of contraception</a:t>
                      </a:r>
                      <a:endParaRPr sz="1600" u="none" strike="noStrike" cap="none" dirty="0">
                        <a:solidFill>
                          <a:srgbClr val="FF0000"/>
                        </a:solidFill>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rgbClr val="FF0000"/>
                          </a:solidFill>
                          <a:latin typeface="Calibri"/>
                          <a:ea typeface="Calibri"/>
                          <a:cs typeface="Calibri"/>
                          <a:sym typeface="Calibri"/>
                        </a:rPr>
                        <a:t>E</a:t>
                      </a:r>
                      <a:endParaRPr sz="1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11" name="Google Shape;411;p52"/>
          <p:cNvSpPr txBox="1"/>
          <p:nvPr/>
        </p:nvSpPr>
        <p:spPr>
          <a:xfrm>
            <a:off x="6191250" y="3683919"/>
            <a:ext cx="4623441"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dirty="0">
                <a:solidFill>
                  <a:srgbClr val="FF0000"/>
                </a:solidFill>
                <a:latin typeface="Calibri"/>
                <a:ea typeface="Calibri"/>
                <a:cs typeface="Calibri"/>
                <a:sym typeface="Calibri"/>
              </a:rPr>
              <a:t>Isotretinoin (Roaccutane):</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Teratogenic</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Monitor LFTs and serum lipids</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Risk of neuropsychiatric reactions   </a:t>
            </a:r>
            <a:endParaRPr sz="18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DD27DD99-79B7-F47B-752B-D7D479CC347F}"/>
              </a:ext>
            </a:extLst>
          </p:cNvPr>
          <p:cNvSpPr txBox="1"/>
          <p:nvPr/>
        </p:nvSpPr>
        <p:spPr>
          <a:xfrm>
            <a:off x="185737" y="3974736"/>
            <a:ext cx="5815011" cy="738664"/>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Essentially need to check on isotretinoin drug page and apply clinical judgement as to the </a:t>
            </a:r>
            <a:r>
              <a:rPr lang="en-US" i="1" dirty="0">
                <a:latin typeface="Calibri" panose="020F0502020204030204" pitchFamily="34" charset="0"/>
                <a:cs typeface="Calibri" panose="020F0502020204030204" pitchFamily="34" charset="0"/>
              </a:rPr>
              <a:t>most important </a:t>
            </a:r>
            <a:r>
              <a:rPr lang="en-US" dirty="0">
                <a:latin typeface="Calibri" panose="020F0502020204030204" pitchFamily="34" charset="0"/>
                <a:cs typeface="Calibri" panose="020F0502020204030204" pitchFamily="34" charset="0"/>
              </a:rPr>
              <a:t>information option</a:t>
            </a:r>
          </a:p>
        </p:txBody>
      </p:sp>
      <p:sp>
        <p:nvSpPr>
          <p:cNvPr id="3" name="TextBox 2">
            <a:extLst>
              <a:ext uri="{FF2B5EF4-FFF2-40B4-BE49-F238E27FC236}">
                <a16:creationId xmlns:a16="http://schemas.microsoft.com/office/drawing/2014/main" id="{6B3C1FAA-BE25-B284-2944-A4123CB74BED}"/>
              </a:ext>
            </a:extLst>
          </p:cNvPr>
          <p:cNvSpPr txBox="1"/>
          <p:nvPr/>
        </p:nvSpPr>
        <p:spPr>
          <a:xfrm>
            <a:off x="8785298" y="6550223"/>
            <a:ext cx="3406702"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5"/>
              </a:rPr>
              <a:t>https://bnf.nice.org.uk/drugs/isotretinoin/</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pic>
        <p:nvPicPr>
          <p:cNvPr id="490" name="Google Shape;490;p76"/>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491" name="Google Shape;491;p76"/>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492" name="Google Shape;492;p76"/>
          <p:cNvSpPr txBox="1"/>
          <p:nvPr/>
        </p:nvSpPr>
        <p:spPr>
          <a:xfrm>
            <a:off x="185737" y="257178"/>
            <a:ext cx="2189601" cy="353943"/>
          </a:xfrm>
          <a:prstGeom prst="rect">
            <a:avLst/>
          </a:prstGeom>
          <a:solidFill>
            <a:srgbClr val="E5DE2B"/>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rgbClr val="367CB3"/>
                </a:solidFill>
                <a:latin typeface="Calibri"/>
                <a:ea typeface="Calibri"/>
                <a:cs typeface="Calibri"/>
                <a:sym typeface="Calibri"/>
              </a:rPr>
              <a:t>Adverse Drug Reaction</a:t>
            </a:r>
            <a:endParaRPr sz="1400" b="0" i="0" u="none" strike="noStrike" cap="none">
              <a:solidFill>
                <a:srgbClr val="000000"/>
              </a:solidFill>
              <a:latin typeface="Arial"/>
              <a:ea typeface="Arial"/>
              <a:cs typeface="Arial"/>
              <a:sym typeface="Arial"/>
            </a:endParaRPr>
          </a:p>
        </p:txBody>
      </p:sp>
      <p:sp>
        <p:nvSpPr>
          <p:cNvPr id="493" name="Google Shape;493;p76"/>
          <p:cNvSpPr txBox="1"/>
          <p:nvPr/>
        </p:nvSpPr>
        <p:spPr>
          <a:xfrm>
            <a:off x="2375338" y="257178"/>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494" name="Google Shape;494;p76"/>
          <p:cNvSpPr txBox="1"/>
          <p:nvPr/>
        </p:nvSpPr>
        <p:spPr>
          <a:xfrm>
            <a:off x="6191250"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ADVERSE EFFECT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495" name="Google Shape;495;p76"/>
          <p:cNvSpPr txBox="1"/>
          <p:nvPr/>
        </p:nvSpPr>
        <p:spPr>
          <a:xfrm>
            <a:off x="185738" y="5948964"/>
            <a:ext cx="1507689"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A8</a:t>
            </a:r>
            <a:endParaRPr sz="1400" b="0" i="0" u="none" strike="noStrike" cap="none">
              <a:solidFill>
                <a:srgbClr val="000000"/>
              </a:solidFill>
              <a:latin typeface="Arial"/>
              <a:ea typeface="Arial"/>
              <a:cs typeface="Arial"/>
              <a:sym typeface="Arial"/>
            </a:endParaRPr>
          </a:p>
        </p:txBody>
      </p:sp>
      <p:sp>
        <p:nvSpPr>
          <p:cNvPr id="496" name="Google Shape;496;p76"/>
          <p:cNvSpPr txBox="1"/>
          <p:nvPr/>
        </p:nvSpPr>
        <p:spPr>
          <a:xfrm>
            <a:off x="185738" y="900112"/>
            <a:ext cx="5815012" cy="2308324"/>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70 year old man is D1 post op following a long, complicated Sub Total Colectomy for Ulcerative colitis. He had been using a morphine PCA to manage his pain. He is found unresponsive by the nurse and you are called over to review and perform an A to E assessment. He has a patent airway and is breathing with a RR of 8/minute, SPO2 90% RA. BP 105/90, HR 112. You notice he has pinpoint pupils.</a:t>
            </a:r>
            <a:endParaRPr sz="1400" b="0" i="0" u="none" strike="noStrike" cap="none">
              <a:solidFill>
                <a:srgbClr val="000000"/>
              </a:solidFill>
              <a:latin typeface="Arial"/>
              <a:ea typeface="Arial"/>
              <a:cs typeface="Arial"/>
              <a:sym typeface="Arial"/>
            </a:endParaRPr>
          </a:p>
        </p:txBody>
      </p:sp>
      <p:sp>
        <p:nvSpPr>
          <p:cNvPr id="497" name="Google Shape;497;p76"/>
          <p:cNvSpPr txBox="1"/>
          <p:nvPr/>
        </p:nvSpPr>
        <p:spPr>
          <a:xfrm>
            <a:off x="185737" y="3433204"/>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TWO most appropriate actions for the management of this adverse event. </a:t>
            </a:r>
            <a:endParaRPr sz="1400" b="0" i="0" u="none" strike="noStrike" cap="none">
              <a:solidFill>
                <a:srgbClr val="000000"/>
              </a:solidFill>
              <a:latin typeface="Arial"/>
              <a:ea typeface="Arial"/>
              <a:cs typeface="Arial"/>
              <a:sym typeface="Arial"/>
            </a:endParaRPr>
          </a:p>
        </p:txBody>
      </p:sp>
      <p:sp>
        <p:nvSpPr>
          <p:cNvPr id="498" name="Google Shape;498;p76"/>
          <p:cNvSpPr txBox="1"/>
          <p:nvPr/>
        </p:nvSpPr>
        <p:spPr>
          <a:xfrm>
            <a:off x="6191250" y="3526454"/>
            <a:ext cx="5815012" cy="286228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800" b="0" i="0" u="none" strike="noStrike" cap="none" dirty="0">
                <a:solidFill>
                  <a:srgbClr val="FF0000"/>
                </a:solidFill>
                <a:latin typeface="Calibri"/>
                <a:ea typeface="Calibri"/>
                <a:cs typeface="Calibri"/>
                <a:sym typeface="Calibri"/>
              </a:rPr>
              <a:t>Opioid overdose:</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Naloxone, remember repeated doses may be needed</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Correcting A-E as you go hence the O2 before the fluid bolus</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Flumazenil if for reversal of side effects of benzos</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Atropine is for bradycardias/control of muscarinic side effects of neostigmine in reversal of competitive neuromuscular block</a:t>
            </a:r>
          </a:p>
          <a:p>
            <a:pPr marL="342900" marR="0" lvl="0" indent="-342900" algn="l" rtl="0">
              <a:lnSpc>
                <a:spcPct val="100000"/>
              </a:lnSpc>
              <a:spcBef>
                <a:spcPts val="0"/>
              </a:spcBef>
              <a:spcAft>
                <a:spcPts val="0"/>
              </a:spcAft>
              <a:buClr>
                <a:srgbClr val="FF0000"/>
              </a:buClr>
              <a:buSzPts val="2000"/>
              <a:buFont typeface="Arial"/>
              <a:buChar char="•"/>
            </a:pPr>
            <a:r>
              <a:rPr lang="en-US" sz="1800" dirty="0">
                <a:solidFill>
                  <a:srgbClr val="FF0000"/>
                </a:solidFill>
                <a:latin typeface="Calibri"/>
                <a:cs typeface="Calibri"/>
                <a:sym typeface="Calibri"/>
              </a:rPr>
              <a:t>In real PSA you would </a:t>
            </a:r>
            <a:r>
              <a:rPr lang="en-US" sz="1800" u="sng" dirty="0">
                <a:solidFill>
                  <a:srgbClr val="FF0000"/>
                </a:solidFill>
                <a:latin typeface="Calibri"/>
                <a:cs typeface="Calibri"/>
                <a:sym typeface="Calibri"/>
              </a:rPr>
              <a:t>not</a:t>
            </a:r>
            <a:r>
              <a:rPr lang="en-US" sz="1800" dirty="0">
                <a:solidFill>
                  <a:srgbClr val="FF0000"/>
                </a:solidFill>
                <a:latin typeface="Calibri"/>
                <a:cs typeface="Calibri"/>
                <a:sym typeface="Calibri"/>
              </a:rPr>
              <a:t> be asked to select TWO options</a:t>
            </a:r>
            <a:endParaRPr sz="1800" b="0" i="0" u="none" strike="noStrike" cap="none" dirty="0">
              <a:solidFill>
                <a:srgbClr val="000000"/>
              </a:solidFill>
              <a:latin typeface="Arial"/>
              <a:ea typeface="Arial"/>
              <a:cs typeface="Arial"/>
              <a:sym typeface="Arial"/>
            </a:endParaRPr>
          </a:p>
        </p:txBody>
      </p:sp>
      <p:graphicFrame>
        <p:nvGraphicFramePr>
          <p:cNvPr id="499" name="Google Shape;499;p76"/>
          <p:cNvGraphicFramePr/>
          <p:nvPr/>
        </p:nvGraphicFramePr>
        <p:xfrm>
          <a:off x="6304756" y="995427"/>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atropine 2mg IV</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flumazenil 200mcg IV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naloxone 400 mcg IV</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FF0000"/>
                        </a:buClr>
                        <a:buSzPts val="1800"/>
                        <a:buFont typeface="Calibri"/>
                        <a:buNone/>
                      </a:pPr>
                      <a:r>
                        <a:rPr lang="en-US" sz="1800" u="none" strike="noStrike" cap="none">
                          <a:solidFill>
                            <a:srgbClr val="FF0000"/>
                          </a:solidFill>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non-rebreathe mask 15L O2</a:t>
                      </a:r>
                      <a:endParaRPr sz="1800" u="none" strike="noStrike" cap="none">
                        <a:solidFill>
                          <a:srgbClr val="FF0000"/>
                        </a:solidFill>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500ml fluid bolus IV</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D4F8C348-C79D-2E2F-B10E-9DDCA0B0A751}"/>
              </a:ext>
            </a:extLst>
          </p:cNvPr>
          <p:cNvSpPr txBox="1"/>
          <p:nvPr/>
        </p:nvSpPr>
        <p:spPr>
          <a:xfrm>
            <a:off x="185737" y="4567973"/>
            <a:ext cx="5815011" cy="1169551"/>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p>
          <a:p>
            <a:pPr marL="285750" indent="-285750">
              <a:buFontTx/>
              <a:buChar char="-"/>
            </a:pPr>
            <a:r>
              <a:rPr lang="en-US" dirty="0">
                <a:latin typeface="Calibri" panose="020F0502020204030204" pitchFamily="34" charset="0"/>
                <a:cs typeface="Calibri" panose="020F0502020204030204" pitchFamily="34" charset="0"/>
              </a:rPr>
              <a:t>‘Poisoning, emergency treatment’ Treatment summary then under ‘Opioid poisoning’</a:t>
            </a:r>
          </a:p>
          <a:p>
            <a:pPr marL="285750" indent="-285750">
              <a:buFontTx/>
              <a:buChar char="-"/>
            </a:pPr>
            <a:r>
              <a:rPr lang="en-US" dirty="0">
                <a:latin typeface="Calibri" panose="020F0502020204030204" pitchFamily="34" charset="0"/>
                <a:cs typeface="Calibri" panose="020F0502020204030204" pitchFamily="34" charset="0"/>
              </a:rPr>
              <a:t>Apply clinical judgment and consider importance of initiating management in an A-E manner</a:t>
            </a:r>
          </a:p>
        </p:txBody>
      </p:sp>
      <p:sp>
        <p:nvSpPr>
          <p:cNvPr id="3" name="TextBox 2">
            <a:extLst>
              <a:ext uri="{FF2B5EF4-FFF2-40B4-BE49-F238E27FC236}">
                <a16:creationId xmlns:a16="http://schemas.microsoft.com/office/drawing/2014/main" id="{6FE02996-81EC-A548-E595-D61507214D24}"/>
              </a:ext>
            </a:extLst>
          </p:cNvPr>
          <p:cNvSpPr txBox="1"/>
          <p:nvPr/>
        </p:nvSpPr>
        <p:spPr>
          <a:xfrm>
            <a:off x="6096000" y="6334780"/>
            <a:ext cx="6308137" cy="523220"/>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5"/>
              </a:rPr>
              <a:t>https://bnf.nice.org.uk/treatment-summaries/poisoning-emergency-treatment/</a:t>
            </a:r>
            <a:r>
              <a:rPr lang="en-US" dirty="0">
                <a:latin typeface="Calibri" panose="020F0502020204030204" pitchFamily="34" charset="0"/>
                <a:cs typeface="Calibri" panose="020F0502020204030204" pitchFamily="34" charset="0"/>
              </a:rPr>
              <a:t> </a:t>
            </a:r>
          </a:p>
          <a:p>
            <a:r>
              <a:rPr lang="en-US" dirty="0">
                <a:latin typeface="Calibri" panose="020F0502020204030204" pitchFamily="34" charset="0"/>
                <a:cs typeface="Calibri" panose="020F0502020204030204" pitchFamily="34" charset="0"/>
                <a:hlinkClick r:id="rId6"/>
              </a:rPr>
              <a:t>https://bnf.nice.org.uk/drugs/naloxone-hydrochloride/</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pic>
        <p:nvPicPr>
          <p:cNvPr id="517" name="Google Shape;517;p78"/>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518" name="Google Shape;518;p78"/>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519" name="Google Shape;519;p78"/>
          <p:cNvSpPr txBox="1"/>
          <p:nvPr/>
        </p:nvSpPr>
        <p:spPr>
          <a:xfrm>
            <a:off x="185737" y="257178"/>
            <a:ext cx="2189601" cy="353943"/>
          </a:xfrm>
          <a:prstGeom prst="rect">
            <a:avLst/>
          </a:prstGeom>
          <a:solidFill>
            <a:srgbClr val="E5DE2B"/>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rgbClr val="367CB3"/>
                </a:solidFill>
                <a:latin typeface="Calibri"/>
                <a:ea typeface="Calibri"/>
                <a:cs typeface="Calibri"/>
                <a:sym typeface="Calibri"/>
              </a:rPr>
              <a:t>Adverse Drug Reaction</a:t>
            </a:r>
            <a:endParaRPr sz="1400" b="0" i="0" u="none" strike="noStrike" cap="none">
              <a:solidFill>
                <a:srgbClr val="000000"/>
              </a:solidFill>
              <a:latin typeface="Arial"/>
              <a:ea typeface="Arial"/>
              <a:cs typeface="Arial"/>
              <a:sym typeface="Arial"/>
            </a:endParaRPr>
          </a:p>
        </p:txBody>
      </p:sp>
      <p:sp>
        <p:nvSpPr>
          <p:cNvPr id="520" name="Google Shape;520;p78"/>
          <p:cNvSpPr txBox="1"/>
          <p:nvPr/>
        </p:nvSpPr>
        <p:spPr>
          <a:xfrm>
            <a:off x="2375338" y="257178"/>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521" name="Google Shape;521;p78"/>
          <p:cNvSpPr txBox="1"/>
          <p:nvPr/>
        </p:nvSpPr>
        <p:spPr>
          <a:xfrm>
            <a:off x="6191250"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ADVERSE EFFECT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522" name="Google Shape;522;p78"/>
          <p:cNvSpPr txBox="1"/>
          <p:nvPr/>
        </p:nvSpPr>
        <p:spPr>
          <a:xfrm>
            <a:off x="185738" y="5948964"/>
            <a:ext cx="1507689"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A9</a:t>
            </a:r>
            <a:endParaRPr sz="1400" b="0" i="0" u="none" strike="noStrike" cap="none">
              <a:solidFill>
                <a:srgbClr val="000000"/>
              </a:solidFill>
              <a:latin typeface="Arial"/>
              <a:ea typeface="Arial"/>
              <a:cs typeface="Arial"/>
              <a:sym typeface="Arial"/>
            </a:endParaRPr>
          </a:p>
        </p:txBody>
      </p:sp>
      <p:sp>
        <p:nvSpPr>
          <p:cNvPr id="523" name="Google Shape;523;p78"/>
          <p:cNvSpPr txBox="1"/>
          <p:nvPr/>
        </p:nvSpPr>
        <p:spPr>
          <a:xfrm>
            <a:off x="185738" y="900112"/>
            <a:ext cx="5815012" cy="2031325"/>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An 80-year-old man has just been discharged from hospital. During admission he had been catheterised for urinary retention and subsequently developed an epididymo-orchitis. He had also been started on some new medication by the urologist. He presents to his GP with some acute left sided calf and foot pain.  </a:t>
            </a:r>
            <a:endParaRPr sz="1400" b="0" i="0" u="none" strike="noStrike" cap="none">
              <a:solidFill>
                <a:srgbClr val="000000"/>
              </a:solidFill>
              <a:latin typeface="Arial"/>
              <a:ea typeface="Arial"/>
              <a:cs typeface="Arial"/>
              <a:sym typeface="Arial"/>
            </a:endParaRPr>
          </a:p>
        </p:txBody>
      </p:sp>
      <p:graphicFrame>
        <p:nvGraphicFramePr>
          <p:cNvPr id="524" name="Google Shape;524;p78"/>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bisoprolol 2.5mg OD</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ciprofloxacin 500mg BD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FF0000"/>
                        </a:buClr>
                        <a:buSzPts val="1800"/>
                        <a:buFont typeface="Calibri"/>
                        <a:buNone/>
                      </a:pPr>
                      <a:r>
                        <a:rPr lang="en-US" sz="1800" u="none" strike="noStrike" cap="none">
                          <a:solidFill>
                            <a:srgbClr val="FF0000"/>
                          </a:solidFill>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doxycycline 100mg BD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erythromycin 500mg BD</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rivaroxaban 20mg OD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25" name="Google Shape;525;p78"/>
          <p:cNvSpPr txBox="1"/>
          <p:nvPr/>
        </p:nvSpPr>
        <p:spPr>
          <a:xfrm>
            <a:off x="6191250" y="3453086"/>
            <a:ext cx="5815012"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800" b="0" i="0" u="none" strike="noStrike" cap="none" dirty="0">
                <a:solidFill>
                  <a:srgbClr val="FF0000"/>
                </a:solidFill>
                <a:latin typeface="Calibri"/>
                <a:ea typeface="Calibri"/>
                <a:cs typeface="Calibri"/>
                <a:sym typeface="Calibri"/>
              </a:rPr>
              <a:t>Tendonitis:</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Ciprofloxacin can cause tendonitis and tendon rupture (in this case </a:t>
            </a:r>
            <a:r>
              <a:rPr lang="en-US" sz="1800" b="0" i="0" u="none" strike="noStrike" cap="none" dirty="0" err="1">
                <a:solidFill>
                  <a:srgbClr val="FF0000"/>
                </a:solidFill>
                <a:latin typeface="Calibri"/>
                <a:ea typeface="Calibri"/>
                <a:cs typeface="Calibri"/>
                <a:sym typeface="Calibri"/>
              </a:rPr>
              <a:t>achilles</a:t>
            </a:r>
            <a:r>
              <a:rPr lang="en-US" sz="1800" b="0" i="0" u="none" strike="noStrike" cap="none" dirty="0">
                <a:solidFill>
                  <a:srgbClr val="FF0000"/>
                </a:solidFill>
                <a:latin typeface="Calibri"/>
                <a:ea typeface="Calibri"/>
                <a:cs typeface="Calibri"/>
                <a:sym typeface="Calibri"/>
              </a:rPr>
              <a:t> tendonitis) and should be stopped immediately</a:t>
            </a:r>
            <a:endParaRPr sz="1800" b="0" i="0" u="none" strike="noStrike" cap="none" dirty="0">
              <a:solidFill>
                <a:srgbClr val="000000"/>
              </a:solidFill>
              <a:latin typeface="Arial"/>
              <a:ea typeface="Arial"/>
              <a:cs typeface="Arial"/>
              <a:sym typeface="Arial"/>
            </a:endParaRPr>
          </a:p>
        </p:txBody>
      </p:sp>
      <p:sp>
        <p:nvSpPr>
          <p:cNvPr id="526" name="Google Shape;526;p78"/>
          <p:cNvSpPr txBox="1"/>
          <p:nvPr/>
        </p:nvSpPr>
        <p:spPr>
          <a:xfrm>
            <a:off x="185737" y="3129921"/>
            <a:ext cx="5815012" cy="646331"/>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ONE drug most likely to cause this adverse event.</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D34D4870-6C2E-CD61-3D57-B09965CB7193}"/>
              </a:ext>
            </a:extLst>
          </p:cNvPr>
          <p:cNvSpPr txBox="1"/>
          <p:nvPr/>
        </p:nvSpPr>
        <p:spPr>
          <a:xfrm>
            <a:off x="185737" y="3974736"/>
            <a:ext cx="5815011" cy="1384995"/>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This is an important and common side effect of fluroquinolone antibiotics and hopefully something that many of you know</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Lots of information under ‘Important safety information’ on ciprofloxacin drug page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If unsure can look at each drug page and try ctrl + F for ‘tendonitis’</a:t>
            </a:r>
          </a:p>
        </p:txBody>
      </p:sp>
      <p:sp>
        <p:nvSpPr>
          <p:cNvPr id="3" name="TextBox 2">
            <a:extLst>
              <a:ext uri="{FF2B5EF4-FFF2-40B4-BE49-F238E27FC236}">
                <a16:creationId xmlns:a16="http://schemas.microsoft.com/office/drawing/2014/main" id="{669053C6-C03F-090D-45E8-892FA39C48C3}"/>
              </a:ext>
            </a:extLst>
          </p:cNvPr>
          <p:cNvSpPr txBox="1"/>
          <p:nvPr/>
        </p:nvSpPr>
        <p:spPr>
          <a:xfrm>
            <a:off x="8657901" y="6550223"/>
            <a:ext cx="3440365"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5"/>
              </a:rPr>
              <a:t>https://bnf.nice.org.uk/drugs/ciprofloxacin/</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pic>
        <p:nvPicPr>
          <p:cNvPr id="550" name="Google Shape;550;p39"/>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551" name="Google Shape;551;p39"/>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552" name="Google Shape;552;p39"/>
          <p:cNvSpPr txBox="1"/>
          <p:nvPr/>
        </p:nvSpPr>
        <p:spPr>
          <a:xfrm>
            <a:off x="185737" y="257178"/>
            <a:ext cx="2189601" cy="353943"/>
          </a:xfrm>
          <a:prstGeom prst="rect">
            <a:avLst/>
          </a:prstGeom>
          <a:solidFill>
            <a:srgbClr val="E5DE2B"/>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rgbClr val="367CB3"/>
                </a:solidFill>
                <a:latin typeface="Calibri"/>
                <a:ea typeface="Calibri"/>
                <a:cs typeface="Calibri"/>
                <a:sym typeface="Calibri"/>
              </a:rPr>
              <a:t>Adverse Drug Reaction</a:t>
            </a:r>
            <a:endParaRPr sz="1400" b="0" i="0" u="none" strike="noStrike" cap="none">
              <a:solidFill>
                <a:srgbClr val="000000"/>
              </a:solidFill>
              <a:latin typeface="Arial"/>
              <a:ea typeface="Arial"/>
              <a:cs typeface="Arial"/>
              <a:sym typeface="Arial"/>
            </a:endParaRPr>
          </a:p>
        </p:txBody>
      </p:sp>
      <p:sp>
        <p:nvSpPr>
          <p:cNvPr id="553" name="Google Shape;553;p39"/>
          <p:cNvSpPr txBox="1"/>
          <p:nvPr/>
        </p:nvSpPr>
        <p:spPr>
          <a:xfrm>
            <a:off x="2375338" y="257178"/>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554" name="Google Shape;554;p39"/>
          <p:cNvSpPr txBox="1"/>
          <p:nvPr/>
        </p:nvSpPr>
        <p:spPr>
          <a:xfrm>
            <a:off x="6191250"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ADVERSE EFFECT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555" name="Google Shape;555;p39"/>
          <p:cNvSpPr txBox="1"/>
          <p:nvPr/>
        </p:nvSpPr>
        <p:spPr>
          <a:xfrm>
            <a:off x="185738" y="5948964"/>
            <a:ext cx="1507689"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A10</a:t>
            </a:r>
            <a:endParaRPr sz="1400" b="0" i="0" u="none" strike="noStrike" cap="none">
              <a:solidFill>
                <a:srgbClr val="000000"/>
              </a:solidFill>
              <a:latin typeface="Arial"/>
              <a:ea typeface="Arial"/>
              <a:cs typeface="Arial"/>
              <a:sym typeface="Arial"/>
            </a:endParaRPr>
          </a:p>
        </p:txBody>
      </p:sp>
      <p:sp>
        <p:nvSpPr>
          <p:cNvPr id="556" name="Google Shape;556;p39"/>
          <p:cNvSpPr txBox="1"/>
          <p:nvPr/>
        </p:nvSpPr>
        <p:spPr>
          <a:xfrm>
            <a:off x="185738" y="900112"/>
            <a:ext cx="5815012" cy="1477328"/>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9-year-old boy is vomiting following a laparoscopic appendicectomy and is given IV metoclopramide. A couple of minutes later he has become restless, agitated and has involuntary upward movements of his eyes.  </a:t>
            </a:r>
            <a:endParaRPr sz="1400" b="0" i="0" u="none" strike="noStrike" cap="none">
              <a:solidFill>
                <a:srgbClr val="000000"/>
              </a:solidFill>
              <a:latin typeface="Arial"/>
              <a:ea typeface="Arial"/>
              <a:cs typeface="Arial"/>
              <a:sym typeface="Arial"/>
            </a:endParaRPr>
          </a:p>
        </p:txBody>
      </p:sp>
      <p:sp>
        <p:nvSpPr>
          <p:cNvPr id="557" name="Google Shape;557;p39"/>
          <p:cNvSpPr txBox="1"/>
          <p:nvPr/>
        </p:nvSpPr>
        <p:spPr>
          <a:xfrm>
            <a:off x="185738" y="2575924"/>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prescription that is most likely to be effective in managing this adverse event. </a:t>
            </a:r>
            <a:endParaRPr sz="1400" b="0" i="0" u="none" strike="noStrike" cap="none">
              <a:solidFill>
                <a:srgbClr val="000000"/>
              </a:solidFill>
              <a:latin typeface="Arial"/>
              <a:ea typeface="Arial"/>
              <a:cs typeface="Arial"/>
              <a:sym typeface="Arial"/>
            </a:endParaRPr>
          </a:p>
        </p:txBody>
      </p:sp>
      <p:graphicFrame>
        <p:nvGraphicFramePr>
          <p:cNvPr id="558" name="Google Shape;558;p39"/>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diazepam 5mg PR</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midazolam 7.5mg Buccal </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ondansetron 4mg IV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procyclidine 5mg IM</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trihexyphenidyl 1mg PO</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59" name="Google Shape;559;p39"/>
          <p:cNvSpPr txBox="1"/>
          <p:nvPr/>
        </p:nvSpPr>
        <p:spPr>
          <a:xfrm>
            <a:off x="6191250" y="3526454"/>
            <a:ext cx="5815012" cy="203128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800" b="0" i="0" u="none" strike="noStrike" cap="none" dirty="0">
                <a:solidFill>
                  <a:srgbClr val="FF0000"/>
                </a:solidFill>
                <a:latin typeface="Calibri"/>
                <a:ea typeface="Calibri"/>
                <a:cs typeface="Calibri"/>
                <a:sym typeface="Calibri"/>
              </a:rPr>
              <a:t>Oculogyric crisis:</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Procyclidine is the most appropriate management (can be IM/IV)</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Benzos not useful here, midazolam would be for status epilepticus</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Trihexyphenidyl can be used for </a:t>
            </a:r>
            <a:r>
              <a:rPr lang="en-US" sz="1800" b="0" i="0" u="none" strike="noStrike" cap="none" dirty="0" err="1">
                <a:solidFill>
                  <a:srgbClr val="FF0000"/>
                </a:solidFill>
                <a:latin typeface="Calibri"/>
                <a:ea typeface="Calibri"/>
                <a:cs typeface="Calibri"/>
                <a:sym typeface="Calibri"/>
              </a:rPr>
              <a:t>dystonias</a:t>
            </a:r>
            <a:r>
              <a:rPr lang="en-US" sz="1800" b="0" i="0" u="none" strike="noStrike" cap="none" dirty="0">
                <a:solidFill>
                  <a:srgbClr val="FF0000"/>
                </a:solidFill>
                <a:latin typeface="Calibri"/>
                <a:ea typeface="Calibri"/>
                <a:cs typeface="Calibri"/>
                <a:sym typeface="Calibri"/>
              </a:rPr>
              <a:t> but needing IV for an acute oculogyric crisis</a:t>
            </a:r>
            <a:endParaRPr sz="18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B89D7B08-16F5-3A73-9AFC-7E1D890FCE5E}"/>
              </a:ext>
            </a:extLst>
          </p:cNvPr>
          <p:cNvSpPr txBox="1"/>
          <p:nvPr/>
        </p:nvSpPr>
        <p:spPr>
          <a:xfrm>
            <a:off x="185737" y="3697738"/>
            <a:ext cx="5815011" cy="1384995"/>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Lots of options…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Full diagnosis and treatment provided on metoclopramide drug page under ‘Side-effects, further information’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Oculogyric crisis is called ‘dystonia’ on BNF</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t>
            </a:r>
            <a:r>
              <a:rPr lang="en-US" dirty="0" err="1">
                <a:latin typeface="Calibri" panose="020F0502020204030204" pitchFamily="34" charset="0"/>
                <a:cs typeface="Calibri" panose="020F0502020204030204" pitchFamily="34" charset="0"/>
              </a:rPr>
              <a:t>Dystonias</a:t>
            </a:r>
            <a:r>
              <a:rPr lang="en-US" dirty="0">
                <a:latin typeface="Calibri" panose="020F0502020204030204" pitchFamily="34" charset="0"/>
                <a:cs typeface="Calibri" panose="020F0502020204030204" pitchFamily="34" charset="0"/>
              </a:rPr>
              <a:t> and related disorders’ Treatment summary</a:t>
            </a:r>
          </a:p>
        </p:txBody>
      </p:sp>
      <p:sp>
        <p:nvSpPr>
          <p:cNvPr id="4" name="TextBox 3">
            <a:extLst>
              <a:ext uri="{FF2B5EF4-FFF2-40B4-BE49-F238E27FC236}">
                <a16:creationId xmlns:a16="http://schemas.microsoft.com/office/drawing/2014/main" id="{6711DDF5-CF30-2114-20E1-E192794222AD}"/>
              </a:ext>
            </a:extLst>
          </p:cNvPr>
          <p:cNvSpPr txBox="1"/>
          <p:nvPr/>
        </p:nvSpPr>
        <p:spPr>
          <a:xfrm>
            <a:off x="6059302" y="6119336"/>
            <a:ext cx="6078908" cy="738664"/>
          </a:xfrm>
          <a:prstGeom prst="rect">
            <a:avLst/>
          </a:prstGeom>
          <a:noFill/>
        </p:spPr>
        <p:txBody>
          <a:bodyPr wrap="none" rtlCol="0">
            <a:spAutoFit/>
          </a:bodyPr>
          <a:lstStyle/>
          <a:p>
            <a:r>
              <a:rPr lang="en-US" dirty="0">
                <a:hlinkClick r:id="rId5"/>
              </a:rPr>
              <a:t>https://bnfc.nice.org.uk/drugs/metoclopramide-hydrochloride</a:t>
            </a:r>
            <a:r>
              <a:rPr lang="en-US" dirty="0"/>
              <a:t>/</a:t>
            </a:r>
            <a:endParaRPr lang="en-US" dirty="0">
              <a:latin typeface="Calibri" panose="020F0502020204030204" pitchFamily="34" charset="0"/>
              <a:cs typeface="Calibri" panose="020F0502020204030204" pitchFamily="34" charset="0"/>
              <a:hlinkClick r:id="rId6"/>
            </a:endParaRPr>
          </a:p>
          <a:p>
            <a:r>
              <a:rPr lang="en-US" dirty="0">
                <a:latin typeface="Calibri" panose="020F0502020204030204" pitchFamily="34" charset="0"/>
                <a:cs typeface="Calibri" panose="020F0502020204030204" pitchFamily="34" charset="0"/>
                <a:hlinkClick r:id="rId6"/>
              </a:rPr>
              <a:t>https://bnfc.nice.org.uk/treatment-summaries/dystonias-and-related-disorders/</a:t>
            </a: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hlinkClick r:id="rId7"/>
              </a:rPr>
              <a:t>https://bnfc.nice.org.uk/drugs/procyclidine-hydrochloride/</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pic>
        <p:nvPicPr>
          <p:cNvPr id="585" name="Google Shape;585;p79"/>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586" name="Google Shape;586;p79"/>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587" name="Google Shape;587;p79"/>
          <p:cNvSpPr txBox="1"/>
          <p:nvPr/>
        </p:nvSpPr>
        <p:spPr>
          <a:xfrm>
            <a:off x="185737" y="257178"/>
            <a:ext cx="2189601" cy="353943"/>
          </a:xfrm>
          <a:prstGeom prst="rect">
            <a:avLst/>
          </a:prstGeom>
          <a:solidFill>
            <a:srgbClr val="E5DE2B"/>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rgbClr val="367CB3"/>
                </a:solidFill>
                <a:latin typeface="Calibri"/>
                <a:ea typeface="Calibri"/>
                <a:cs typeface="Calibri"/>
                <a:sym typeface="Calibri"/>
              </a:rPr>
              <a:t>Adverse Drug Reaction</a:t>
            </a:r>
            <a:endParaRPr sz="1400" b="0" i="0" u="none" strike="noStrike" cap="none">
              <a:solidFill>
                <a:srgbClr val="000000"/>
              </a:solidFill>
              <a:latin typeface="Arial"/>
              <a:ea typeface="Arial"/>
              <a:cs typeface="Arial"/>
              <a:sym typeface="Arial"/>
            </a:endParaRPr>
          </a:p>
        </p:txBody>
      </p:sp>
      <p:sp>
        <p:nvSpPr>
          <p:cNvPr id="588" name="Google Shape;588;p79"/>
          <p:cNvSpPr txBox="1"/>
          <p:nvPr/>
        </p:nvSpPr>
        <p:spPr>
          <a:xfrm>
            <a:off x="2375338" y="257178"/>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589" name="Google Shape;589;p79"/>
          <p:cNvSpPr txBox="1"/>
          <p:nvPr/>
        </p:nvSpPr>
        <p:spPr>
          <a:xfrm>
            <a:off x="6191250"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ADVERSE EFFECT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590" name="Google Shape;590;p79"/>
          <p:cNvSpPr txBox="1"/>
          <p:nvPr/>
        </p:nvSpPr>
        <p:spPr>
          <a:xfrm>
            <a:off x="185738" y="5948964"/>
            <a:ext cx="1507689"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A11</a:t>
            </a:r>
            <a:endParaRPr sz="1400" b="0" i="0" u="none" strike="noStrike" cap="none">
              <a:solidFill>
                <a:srgbClr val="000000"/>
              </a:solidFill>
              <a:latin typeface="Arial"/>
              <a:ea typeface="Arial"/>
              <a:cs typeface="Arial"/>
              <a:sym typeface="Arial"/>
            </a:endParaRPr>
          </a:p>
        </p:txBody>
      </p:sp>
      <p:sp>
        <p:nvSpPr>
          <p:cNvPr id="591" name="Google Shape;591;p79"/>
          <p:cNvSpPr txBox="1"/>
          <p:nvPr/>
        </p:nvSpPr>
        <p:spPr>
          <a:xfrm>
            <a:off x="185738" y="900112"/>
            <a:ext cx="5815012" cy="1754286"/>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Case</a:t>
            </a:r>
            <a:r>
              <a:rPr lang="en-US" sz="1800" b="0" i="0" u="none" strike="noStrike" cap="none" dirty="0">
                <a:solidFill>
                  <a:schemeClr val="dk1"/>
                </a:solidFill>
                <a:latin typeface="Calibri"/>
                <a:ea typeface="Calibri"/>
                <a:cs typeface="Calibri"/>
                <a:sym typeface="Calibri"/>
              </a:rPr>
              <a:t> </a:t>
            </a:r>
            <a:r>
              <a:rPr lang="en-US" sz="1800" b="1" i="0" u="none" strike="noStrike" cap="none" dirty="0">
                <a:solidFill>
                  <a:schemeClr val="dk1"/>
                </a:solidFill>
                <a:latin typeface="Calibri"/>
                <a:ea typeface="Calibri"/>
                <a:cs typeface="Calibri"/>
                <a:sym typeface="Calibri"/>
              </a:rPr>
              <a:t>presentation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1800" b="0" i="0" u="none" strike="noStrike" cap="none" dirty="0">
                <a:solidFill>
                  <a:schemeClr val="dk1"/>
                </a:solidFill>
                <a:latin typeface="Calibri"/>
                <a:ea typeface="Calibri"/>
                <a:cs typeface="Calibri"/>
                <a:sym typeface="Calibri"/>
              </a:rPr>
              <a:t>An 80-year-old man has attended the day surgery unit for cataract surgery. He is relatively fit and well with a background of lower urinary tract symptoms for which he takes a regular medication for. During the operation the surgeon has difficulty securing the intra ocular lens.</a:t>
            </a:r>
            <a:endParaRPr sz="1800" b="0" i="0" u="none" strike="noStrike" cap="none" dirty="0">
              <a:solidFill>
                <a:srgbClr val="000000"/>
              </a:solidFill>
              <a:latin typeface="Arial"/>
              <a:ea typeface="Arial"/>
              <a:cs typeface="Arial"/>
              <a:sym typeface="Arial"/>
            </a:endParaRPr>
          </a:p>
        </p:txBody>
      </p:sp>
      <p:sp>
        <p:nvSpPr>
          <p:cNvPr id="592" name="Google Shape;592;p79"/>
          <p:cNvSpPr txBox="1"/>
          <p:nvPr/>
        </p:nvSpPr>
        <p:spPr>
          <a:xfrm>
            <a:off x="185738" y="2852882"/>
            <a:ext cx="5815012" cy="646331"/>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Question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Select the ONE drug most likely to cause this adverse event. </a:t>
            </a:r>
            <a:endParaRPr sz="1400" b="0" i="0" u="none" strike="noStrike" cap="none" dirty="0">
              <a:solidFill>
                <a:srgbClr val="000000"/>
              </a:solidFill>
              <a:latin typeface="Arial"/>
              <a:ea typeface="Arial"/>
              <a:cs typeface="Arial"/>
              <a:sym typeface="Arial"/>
            </a:endParaRPr>
          </a:p>
        </p:txBody>
      </p:sp>
      <p:graphicFrame>
        <p:nvGraphicFramePr>
          <p:cNvPr id="593" name="Google Shape;593;p79"/>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Calibri"/>
                          <a:ea typeface="Calibri"/>
                          <a:cs typeface="Calibri"/>
                          <a:sym typeface="Calibri"/>
                        </a:rPr>
                        <a:t>finasteride 5mg daily </a:t>
                      </a:r>
                      <a:endParaRPr sz="1400" u="none" strike="noStrike" cap="none" dirty="0">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Calibri"/>
                          <a:ea typeface="Calibri"/>
                          <a:cs typeface="Calibri"/>
                          <a:sym typeface="Calibri"/>
                        </a:rPr>
                        <a:t>mirabegron 50mg daily </a:t>
                      </a:r>
                      <a:endParaRPr sz="1400" u="none" strike="noStrike" cap="none" dirty="0">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solidFill>
                            <a:srgbClr val="FF0000"/>
                          </a:solidFill>
                          <a:latin typeface="Calibri"/>
                          <a:ea typeface="Calibri"/>
                          <a:cs typeface="Calibri"/>
                          <a:sym typeface="Calibri"/>
                        </a:rPr>
                        <a:t>tamsulosin 400mcg daily</a:t>
                      </a:r>
                      <a:endParaRPr sz="1400" u="none" strike="noStrike" cap="none" dirty="0">
                        <a:solidFill>
                          <a:srgbClr val="FF0000"/>
                        </a:solidFill>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FF0000"/>
                        </a:buClr>
                        <a:buSzPts val="1800"/>
                        <a:buFont typeface="Calibri"/>
                        <a:buNone/>
                      </a:pPr>
                      <a:r>
                        <a:rPr lang="en-US" sz="1800" u="none" strike="noStrike" cap="none">
                          <a:solidFill>
                            <a:srgbClr val="FF0000"/>
                          </a:solidFill>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Calibri"/>
                          <a:ea typeface="Calibri"/>
                          <a:cs typeface="Calibri"/>
                          <a:sym typeface="Calibri"/>
                        </a:rPr>
                        <a:t>sildenafil 50mg daily </a:t>
                      </a:r>
                      <a:endParaRPr sz="1400" u="none" strike="noStrike" cap="none" dirty="0">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err="1">
                          <a:latin typeface="Calibri"/>
                          <a:ea typeface="Calibri"/>
                          <a:cs typeface="Calibri"/>
                          <a:sym typeface="Calibri"/>
                        </a:rPr>
                        <a:t>solifenacin</a:t>
                      </a:r>
                      <a:r>
                        <a:rPr lang="en-US" sz="1800" u="none" strike="noStrike" cap="none" dirty="0">
                          <a:latin typeface="Calibri"/>
                          <a:ea typeface="Calibri"/>
                          <a:cs typeface="Calibri"/>
                          <a:sym typeface="Calibri"/>
                        </a:rPr>
                        <a:t> 5mg daily </a:t>
                      </a:r>
                      <a:endParaRPr sz="1400" u="none" strike="noStrike" cap="none" dirty="0">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dirty="0">
                          <a:latin typeface="Calibri"/>
                          <a:ea typeface="Calibri"/>
                          <a:cs typeface="Calibri"/>
                          <a:sym typeface="Calibri"/>
                        </a:rPr>
                        <a:t>E</a:t>
                      </a:r>
                      <a:endParaRPr sz="1400" u="none" strike="noStrike" cap="none" dirty="0">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94" name="Google Shape;594;p79"/>
          <p:cNvSpPr txBox="1"/>
          <p:nvPr/>
        </p:nvSpPr>
        <p:spPr>
          <a:xfrm>
            <a:off x="6191250" y="3526454"/>
            <a:ext cx="5815012"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800" b="0" i="0" u="none" strike="noStrike" cap="none" dirty="0">
                <a:solidFill>
                  <a:srgbClr val="FF0000"/>
                </a:solidFill>
                <a:latin typeface="Calibri"/>
                <a:ea typeface="Calibri"/>
                <a:cs typeface="Calibri"/>
                <a:sym typeface="Calibri"/>
              </a:rPr>
              <a:t>Floppy iris syndrome:</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Tamsulosin can cause intra-operative floppy iris syndrome and should be stopped before all cataract surgery</a:t>
            </a:r>
            <a:endParaRPr sz="1800" b="0" i="0" u="none" strike="noStrike" cap="none" dirty="0">
              <a:solidFill>
                <a:srgbClr val="000000"/>
              </a:solidFill>
              <a:latin typeface="Arial"/>
              <a:ea typeface="Arial"/>
              <a:cs typeface="Arial"/>
              <a:sym typeface="Arial"/>
            </a:endParaRPr>
          </a:p>
        </p:txBody>
      </p:sp>
      <p:pic>
        <p:nvPicPr>
          <p:cNvPr id="595" name="Google Shape;595;p79"/>
          <p:cNvPicPr preferRelativeResize="0"/>
          <p:nvPr/>
        </p:nvPicPr>
        <p:blipFill rotWithShape="1">
          <a:blip r:embed="rId5">
            <a:alphaModFix/>
          </a:blip>
          <a:srcRect/>
          <a:stretch/>
        </p:blipFill>
        <p:spPr>
          <a:xfrm>
            <a:off x="6520656" y="4877676"/>
            <a:ext cx="5156200" cy="1155700"/>
          </a:xfrm>
          <a:prstGeom prst="rect">
            <a:avLst/>
          </a:prstGeom>
          <a:noFill/>
          <a:ln>
            <a:noFill/>
          </a:ln>
        </p:spPr>
      </p:pic>
      <p:sp>
        <p:nvSpPr>
          <p:cNvPr id="2" name="TextBox 1">
            <a:extLst>
              <a:ext uri="{FF2B5EF4-FFF2-40B4-BE49-F238E27FC236}">
                <a16:creationId xmlns:a16="http://schemas.microsoft.com/office/drawing/2014/main" id="{A3DCA8B0-323C-28EC-4035-22E20AEA748F}"/>
              </a:ext>
            </a:extLst>
          </p:cNvPr>
          <p:cNvSpPr txBox="1"/>
          <p:nvPr/>
        </p:nvSpPr>
        <p:spPr>
          <a:xfrm>
            <a:off x="185737" y="3697697"/>
            <a:ext cx="5815011" cy="1384995"/>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Tricky question - can expect a few difficult questions on the exam</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If you checked each drug page then ctrl + F for ‘cataract’ it would have highlighted the answer on the tamsulosin page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If you knew it was floppy iris syndrome and wanted to do a quick check then could try and AND/OR search</a:t>
            </a:r>
          </a:p>
        </p:txBody>
      </p:sp>
      <p:sp>
        <p:nvSpPr>
          <p:cNvPr id="3" name="TextBox 2">
            <a:extLst>
              <a:ext uri="{FF2B5EF4-FFF2-40B4-BE49-F238E27FC236}">
                <a16:creationId xmlns:a16="http://schemas.microsoft.com/office/drawing/2014/main" id="{73A6FEF0-2121-18C0-B28B-8D21DCB9D171}"/>
              </a:ext>
            </a:extLst>
          </p:cNvPr>
          <p:cNvSpPr txBox="1"/>
          <p:nvPr/>
        </p:nvSpPr>
        <p:spPr>
          <a:xfrm>
            <a:off x="7754865" y="6550223"/>
            <a:ext cx="4620176"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6"/>
              </a:rPr>
              <a:t>https://bnfc.nice.org.uk/drugs/tamsulosin-hydrochloride/</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pic>
        <p:nvPicPr>
          <p:cNvPr id="643" name="Google Shape;643;p81"/>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644" name="Google Shape;644;p81"/>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645" name="Google Shape;645;p81"/>
          <p:cNvSpPr txBox="1"/>
          <p:nvPr/>
        </p:nvSpPr>
        <p:spPr>
          <a:xfrm>
            <a:off x="185738" y="257178"/>
            <a:ext cx="1714936" cy="353943"/>
          </a:xfrm>
          <a:prstGeom prst="rect">
            <a:avLst/>
          </a:prstGeom>
          <a:solidFill>
            <a:srgbClr val="DE892E"/>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Drug Monitoring</a:t>
            </a:r>
            <a:endParaRPr sz="1400" b="0" i="0" u="none" strike="noStrike" cap="none">
              <a:solidFill>
                <a:srgbClr val="000000"/>
              </a:solidFill>
              <a:latin typeface="Arial"/>
              <a:ea typeface="Arial"/>
              <a:cs typeface="Arial"/>
              <a:sym typeface="Arial"/>
            </a:endParaRPr>
          </a:p>
        </p:txBody>
      </p:sp>
      <p:sp>
        <p:nvSpPr>
          <p:cNvPr id="646" name="Google Shape;646;p81"/>
          <p:cNvSpPr txBox="1"/>
          <p:nvPr/>
        </p:nvSpPr>
        <p:spPr>
          <a:xfrm>
            <a:off x="1900674" y="257178"/>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647" name="Google Shape;647;p81"/>
          <p:cNvSpPr txBox="1"/>
          <p:nvPr/>
        </p:nvSpPr>
        <p:spPr>
          <a:xfrm>
            <a:off x="6191252"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MONITORING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648" name="Google Shape;648;p81"/>
          <p:cNvSpPr txBox="1"/>
          <p:nvPr/>
        </p:nvSpPr>
        <p:spPr>
          <a:xfrm>
            <a:off x="185739" y="5948964"/>
            <a:ext cx="208127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A12</a:t>
            </a:r>
            <a:endParaRPr sz="1400" b="0" i="0" u="none" strike="noStrike" cap="none">
              <a:solidFill>
                <a:srgbClr val="000000"/>
              </a:solidFill>
              <a:latin typeface="Arial"/>
              <a:ea typeface="Arial"/>
              <a:cs typeface="Arial"/>
              <a:sym typeface="Arial"/>
            </a:endParaRPr>
          </a:p>
        </p:txBody>
      </p:sp>
      <p:sp>
        <p:nvSpPr>
          <p:cNvPr id="649" name="Google Shape;649;p81"/>
          <p:cNvSpPr txBox="1"/>
          <p:nvPr/>
        </p:nvSpPr>
        <p:spPr>
          <a:xfrm>
            <a:off x="185738" y="900112"/>
            <a:ext cx="5815012" cy="1200329"/>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48-year-old man is found to have hypertriglyceridemia during investigations for pancreatitis. He is advised to commence fenofibrate 200mg PO once daily. </a:t>
            </a:r>
            <a:endParaRPr sz="1400" b="0" i="0" u="none" strike="noStrike" cap="none">
              <a:solidFill>
                <a:srgbClr val="000000"/>
              </a:solidFill>
              <a:latin typeface="Arial"/>
              <a:ea typeface="Arial"/>
              <a:cs typeface="Arial"/>
              <a:sym typeface="Arial"/>
            </a:endParaRPr>
          </a:p>
        </p:txBody>
      </p:sp>
      <p:sp>
        <p:nvSpPr>
          <p:cNvPr id="650" name="Google Shape;650;p81"/>
          <p:cNvSpPr txBox="1"/>
          <p:nvPr/>
        </p:nvSpPr>
        <p:spPr>
          <a:xfrm>
            <a:off x="185736" y="2298925"/>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a:t>
            </a:r>
            <a:r>
              <a:rPr lang="en-US" sz="1800" b="0" i="1" u="none" strike="noStrike" cap="none">
                <a:solidFill>
                  <a:schemeClr val="dk1"/>
                </a:solidFill>
                <a:latin typeface="Calibri"/>
                <a:ea typeface="Calibri"/>
                <a:cs typeface="Calibri"/>
                <a:sym typeface="Calibri"/>
              </a:rPr>
              <a:t>most appropriate</a:t>
            </a:r>
            <a:r>
              <a:rPr lang="en-US" sz="1800" b="0" i="0" u="none" strike="noStrike" cap="none">
                <a:solidFill>
                  <a:schemeClr val="dk1"/>
                </a:solidFill>
                <a:latin typeface="Calibri"/>
                <a:ea typeface="Calibri"/>
                <a:cs typeface="Calibri"/>
                <a:sym typeface="Calibri"/>
              </a:rPr>
              <a:t> monitoring option to assess for the adverse effects of this treatment. </a:t>
            </a:r>
            <a:endParaRPr sz="1400" b="0" i="0" u="none" strike="noStrike" cap="none">
              <a:solidFill>
                <a:srgbClr val="000000"/>
              </a:solidFill>
              <a:latin typeface="Arial"/>
              <a:ea typeface="Arial"/>
              <a:cs typeface="Arial"/>
              <a:sym typeface="Arial"/>
            </a:endParaRPr>
          </a:p>
        </p:txBody>
      </p:sp>
      <p:graphicFrame>
        <p:nvGraphicFramePr>
          <p:cNvPr id="651" name="Google Shape;651;p81"/>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serum triglycerides</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Calibri"/>
                          <a:ea typeface="Calibri"/>
                          <a:cs typeface="Calibri"/>
                          <a:sym typeface="Calibri"/>
                        </a:rPr>
                        <a:t>calcium</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solidFill>
                            <a:schemeClr val="dk1"/>
                          </a:solidFill>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liver function tests</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FF0000"/>
                        </a:buClr>
                        <a:buSzPts val="1800"/>
                        <a:buFont typeface="Calibri"/>
                        <a:buNone/>
                      </a:pPr>
                      <a:r>
                        <a:rPr lang="en-US" sz="1800" u="none" strike="noStrike" cap="none">
                          <a:solidFill>
                            <a:srgbClr val="FF0000"/>
                          </a:solidFill>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weight</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serum cholesterol</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652" name="Google Shape;652;p81" descr="Screen Shot 2021-01-26 at 15.29.57.png"/>
          <p:cNvPicPr preferRelativeResize="0"/>
          <p:nvPr/>
        </p:nvPicPr>
        <p:blipFill rotWithShape="1">
          <a:blip r:embed="rId5">
            <a:alphaModFix/>
          </a:blip>
          <a:srcRect/>
          <a:stretch/>
        </p:blipFill>
        <p:spPr>
          <a:xfrm>
            <a:off x="6651912" y="3633834"/>
            <a:ext cx="4606102" cy="1482024"/>
          </a:xfrm>
          <a:prstGeom prst="rect">
            <a:avLst/>
          </a:prstGeom>
          <a:noFill/>
          <a:ln>
            <a:noFill/>
          </a:ln>
        </p:spPr>
      </p:pic>
      <p:sp>
        <p:nvSpPr>
          <p:cNvPr id="2" name="TextBox 1">
            <a:extLst>
              <a:ext uri="{FF2B5EF4-FFF2-40B4-BE49-F238E27FC236}">
                <a16:creationId xmlns:a16="http://schemas.microsoft.com/office/drawing/2014/main" id="{767C6755-1F3A-B562-C913-F1A1CE1C7E3E}"/>
              </a:ext>
            </a:extLst>
          </p:cNvPr>
          <p:cNvSpPr txBox="1"/>
          <p:nvPr/>
        </p:nvSpPr>
        <p:spPr>
          <a:xfrm>
            <a:off x="185737" y="3420739"/>
            <a:ext cx="5815011" cy="954107"/>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Essentially need to check on fenofibrate drug page under ‘Monitoring requirements’ section and apply clinical judgement as to the </a:t>
            </a:r>
            <a:r>
              <a:rPr lang="en-US" i="1" dirty="0">
                <a:latin typeface="Calibri" panose="020F0502020204030204" pitchFamily="34" charset="0"/>
                <a:cs typeface="Calibri" panose="020F0502020204030204" pitchFamily="34" charset="0"/>
              </a:rPr>
              <a:t>most appropriate </a:t>
            </a:r>
            <a:r>
              <a:rPr lang="en-US" dirty="0">
                <a:latin typeface="Calibri" panose="020F0502020204030204" pitchFamily="34" charset="0"/>
                <a:cs typeface="Calibri" panose="020F0502020204030204" pitchFamily="34" charset="0"/>
              </a:rPr>
              <a:t>monitoring option</a:t>
            </a:r>
          </a:p>
        </p:txBody>
      </p:sp>
      <p:sp>
        <p:nvSpPr>
          <p:cNvPr id="3" name="TextBox 2">
            <a:extLst>
              <a:ext uri="{FF2B5EF4-FFF2-40B4-BE49-F238E27FC236}">
                <a16:creationId xmlns:a16="http://schemas.microsoft.com/office/drawing/2014/main" id="{316BDA08-8FF4-E8CD-A7C3-C53C508466D3}"/>
              </a:ext>
            </a:extLst>
          </p:cNvPr>
          <p:cNvSpPr txBox="1"/>
          <p:nvPr/>
        </p:nvSpPr>
        <p:spPr>
          <a:xfrm>
            <a:off x="8716369" y="6544879"/>
            <a:ext cx="3475631"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6"/>
              </a:rPr>
              <a:t>https://bnfc.nice.org.uk/drugs/fenofibrate/</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pic>
        <p:nvPicPr>
          <p:cNvPr id="670" name="Google Shape;670;p88"/>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671" name="Google Shape;671;p88"/>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672" name="Google Shape;672;p88"/>
          <p:cNvSpPr txBox="1"/>
          <p:nvPr/>
        </p:nvSpPr>
        <p:spPr>
          <a:xfrm>
            <a:off x="185738" y="257178"/>
            <a:ext cx="1714936" cy="353943"/>
          </a:xfrm>
          <a:prstGeom prst="rect">
            <a:avLst/>
          </a:prstGeom>
          <a:solidFill>
            <a:srgbClr val="DE892E"/>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Drug Monitoring</a:t>
            </a:r>
            <a:endParaRPr sz="1400" b="0" i="0" u="none" strike="noStrike" cap="none">
              <a:solidFill>
                <a:srgbClr val="000000"/>
              </a:solidFill>
              <a:latin typeface="Arial"/>
              <a:ea typeface="Arial"/>
              <a:cs typeface="Arial"/>
              <a:sym typeface="Arial"/>
            </a:endParaRPr>
          </a:p>
        </p:txBody>
      </p:sp>
      <p:sp>
        <p:nvSpPr>
          <p:cNvPr id="673" name="Google Shape;673;p88"/>
          <p:cNvSpPr txBox="1"/>
          <p:nvPr/>
        </p:nvSpPr>
        <p:spPr>
          <a:xfrm>
            <a:off x="1900674" y="257178"/>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674" name="Google Shape;674;p88"/>
          <p:cNvSpPr txBox="1"/>
          <p:nvPr/>
        </p:nvSpPr>
        <p:spPr>
          <a:xfrm>
            <a:off x="6191252"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MONITORING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675" name="Google Shape;675;p88"/>
          <p:cNvSpPr txBox="1"/>
          <p:nvPr/>
        </p:nvSpPr>
        <p:spPr>
          <a:xfrm>
            <a:off x="185739" y="5948964"/>
            <a:ext cx="141209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A13</a:t>
            </a:r>
            <a:endParaRPr sz="1400" b="0" i="0" u="none" strike="noStrike" cap="none">
              <a:solidFill>
                <a:srgbClr val="000000"/>
              </a:solidFill>
              <a:latin typeface="Arial"/>
              <a:ea typeface="Arial"/>
              <a:cs typeface="Arial"/>
              <a:sym typeface="Arial"/>
            </a:endParaRPr>
          </a:p>
        </p:txBody>
      </p:sp>
      <p:sp>
        <p:nvSpPr>
          <p:cNvPr id="676" name="Google Shape;676;p88"/>
          <p:cNvSpPr txBox="1"/>
          <p:nvPr/>
        </p:nvSpPr>
        <p:spPr>
          <a:xfrm>
            <a:off x="185738" y="900112"/>
            <a:ext cx="5815012" cy="923330"/>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24kg 8-year-old girl is being treated for juvenile idiopathic arthritis and is taking prednisolone 25mg OD. </a:t>
            </a:r>
            <a:endParaRPr sz="1800" b="0" i="0" u="none" strike="noStrike" cap="none">
              <a:solidFill>
                <a:schemeClr val="dk1"/>
              </a:solidFill>
              <a:latin typeface="Calibri"/>
              <a:ea typeface="Calibri"/>
              <a:cs typeface="Calibri"/>
              <a:sym typeface="Calibri"/>
            </a:endParaRPr>
          </a:p>
        </p:txBody>
      </p:sp>
      <p:sp>
        <p:nvSpPr>
          <p:cNvPr id="677" name="Google Shape;677;p88"/>
          <p:cNvSpPr txBox="1"/>
          <p:nvPr/>
        </p:nvSpPr>
        <p:spPr>
          <a:xfrm>
            <a:off x="185738" y="2020573"/>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a:t>
            </a:r>
            <a:r>
              <a:rPr lang="en-US" sz="1800" b="0" i="1" u="none" strike="noStrike" cap="none">
                <a:solidFill>
                  <a:schemeClr val="dk1"/>
                </a:solidFill>
                <a:latin typeface="Calibri"/>
                <a:ea typeface="Calibri"/>
                <a:cs typeface="Calibri"/>
                <a:sym typeface="Calibri"/>
              </a:rPr>
              <a:t>most appropriate</a:t>
            </a:r>
            <a:r>
              <a:rPr lang="en-US" sz="1800" b="0" i="0" u="none" strike="noStrike" cap="none">
                <a:solidFill>
                  <a:schemeClr val="dk1"/>
                </a:solidFill>
                <a:latin typeface="Calibri"/>
                <a:ea typeface="Calibri"/>
                <a:cs typeface="Calibri"/>
                <a:sym typeface="Calibri"/>
              </a:rPr>
              <a:t> monitoring option to assess for the adverse effects of this treatment. </a:t>
            </a:r>
            <a:endParaRPr sz="1400" b="0" i="0" u="none" strike="noStrike" cap="none">
              <a:solidFill>
                <a:srgbClr val="000000"/>
              </a:solidFill>
              <a:latin typeface="Arial"/>
              <a:ea typeface="Arial"/>
              <a:cs typeface="Arial"/>
              <a:sym typeface="Arial"/>
            </a:endParaRPr>
          </a:p>
        </p:txBody>
      </p:sp>
      <p:graphicFrame>
        <p:nvGraphicFramePr>
          <p:cNvPr id="678" name="Google Shape;678;p88"/>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BP monitoring monthly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DEXA scan annually</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growth monitoring</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FF0000"/>
                        </a:buClr>
                        <a:buSzPts val="1800"/>
                        <a:buFont typeface="Calibri"/>
                        <a:buNone/>
                      </a:pPr>
                      <a:r>
                        <a:rPr lang="en-US" sz="1800" u="none" strike="noStrike" cap="none">
                          <a:solidFill>
                            <a:srgbClr val="FF0000"/>
                          </a:solidFill>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LFTs 3 monthly</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renal function 3 monthly</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679" name="Google Shape;679;p88"/>
          <p:cNvSpPr txBox="1"/>
          <p:nvPr/>
        </p:nvSpPr>
        <p:spPr>
          <a:xfrm>
            <a:off x="6191251" y="3526454"/>
            <a:ext cx="5815011"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800" b="0" i="0" u="none" strike="noStrike" cap="none" dirty="0">
                <a:solidFill>
                  <a:srgbClr val="FF0000"/>
                </a:solidFill>
                <a:latin typeface="Calibri"/>
                <a:ea typeface="Calibri"/>
                <a:cs typeface="Calibri"/>
                <a:sym typeface="Calibri"/>
              </a:rPr>
              <a:t>Steroids:</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Height and weight should be monitored annually for children on long term corticosteroids</a:t>
            </a:r>
          </a:p>
          <a:p>
            <a:pPr marL="342900" marR="0" lvl="0" indent="-342900" algn="l" rtl="0">
              <a:lnSpc>
                <a:spcPct val="100000"/>
              </a:lnSpc>
              <a:spcBef>
                <a:spcPts val="0"/>
              </a:spcBef>
              <a:spcAft>
                <a:spcPts val="0"/>
              </a:spcAft>
              <a:buClr>
                <a:srgbClr val="FF0000"/>
              </a:buClr>
              <a:buSzPts val="2000"/>
              <a:buFont typeface="Arial"/>
              <a:buChar char="•"/>
            </a:pPr>
            <a:r>
              <a:rPr lang="en-US" sz="1800" dirty="0">
                <a:solidFill>
                  <a:srgbClr val="FF0000"/>
                </a:solidFill>
                <a:latin typeface="Calibri"/>
                <a:cs typeface="Calibri"/>
                <a:sym typeface="Calibri"/>
              </a:rPr>
              <a:t>Monthly BP monitoring is too frequent (BNF lists BP monitoring ‘before starting treatment and at regular intervals’)</a:t>
            </a:r>
            <a:endParaRPr sz="18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CD4C4108-DE8C-A73E-B7E2-7C59BE7DC165}"/>
              </a:ext>
            </a:extLst>
          </p:cNvPr>
          <p:cNvSpPr txBox="1"/>
          <p:nvPr/>
        </p:nvSpPr>
        <p:spPr>
          <a:xfrm>
            <a:off x="185737" y="3135394"/>
            <a:ext cx="5815011" cy="954107"/>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Essentially need to check on prednisolone drug page (on </a:t>
            </a:r>
            <a:r>
              <a:rPr lang="en-US" dirty="0" err="1">
                <a:latin typeface="Calibri" panose="020F0502020204030204" pitchFamily="34" charset="0"/>
                <a:cs typeface="Calibri" panose="020F0502020204030204" pitchFamily="34" charset="0"/>
              </a:rPr>
              <a:t>BNFc</a:t>
            </a:r>
            <a:r>
              <a:rPr lang="en-US" dirty="0">
                <a:latin typeface="Calibri" panose="020F0502020204030204" pitchFamily="34" charset="0"/>
                <a:cs typeface="Calibri" panose="020F0502020204030204" pitchFamily="34" charset="0"/>
              </a:rPr>
              <a:t>) under ‘Monitoring requirements’ section and apply clinical judgement as to the </a:t>
            </a:r>
            <a:r>
              <a:rPr lang="en-US" i="1" dirty="0">
                <a:latin typeface="Calibri" panose="020F0502020204030204" pitchFamily="34" charset="0"/>
                <a:cs typeface="Calibri" panose="020F0502020204030204" pitchFamily="34" charset="0"/>
              </a:rPr>
              <a:t>most appropriate </a:t>
            </a:r>
            <a:r>
              <a:rPr lang="en-US" dirty="0">
                <a:latin typeface="Calibri" panose="020F0502020204030204" pitchFamily="34" charset="0"/>
                <a:cs typeface="Calibri" panose="020F0502020204030204" pitchFamily="34" charset="0"/>
              </a:rPr>
              <a:t>monitoring option</a:t>
            </a:r>
          </a:p>
        </p:txBody>
      </p:sp>
      <p:sp>
        <p:nvSpPr>
          <p:cNvPr id="3" name="TextBox 2">
            <a:extLst>
              <a:ext uri="{FF2B5EF4-FFF2-40B4-BE49-F238E27FC236}">
                <a16:creationId xmlns:a16="http://schemas.microsoft.com/office/drawing/2014/main" id="{1219492B-2613-1332-AD0E-87336070605C}"/>
              </a:ext>
            </a:extLst>
          </p:cNvPr>
          <p:cNvSpPr txBox="1"/>
          <p:nvPr/>
        </p:nvSpPr>
        <p:spPr>
          <a:xfrm>
            <a:off x="8686800" y="6550223"/>
            <a:ext cx="3605474"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5"/>
              </a:rPr>
              <a:t>https://bnfc.nice.org.uk/drugs/prednisolone/</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pic>
        <p:nvPicPr>
          <p:cNvPr id="697" name="Google Shape;697;p53"/>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698" name="Google Shape;698;p53"/>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699" name="Google Shape;699;p53"/>
          <p:cNvSpPr txBox="1"/>
          <p:nvPr/>
        </p:nvSpPr>
        <p:spPr>
          <a:xfrm>
            <a:off x="185738" y="257178"/>
            <a:ext cx="1714936" cy="353943"/>
          </a:xfrm>
          <a:prstGeom prst="rect">
            <a:avLst/>
          </a:prstGeom>
          <a:solidFill>
            <a:srgbClr val="DE892E"/>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Drug Monitoring</a:t>
            </a:r>
            <a:endParaRPr sz="1400" b="0" i="0" u="none" strike="noStrike" cap="none">
              <a:solidFill>
                <a:srgbClr val="000000"/>
              </a:solidFill>
              <a:latin typeface="Arial"/>
              <a:ea typeface="Arial"/>
              <a:cs typeface="Arial"/>
              <a:sym typeface="Arial"/>
            </a:endParaRPr>
          </a:p>
        </p:txBody>
      </p:sp>
      <p:sp>
        <p:nvSpPr>
          <p:cNvPr id="700" name="Google Shape;700;p53"/>
          <p:cNvSpPr txBox="1"/>
          <p:nvPr/>
        </p:nvSpPr>
        <p:spPr>
          <a:xfrm>
            <a:off x="1900674" y="257178"/>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701" name="Google Shape;701;p53"/>
          <p:cNvSpPr txBox="1"/>
          <p:nvPr/>
        </p:nvSpPr>
        <p:spPr>
          <a:xfrm>
            <a:off x="6191252"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MONITORING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702" name="Google Shape;702;p53"/>
          <p:cNvSpPr txBox="1"/>
          <p:nvPr/>
        </p:nvSpPr>
        <p:spPr>
          <a:xfrm>
            <a:off x="185739" y="5948964"/>
            <a:ext cx="1412092"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A14</a:t>
            </a:r>
            <a:endParaRPr sz="1400" b="0" i="0" u="none" strike="noStrike" cap="none">
              <a:solidFill>
                <a:srgbClr val="000000"/>
              </a:solidFill>
              <a:latin typeface="Arial"/>
              <a:ea typeface="Arial"/>
              <a:cs typeface="Arial"/>
              <a:sym typeface="Arial"/>
            </a:endParaRPr>
          </a:p>
        </p:txBody>
      </p:sp>
      <p:sp>
        <p:nvSpPr>
          <p:cNvPr id="703" name="Google Shape;703;p53"/>
          <p:cNvSpPr txBox="1"/>
          <p:nvPr/>
        </p:nvSpPr>
        <p:spPr>
          <a:xfrm>
            <a:off x="185738" y="900112"/>
            <a:ext cx="5815012" cy="923330"/>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25-year-old women is being started on lithium carbonate 1g a day (divided doses) for her bipolar disorder. </a:t>
            </a:r>
            <a:endParaRPr sz="1400" b="0" i="0" u="none" strike="noStrike" cap="none">
              <a:solidFill>
                <a:srgbClr val="000000"/>
              </a:solidFill>
              <a:latin typeface="Arial"/>
              <a:ea typeface="Arial"/>
              <a:cs typeface="Arial"/>
              <a:sym typeface="Arial"/>
            </a:endParaRPr>
          </a:p>
        </p:txBody>
      </p:sp>
      <p:sp>
        <p:nvSpPr>
          <p:cNvPr id="704" name="Google Shape;704;p53"/>
          <p:cNvSpPr txBox="1"/>
          <p:nvPr/>
        </p:nvSpPr>
        <p:spPr>
          <a:xfrm>
            <a:off x="185736" y="2021926"/>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a:t>
            </a:r>
            <a:r>
              <a:rPr lang="en-US" sz="1800" b="0" i="1" u="none" strike="noStrike" cap="none">
                <a:solidFill>
                  <a:schemeClr val="dk1"/>
                </a:solidFill>
                <a:latin typeface="Calibri"/>
                <a:ea typeface="Calibri"/>
                <a:cs typeface="Calibri"/>
                <a:sym typeface="Calibri"/>
              </a:rPr>
              <a:t>most appropriate</a:t>
            </a:r>
            <a:r>
              <a:rPr lang="en-US" sz="1800" b="0" i="0" u="none" strike="noStrike" cap="none">
                <a:solidFill>
                  <a:schemeClr val="dk1"/>
                </a:solidFill>
                <a:latin typeface="Calibri"/>
                <a:ea typeface="Calibri"/>
                <a:cs typeface="Calibri"/>
                <a:sym typeface="Calibri"/>
              </a:rPr>
              <a:t> monitoring option to assess for the adverse effects of this treatment. </a:t>
            </a:r>
            <a:endParaRPr sz="1400" b="0" i="0" u="none" strike="noStrike" cap="none">
              <a:solidFill>
                <a:srgbClr val="000000"/>
              </a:solidFill>
              <a:latin typeface="Arial"/>
              <a:ea typeface="Arial"/>
              <a:cs typeface="Arial"/>
              <a:sym typeface="Arial"/>
            </a:endParaRPr>
          </a:p>
        </p:txBody>
      </p:sp>
      <p:graphicFrame>
        <p:nvGraphicFramePr>
          <p:cNvPr id="705" name="Google Shape;705;p53"/>
          <p:cNvGraphicFramePr/>
          <p:nvPr/>
        </p:nvGraphicFramePr>
        <p:xfrm>
          <a:off x="6304756" y="97554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eye movements</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ECG monitoring</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monthly pregnancy tests</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C</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memory and cognitive assessment </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thyroid function</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706" name="Google Shape;706;p53"/>
          <p:cNvSpPr txBox="1"/>
          <p:nvPr/>
        </p:nvSpPr>
        <p:spPr>
          <a:xfrm>
            <a:off x="6191251" y="3526454"/>
            <a:ext cx="5815009" cy="25852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1800" b="0" i="0" u="none" strike="noStrike" cap="none" dirty="0">
                <a:solidFill>
                  <a:srgbClr val="FF0000"/>
                </a:solidFill>
                <a:latin typeface="Calibri"/>
                <a:ea typeface="Calibri"/>
                <a:cs typeface="Calibri"/>
                <a:sym typeface="Calibri"/>
              </a:rPr>
              <a:t>Lithium:</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Thyroid function – long term lithium can affect thyroid function and should be checked six monthly or sooner if symptomatic</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Eye movements can be affected but lithium but not routinely monitored. </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ECG only for those with CVD or RFs</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2000"/>
              <a:buFont typeface="Arial"/>
              <a:buChar char="•"/>
            </a:pPr>
            <a:r>
              <a:rPr lang="en-US" sz="1800" b="0" i="0" u="none" strike="noStrike" cap="none" dirty="0">
                <a:solidFill>
                  <a:srgbClr val="FF0000"/>
                </a:solidFill>
                <a:latin typeface="Calibri"/>
                <a:ea typeface="Calibri"/>
                <a:cs typeface="Calibri"/>
                <a:sym typeface="Calibri"/>
              </a:rPr>
              <a:t>Can cause mild cognitive and memory impairment but not monitored</a:t>
            </a:r>
            <a:endParaRPr sz="1800" b="0"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ACB54923-3F8A-C58D-5ABE-427A3CFEFB06}"/>
              </a:ext>
            </a:extLst>
          </p:cNvPr>
          <p:cNvSpPr txBox="1"/>
          <p:nvPr/>
        </p:nvSpPr>
        <p:spPr>
          <a:xfrm>
            <a:off x="185737" y="3135394"/>
            <a:ext cx="5815011" cy="954107"/>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Essentially need to check on lithium carbonate drug page under ‘Monitoring requirements’ section and apply clinical judgement as to the </a:t>
            </a:r>
            <a:r>
              <a:rPr lang="en-US" i="1" dirty="0">
                <a:latin typeface="Calibri" panose="020F0502020204030204" pitchFamily="34" charset="0"/>
                <a:cs typeface="Calibri" panose="020F0502020204030204" pitchFamily="34" charset="0"/>
              </a:rPr>
              <a:t>most appropriate </a:t>
            </a:r>
            <a:r>
              <a:rPr lang="en-US" dirty="0">
                <a:latin typeface="Calibri" panose="020F0502020204030204" pitchFamily="34" charset="0"/>
                <a:cs typeface="Calibri" panose="020F0502020204030204" pitchFamily="34" charset="0"/>
              </a:rPr>
              <a:t>monitoring option</a:t>
            </a:r>
          </a:p>
        </p:txBody>
      </p:sp>
      <p:sp>
        <p:nvSpPr>
          <p:cNvPr id="3" name="TextBox 2">
            <a:extLst>
              <a:ext uri="{FF2B5EF4-FFF2-40B4-BE49-F238E27FC236}">
                <a16:creationId xmlns:a16="http://schemas.microsoft.com/office/drawing/2014/main" id="{CEBFA5AC-91F0-13A8-C63F-68784B99408F}"/>
              </a:ext>
            </a:extLst>
          </p:cNvPr>
          <p:cNvSpPr txBox="1"/>
          <p:nvPr/>
        </p:nvSpPr>
        <p:spPr>
          <a:xfrm>
            <a:off x="8409710" y="6550223"/>
            <a:ext cx="3913251"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5"/>
              </a:rPr>
              <a:t>https://bnf.nice.org.uk/drugs/lithium-carbonate/</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pic>
        <p:nvPicPr>
          <p:cNvPr id="782" name="Google Shape;782;p128"/>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783" name="Google Shape;783;p128"/>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784" name="Google Shape;784;p128"/>
          <p:cNvSpPr txBox="1"/>
          <p:nvPr/>
        </p:nvSpPr>
        <p:spPr>
          <a:xfrm>
            <a:off x="185738" y="257178"/>
            <a:ext cx="1926842" cy="353943"/>
          </a:xfrm>
          <a:prstGeom prst="rect">
            <a:avLst/>
          </a:prstGeom>
          <a:solidFill>
            <a:srgbClr val="9E989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Data Interpretation</a:t>
            </a:r>
            <a:endParaRPr sz="1400" b="0" i="0" u="none" strike="noStrike" cap="none">
              <a:solidFill>
                <a:srgbClr val="000000"/>
              </a:solidFill>
              <a:latin typeface="Arial"/>
              <a:ea typeface="Arial"/>
              <a:cs typeface="Arial"/>
              <a:sym typeface="Arial"/>
            </a:endParaRPr>
          </a:p>
        </p:txBody>
      </p:sp>
      <p:sp>
        <p:nvSpPr>
          <p:cNvPr id="785" name="Google Shape;785;p128"/>
          <p:cNvSpPr txBox="1"/>
          <p:nvPr/>
        </p:nvSpPr>
        <p:spPr>
          <a:xfrm>
            <a:off x="2112580" y="257178"/>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786" name="Google Shape;786;p128"/>
          <p:cNvSpPr txBox="1"/>
          <p:nvPr/>
        </p:nvSpPr>
        <p:spPr>
          <a:xfrm>
            <a:off x="6191252"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DECISION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787" name="Google Shape;787;p128"/>
          <p:cNvSpPr txBox="1"/>
          <p:nvPr/>
        </p:nvSpPr>
        <p:spPr>
          <a:xfrm>
            <a:off x="185738" y="5948964"/>
            <a:ext cx="2026643"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A15</a:t>
            </a:r>
            <a:endParaRPr sz="1400" b="0" i="0" u="none" strike="noStrike" cap="none">
              <a:solidFill>
                <a:srgbClr val="000000"/>
              </a:solidFill>
              <a:latin typeface="Arial"/>
              <a:ea typeface="Arial"/>
              <a:cs typeface="Arial"/>
              <a:sym typeface="Arial"/>
            </a:endParaRPr>
          </a:p>
        </p:txBody>
      </p:sp>
      <p:sp>
        <p:nvSpPr>
          <p:cNvPr id="788" name="Google Shape;788;p128"/>
          <p:cNvSpPr txBox="1"/>
          <p:nvPr/>
        </p:nvSpPr>
        <p:spPr>
          <a:xfrm>
            <a:off x="185738" y="900112"/>
            <a:ext cx="5814900" cy="2862900"/>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78-year-old man presents to A&amp;E with one episode of PR bleeding. He has a background of diverticular disease and reported that he had passed some fresh red blood. He takes warfarin for a metallic heart valve and is systemically well.</a:t>
            </a:r>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On examination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Observations include a BP 135/80 and HR 68 (regular). He is warm and well perfused and euvolaemic.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Observations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Blood tests reveal an INR of 5.2. INR target 2.</a:t>
            </a:r>
            <a:r>
              <a:rPr lang="en-US" sz="1800">
                <a:solidFill>
                  <a:schemeClr val="dk1"/>
                </a:solidFill>
                <a:latin typeface="Calibri"/>
                <a:ea typeface="Calibri"/>
                <a:cs typeface="Calibri"/>
                <a:sym typeface="Calibri"/>
              </a:rPr>
              <a:t>5</a:t>
            </a:r>
            <a:r>
              <a:rPr lang="en-US" sz="1800" b="0" i="0" u="none" strike="noStrike" cap="none">
                <a:solidFill>
                  <a:schemeClr val="dk1"/>
                </a:solidFill>
                <a:latin typeface="Calibri"/>
                <a:ea typeface="Calibri"/>
                <a:cs typeface="Calibri"/>
                <a:sym typeface="Calibri"/>
              </a:rPr>
              <a:t>-3.5</a:t>
            </a:r>
            <a:endParaRPr sz="1400" b="0" i="0" u="none" strike="noStrike" cap="none">
              <a:solidFill>
                <a:srgbClr val="000000"/>
              </a:solidFill>
              <a:latin typeface="Arial"/>
              <a:ea typeface="Arial"/>
              <a:cs typeface="Arial"/>
              <a:sym typeface="Arial"/>
            </a:endParaRPr>
          </a:p>
        </p:txBody>
      </p:sp>
      <p:sp>
        <p:nvSpPr>
          <p:cNvPr id="789" name="Google Shape;789;p128"/>
          <p:cNvSpPr txBox="1"/>
          <p:nvPr/>
        </p:nvSpPr>
        <p:spPr>
          <a:xfrm>
            <a:off x="185738" y="3960918"/>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a:t>
            </a:r>
            <a:r>
              <a:rPr lang="en-US" sz="1800" b="0" i="1" u="none" strike="noStrike" cap="none">
                <a:solidFill>
                  <a:schemeClr val="dk1"/>
                </a:solidFill>
                <a:latin typeface="Calibri"/>
                <a:ea typeface="Calibri"/>
                <a:cs typeface="Calibri"/>
                <a:sym typeface="Calibri"/>
              </a:rPr>
              <a:t>most appropriate</a:t>
            </a:r>
            <a:r>
              <a:rPr lang="en-US" sz="1800" b="0" i="0" u="none" strike="noStrike" cap="none">
                <a:solidFill>
                  <a:schemeClr val="dk1"/>
                </a:solidFill>
                <a:latin typeface="Calibri"/>
                <a:ea typeface="Calibri"/>
                <a:cs typeface="Calibri"/>
                <a:sym typeface="Calibri"/>
              </a:rPr>
              <a:t> decision option with regards to the clinical presentation and data.</a:t>
            </a:r>
            <a:endParaRPr sz="1400" b="0" i="0" u="none" strike="noStrike" cap="none">
              <a:solidFill>
                <a:srgbClr val="000000"/>
              </a:solidFill>
              <a:latin typeface="Arial"/>
              <a:ea typeface="Arial"/>
              <a:cs typeface="Arial"/>
              <a:sym typeface="Arial"/>
            </a:endParaRPr>
          </a:p>
        </p:txBody>
      </p:sp>
      <p:graphicFrame>
        <p:nvGraphicFramePr>
          <p:cNvPr id="790" name="Google Shape;790;p128"/>
          <p:cNvGraphicFramePr/>
          <p:nvPr/>
        </p:nvGraphicFramePr>
        <p:xfrm>
          <a:off x="6297242" y="998243"/>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continue current dose of warfarin and transfuse 1 unit red blood cells</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stop warfarin and give phytomenadione 5mg slow IV</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latin typeface="Calibri"/>
                          <a:ea typeface="Calibri"/>
                          <a:cs typeface="Calibri"/>
                          <a:sym typeface="Calibri"/>
                        </a:rPr>
                        <a:t>B</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rgbClr val="FF0000"/>
                          </a:solidFill>
                          <a:latin typeface="Calibri"/>
                          <a:ea typeface="Calibri"/>
                          <a:cs typeface="Calibri"/>
                          <a:sym typeface="Calibri"/>
                        </a:rPr>
                        <a:t>stop warfarin and give phytomenadione 1-3mg slow IV</a:t>
                      </a:r>
                      <a:endParaRPr sz="1400" u="none" strike="noStrike" cap="none">
                        <a:solidFill>
                          <a:srgbClr val="FF0000"/>
                        </a:solidFill>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r>
                        <a:rPr lang="en-US" sz="1800" u="none" strike="noStrike" cap="none">
                          <a:solidFill>
                            <a:srgbClr val="FF0000"/>
                          </a:solidFill>
                          <a:latin typeface="Calibri"/>
                          <a:ea typeface="Calibri"/>
                          <a:cs typeface="Calibri"/>
                          <a:sym typeface="Calibri"/>
                        </a:rPr>
                        <a:t>C</a:t>
                      </a:r>
                      <a:endParaRPr sz="1400" u="none" strike="noStrike" cap="none">
                        <a:solidFill>
                          <a:srgbClr val="FF0000"/>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stop warfarin and give phytomenadione 1-3mg PO</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withhold warfarin for 2 days and restart once INR &lt;5</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E</a:t>
                      </a:r>
                      <a:endParaRPr sz="14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A8B6F0B2-2DD2-764B-8585-6BD613C95857}"/>
              </a:ext>
            </a:extLst>
          </p:cNvPr>
          <p:cNvSpPr txBox="1"/>
          <p:nvPr/>
        </p:nvSpPr>
        <p:spPr>
          <a:xfrm>
            <a:off x="185627" y="5080571"/>
            <a:ext cx="5815011" cy="954107"/>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p>
          <a:p>
            <a:pPr marL="285750" indent="-285750">
              <a:buFont typeface="Arial" panose="020B0604020202020204" pitchFamily="34" charset="0"/>
              <a:buChar char="•"/>
            </a:pPr>
            <a:r>
              <a:rPr lang="en-US" b="1" dirty="0">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Oral anticoagulants’ treatment summary</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Could find this at bottom of warfarin drug page on ‘Related treatment summaries’ section </a:t>
            </a:r>
          </a:p>
        </p:txBody>
      </p:sp>
      <p:sp>
        <p:nvSpPr>
          <p:cNvPr id="3" name="TextBox 2">
            <a:extLst>
              <a:ext uri="{FF2B5EF4-FFF2-40B4-BE49-F238E27FC236}">
                <a16:creationId xmlns:a16="http://schemas.microsoft.com/office/drawing/2014/main" id="{12494305-672B-9A86-C139-44CCB3A9DD79}"/>
              </a:ext>
            </a:extLst>
          </p:cNvPr>
          <p:cNvSpPr txBox="1"/>
          <p:nvPr/>
        </p:nvSpPr>
        <p:spPr>
          <a:xfrm>
            <a:off x="7119258" y="6550223"/>
            <a:ext cx="5245347"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5"/>
              </a:rPr>
              <a:t>https://bnf.nice.org.uk/treatment-summaries/oral-anticoagulants/</a:t>
            </a:r>
            <a:r>
              <a:rPr lang="en-US" dirty="0">
                <a:latin typeface="Calibri" panose="020F0502020204030204" pitchFamily="34" charset="0"/>
                <a:cs typeface="Calibri" panose="020F0502020204030204" pitchFamily="34" charset="0"/>
              </a:rPr>
              <a:t>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pic>
        <p:nvPicPr>
          <p:cNvPr id="831" name="Google Shape;831;p129"/>
          <p:cNvPicPr preferRelativeResize="0"/>
          <p:nvPr/>
        </p:nvPicPr>
        <p:blipFill rotWithShape="1">
          <a:blip r:embed="rId3">
            <a:alphaModFix/>
          </a:blip>
          <a:srcRect/>
          <a:stretch/>
        </p:blipFill>
        <p:spPr>
          <a:xfrm>
            <a:off x="4822825" y="57487"/>
            <a:ext cx="2593975" cy="644141"/>
          </a:xfrm>
          <a:prstGeom prst="rect">
            <a:avLst/>
          </a:prstGeom>
          <a:noFill/>
          <a:ln>
            <a:noFill/>
          </a:ln>
        </p:spPr>
      </p:pic>
      <p:pic>
        <p:nvPicPr>
          <p:cNvPr id="832" name="Google Shape;832;p129"/>
          <p:cNvPicPr preferRelativeResize="0"/>
          <p:nvPr/>
        </p:nvPicPr>
        <p:blipFill rotWithShape="1">
          <a:blip r:embed="rId4">
            <a:alphaModFix/>
          </a:blip>
          <a:srcRect/>
          <a:stretch/>
        </p:blipFill>
        <p:spPr>
          <a:xfrm>
            <a:off x="7891465" y="38279"/>
            <a:ext cx="4157661" cy="643736"/>
          </a:xfrm>
          <a:prstGeom prst="rect">
            <a:avLst/>
          </a:prstGeom>
          <a:noFill/>
          <a:ln>
            <a:noFill/>
          </a:ln>
        </p:spPr>
      </p:pic>
      <p:sp>
        <p:nvSpPr>
          <p:cNvPr id="833" name="Google Shape;833;p129"/>
          <p:cNvSpPr txBox="1"/>
          <p:nvPr/>
        </p:nvSpPr>
        <p:spPr>
          <a:xfrm>
            <a:off x="185738" y="257178"/>
            <a:ext cx="1926842" cy="353943"/>
          </a:xfrm>
          <a:prstGeom prst="rect">
            <a:avLst/>
          </a:prstGeom>
          <a:solidFill>
            <a:srgbClr val="9E989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700"/>
              <a:buFont typeface="Arial"/>
              <a:buNone/>
            </a:pPr>
            <a:r>
              <a:rPr lang="en-US" sz="1700" b="0" i="0" u="none" strike="noStrike" cap="none">
                <a:solidFill>
                  <a:schemeClr val="lt1"/>
                </a:solidFill>
                <a:latin typeface="Calibri"/>
                <a:ea typeface="Calibri"/>
                <a:cs typeface="Calibri"/>
                <a:sym typeface="Calibri"/>
              </a:rPr>
              <a:t>Data Interpretation</a:t>
            </a:r>
            <a:endParaRPr sz="1400" b="0" i="0" u="none" strike="noStrike" cap="none">
              <a:solidFill>
                <a:srgbClr val="000000"/>
              </a:solidFill>
              <a:latin typeface="Arial"/>
              <a:ea typeface="Arial"/>
              <a:cs typeface="Arial"/>
              <a:sym typeface="Arial"/>
            </a:endParaRPr>
          </a:p>
        </p:txBody>
      </p:sp>
      <p:sp>
        <p:nvSpPr>
          <p:cNvPr id="834" name="Google Shape;834;p129"/>
          <p:cNvSpPr txBox="1"/>
          <p:nvPr/>
        </p:nvSpPr>
        <p:spPr>
          <a:xfrm>
            <a:off x="2112580" y="257178"/>
            <a:ext cx="1096960" cy="353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US" sz="1700" b="1" i="0" u="none" strike="noStrike" cap="none">
                <a:solidFill>
                  <a:schemeClr val="dk1"/>
                </a:solidFill>
                <a:latin typeface="Calibri"/>
                <a:ea typeface="Calibri"/>
                <a:cs typeface="Calibri"/>
                <a:sym typeface="Calibri"/>
              </a:rPr>
              <a:t>2 marks</a:t>
            </a:r>
            <a:endParaRPr sz="1400" b="0" i="0" u="none" strike="noStrike" cap="none">
              <a:solidFill>
                <a:srgbClr val="000000"/>
              </a:solidFill>
              <a:latin typeface="Arial"/>
              <a:ea typeface="Arial"/>
              <a:cs typeface="Arial"/>
              <a:sym typeface="Arial"/>
            </a:endParaRPr>
          </a:p>
        </p:txBody>
      </p:sp>
      <p:sp>
        <p:nvSpPr>
          <p:cNvPr id="835" name="Google Shape;835;p129"/>
          <p:cNvSpPr txBox="1"/>
          <p:nvPr/>
        </p:nvSpPr>
        <p:spPr>
          <a:xfrm>
            <a:off x="6191252" y="900112"/>
            <a:ext cx="5815012" cy="2431435"/>
          </a:xfrm>
          <a:prstGeom prst="rect">
            <a:avLst/>
          </a:prstGeom>
          <a:solidFill>
            <a:srgbClr val="ECECE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DECISION OPTIONS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00"/>
              <a:buFont typeface="Arial"/>
              <a:buNone/>
            </a:pPr>
            <a:endParaRPr sz="800" b="1" i="0" u="none" strike="noStrike" cap="none">
              <a:solidFill>
                <a:schemeClr val="dk1"/>
              </a:solidFill>
              <a:latin typeface="Calibri"/>
              <a:ea typeface="Calibri"/>
              <a:cs typeface="Calibri"/>
              <a:sym typeface="Calibri"/>
            </a:endParaRPr>
          </a:p>
        </p:txBody>
      </p:sp>
      <p:sp>
        <p:nvSpPr>
          <p:cNvPr id="836" name="Google Shape;836;p129"/>
          <p:cNvSpPr txBox="1"/>
          <p:nvPr/>
        </p:nvSpPr>
        <p:spPr>
          <a:xfrm>
            <a:off x="185738" y="5948964"/>
            <a:ext cx="2026643"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800"/>
              <a:buFont typeface="Arial"/>
              <a:buNone/>
            </a:pPr>
            <a:r>
              <a:rPr lang="en-US" sz="4800" b="0" i="0" u="none" strike="noStrike" cap="none">
                <a:solidFill>
                  <a:schemeClr val="dk1"/>
                </a:solidFill>
                <a:latin typeface="Calibri"/>
                <a:ea typeface="Calibri"/>
                <a:cs typeface="Calibri"/>
                <a:sym typeface="Calibri"/>
              </a:rPr>
              <a:t>A16</a:t>
            </a:r>
            <a:endParaRPr sz="1400" b="0" i="0" u="none" strike="noStrike" cap="none">
              <a:solidFill>
                <a:srgbClr val="000000"/>
              </a:solidFill>
              <a:latin typeface="Arial"/>
              <a:ea typeface="Arial"/>
              <a:cs typeface="Arial"/>
              <a:sym typeface="Arial"/>
            </a:endParaRPr>
          </a:p>
        </p:txBody>
      </p:sp>
      <p:sp>
        <p:nvSpPr>
          <p:cNvPr id="838" name="Google Shape;838;p129"/>
          <p:cNvSpPr txBox="1"/>
          <p:nvPr/>
        </p:nvSpPr>
        <p:spPr>
          <a:xfrm>
            <a:off x="185738" y="900112"/>
            <a:ext cx="5815012" cy="2308284"/>
          </a:xfrm>
          <a:prstGeom prst="rect">
            <a:avLst/>
          </a:prstGeom>
          <a:solidFill>
            <a:srgbClr val="F7FEFF"/>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Case</a:t>
            </a:r>
            <a:r>
              <a:rPr lang="en-US" sz="1800" b="0" i="0" u="none" strike="noStrike" cap="none">
                <a:solidFill>
                  <a:schemeClr val="dk1"/>
                </a:solidFill>
                <a:latin typeface="Calibri"/>
                <a:ea typeface="Calibri"/>
                <a:cs typeface="Calibri"/>
                <a:sym typeface="Calibri"/>
              </a:rPr>
              <a:t> </a:t>
            </a:r>
            <a:r>
              <a:rPr lang="en-US" sz="1800" b="1" i="0" u="none" strike="noStrike" cap="none">
                <a:solidFill>
                  <a:schemeClr val="dk1"/>
                </a:solidFill>
                <a:latin typeface="Calibri"/>
                <a:ea typeface="Calibri"/>
                <a:cs typeface="Calibri"/>
                <a:sym typeface="Calibri"/>
              </a:rPr>
              <a:t>presentation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A 52-year-old man with stage 4 renal failure presents with frequency, urgency and purulent urine. His MSU grows an ESBL sensitive only to co-amoxiclav and gentamicin. Weight 60kg.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Investigations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Na 140 (137-144), K 5.9 (3.5-5.3), U 31 (2.5-7), Cr 690 (60-130), eGFR 9 (&gt;60), CrCl 9ml/min</a:t>
            </a:r>
            <a:endParaRPr sz="1400" b="0" i="0" u="none" strike="noStrike" cap="none">
              <a:solidFill>
                <a:srgbClr val="000000"/>
              </a:solidFill>
              <a:latin typeface="Arial"/>
              <a:ea typeface="Arial"/>
              <a:cs typeface="Arial"/>
              <a:sym typeface="Arial"/>
            </a:endParaRPr>
          </a:p>
        </p:txBody>
      </p:sp>
      <p:sp>
        <p:nvSpPr>
          <p:cNvPr id="839" name="Google Shape;839;p129"/>
          <p:cNvSpPr txBox="1"/>
          <p:nvPr/>
        </p:nvSpPr>
        <p:spPr>
          <a:xfrm>
            <a:off x="185736" y="3374342"/>
            <a:ext cx="5815012" cy="923330"/>
          </a:xfrm>
          <a:prstGeom prst="rect">
            <a:avLst/>
          </a:prstGeom>
          <a:solidFill>
            <a:srgbClr val="F6FEEA"/>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Calibri"/>
                <a:ea typeface="Calibri"/>
                <a:cs typeface="Calibri"/>
                <a:sym typeface="Calibri"/>
              </a:rPr>
              <a:t>Question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Select the </a:t>
            </a:r>
            <a:r>
              <a:rPr lang="en-US" sz="1800" b="0" i="1" u="none" strike="noStrike" cap="none">
                <a:solidFill>
                  <a:schemeClr val="dk1"/>
                </a:solidFill>
                <a:latin typeface="Calibri"/>
                <a:ea typeface="Calibri"/>
                <a:cs typeface="Calibri"/>
                <a:sym typeface="Calibri"/>
              </a:rPr>
              <a:t>most appropriate</a:t>
            </a:r>
            <a:r>
              <a:rPr lang="en-US" sz="1800" b="0" i="0" u="none" strike="noStrike" cap="none">
                <a:solidFill>
                  <a:schemeClr val="dk1"/>
                </a:solidFill>
                <a:latin typeface="Calibri"/>
                <a:ea typeface="Calibri"/>
                <a:cs typeface="Calibri"/>
                <a:sym typeface="Calibri"/>
              </a:rPr>
              <a:t> decision option with regards to the clinical presentation and data.</a:t>
            </a:r>
            <a:endParaRPr sz="1400" b="0" i="0" u="none" strike="noStrike" cap="none">
              <a:solidFill>
                <a:srgbClr val="000000"/>
              </a:solidFill>
              <a:latin typeface="Arial"/>
              <a:ea typeface="Arial"/>
              <a:cs typeface="Arial"/>
              <a:sym typeface="Arial"/>
            </a:endParaRPr>
          </a:p>
        </p:txBody>
      </p:sp>
      <p:graphicFrame>
        <p:nvGraphicFramePr>
          <p:cNvPr id="840" name="Google Shape;840;p129"/>
          <p:cNvGraphicFramePr/>
          <p:nvPr/>
        </p:nvGraphicFramePr>
        <p:xfrm>
          <a:off x="6297242" y="1012529"/>
          <a:ext cx="5588000" cy="2225100"/>
        </p:xfrm>
        <a:graphic>
          <a:graphicData uri="http://schemas.openxmlformats.org/drawingml/2006/table">
            <a:tbl>
              <a:tblPr>
                <a:noFill/>
              </a:tblPr>
              <a:tblGrid>
                <a:gridCol w="2053425">
                  <a:extLst>
                    <a:ext uri="{9D8B030D-6E8A-4147-A177-3AD203B41FA5}">
                      <a16:colId xmlns:a16="http://schemas.microsoft.com/office/drawing/2014/main" val="20000"/>
                    </a:ext>
                  </a:extLst>
                </a:gridCol>
                <a:gridCol w="87152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1146975">
                  <a:extLst>
                    <a:ext uri="{9D8B030D-6E8A-4147-A177-3AD203B41FA5}">
                      <a16:colId xmlns:a16="http://schemas.microsoft.com/office/drawing/2014/main" val="20003"/>
                    </a:ext>
                  </a:extLst>
                </a:gridCol>
                <a:gridCol w="371475">
                  <a:extLst>
                    <a:ext uri="{9D8B030D-6E8A-4147-A177-3AD203B41FA5}">
                      <a16:colId xmlns:a16="http://schemas.microsoft.com/office/drawing/2014/main" val="20004"/>
                    </a:ext>
                  </a:extLst>
                </a:gridCol>
                <a:gridCol w="344500">
                  <a:extLst>
                    <a:ext uri="{9D8B030D-6E8A-4147-A177-3AD203B41FA5}">
                      <a16:colId xmlns:a16="http://schemas.microsoft.com/office/drawing/2014/main" val="20005"/>
                    </a:ext>
                  </a:extLst>
                </a:gridCol>
              </a:tblGrid>
              <a:tr h="37085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Calibri"/>
                        <a:ea typeface="Calibri"/>
                        <a:cs typeface="Calibri"/>
                        <a:sym typeface="Calibri"/>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IV co-amoxiclav 1.2g stat then 600mg 12hrly </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solidFill>
                            <a:srgbClr val="FF0000"/>
                          </a:solidFill>
                          <a:latin typeface="Calibri"/>
                          <a:ea typeface="Calibri"/>
                          <a:cs typeface="Calibri"/>
                          <a:sym typeface="Calibri"/>
                        </a:rPr>
                        <a:t>IV co-amoxiclav 1.2g stat then 600mg 24hrly</a:t>
                      </a:r>
                      <a:endParaRPr sz="1400" u="none" strike="noStrike" cap="none">
                        <a:solidFill>
                          <a:srgbClr val="FF0000"/>
                        </a:solidFill>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u="none" strike="noStrike" cap="none">
                        <a:solidFill>
                          <a:srgbClr val="FF0000"/>
                        </a:solidFill>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IV co-amoxiclav 600mg 12hrly </a:t>
                      </a:r>
                      <a:endParaRPr sz="14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chemeClr val="dk1"/>
                        </a:buClr>
                        <a:buSzPts val="1800"/>
                        <a:buFont typeface="Calibri"/>
                        <a:buNone/>
                      </a:pPr>
                      <a:endParaRPr sz="1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IV gentamicin 5mg/kg stat </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70850">
                <a:tc gridSpan="5">
                  <a:txBody>
                    <a:bodyPr/>
                    <a:lstStyle/>
                    <a:p>
                      <a:pPr marL="0" marR="0" lvl="0" indent="0" algn="l"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IV gentamicin 1mg/kg stat </a:t>
                      </a:r>
                      <a:endParaRPr sz="1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latin typeface="Calibri"/>
                        <a:ea typeface="Calibri"/>
                        <a:cs typeface="Calibri"/>
                        <a:sym typeface="Calibri"/>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pSp>
        <p:nvGrpSpPr>
          <p:cNvPr id="841" name="Google Shape;841;p129"/>
          <p:cNvGrpSpPr/>
          <p:nvPr/>
        </p:nvGrpSpPr>
        <p:grpSpPr>
          <a:xfrm>
            <a:off x="6533225" y="3629948"/>
            <a:ext cx="5116034" cy="2448100"/>
            <a:chOff x="6490177" y="3789270"/>
            <a:chExt cx="5116034" cy="2448100"/>
          </a:xfrm>
        </p:grpSpPr>
        <p:pic>
          <p:nvPicPr>
            <p:cNvPr id="842" name="Google Shape;842;p129"/>
            <p:cNvPicPr preferRelativeResize="0"/>
            <p:nvPr/>
          </p:nvPicPr>
          <p:blipFill rotWithShape="1">
            <a:blip r:embed="rId5">
              <a:alphaModFix/>
            </a:blip>
            <a:srcRect/>
            <a:stretch/>
          </p:blipFill>
          <p:spPr>
            <a:xfrm>
              <a:off x="6500811" y="4535570"/>
              <a:ext cx="5105400" cy="1701800"/>
            </a:xfrm>
            <a:prstGeom prst="rect">
              <a:avLst/>
            </a:prstGeom>
            <a:noFill/>
            <a:ln>
              <a:noFill/>
            </a:ln>
          </p:spPr>
        </p:pic>
        <p:pic>
          <p:nvPicPr>
            <p:cNvPr id="843" name="Google Shape;843;p129"/>
            <p:cNvPicPr preferRelativeResize="0"/>
            <p:nvPr/>
          </p:nvPicPr>
          <p:blipFill rotWithShape="1">
            <a:blip r:embed="rId6">
              <a:alphaModFix/>
            </a:blip>
            <a:srcRect/>
            <a:stretch/>
          </p:blipFill>
          <p:spPr>
            <a:xfrm>
              <a:off x="6490177" y="3789270"/>
              <a:ext cx="5105400" cy="788530"/>
            </a:xfrm>
            <a:prstGeom prst="rect">
              <a:avLst/>
            </a:prstGeom>
            <a:noFill/>
            <a:ln>
              <a:noFill/>
            </a:ln>
          </p:spPr>
        </p:pic>
        <p:sp>
          <p:nvSpPr>
            <p:cNvPr id="844" name="Google Shape;844;p129"/>
            <p:cNvSpPr/>
            <p:nvPr/>
          </p:nvSpPr>
          <p:spPr>
            <a:xfrm>
              <a:off x="6500811" y="4857234"/>
              <a:ext cx="5094766" cy="681206"/>
            </a:xfrm>
            <a:prstGeom prst="rect">
              <a:avLst/>
            </a:prstGeom>
            <a:noFill/>
            <a:ln w="28575"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659A59CC-9041-14E4-5F87-39A0E37BB511}"/>
              </a:ext>
            </a:extLst>
          </p:cNvPr>
          <p:cNvSpPr txBox="1"/>
          <p:nvPr/>
        </p:nvSpPr>
        <p:spPr>
          <a:xfrm>
            <a:off x="185737" y="4463618"/>
            <a:ext cx="5815011" cy="1600438"/>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How to find on BNF?</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Look at co-amoxiclav and gentamicin drugs pages paying attention to ‘Renal impairment’ sections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See clear advice on ‘Dose adjustments’ for co-amoxiclav based on CrCl &lt;10ml/min (see right)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Gentamicin 5mg/kg too high for renal function and 1mg/kg will underdose (see Gentamicin Summary in Session 2)</a:t>
            </a:r>
          </a:p>
        </p:txBody>
      </p:sp>
      <p:sp>
        <p:nvSpPr>
          <p:cNvPr id="3" name="TextBox 2">
            <a:extLst>
              <a:ext uri="{FF2B5EF4-FFF2-40B4-BE49-F238E27FC236}">
                <a16:creationId xmlns:a16="http://schemas.microsoft.com/office/drawing/2014/main" id="{A201C62C-2633-2F06-D320-A3F82CD36FFF}"/>
              </a:ext>
            </a:extLst>
          </p:cNvPr>
          <p:cNvSpPr txBox="1"/>
          <p:nvPr/>
        </p:nvSpPr>
        <p:spPr>
          <a:xfrm>
            <a:off x="8739051" y="6550223"/>
            <a:ext cx="3586238" cy="307777"/>
          </a:xfrm>
          <a:prstGeom prst="rect">
            <a:avLst/>
          </a:prstGeom>
          <a:noFill/>
        </p:spPr>
        <p:txBody>
          <a:bodyPr wrap="none" rtlCol="0">
            <a:spAutoFit/>
          </a:bodyPr>
          <a:lstStyle/>
          <a:p>
            <a:r>
              <a:rPr lang="en-US" dirty="0">
                <a:latin typeface="Calibri" panose="020F0502020204030204" pitchFamily="34" charset="0"/>
                <a:cs typeface="Calibri" panose="020F0502020204030204" pitchFamily="34" charset="0"/>
                <a:hlinkClick r:id="rId7"/>
              </a:rPr>
              <a:t>https://bnf.nice.org.uk/drugs/co-amoxiclav/</a:t>
            </a:r>
            <a:r>
              <a:rPr lang="en-US" dirty="0">
                <a:latin typeface="Calibri" panose="020F0502020204030204" pitchFamily="34" charset="0"/>
                <a:cs typeface="Calibri" panose="020F0502020204030204" pitchFamily="34" charset="0"/>
              </a:rPr>
              <a:t> </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47614</TotalTime>
  <Words>15664</Words>
  <Application>Microsoft Office PowerPoint</Application>
  <PresentationFormat>Widescreen</PresentationFormat>
  <Paragraphs>2908</Paragraphs>
  <Slides>91</Slides>
  <Notes>80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91</vt:i4>
      </vt:variant>
    </vt:vector>
  </HeadingPairs>
  <TitlesOfParts>
    <vt:vector size="9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Clare Bartholomew</dc:creator>
  <cp:keywords/>
  <dc:description/>
  <cp:lastModifiedBy>Nicholas Killough</cp:lastModifiedBy>
  <cp:revision>122</cp:revision>
  <cp:lastPrinted>2024-12-27T16:54:07Z</cp:lastPrinted>
  <dcterms:created xsi:type="dcterms:W3CDTF">2021-01-11T18:00:16Z</dcterms:created>
  <dcterms:modified xsi:type="dcterms:W3CDTF">2026-03-21T12:14:29Z</dcterms:modified>
  <cp:category/>
</cp:coreProperties>
</file>