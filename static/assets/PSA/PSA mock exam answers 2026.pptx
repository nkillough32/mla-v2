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6"/>
  </p:notesMasterIdLst>
  <p:sldIdLst>
    <p:sldId id="655" r:id="rId2"/>
    <p:sldId id="256" r:id="rId3"/>
    <p:sldId id="577" r:id="rId4"/>
    <p:sldId id="389" r:id="rId5"/>
    <p:sldId id="575" r:id="rId6"/>
    <p:sldId id="388" r:id="rId7"/>
    <p:sldId id="579" r:id="rId8"/>
    <p:sldId id="354" r:id="rId9"/>
    <p:sldId id="337" r:id="rId10"/>
    <p:sldId id="344" r:id="rId11"/>
    <p:sldId id="587" r:id="rId12"/>
    <p:sldId id="272" r:id="rId13"/>
    <p:sldId id="588" r:id="rId14"/>
    <p:sldId id="589" r:id="rId15"/>
    <p:sldId id="585" r:id="rId16"/>
    <p:sldId id="586" r:id="rId17"/>
    <p:sldId id="592" r:id="rId18"/>
    <p:sldId id="594" r:id="rId19"/>
    <p:sldId id="591" r:id="rId20"/>
    <p:sldId id="659" r:id="rId21"/>
    <p:sldId id="595" r:id="rId22"/>
    <p:sldId id="600" r:id="rId23"/>
    <p:sldId id="599" r:id="rId24"/>
    <p:sldId id="604" r:id="rId25"/>
    <p:sldId id="258" r:id="rId26"/>
    <p:sldId id="601" r:id="rId27"/>
    <p:sldId id="605" r:id="rId28"/>
    <p:sldId id="602" r:id="rId29"/>
    <p:sldId id="606" r:id="rId30"/>
    <p:sldId id="607" r:id="rId31"/>
    <p:sldId id="660" r:id="rId32"/>
    <p:sldId id="650" r:id="rId33"/>
    <p:sldId id="608" r:id="rId34"/>
    <p:sldId id="609" r:id="rId35"/>
    <p:sldId id="596" r:id="rId36"/>
    <p:sldId id="259" r:id="rId37"/>
    <p:sldId id="612" r:id="rId38"/>
    <p:sldId id="610" r:id="rId39"/>
    <p:sldId id="614" r:id="rId40"/>
    <p:sldId id="611" r:id="rId41"/>
    <p:sldId id="615" r:id="rId42"/>
    <p:sldId id="616" r:id="rId43"/>
    <p:sldId id="495" r:id="rId44"/>
    <p:sldId id="622" r:id="rId45"/>
    <p:sldId id="621" r:id="rId46"/>
    <p:sldId id="379" r:id="rId47"/>
    <p:sldId id="623" r:id="rId48"/>
    <p:sldId id="624" r:id="rId49"/>
    <p:sldId id="492" r:id="rId50"/>
    <p:sldId id="260" r:id="rId51"/>
    <p:sldId id="625" r:id="rId52"/>
    <p:sldId id="627" r:id="rId53"/>
    <p:sldId id="626" r:id="rId54"/>
    <p:sldId id="632" r:id="rId55"/>
    <p:sldId id="629" r:id="rId56"/>
    <p:sldId id="628" r:id="rId57"/>
    <p:sldId id="630" r:id="rId58"/>
    <p:sldId id="631" r:id="rId59"/>
    <p:sldId id="261" r:id="rId60"/>
    <p:sldId id="638" r:id="rId61"/>
    <p:sldId id="633" r:id="rId62"/>
    <p:sldId id="639" r:id="rId63"/>
    <p:sldId id="643" r:id="rId64"/>
    <p:sldId id="634" r:id="rId65"/>
    <p:sldId id="651" r:id="rId66"/>
    <p:sldId id="652" r:id="rId67"/>
    <p:sldId id="646" r:id="rId68"/>
    <p:sldId id="640" r:id="rId69"/>
    <p:sldId id="645" r:id="rId70"/>
    <p:sldId id="647" r:id="rId71"/>
    <p:sldId id="641" r:id="rId72"/>
    <p:sldId id="648" r:id="rId73"/>
    <p:sldId id="649" r:id="rId74"/>
    <p:sldId id="657"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8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5840"/>
  </p:normalViewPr>
  <p:slideViewPr>
    <p:cSldViewPr snapToGrid="0" snapToObjects="1">
      <p:cViewPr varScale="1">
        <p:scale>
          <a:sx n="121" d="100"/>
          <a:sy n="121" d="100"/>
        </p:scale>
        <p:origin x="22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1AE7F7-C098-0142-BAC5-B6D2FFB7CF93}" type="datetimeFigureOut">
              <a:rPr lang="en-US" smtClean="0"/>
              <a:t>1/25/26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A59E28-BAC2-5546-A900-32FB9B9F1311}" type="slidenum">
              <a:rPr lang="en-US" smtClean="0"/>
              <a:t>‹#›</a:t>
            </a:fld>
            <a:endParaRPr lang="en-US"/>
          </a:p>
        </p:txBody>
      </p:sp>
    </p:spTree>
    <p:extLst>
      <p:ext uri="{BB962C8B-B14F-4D97-AF65-F5344CB8AC3E}">
        <p14:creationId xmlns:p14="http://schemas.microsoft.com/office/powerpoint/2010/main" val="812069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3</a:t>
            </a:fld>
            <a:endParaRPr lang="en-US"/>
          </a:p>
        </p:txBody>
      </p:sp>
    </p:spTree>
    <p:extLst>
      <p:ext uri="{BB962C8B-B14F-4D97-AF65-F5344CB8AC3E}">
        <p14:creationId xmlns:p14="http://schemas.microsoft.com/office/powerpoint/2010/main" val="14048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4</a:t>
            </a:fld>
            <a:endParaRPr lang="en-US"/>
          </a:p>
        </p:txBody>
      </p:sp>
    </p:spTree>
    <p:extLst>
      <p:ext uri="{BB962C8B-B14F-4D97-AF65-F5344CB8AC3E}">
        <p14:creationId xmlns:p14="http://schemas.microsoft.com/office/powerpoint/2010/main" val="2315354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7</a:t>
            </a:fld>
            <a:endParaRPr lang="en-US"/>
          </a:p>
        </p:txBody>
      </p:sp>
    </p:spTree>
    <p:extLst>
      <p:ext uri="{BB962C8B-B14F-4D97-AF65-F5344CB8AC3E}">
        <p14:creationId xmlns:p14="http://schemas.microsoft.com/office/powerpoint/2010/main" val="107341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BD44F71-6118-B748-B13C-DADC29A6B82F}" type="slidenum">
              <a:rPr lang="en-US" smtClean="0"/>
              <a:t>8</a:t>
            </a:fld>
            <a:endParaRPr lang="en-US"/>
          </a:p>
        </p:txBody>
      </p:sp>
    </p:spTree>
    <p:extLst>
      <p:ext uri="{BB962C8B-B14F-4D97-AF65-F5344CB8AC3E}">
        <p14:creationId xmlns:p14="http://schemas.microsoft.com/office/powerpoint/2010/main" val="3439823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42</a:t>
            </a:fld>
            <a:endParaRPr lang="en-US"/>
          </a:p>
        </p:txBody>
      </p:sp>
    </p:spTree>
    <p:extLst>
      <p:ext uri="{BB962C8B-B14F-4D97-AF65-F5344CB8AC3E}">
        <p14:creationId xmlns:p14="http://schemas.microsoft.com/office/powerpoint/2010/main" val="592869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43</a:t>
            </a:fld>
            <a:endParaRPr lang="en-US"/>
          </a:p>
        </p:txBody>
      </p:sp>
    </p:spTree>
    <p:extLst>
      <p:ext uri="{BB962C8B-B14F-4D97-AF65-F5344CB8AC3E}">
        <p14:creationId xmlns:p14="http://schemas.microsoft.com/office/powerpoint/2010/main" val="13734263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44</a:t>
            </a:fld>
            <a:endParaRPr lang="en-US"/>
          </a:p>
        </p:txBody>
      </p:sp>
    </p:spTree>
    <p:extLst>
      <p:ext uri="{BB962C8B-B14F-4D97-AF65-F5344CB8AC3E}">
        <p14:creationId xmlns:p14="http://schemas.microsoft.com/office/powerpoint/2010/main" val="11787328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45</a:t>
            </a:fld>
            <a:endParaRPr lang="en-US"/>
          </a:p>
        </p:txBody>
      </p:sp>
    </p:spTree>
    <p:extLst>
      <p:ext uri="{BB962C8B-B14F-4D97-AF65-F5344CB8AC3E}">
        <p14:creationId xmlns:p14="http://schemas.microsoft.com/office/powerpoint/2010/main" val="3733778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46</a:t>
            </a:fld>
            <a:endParaRPr lang="en-US"/>
          </a:p>
        </p:txBody>
      </p:sp>
    </p:spTree>
    <p:extLst>
      <p:ext uri="{BB962C8B-B14F-4D97-AF65-F5344CB8AC3E}">
        <p14:creationId xmlns:p14="http://schemas.microsoft.com/office/powerpoint/2010/main" val="488339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47</a:t>
            </a:fld>
            <a:endParaRPr lang="en-US"/>
          </a:p>
        </p:txBody>
      </p:sp>
    </p:spTree>
    <p:extLst>
      <p:ext uri="{BB962C8B-B14F-4D97-AF65-F5344CB8AC3E}">
        <p14:creationId xmlns:p14="http://schemas.microsoft.com/office/powerpoint/2010/main" val="11650315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48</a:t>
            </a:fld>
            <a:endParaRPr lang="en-US"/>
          </a:p>
        </p:txBody>
      </p:sp>
    </p:spTree>
    <p:extLst>
      <p:ext uri="{BB962C8B-B14F-4D97-AF65-F5344CB8AC3E}">
        <p14:creationId xmlns:p14="http://schemas.microsoft.com/office/powerpoint/2010/main" val="18105338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3B8EB8-E482-134B-B516-8AB744635F36}" type="slidenum">
              <a:rPr lang="en-US" smtClean="0"/>
              <a:t>49</a:t>
            </a:fld>
            <a:endParaRPr lang="en-US"/>
          </a:p>
        </p:txBody>
      </p:sp>
    </p:spTree>
    <p:extLst>
      <p:ext uri="{BB962C8B-B14F-4D97-AF65-F5344CB8AC3E}">
        <p14:creationId xmlns:p14="http://schemas.microsoft.com/office/powerpoint/2010/main" val="30141793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957D4-4C1B-4D45-B136-644ECBD6A0B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8F33CFFC-25FF-6C45-A3CC-C4A097A299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BE7E3A1B-13FD-0642-8B40-D15DF08D9C9E}"/>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5" name="Footer Placeholder 4">
            <a:extLst>
              <a:ext uri="{FF2B5EF4-FFF2-40B4-BE49-F238E27FC236}">
                <a16:creationId xmlns:a16="http://schemas.microsoft.com/office/drawing/2014/main" id="{870956D4-F15B-6F4C-B93D-888160D0DC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EE9DFC-FBD5-544A-8F1C-1D547DAE3461}"/>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2534906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BD86F-7702-FB4A-9018-92C94B38922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F441776-159B-7A47-8F04-D72E08E5787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ADFDA78-66FD-0B47-B0CF-1405287DFCE9}"/>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5" name="Footer Placeholder 4">
            <a:extLst>
              <a:ext uri="{FF2B5EF4-FFF2-40B4-BE49-F238E27FC236}">
                <a16:creationId xmlns:a16="http://schemas.microsoft.com/office/drawing/2014/main" id="{DCFF8389-FCC2-944F-B771-0D5F0D90B7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3CFF2F-A149-8E4F-AE64-2A939A277F8F}"/>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1812336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33CAE-C6DF-3C41-9C98-4382D685ECF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A5534B8-98F8-7344-8A2F-0A75656279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FC6FD96-FC5F-EF41-957F-2D095E6BF30B}"/>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5" name="Footer Placeholder 4">
            <a:extLst>
              <a:ext uri="{FF2B5EF4-FFF2-40B4-BE49-F238E27FC236}">
                <a16:creationId xmlns:a16="http://schemas.microsoft.com/office/drawing/2014/main" id="{D9D6F6F6-51FA-7246-B68A-29C887B22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825106-494F-BA40-B2AD-4D2A3BF093CE}"/>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2498027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6CE49-3667-104C-B3F4-0058CAB4B05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C82BE15-9D7C-B54A-BC36-3AF1AC70E3E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D1E457E-F0FD-ED44-98A7-A1F1C5B46EB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A8D7E2B-1F0E-6249-9649-0A0281DC0E40}"/>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6" name="Footer Placeholder 5">
            <a:extLst>
              <a:ext uri="{FF2B5EF4-FFF2-40B4-BE49-F238E27FC236}">
                <a16:creationId xmlns:a16="http://schemas.microsoft.com/office/drawing/2014/main" id="{0873AE7C-EA6B-A345-9703-E087788CA9C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4A960D-C2DB-4647-8F5C-57332D9A6CF3}"/>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1521364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3DD89-9B27-9645-BF1E-42AA947E419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33BB5A7-4353-2743-82AB-33C42F356C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20FF968-6971-384A-9320-3A60CC8DFC2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73E4888-2041-9648-BCDB-C65CEB0211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D511357-C880-D249-9BDD-7E0EA0E123D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0AFD594-A3F4-C645-A5E8-9790C6425ACD}"/>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8" name="Footer Placeholder 7">
            <a:extLst>
              <a:ext uri="{FF2B5EF4-FFF2-40B4-BE49-F238E27FC236}">
                <a16:creationId xmlns:a16="http://schemas.microsoft.com/office/drawing/2014/main" id="{9D87BD5F-A59B-E14D-AFB6-D87A0A567CB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CE1D7DA-FF17-A04B-8139-8449A74CA048}"/>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3338864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7FC95-5697-F344-87C3-175E29B1EFC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0F8CE9-3392-744E-B1C1-33649BE69E14}"/>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4" name="Footer Placeholder 3">
            <a:extLst>
              <a:ext uri="{FF2B5EF4-FFF2-40B4-BE49-F238E27FC236}">
                <a16:creationId xmlns:a16="http://schemas.microsoft.com/office/drawing/2014/main" id="{6C3940D9-03B5-A947-A332-6AB6E18F78F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0AF82C4-1D5B-AB44-B442-32B47231414D}"/>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4255400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ACD95D-EE2B-874A-B946-CBEB5B5DDC6C}"/>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3" name="Footer Placeholder 2">
            <a:extLst>
              <a:ext uri="{FF2B5EF4-FFF2-40B4-BE49-F238E27FC236}">
                <a16:creationId xmlns:a16="http://schemas.microsoft.com/office/drawing/2014/main" id="{C802168C-2075-CD48-9D0E-FD0C5FB55A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4C46FF-9805-7441-82E2-EE1F5DB2AE99}"/>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12854024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46411-E956-1248-A5E7-3505BEF7D8F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A0C450B-9572-9544-AAFA-9B18AD40651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F574C87-D376-3948-A13E-A0C860D0F1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9E89440-1231-5F46-B24E-2E7D0323CD56}"/>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6" name="Footer Placeholder 5">
            <a:extLst>
              <a:ext uri="{FF2B5EF4-FFF2-40B4-BE49-F238E27FC236}">
                <a16:creationId xmlns:a16="http://schemas.microsoft.com/office/drawing/2014/main" id="{7A183F53-ECBE-0749-8110-65FA602A75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8BDAB2-374C-DD4D-A1BB-907EF5DDC631}"/>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208703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A58B0-F195-874C-9C2F-EF377986F8C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E3A24F22-C5EA-324B-B90F-A116882699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95B12E-1C34-5D4E-B166-4906CA991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9141F81-9133-F74B-A30B-23E09FB25471}"/>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6" name="Footer Placeholder 5">
            <a:extLst>
              <a:ext uri="{FF2B5EF4-FFF2-40B4-BE49-F238E27FC236}">
                <a16:creationId xmlns:a16="http://schemas.microsoft.com/office/drawing/2014/main" id="{901255F4-8A95-7B46-B4FF-9DFA825774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580A39-9EB8-734F-A640-FE730F89210F}"/>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2927771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48DD6-3BDB-AF43-9CF9-B7C45B804B76}"/>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CB8E710-CDF3-4C4C-8C31-6540E315761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88FD84-77CD-D842-8EBE-548B5BEBA501}"/>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5" name="Footer Placeholder 4">
            <a:extLst>
              <a:ext uri="{FF2B5EF4-FFF2-40B4-BE49-F238E27FC236}">
                <a16:creationId xmlns:a16="http://schemas.microsoft.com/office/drawing/2014/main" id="{01F9D76A-2F8C-D94C-9AAF-1ABE19300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BF06D-F427-814C-B8F3-719901369263}"/>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3315822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0673F6-0B38-B94B-99C1-E431C4C074A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6D5DB22-E653-D043-B5A9-A175365A541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F98338C-DE28-7C42-8428-27B7E92B29E3}"/>
              </a:ext>
            </a:extLst>
          </p:cNvPr>
          <p:cNvSpPr>
            <a:spLocks noGrp="1"/>
          </p:cNvSpPr>
          <p:nvPr>
            <p:ph type="dt" sz="half" idx="10"/>
          </p:nvPr>
        </p:nvSpPr>
        <p:spPr/>
        <p:txBody>
          <a:bodyPr/>
          <a:lstStyle/>
          <a:p>
            <a:fld id="{D9B73212-194C-B04F-BB65-60D778870CE0}" type="datetimeFigureOut">
              <a:rPr lang="en-US" smtClean="0"/>
              <a:t>1/25/26</a:t>
            </a:fld>
            <a:endParaRPr lang="en-US"/>
          </a:p>
        </p:txBody>
      </p:sp>
      <p:sp>
        <p:nvSpPr>
          <p:cNvPr id="5" name="Footer Placeholder 4">
            <a:extLst>
              <a:ext uri="{FF2B5EF4-FFF2-40B4-BE49-F238E27FC236}">
                <a16:creationId xmlns:a16="http://schemas.microsoft.com/office/drawing/2014/main" id="{135307A7-5F89-BA45-AC23-FC33ECCBB6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5ABE86-8198-0F4C-86AE-FDF38F04D747}"/>
              </a:ext>
            </a:extLst>
          </p:cNvPr>
          <p:cNvSpPr>
            <a:spLocks noGrp="1"/>
          </p:cNvSpPr>
          <p:nvPr>
            <p:ph type="sldNum" sz="quarter" idx="12"/>
          </p:nvPr>
        </p:nvSpPr>
        <p:spPr/>
        <p:txBody>
          <a:bodyPr/>
          <a:lstStyle/>
          <a:p>
            <a:fld id="{9C4D956F-7DD8-FD4A-BFF9-97A60CF02A6F}" type="slidenum">
              <a:rPr lang="en-US" smtClean="0"/>
              <a:t>‹#›</a:t>
            </a:fld>
            <a:endParaRPr lang="en-US"/>
          </a:p>
        </p:txBody>
      </p:sp>
    </p:spTree>
    <p:extLst>
      <p:ext uri="{BB962C8B-B14F-4D97-AF65-F5344CB8AC3E}">
        <p14:creationId xmlns:p14="http://schemas.microsoft.com/office/powerpoint/2010/main" val="4075012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30E5AB-4030-F045-87E2-2F1422D9FA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5F73DEA-6E75-A44B-B0C7-3C193BE1A4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55B450-CB23-B44D-AD04-02AECDA9EE5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B73212-194C-B04F-BB65-60D778870CE0}" type="datetimeFigureOut">
              <a:rPr lang="en-US" smtClean="0"/>
              <a:t>1/25/26</a:t>
            </a:fld>
            <a:endParaRPr lang="en-US"/>
          </a:p>
        </p:txBody>
      </p:sp>
      <p:sp>
        <p:nvSpPr>
          <p:cNvPr id="5" name="Footer Placeholder 4">
            <a:extLst>
              <a:ext uri="{FF2B5EF4-FFF2-40B4-BE49-F238E27FC236}">
                <a16:creationId xmlns:a16="http://schemas.microsoft.com/office/drawing/2014/main" id="{3A071600-1069-574B-A2D7-C8885390EB2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307E359-19EB-7F47-B0A1-564232F16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4D956F-7DD8-FD4A-BFF9-97A60CF02A6F}" type="slidenum">
              <a:rPr lang="en-US" smtClean="0"/>
              <a:t>‹#›</a:t>
            </a:fld>
            <a:endParaRPr lang="en-US"/>
          </a:p>
        </p:txBody>
      </p:sp>
    </p:spTree>
    <p:extLst>
      <p:ext uri="{BB962C8B-B14F-4D97-AF65-F5344CB8AC3E}">
        <p14:creationId xmlns:p14="http://schemas.microsoft.com/office/powerpoint/2010/main" val="11413733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28B603-27B8-3267-DE61-E4A9F6F62E09}"/>
              </a:ext>
            </a:extLst>
          </p:cNvPr>
          <p:cNvPicPr>
            <a:picLocks noChangeAspect="1"/>
          </p:cNvPicPr>
          <p:nvPr/>
        </p:nvPicPr>
        <p:blipFill>
          <a:blip r:embed="rId2"/>
          <a:srcRect t="13956" b="48813"/>
          <a:stretch/>
        </p:blipFill>
        <p:spPr>
          <a:xfrm>
            <a:off x="468792" y="455768"/>
            <a:ext cx="11251368" cy="5946463"/>
          </a:xfrm>
          <a:prstGeom prst="rect">
            <a:avLst/>
          </a:prstGeom>
          <a:effectLst>
            <a:softEdge rad="0"/>
          </a:effectLst>
        </p:spPr>
      </p:pic>
    </p:spTree>
    <p:extLst>
      <p:ext uri="{BB962C8B-B14F-4D97-AF65-F5344CB8AC3E}">
        <p14:creationId xmlns:p14="http://schemas.microsoft.com/office/powerpoint/2010/main" val="2490008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59861-F54F-1142-BE4E-F3B4CD587646}"/>
              </a:ext>
            </a:extLst>
          </p:cNvPr>
          <p:cNvSpPr>
            <a:spLocks noGrp="1"/>
          </p:cNvSpPr>
          <p:nvPr>
            <p:ph type="ctrTitle"/>
          </p:nvPr>
        </p:nvSpPr>
        <p:spPr>
          <a:xfrm>
            <a:off x="1524000" y="2235200"/>
            <a:ext cx="9144000" cy="2387600"/>
          </a:xfrm>
        </p:spPr>
        <p:txBody>
          <a:bodyPr anchor="ctr"/>
          <a:lstStyle/>
          <a:p>
            <a:r>
              <a:rPr lang="en-US" dirty="0"/>
              <a:t>Prepare for the PSA</a:t>
            </a:r>
            <a:br>
              <a:rPr lang="en-US" dirty="0"/>
            </a:br>
            <a:r>
              <a:rPr lang="en-US" dirty="0"/>
              <a:t>Mock Exam - ANSWERS</a:t>
            </a:r>
          </a:p>
        </p:txBody>
      </p:sp>
    </p:spTree>
    <p:extLst>
      <p:ext uri="{BB962C8B-B14F-4D97-AF65-F5344CB8AC3E}">
        <p14:creationId xmlns:p14="http://schemas.microsoft.com/office/powerpoint/2010/main" val="2036164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A9B2B51C-0366-C44D-9C3D-FFBE57321895}"/>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4" name="TextBox 13">
            <a:extLst>
              <a:ext uri="{FF2B5EF4-FFF2-40B4-BE49-F238E27FC236}">
                <a16:creationId xmlns:a16="http://schemas.microsoft.com/office/drawing/2014/main" id="{FA59F8C5-5A4F-4A4C-A2A7-9577B37FCB87}"/>
              </a:ext>
            </a:extLst>
          </p:cNvPr>
          <p:cNvSpPr txBox="1"/>
          <p:nvPr/>
        </p:nvSpPr>
        <p:spPr>
          <a:xfrm>
            <a:off x="185739" y="5948964"/>
            <a:ext cx="2515420" cy="830997"/>
          </a:xfrm>
          <a:prstGeom prst="rect">
            <a:avLst/>
          </a:prstGeom>
          <a:noFill/>
        </p:spPr>
        <p:txBody>
          <a:bodyPr wrap="square" rtlCol="0">
            <a:spAutoFit/>
          </a:bodyPr>
          <a:lstStyle/>
          <a:p>
            <a:r>
              <a:rPr lang="en-US" sz="4800" dirty="0"/>
              <a:t>PWS Q1</a:t>
            </a:r>
          </a:p>
        </p:txBody>
      </p:sp>
      <p:sp>
        <p:nvSpPr>
          <p:cNvPr id="23" name="Rectangle 22">
            <a:extLst>
              <a:ext uri="{FF2B5EF4-FFF2-40B4-BE49-F238E27FC236}">
                <a16:creationId xmlns:a16="http://schemas.microsoft.com/office/drawing/2014/main" id="{3937C5A9-89ED-CB4B-9C01-2AD453B267DD}"/>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816E2B99-A967-A64C-A5EA-32B8CA22E068}"/>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4AD00EF1-D107-C945-B9B6-1ED04D632231}"/>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22747E27-205C-5040-8F44-9796E7895E19}"/>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5" name="TextBox 14">
            <a:extLst>
              <a:ext uri="{FF2B5EF4-FFF2-40B4-BE49-F238E27FC236}">
                <a16:creationId xmlns:a16="http://schemas.microsoft.com/office/drawing/2014/main" id="{F6594909-3537-DA43-95BD-7A4D9AEEAE62}"/>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12-year-old boy is brought to his GP for travel vaccinations. He begins to have a tonic-</a:t>
            </a:r>
            <a:r>
              <a:rPr lang="en-US" dirty="0" err="1"/>
              <a:t>clonic</a:t>
            </a:r>
            <a:r>
              <a:rPr lang="en-US" dirty="0"/>
              <a:t> seizure which is still ongoing after 5 minutes. </a:t>
            </a:r>
            <a:r>
              <a:rPr lang="en-US" b="1" dirty="0"/>
              <a:t>PMH.</a:t>
            </a:r>
            <a:r>
              <a:rPr lang="en-US" dirty="0"/>
              <a:t> Epilepsy. </a:t>
            </a:r>
            <a:r>
              <a:rPr lang="en-US" b="1" dirty="0"/>
              <a:t>DH.</a:t>
            </a:r>
            <a:r>
              <a:rPr lang="en-US" dirty="0"/>
              <a:t> Sodium valproate 500mg PO twice daily.</a:t>
            </a:r>
          </a:p>
        </p:txBody>
      </p:sp>
      <p:sp>
        <p:nvSpPr>
          <p:cNvPr id="20" name="TextBox 19">
            <a:extLst>
              <a:ext uri="{FF2B5EF4-FFF2-40B4-BE49-F238E27FC236}">
                <a16:creationId xmlns:a16="http://schemas.microsoft.com/office/drawing/2014/main" id="{77BA4B0B-770D-224E-985F-3AD020D5A9EC}"/>
              </a:ext>
            </a:extLst>
          </p:cNvPr>
          <p:cNvSpPr txBox="1"/>
          <p:nvPr/>
        </p:nvSpPr>
        <p:spPr>
          <a:xfrm>
            <a:off x="185736" y="2576818"/>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treat his condition.</a:t>
            </a:r>
          </a:p>
          <a:p>
            <a:r>
              <a:rPr lang="en-US" i="1" dirty="0"/>
              <a:t>(use the ‘general practice’ prescription form provided)</a:t>
            </a:r>
          </a:p>
        </p:txBody>
      </p:sp>
    </p:spTree>
    <p:extLst>
      <p:ext uri="{BB962C8B-B14F-4D97-AF65-F5344CB8AC3E}">
        <p14:creationId xmlns:p14="http://schemas.microsoft.com/office/powerpoint/2010/main" val="363164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87655-7968-D34A-89A8-4FA63957D4B8}"/>
              </a:ext>
            </a:extLst>
          </p:cNvPr>
          <p:cNvSpPr>
            <a:spLocks noGrp="1"/>
          </p:cNvSpPr>
          <p:nvPr>
            <p:ph type="title"/>
          </p:nvPr>
        </p:nvSpPr>
        <p:spPr/>
        <p:txBody>
          <a:bodyPr/>
          <a:lstStyle/>
          <a:p>
            <a:r>
              <a:rPr lang="en-US" dirty="0"/>
              <a:t>Status epilepticus</a:t>
            </a:r>
          </a:p>
        </p:txBody>
      </p:sp>
      <p:sp>
        <p:nvSpPr>
          <p:cNvPr id="3" name="Content Placeholder 2">
            <a:extLst>
              <a:ext uri="{FF2B5EF4-FFF2-40B4-BE49-F238E27FC236}">
                <a16:creationId xmlns:a16="http://schemas.microsoft.com/office/drawing/2014/main" id="{C2C32FE5-1105-CB48-9CFE-961551FED407}"/>
              </a:ext>
            </a:extLst>
          </p:cNvPr>
          <p:cNvSpPr>
            <a:spLocks noGrp="1"/>
          </p:cNvSpPr>
          <p:nvPr>
            <p:ph idx="1"/>
          </p:nvPr>
        </p:nvSpPr>
        <p:spPr>
          <a:xfrm>
            <a:off x="838201" y="1825625"/>
            <a:ext cx="5257799" cy="4351338"/>
          </a:xfrm>
        </p:spPr>
        <p:txBody>
          <a:bodyPr/>
          <a:lstStyle/>
          <a:p>
            <a:r>
              <a:rPr lang="en-US" dirty="0">
                <a:highlight>
                  <a:srgbClr val="00FF00"/>
                </a:highlight>
              </a:rPr>
              <a:t>diazepam 10mg PR</a:t>
            </a:r>
          </a:p>
          <a:p>
            <a:r>
              <a:rPr lang="en-US" dirty="0">
                <a:highlight>
                  <a:srgbClr val="00FF00"/>
                </a:highlight>
              </a:rPr>
              <a:t>midazolam 10mg buccal</a:t>
            </a:r>
          </a:p>
          <a:p>
            <a:endParaRPr lang="en-US" dirty="0">
              <a:highlight>
                <a:srgbClr val="00FF00"/>
              </a:highlight>
            </a:endParaRPr>
          </a:p>
          <a:p>
            <a:r>
              <a:rPr lang="en-US" dirty="0"/>
              <a:t>Note that there are two treatment summaries above. If this question was about a child in hospital the management would be midazolam buccal or lorazepam IV.</a:t>
            </a:r>
          </a:p>
          <a:p>
            <a:endParaRPr lang="en-US" dirty="0"/>
          </a:p>
          <a:p>
            <a:pPr marL="0" indent="0">
              <a:buNone/>
            </a:pPr>
            <a:endParaRPr lang="en-US" dirty="0"/>
          </a:p>
        </p:txBody>
      </p:sp>
      <p:pic>
        <p:nvPicPr>
          <p:cNvPr id="8" name="Picture 7">
            <a:extLst>
              <a:ext uri="{FF2B5EF4-FFF2-40B4-BE49-F238E27FC236}">
                <a16:creationId xmlns:a16="http://schemas.microsoft.com/office/drawing/2014/main" id="{4D3CF3D2-8801-F14A-9F7F-DF78F1DBD9B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43627" y="1690688"/>
            <a:ext cx="5724297" cy="4351338"/>
          </a:xfrm>
          <a:prstGeom prst="rect">
            <a:avLst/>
          </a:prstGeom>
        </p:spPr>
      </p:pic>
      <p:pic>
        <p:nvPicPr>
          <p:cNvPr id="12" name="Picture 11">
            <a:extLst>
              <a:ext uri="{FF2B5EF4-FFF2-40B4-BE49-F238E27FC236}">
                <a16:creationId xmlns:a16="http://schemas.microsoft.com/office/drawing/2014/main" id="{5A119B72-9AF5-9A42-9EBE-9FC35D77C03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69261" y="783527"/>
            <a:ext cx="5098661" cy="636701"/>
          </a:xfrm>
          <a:prstGeom prst="rect">
            <a:avLst/>
          </a:prstGeom>
        </p:spPr>
      </p:pic>
      <p:pic>
        <p:nvPicPr>
          <p:cNvPr id="13" name="Picture 12">
            <a:extLst>
              <a:ext uri="{FF2B5EF4-FFF2-40B4-BE49-F238E27FC236}">
                <a16:creationId xmlns:a16="http://schemas.microsoft.com/office/drawing/2014/main" id="{A6967E6D-24DE-F843-A3A5-D956170EF722}"/>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869262" y="144292"/>
            <a:ext cx="5098661" cy="639235"/>
          </a:xfrm>
          <a:prstGeom prst="rect">
            <a:avLst/>
          </a:prstGeom>
        </p:spPr>
      </p:pic>
      <p:sp>
        <p:nvSpPr>
          <p:cNvPr id="14" name="TextBox 13">
            <a:extLst>
              <a:ext uri="{FF2B5EF4-FFF2-40B4-BE49-F238E27FC236}">
                <a16:creationId xmlns:a16="http://schemas.microsoft.com/office/drawing/2014/main" id="{A1D1FED3-8010-9C44-A9BC-40D11034EA1A}"/>
              </a:ext>
            </a:extLst>
          </p:cNvPr>
          <p:cNvSpPr txBox="1"/>
          <p:nvPr/>
        </p:nvSpPr>
        <p:spPr>
          <a:xfrm>
            <a:off x="185738" y="5948964"/>
            <a:ext cx="2431338" cy="830997"/>
          </a:xfrm>
          <a:prstGeom prst="rect">
            <a:avLst/>
          </a:prstGeom>
          <a:noFill/>
        </p:spPr>
        <p:txBody>
          <a:bodyPr wrap="square" rtlCol="0">
            <a:spAutoFit/>
          </a:bodyPr>
          <a:lstStyle/>
          <a:p>
            <a:r>
              <a:rPr lang="en-US" sz="4800" dirty="0"/>
              <a:t>PWS A1</a:t>
            </a:r>
          </a:p>
        </p:txBody>
      </p:sp>
    </p:spTree>
    <p:extLst>
      <p:ext uri="{BB962C8B-B14F-4D97-AF65-F5344CB8AC3E}">
        <p14:creationId xmlns:p14="http://schemas.microsoft.com/office/powerpoint/2010/main" val="198531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Route</a:t>
            </a:r>
          </a:p>
          <a:p>
            <a:r>
              <a:rPr lang="en-US" b="1" dirty="0"/>
              <a:t>                                                        </a:t>
            </a:r>
            <a:endParaRPr lang="en-US" dirty="0"/>
          </a:p>
          <a:p>
            <a:endParaRPr lang="en-US" b="1" dirty="0"/>
          </a:p>
          <a:p>
            <a:r>
              <a:rPr lang="en-US" b="1" dirty="0"/>
              <a:t>   Frequency                                  Duration</a:t>
            </a:r>
          </a:p>
          <a:p>
            <a:r>
              <a:rPr lang="en-US" b="1" dirty="0"/>
              <a:t>                                                        </a:t>
            </a:r>
            <a:r>
              <a:rPr lang="en-US" dirty="0"/>
              <a:t>7 days</a:t>
            </a:r>
          </a:p>
          <a:p>
            <a:endParaRPr lang="en-US" b="1" dirty="0"/>
          </a:p>
          <a:p>
            <a:r>
              <a:rPr lang="en-US" b="1" dirty="0"/>
              <a:t>   Prescriber                  	    Date                            </a:t>
            </a:r>
            <a:r>
              <a:rPr lang="en-US" dirty="0"/>
              <a:t> </a:t>
            </a:r>
            <a:endParaRPr lang="en-US" b="1" dirty="0"/>
          </a:p>
          <a:p>
            <a:r>
              <a:rPr lang="en-US" b="1" dirty="0"/>
              <a:t>   </a:t>
            </a:r>
            <a:r>
              <a:rPr lang="en-US" dirty="0">
                <a:solidFill>
                  <a:schemeClr val="bg1">
                    <a:lumMod val="65000"/>
                  </a:schemeClr>
                </a:solidFill>
              </a:rPr>
              <a:t>Joe Bloggs                 	    01/01/2021               </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7"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3937C5A9-89ED-CB4B-9C01-2AD453B267DD}"/>
              </a:ext>
            </a:extLst>
          </p:cNvPr>
          <p:cNvSpPr/>
          <p:nvPr/>
        </p:nvSpPr>
        <p:spPr>
          <a:xfrm>
            <a:off x="9250461"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4" name="TextBox 23">
            <a:extLst>
              <a:ext uri="{FF2B5EF4-FFF2-40B4-BE49-F238E27FC236}">
                <a16:creationId xmlns:a16="http://schemas.microsoft.com/office/drawing/2014/main" id="{C332F23B-F0D8-8E4A-AC00-EF3E6B7F04DD}"/>
              </a:ext>
            </a:extLst>
          </p:cNvPr>
          <p:cNvSpPr txBox="1"/>
          <p:nvPr/>
        </p:nvSpPr>
        <p:spPr>
          <a:xfrm>
            <a:off x="185738" y="900112"/>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70-year-old woman presents to her GP with ongoing problems with urge incontinence. She has tried 6 weeks of bladder retraining with no improvement. </a:t>
            </a:r>
            <a:r>
              <a:rPr lang="en-US" b="1" dirty="0"/>
              <a:t>PMH</a:t>
            </a:r>
            <a:r>
              <a:rPr lang="en-US" dirty="0"/>
              <a:t>. HTN. </a:t>
            </a:r>
            <a:r>
              <a:rPr lang="en-US" b="1" dirty="0"/>
              <a:t>DH.</a:t>
            </a:r>
            <a:r>
              <a:rPr lang="en-US" dirty="0"/>
              <a:t> Amlodipine 5mg PO once daily.</a:t>
            </a:r>
          </a:p>
        </p:txBody>
      </p:sp>
      <p:sp>
        <p:nvSpPr>
          <p:cNvPr id="25" name="TextBox 24">
            <a:extLst>
              <a:ext uri="{FF2B5EF4-FFF2-40B4-BE49-F238E27FC236}">
                <a16:creationId xmlns:a16="http://schemas.microsoft.com/office/drawing/2014/main" id="{C938B698-ED38-D548-BB75-FE1FE25833FF}"/>
              </a:ext>
            </a:extLst>
          </p:cNvPr>
          <p:cNvSpPr txBox="1"/>
          <p:nvPr/>
        </p:nvSpPr>
        <p:spPr>
          <a:xfrm>
            <a:off x="185736" y="2576818"/>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treat her condition.</a:t>
            </a:r>
          </a:p>
          <a:p>
            <a:r>
              <a:rPr lang="en-US" i="1" dirty="0"/>
              <a:t>(use the ‘general practice’ prescription form provided)</a:t>
            </a:r>
          </a:p>
        </p:txBody>
      </p:sp>
      <p:sp>
        <p:nvSpPr>
          <p:cNvPr id="26" name="TextBox 25">
            <a:extLst>
              <a:ext uri="{FF2B5EF4-FFF2-40B4-BE49-F238E27FC236}">
                <a16:creationId xmlns:a16="http://schemas.microsoft.com/office/drawing/2014/main" id="{A4895618-BF48-4F4B-BEE6-1EBD91E12024}"/>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7" name="TextBox 26">
            <a:extLst>
              <a:ext uri="{FF2B5EF4-FFF2-40B4-BE49-F238E27FC236}">
                <a16:creationId xmlns:a16="http://schemas.microsoft.com/office/drawing/2014/main" id="{E377672B-B88D-0C47-B04B-7DA1EF9CA1C1}"/>
              </a:ext>
            </a:extLst>
          </p:cNvPr>
          <p:cNvSpPr txBox="1"/>
          <p:nvPr/>
        </p:nvSpPr>
        <p:spPr>
          <a:xfrm>
            <a:off x="3146422" y="271466"/>
            <a:ext cx="1096960" cy="353943"/>
          </a:xfrm>
          <a:prstGeom prst="rect">
            <a:avLst/>
          </a:prstGeom>
          <a:noFill/>
        </p:spPr>
        <p:txBody>
          <a:bodyPr wrap="square" rtlCol="0">
            <a:spAutoFit/>
          </a:bodyPr>
          <a:lstStyle/>
          <a:p>
            <a:pPr algn="ctr"/>
            <a:r>
              <a:rPr lang="en-US" sz="1700" b="1" dirty="0"/>
              <a:t>10 marks</a:t>
            </a:r>
          </a:p>
        </p:txBody>
      </p:sp>
      <p:sp>
        <p:nvSpPr>
          <p:cNvPr id="28" name="TextBox 27">
            <a:extLst>
              <a:ext uri="{FF2B5EF4-FFF2-40B4-BE49-F238E27FC236}">
                <a16:creationId xmlns:a16="http://schemas.microsoft.com/office/drawing/2014/main" id="{C01016AE-AE9E-1246-92D5-7C5DA58DFE68}"/>
              </a:ext>
            </a:extLst>
          </p:cNvPr>
          <p:cNvSpPr txBox="1"/>
          <p:nvPr/>
        </p:nvSpPr>
        <p:spPr>
          <a:xfrm>
            <a:off x="1486695" y="257177"/>
            <a:ext cx="1654173" cy="353943"/>
          </a:xfrm>
          <a:prstGeom prst="rect">
            <a:avLst/>
          </a:prstGeom>
          <a:solidFill>
            <a:srgbClr val="D0D0D0"/>
          </a:solidFill>
        </p:spPr>
        <p:txBody>
          <a:bodyPr wrap="square" rtlCol="0">
            <a:spAutoFit/>
          </a:bodyPr>
          <a:lstStyle/>
          <a:p>
            <a:pPr algn="ctr"/>
            <a:r>
              <a:rPr lang="en-US" sz="1700" dirty="0"/>
              <a:t>General Practice</a:t>
            </a:r>
          </a:p>
        </p:txBody>
      </p:sp>
      <p:sp>
        <p:nvSpPr>
          <p:cNvPr id="15" name="TextBox 14">
            <a:extLst>
              <a:ext uri="{FF2B5EF4-FFF2-40B4-BE49-F238E27FC236}">
                <a16:creationId xmlns:a16="http://schemas.microsoft.com/office/drawing/2014/main" id="{E026914D-A66E-FF4E-A2CA-73A3195AC136}"/>
              </a:ext>
            </a:extLst>
          </p:cNvPr>
          <p:cNvSpPr txBox="1"/>
          <p:nvPr/>
        </p:nvSpPr>
        <p:spPr>
          <a:xfrm>
            <a:off x="185739" y="5948964"/>
            <a:ext cx="2515420" cy="830997"/>
          </a:xfrm>
          <a:prstGeom prst="rect">
            <a:avLst/>
          </a:prstGeom>
          <a:noFill/>
        </p:spPr>
        <p:txBody>
          <a:bodyPr wrap="square" rtlCol="0">
            <a:spAutoFit/>
          </a:bodyPr>
          <a:lstStyle/>
          <a:p>
            <a:r>
              <a:rPr lang="en-US" sz="4800" dirty="0"/>
              <a:t>PWS Q2</a:t>
            </a:r>
          </a:p>
        </p:txBody>
      </p:sp>
    </p:spTree>
    <p:extLst>
      <p:ext uri="{BB962C8B-B14F-4D97-AF65-F5344CB8AC3E}">
        <p14:creationId xmlns:p14="http://schemas.microsoft.com/office/powerpoint/2010/main" val="405915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7997B-9B64-9A41-88A7-DAC4ED58664B}"/>
              </a:ext>
            </a:extLst>
          </p:cNvPr>
          <p:cNvSpPr>
            <a:spLocks noGrp="1"/>
          </p:cNvSpPr>
          <p:nvPr>
            <p:ph type="title"/>
          </p:nvPr>
        </p:nvSpPr>
        <p:spPr/>
        <p:txBody>
          <a:bodyPr/>
          <a:lstStyle/>
          <a:p>
            <a:r>
              <a:rPr lang="en-US" dirty="0"/>
              <a:t>Incontinence</a:t>
            </a:r>
          </a:p>
        </p:txBody>
      </p:sp>
      <p:sp>
        <p:nvSpPr>
          <p:cNvPr id="3" name="Content Placeholder 2">
            <a:extLst>
              <a:ext uri="{FF2B5EF4-FFF2-40B4-BE49-F238E27FC236}">
                <a16:creationId xmlns:a16="http://schemas.microsoft.com/office/drawing/2014/main" id="{F4C9D19E-0984-7247-A989-F95E11D3A532}"/>
              </a:ext>
            </a:extLst>
          </p:cNvPr>
          <p:cNvSpPr>
            <a:spLocks noGrp="1"/>
          </p:cNvSpPr>
          <p:nvPr>
            <p:ph idx="1"/>
          </p:nvPr>
        </p:nvSpPr>
        <p:spPr/>
        <p:txBody>
          <a:bodyPr>
            <a:normAutofit fontScale="85000" lnSpcReduction="20000"/>
          </a:bodyPr>
          <a:lstStyle/>
          <a:p>
            <a:r>
              <a:rPr lang="en-US" dirty="0">
                <a:highlight>
                  <a:srgbClr val="00FF00"/>
                </a:highlight>
              </a:rPr>
              <a:t>oxybutynin hydrochloride (IR) 2.5-5mg PO twice daily</a:t>
            </a:r>
          </a:p>
          <a:p>
            <a:r>
              <a:rPr lang="en-US" dirty="0">
                <a:highlight>
                  <a:srgbClr val="00FF00"/>
                </a:highlight>
              </a:rPr>
              <a:t>tolterodine tartrate (IR) 2mg PO twice daily</a:t>
            </a:r>
          </a:p>
          <a:p>
            <a:r>
              <a:rPr lang="en-US" dirty="0">
                <a:highlight>
                  <a:srgbClr val="00FF00"/>
                </a:highlight>
              </a:rPr>
              <a:t>darifenacin 7.5mg PO once daily</a:t>
            </a:r>
          </a:p>
          <a:p>
            <a:pPr marL="0" indent="0">
              <a:buNone/>
            </a:pPr>
            <a:endParaRPr lang="en-US" dirty="0">
              <a:highlight>
                <a:srgbClr val="00FF00"/>
              </a:highlight>
            </a:endParaRPr>
          </a:p>
          <a:p>
            <a:r>
              <a:rPr lang="en-US" dirty="0"/>
              <a:t>Stress incontinence – #1 pelvic floor muscle training for 3mo, #2 surgery</a:t>
            </a:r>
          </a:p>
          <a:p>
            <a:r>
              <a:rPr lang="en-US" dirty="0"/>
              <a:t>Urge incontinence / overactive bladder – #1 bladder retraining for 6w, #2 anticholinergic (mirabegron if </a:t>
            </a:r>
            <a:r>
              <a:rPr lang="en-GB" b="0" i="0" dirty="0">
                <a:solidFill>
                  <a:srgbClr val="0E0E0E"/>
                </a:solidFill>
                <a:effectLst/>
                <a:latin typeface="Inter"/>
              </a:rPr>
              <a:t>contraindicated, ineffective, or not tolerated </a:t>
            </a:r>
            <a:r>
              <a:rPr lang="en-US" dirty="0"/>
              <a:t>as B3 agonist so different MOA and less anticholinergic effects)</a:t>
            </a:r>
          </a:p>
          <a:p>
            <a:pPr lvl="1"/>
            <a:r>
              <a:rPr lang="en-US" dirty="0"/>
              <a:t>Note in this scenario the patient is 70 years old with only HTN as her PMHx – on the ‘Urinary incontinence’ Treatment summary it states to avoid oxybutynin if the patient is frail/elderly and at sudden risk from deterioration in their physical or mental heath – the patient in this scenario does not really meet this description. Hence why we suggested the first line options as the answer. However, in exam question marks likely to be awarded for mirabegron too although they are likely to make question stem more clear cut.</a:t>
            </a:r>
          </a:p>
        </p:txBody>
      </p:sp>
      <p:pic>
        <p:nvPicPr>
          <p:cNvPr id="7" name="Picture 6">
            <a:extLst>
              <a:ext uri="{FF2B5EF4-FFF2-40B4-BE49-F238E27FC236}">
                <a16:creationId xmlns:a16="http://schemas.microsoft.com/office/drawing/2014/main" id="{A2BFCC7B-62CE-354E-85F4-735C5BA2914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6856013" y="99581"/>
            <a:ext cx="5151120" cy="928325"/>
          </a:xfrm>
          <a:prstGeom prst="rect">
            <a:avLst/>
          </a:prstGeom>
        </p:spPr>
      </p:pic>
      <p:sp>
        <p:nvSpPr>
          <p:cNvPr id="8" name="TextBox 7">
            <a:extLst>
              <a:ext uri="{FF2B5EF4-FFF2-40B4-BE49-F238E27FC236}">
                <a16:creationId xmlns:a16="http://schemas.microsoft.com/office/drawing/2014/main" id="{8A9BBD32-B7A2-7D40-9E83-1E58F425B613}"/>
              </a:ext>
            </a:extLst>
          </p:cNvPr>
          <p:cNvSpPr txBox="1"/>
          <p:nvPr/>
        </p:nvSpPr>
        <p:spPr>
          <a:xfrm>
            <a:off x="185739" y="5948964"/>
            <a:ext cx="2515420" cy="830997"/>
          </a:xfrm>
          <a:prstGeom prst="rect">
            <a:avLst/>
          </a:prstGeom>
          <a:noFill/>
        </p:spPr>
        <p:txBody>
          <a:bodyPr wrap="square" rtlCol="0">
            <a:spAutoFit/>
          </a:bodyPr>
          <a:lstStyle/>
          <a:p>
            <a:r>
              <a:rPr lang="en-US" sz="4800" dirty="0"/>
              <a:t>PWS Q2</a:t>
            </a:r>
          </a:p>
        </p:txBody>
      </p:sp>
    </p:spTree>
    <p:extLst>
      <p:ext uri="{BB962C8B-B14F-4D97-AF65-F5344CB8AC3E}">
        <p14:creationId xmlns:p14="http://schemas.microsoft.com/office/powerpoint/2010/main" val="2701456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4247317"/>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Medicine</a:t>
            </a:r>
          </a:p>
          <a:p>
            <a:endParaRPr lang="en-US" b="1" dirty="0"/>
          </a:p>
          <a:p>
            <a:endParaRPr lang="en-US" b="1" dirty="0"/>
          </a:p>
          <a:p>
            <a:r>
              <a:rPr lang="en-US" b="1" dirty="0"/>
              <a:t>   Dose                                            </a:t>
            </a:r>
          </a:p>
          <a:p>
            <a:endParaRPr lang="en-US" b="1" dirty="0"/>
          </a:p>
          <a:p>
            <a:endParaRPr lang="en-US" b="1" dirty="0"/>
          </a:p>
          <a:p>
            <a:r>
              <a:rPr lang="en-US" b="1" dirty="0"/>
              <a:t>   Route</a:t>
            </a:r>
          </a:p>
          <a:p>
            <a:r>
              <a:rPr lang="en-US" b="1" dirty="0"/>
              <a:t>                                                        </a:t>
            </a:r>
            <a:endParaRPr lang="en-US" dirty="0"/>
          </a:p>
          <a:p>
            <a:endParaRPr lang="en-US" b="1" dirty="0"/>
          </a:p>
          <a:p>
            <a:r>
              <a:rPr lang="en-US" b="1" dirty="0"/>
              <a:t>   Frequency                 Duration</a:t>
            </a:r>
          </a:p>
          <a:p>
            <a:r>
              <a:rPr lang="en-US" b="1" dirty="0"/>
              <a:t>   </a:t>
            </a:r>
            <a:r>
              <a:rPr lang="en-US" dirty="0"/>
              <a:t>Once only</a:t>
            </a:r>
            <a:r>
              <a:rPr lang="en-US" b="1" dirty="0"/>
              <a:t>                  </a:t>
            </a:r>
            <a:r>
              <a:rPr lang="en-US" dirty="0"/>
              <a:t>Once only</a:t>
            </a:r>
          </a:p>
          <a:p>
            <a:endParaRPr lang="en-US" b="1" dirty="0">
              <a:solidFill>
                <a:schemeClr val="bg1">
                  <a:lumMod val="65000"/>
                </a:schemeClr>
              </a:solidFill>
            </a:endParaRPr>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endParaRPr lang="en-US" b="1" dirty="0"/>
          </a:p>
        </p:txBody>
      </p:sp>
      <p:sp>
        <p:nvSpPr>
          <p:cNvPr id="17" name="Rectangle 16">
            <a:extLst>
              <a:ext uri="{FF2B5EF4-FFF2-40B4-BE49-F238E27FC236}">
                <a16:creationId xmlns:a16="http://schemas.microsoft.com/office/drawing/2014/main" id="{A9B2B51C-0366-C44D-9C3D-FFBE57321895}"/>
              </a:ext>
            </a:extLst>
          </p:cNvPr>
          <p:cNvSpPr/>
          <p:nvPr/>
        </p:nvSpPr>
        <p:spPr>
          <a:xfrm>
            <a:off x="6467474" y="1494674"/>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3" name="Rectangle 22">
            <a:extLst>
              <a:ext uri="{FF2B5EF4-FFF2-40B4-BE49-F238E27FC236}">
                <a16:creationId xmlns:a16="http://schemas.microsoft.com/office/drawing/2014/main" id="{3937C5A9-89ED-CB4B-9C01-2AD453B267DD}"/>
              </a:ext>
            </a:extLst>
          </p:cNvPr>
          <p:cNvSpPr/>
          <p:nvPr/>
        </p:nvSpPr>
        <p:spPr>
          <a:xfrm>
            <a:off x="6467474" y="3153810"/>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22" name="TextBox 21">
            <a:extLst>
              <a:ext uri="{FF2B5EF4-FFF2-40B4-BE49-F238E27FC236}">
                <a16:creationId xmlns:a16="http://schemas.microsoft.com/office/drawing/2014/main" id="{816E2B99-A967-A64C-A5EA-32B8CA22E068}"/>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24" name="TextBox 23">
            <a:extLst>
              <a:ext uri="{FF2B5EF4-FFF2-40B4-BE49-F238E27FC236}">
                <a16:creationId xmlns:a16="http://schemas.microsoft.com/office/drawing/2014/main" id="{4AD00EF1-D107-C945-B9B6-1ED04D632231}"/>
              </a:ext>
            </a:extLst>
          </p:cNvPr>
          <p:cNvSpPr txBox="1"/>
          <p:nvPr/>
        </p:nvSpPr>
        <p:spPr>
          <a:xfrm>
            <a:off x="3615533" y="257177"/>
            <a:ext cx="1096960" cy="353943"/>
          </a:xfrm>
          <a:prstGeom prst="rect">
            <a:avLst/>
          </a:prstGeom>
          <a:noFill/>
        </p:spPr>
        <p:txBody>
          <a:bodyPr wrap="square" rtlCol="0">
            <a:spAutoFit/>
          </a:bodyPr>
          <a:lstStyle/>
          <a:p>
            <a:pPr algn="ctr"/>
            <a:r>
              <a:rPr lang="en-US" sz="1700" b="1" dirty="0"/>
              <a:t>10 marks</a:t>
            </a:r>
          </a:p>
        </p:txBody>
      </p:sp>
      <p:sp>
        <p:nvSpPr>
          <p:cNvPr id="25" name="TextBox 24">
            <a:extLst>
              <a:ext uri="{FF2B5EF4-FFF2-40B4-BE49-F238E27FC236}">
                <a16:creationId xmlns:a16="http://schemas.microsoft.com/office/drawing/2014/main" id="{22747E27-205C-5040-8F44-9796E7895E19}"/>
              </a:ext>
            </a:extLst>
          </p:cNvPr>
          <p:cNvSpPr txBox="1"/>
          <p:nvPr/>
        </p:nvSpPr>
        <p:spPr>
          <a:xfrm>
            <a:off x="1486695" y="257177"/>
            <a:ext cx="2128838" cy="353943"/>
          </a:xfrm>
          <a:prstGeom prst="rect">
            <a:avLst/>
          </a:prstGeom>
          <a:solidFill>
            <a:srgbClr val="D0D0D0"/>
          </a:solidFill>
        </p:spPr>
        <p:txBody>
          <a:bodyPr wrap="square" rtlCol="0">
            <a:spAutoFit/>
          </a:bodyPr>
          <a:lstStyle/>
          <a:p>
            <a:pPr algn="ctr"/>
            <a:r>
              <a:rPr lang="en-US" sz="1700" dirty="0"/>
              <a:t>Once Only Medicines</a:t>
            </a:r>
          </a:p>
        </p:txBody>
      </p:sp>
      <p:sp>
        <p:nvSpPr>
          <p:cNvPr id="15" name="TextBox 14">
            <a:extLst>
              <a:ext uri="{FF2B5EF4-FFF2-40B4-BE49-F238E27FC236}">
                <a16:creationId xmlns:a16="http://schemas.microsoft.com/office/drawing/2014/main" id="{F6594909-3537-DA43-95BD-7A4D9AEEAE62}"/>
              </a:ext>
            </a:extLst>
          </p:cNvPr>
          <p:cNvSpPr txBox="1"/>
          <p:nvPr/>
        </p:nvSpPr>
        <p:spPr>
          <a:xfrm>
            <a:off x="185738" y="900112"/>
            <a:ext cx="5815012" cy="2862322"/>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44-year-old man presents to A&amp;E in a collapsed state. His partner reports he has taken an overdose of morphine around 2 hours ago. </a:t>
            </a:r>
            <a:r>
              <a:rPr lang="en-US" b="1" dirty="0"/>
              <a:t>PMH.</a:t>
            </a:r>
            <a:r>
              <a:rPr lang="en-US" dirty="0"/>
              <a:t> Depression. </a:t>
            </a:r>
            <a:r>
              <a:rPr lang="en-US" b="1" dirty="0"/>
              <a:t>DH.</a:t>
            </a:r>
            <a:r>
              <a:rPr lang="en-US" dirty="0"/>
              <a:t> Citalopram 20mg PO once daily.</a:t>
            </a:r>
          </a:p>
          <a:p>
            <a:r>
              <a:rPr lang="en-US" b="1" dirty="0"/>
              <a:t>On examination</a:t>
            </a:r>
          </a:p>
          <a:p>
            <a:r>
              <a:rPr lang="en-US" dirty="0"/>
              <a:t>Airway patent, drowsy but rousable, confused. </a:t>
            </a:r>
            <a:r>
              <a:rPr lang="en-US" dirty="0" err="1"/>
              <a:t>Sats</a:t>
            </a:r>
            <a:r>
              <a:rPr lang="en-US" dirty="0"/>
              <a:t> 98% on RA, RR 8, chest clear. BP 122/68, HR 60 and regular, HS I+II+0, cap refill 2s. T 36.9, pinpoint pupils, GCS 13/15, capillary glucose 5.0. Abdomen SNT, no peripheral oedema.</a:t>
            </a:r>
          </a:p>
        </p:txBody>
      </p:sp>
      <p:sp>
        <p:nvSpPr>
          <p:cNvPr id="20" name="TextBox 19">
            <a:extLst>
              <a:ext uri="{FF2B5EF4-FFF2-40B4-BE49-F238E27FC236}">
                <a16:creationId xmlns:a16="http://schemas.microsoft.com/office/drawing/2014/main" id="{77BA4B0B-770D-224E-985F-3AD020D5A9EC}"/>
              </a:ext>
            </a:extLst>
          </p:cNvPr>
          <p:cNvSpPr txBox="1"/>
          <p:nvPr/>
        </p:nvSpPr>
        <p:spPr>
          <a:xfrm>
            <a:off x="185736" y="3960918"/>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drug that is </a:t>
            </a:r>
            <a:r>
              <a:rPr lang="en-US" i="1" dirty="0"/>
              <a:t>most appropriate</a:t>
            </a:r>
            <a:r>
              <a:rPr lang="en-US" dirty="0"/>
              <a:t> to treat his condition.</a:t>
            </a:r>
          </a:p>
          <a:p>
            <a:r>
              <a:rPr lang="en-US" i="1" dirty="0"/>
              <a:t>(use the ‘once only’ prescription form provided)</a:t>
            </a:r>
          </a:p>
        </p:txBody>
      </p:sp>
      <p:sp>
        <p:nvSpPr>
          <p:cNvPr id="16" name="TextBox 15">
            <a:extLst>
              <a:ext uri="{FF2B5EF4-FFF2-40B4-BE49-F238E27FC236}">
                <a16:creationId xmlns:a16="http://schemas.microsoft.com/office/drawing/2014/main" id="{535B635A-965D-734F-86A8-288F4EECB713}"/>
              </a:ext>
            </a:extLst>
          </p:cNvPr>
          <p:cNvSpPr txBox="1"/>
          <p:nvPr/>
        </p:nvSpPr>
        <p:spPr>
          <a:xfrm>
            <a:off x="185739" y="5948964"/>
            <a:ext cx="2515420" cy="830997"/>
          </a:xfrm>
          <a:prstGeom prst="rect">
            <a:avLst/>
          </a:prstGeom>
          <a:noFill/>
        </p:spPr>
        <p:txBody>
          <a:bodyPr wrap="square" rtlCol="0">
            <a:spAutoFit/>
          </a:bodyPr>
          <a:lstStyle/>
          <a:p>
            <a:r>
              <a:rPr lang="en-US" sz="4800" dirty="0"/>
              <a:t>PWS Q3</a:t>
            </a:r>
          </a:p>
        </p:txBody>
      </p:sp>
    </p:spTree>
    <p:extLst>
      <p:ext uri="{BB962C8B-B14F-4D97-AF65-F5344CB8AC3E}">
        <p14:creationId xmlns:p14="http://schemas.microsoft.com/office/powerpoint/2010/main" val="4225587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12147-CA35-4441-A8CC-EF37526D1802}"/>
              </a:ext>
            </a:extLst>
          </p:cNvPr>
          <p:cNvSpPr>
            <a:spLocks noGrp="1"/>
          </p:cNvSpPr>
          <p:nvPr>
            <p:ph type="title"/>
          </p:nvPr>
        </p:nvSpPr>
        <p:spPr/>
        <p:txBody>
          <a:bodyPr/>
          <a:lstStyle/>
          <a:p>
            <a:r>
              <a:rPr lang="en-US" dirty="0"/>
              <a:t>Opioid overdose</a:t>
            </a:r>
          </a:p>
        </p:txBody>
      </p:sp>
      <p:sp>
        <p:nvSpPr>
          <p:cNvPr id="3" name="Content Placeholder 2">
            <a:extLst>
              <a:ext uri="{FF2B5EF4-FFF2-40B4-BE49-F238E27FC236}">
                <a16:creationId xmlns:a16="http://schemas.microsoft.com/office/drawing/2014/main" id="{A1C9694C-BA27-D74F-BA9B-0A5EED67DE64}"/>
              </a:ext>
            </a:extLst>
          </p:cNvPr>
          <p:cNvSpPr>
            <a:spLocks noGrp="1"/>
          </p:cNvSpPr>
          <p:nvPr>
            <p:ph idx="1"/>
          </p:nvPr>
        </p:nvSpPr>
        <p:spPr>
          <a:xfrm>
            <a:off x="838200" y="1825625"/>
            <a:ext cx="5257800" cy="4351338"/>
          </a:xfrm>
        </p:spPr>
        <p:txBody>
          <a:bodyPr/>
          <a:lstStyle/>
          <a:p>
            <a:r>
              <a:rPr lang="en-US" dirty="0">
                <a:highlight>
                  <a:srgbClr val="00FF00"/>
                </a:highlight>
              </a:rPr>
              <a:t>naloxone hydrochloride 400mcg IV</a:t>
            </a:r>
          </a:p>
          <a:p>
            <a:r>
              <a:rPr lang="en-US" dirty="0"/>
              <a:t>The treatment summary ‘Poisoning, emergency treatment’ is excellent and covers a lot</a:t>
            </a:r>
          </a:p>
          <a:p>
            <a:r>
              <a:rPr lang="en-US" dirty="0"/>
              <a:t>Remember if ingestion &lt;1h ago activated charcoal can be used (but not for some drugs e.g. lithium)</a:t>
            </a:r>
          </a:p>
        </p:txBody>
      </p:sp>
      <p:pic>
        <p:nvPicPr>
          <p:cNvPr id="6" name="Picture 5">
            <a:extLst>
              <a:ext uri="{FF2B5EF4-FFF2-40B4-BE49-F238E27FC236}">
                <a16:creationId xmlns:a16="http://schemas.microsoft.com/office/drawing/2014/main" id="{4131B345-5974-8941-8B7D-58E8178EF38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69262" y="137448"/>
            <a:ext cx="5098661" cy="628189"/>
          </a:xfrm>
          <a:prstGeom prst="rect">
            <a:avLst/>
          </a:prstGeom>
        </p:spPr>
      </p:pic>
      <p:pic>
        <p:nvPicPr>
          <p:cNvPr id="7" name="Picture 6">
            <a:extLst>
              <a:ext uri="{FF2B5EF4-FFF2-40B4-BE49-F238E27FC236}">
                <a16:creationId xmlns:a16="http://schemas.microsoft.com/office/drawing/2014/main" id="{2268F304-D112-AA43-9AEF-F7889111FF8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096000" y="1825625"/>
            <a:ext cx="5758207" cy="2809240"/>
          </a:xfrm>
          <a:prstGeom prst="rect">
            <a:avLst/>
          </a:prstGeom>
        </p:spPr>
      </p:pic>
      <p:pic>
        <p:nvPicPr>
          <p:cNvPr id="11" name="Picture 10">
            <a:extLst>
              <a:ext uri="{FF2B5EF4-FFF2-40B4-BE49-F238E27FC236}">
                <a16:creationId xmlns:a16="http://schemas.microsoft.com/office/drawing/2014/main" id="{71E4A84D-9655-D441-A23E-9C12A60E8962}"/>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6178825" y="4756452"/>
            <a:ext cx="5629028" cy="1155057"/>
          </a:xfrm>
          <a:prstGeom prst="rect">
            <a:avLst/>
          </a:prstGeom>
        </p:spPr>
      </p:pic>
      <p:sp>
        <p:nvSpPr>
          <p:cNvPr id="8" name="TextBox 7">
            <a:extLst>
              <a:ext uri="{FF2B5EF4-FFF2-40B4-BE49-F238E27FC236}">
                <a16:creationId xmlns:a16="http://schemas.microsoft.com/office/drawing/2014/main" id="{8743307A-0DB2-054A-8597-0185144B5034}"/>
              </a:ext>
            </a:extLst>
          </p:cNvPr>
          <p:cNvSpPr txBox="1"/>
          <p:nvPr/>
        </p:nvSpPr>
        <p:spPr>
          <a:xfrm>
            <a:off x="185739" y="5948964"/>
            <a:ext cx="2515420" cy="830997"/>
          </a:xfrm>
          <a:prstGeom prst="rect">
            <a:avLst/>
          </a:prstGeom>
          <a:noFill/>
        </p:spPr>
        <p:txBody>
          <a:bodyPr wrap="square" rtlCol="0">
            <a:spAutoFit/>
          </a:bodyPr>
          <a:lstStyle/>
          <a:p>
            <a:r>
              <a:rPr lang="en-US" sz="4800" dirty="0"/>
              <a:t>PWS Q3</a:t>
            </a:r>
          </a:p>
        </p:txBody>
      </p:sp>
    </p:spTree>
    <p:extLst>
      <p:ext uri="{BB962C8B-B14F-4D97-AF65-F5344CB8AC3E}">
        <p14:creationId xmlns:p14="http://schemas.microsoft.com/office/powerpoint/2010/main" val="1715239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8D9229-641B-8D4B-8346-DB54C45B7ECF}"/>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B8C59EAC-BFB6-494C-972D-F9199EE5316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386DBB35-BC72-AB41-897A-539B3417561E}"/>
              </a:ext>
            </a:extLst>
          </p:cNvPr>
          <p:cNvSpPr txBox="1"/>
          <p:nvPr/>
        </p:nvSpPr>
        <p:spPr>
          <a:xfrm>
            <a:off x="185738" y="257178"/>
            <a:ext cx="1214438" cy="353943"/>
          </a:xfrm>
          <a:prstGeom prst="rect">
            <a:avLst/>
          </a:prstGeom>
          <a:solidFill>
            <a:schemeClr val="accent6"/>
          </a:solidFill>
        </p:spPr>
        <p:txBody>
          <a:bodyPr wrap="square" rtlCol="0">
            <a:spAutoFit/>
          </a:bodyPr>
          <a:lstStyle/>
          <a:p>
            <a:pPr algn="ctr"/>
            <a:r>
              <a:rPr lang="en-US" sz="1700" dirty="0">
                <a:solidFill>
                  <a:schemeClr val="bg1"/>
                </a:solidFill>
              </a:rPr>
              <a:t>Prescribing</a:t>
            </a:r>
          </a:p>
        </p:txBody>
      </p:sp>
      <p:sp>
        <p:nvSpPr>
          <p:cNvPr id="7" name="TextBox 6">
            <a:extLst>
              <a:ext uri="{FF2B5EF4-FFF2-40B4-BE49-F238E27FC236}">
                <a16:creationId xmlns:a16="http://schemas.microsoft.com/office/drawing/2014/main" id="{1ED32C0E-D093-134B-890E-1AB5285ACF73}"/>
              </a:ext>
            </a:extLst>
          </p:cNvPr>
          <p:cNvSpPr txBox="1"/>
          <p:nvPr/>
        </p:nvSpPr>
        <p:spPr>
          <a:xfrm>
            <a:off x="2869809" y="256796"/>
            <a:ext cx="1096960" cy="353943"/>
          </a:xfrm>
          <a:prstGeom prst="rect">
            <a:avLst/>
          </a:prstGeom>
          <a:noFill/>
        </p:spPr>
        <p:txBody>
          <a:bodyPr wrap="square" rtlCol="0">
            <a:spAutoFit/>
          </a:bodyPr>
          <a:lstStyle/>
          <a:p>
            <a:r>
              <a:rPr lang="en-US" sz="1700" b="1" dirty="0"/>
              <a:t>10 marks</a:t>
            </a:r>
          </a:p>
        </p:txBody>
      </p:sp>
      <p:sp>
        <p:nvSpPr>
          <p:cNvPr id="8" name="TextBox 7">
            <a:extLst>
              <a:ext uri="{FF2B5EF4-FFF2-40B4-BE49-F238E27FC236}">
                <a16:creationId xmlns:a16="http://schemas.microsoft.com/office/drawing/2014/main" id="{729C37C9-FC9D-3B44-A8EA-EF3F38ECFF6B}"/>
              </a:ext>
            </a:extLst>
          </p:cNvPr>
          <p:cNvSpPr txBox="1"/>
          <p:nvPr/>
        </p:nvSpPr>
        <p:spPr>
          <a:xfrm>
            <a:off x="1486695" y="257177"/>
            <a:ext cx="1383114" cy="353943"/>
          </a:xfrm>
          <a:prstGeom prst="rect">
            <a:avLst/>
          </a:prstGeom>
          <a:solidFill>
            <a:srgbClr val="D0D0D0"/>
          </a:solidFill>
        </p:spPr>
        <p:txBody>
          <a:bodyPr wrap="square" rtlCol="0">
            <a:spAutoFit/>
          </a:bodyPr>
          <a:lstStyle/>
          <a:p>
            <a:pPr algn="ctr"/>
            <a:r>
              <a:rPr lang="en-US" sz="1700" dirty="0"/>
              <a:t>Hospital Fluid</a:t>
            </a:r>
          </a:p>
        </p:txBody>
      </p:sp>
      <p:sp>
        <p:nvSpPr>
          <p:cNvPr id="9" name="TextBox 8">
            <a:extLst>
              <a:ext uri="{FF2B5EF4-FFF2-40B4-BE49-F238E27FC236}">
                <a16:creationId xmlns:a16="http://schemas.microsoft.com/office/drawing/2014/main" id="{E16682A3-7E8D-E048-B047-970992E2999C}"/>
              </a:ext>
            </a:extLst>
          </p:cNvPr>
          <p:cNvSpPr txBox="1"/>
          <p:nvPr/>
        </p:nvSpPr>
        <p:spPr>
          <a:xfrm>
            <a:off x="6191252" y="899730"/>
            <a:ext cx="5815012" cy="3416320"/>
          </a:xfrm>
          <a:prstGeom prst="rect">
            <a:avLst/>
          </a:prstGeom>
          <a:solidFill>
            <a:srgbClr val="ECECEC"/>
          </a:solidFill>
          <a:ln>
            <a:solidFill>
              <a:schemeClr val="tx1"/>
            </a:solidFill>
          </a:ln>
        </p:spPr>
        <p:txBody>
          <a:bodyPr wrap="square" rtlCol="0">
            <a:spAutoFit/>
          </a:bodyPr>
          <a:lstStyle/>
          <a:p>
            <a:r>
              <a:rPr lang="en-US" b="1" dirty="0"/>
              <a:t>PRESCRIPTION FORM</a:t>
            </a:r>
          </a:p>
          <a:p>
            <a:r>
              <a:rPr lang="en-US" b="1" dirty="0"/>
              <a:t>   Infusion fluid</a:t>
            </a:r>
          </a:p>
          <a:p>
            <a:endParaRPr lang="en-US" b="1" dirty="0"/>
          </a:p>
          <a:p>
            <a:endParaRPr lang="en-US" b="1" dirty="0"/>
          </a:p>
          <a:p>
            <a:r>
              <a:rPr lang="en-US" b="1" dirty="0"/>
              <a:t>   Volume                                       Route</a:t>
            </a:r>
          </a:p>
          <a:p>
            <a:r>
              <a:rPr lang="en-US" b="1" dirty="0"/>
              <a:t>                                                        </a:t>
            </a:r>
            <a:r>
              <a:rPr lang="en-US" dirty="0"/>
              <a:t>IV</a:t>
            </a:r>
          </a:p>
          <a:p>
            <a:endParaRPr lang="en-US" b="1" dirty="0"/>
          </a:p>
          <a:p>
            <a:r>
              <a:rPr lang="en-US" b="1" dirty="0"/>
              <a:t>   Duration                                     Infusion rate (ml/min)</a:t>
            </a:r>
          </a:p>
          <a:p>
            <a:endParaRPr lang="en-US" b="1" dirty="0"/>
          </a:p>
          <a:p>
            <a:endParaRPr lang="en-US" b="1" dirty="0"/>
          </a:p>
          <a:p>
            <a:r>
              <a:rPr lang="en-US" b="1" dirty="0"/>
              <a:t>   Prescriber                  Date                            Time</a:t>
            </a:r>
            <a:r>
              <a:rPr lang="en-US" dirty="0"/>
              <a:t> </a:t>
            </a:r>
            <a:endParaRPr lang="en-US" b="1" dirty="0"/>
          </a:p>
          <a:p>
            <a:r>
              <a:rPr lang="en-US" b="1" dirty="0"/>
              <a:t>   </a:t>
            </a:r>
            <a:r>
              <a:rPr lang="en-US" dirty="0">
                <a:solidFill>
                  <a:schemeClr val="bg1">
                    <a:lumMod val="65000"/>
                  </a:schemeClr>
                </a:solidFill>
              </a:rPr>
              <a:t>Joe Bloggs                  01/01/2021               12:00</a:t>
            </a:r>
          </a:p>
        </p:txBody>
      </p:sp>
      <p:sp>
        <p:nvSpPr>
          <p:cNvPr id="17" name="Rectangle 16">
            <a:extLst>
              <a:ext uri="{FF2B5EF4-FFF2-40B4-BE49-F238E27FC236}">
                <a16:creationId xmlns:a16="http://schemas.microsoft.com/office/drawing/2014/main" id="{A9B2B51C-0366-C44D-9C3D-FFBE57321895}"/>
              </a:ext>
            </a:extLst>
          </p:cNvPr>
          <p:cNvSpPr/>
          <p:nvPr/>
        </p:nvSpPr>
        <p:spPr>
          <a:xfrm>
            <a:off x="6467475" y="1498726"/>
            <a:ext cx="5262562"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8" name="Rectangle 17">
            <a:extLst>
              <a:ext uri="{FF2B5EF4-FFF2-40B4-BE49-F238E27FC236}">
                <a16:creationId xmlns:a16="http://schemas.microsoft.com/office/drawing/2014/main" id="{CBDAE48E-DA10-2044-99AB-5FD81A9B623D}"/>
              </a:ext>
            </a:extLst>
          </p:cNvPr>
          <p:cNvSpPr/>
          <p:nvPr/>
        </p:nvSpPr>
        <p:spPr>
          <a:xfrm>
            <a:off x="6467475" y="2316985"/>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	</a:t>
            </a:r>
          </a:p>
        </p:txBody>
      </p:sp>
      <p:sp>
        <p:nvSpPr>
          <p:cNvPr id="20" name="Rectangle 19">
            <a:extLst>
              <a:ext uri="{FF2B5EF4-FFF2-40B4-BE49-F238E27FC236}">
                <a16:creationId xmlns:a16="http://schemas.microsoft.com/office/drawing/2014/main" id="{7E41A487-644D-F048-95FB-FA3562BC67CF}"/>
              </a:ext>
            </a:extLst>
          </p:cNvPr>
          <p:cNvSpPr/>
          <p:nvPr/>
        </p:nvSpPr>
        <p:spPr>
          <a:xfrm>
            <a:off x="6467475" y="3135244"/>
            <a:ext cx="2479577" cy="377215"/>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solidFill>
                <a:schemeClr val="tx1"/>
              </a:solidFill>
            </a:endParaRPr>
          </a:p>
        </p:txBody>
      </p:sp>
      <p:sp>
        <p:nvSpPr>
          <p:cNvPr id="19" name="TextBox 18">
            <a:extLst>
              <a:ext uri="{FF2B5EF4-FFF2-40B4-BE49-F238E27FC236}">
                <a16:creationId xmlns:a16="http://schemas.microsoft.com/office/drawing/2014/main" id="{49D1928B-B19F-D14E-BBA4-99A0EFB06142}"/>
              </a:ext>
            </a:extLst>
          </p:cNvPr>
          <p:cNvSpPr txBox="1"/>
          <p:nvPr/>
        </p:nvSpPr>
        <p:spPr>
          <a:xfrm>
            <a:off x="185738" y="451705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Write a prescription for ONE IV fluid that is </a:t>
            </a:r>
            <a:r>
              <a:rPr lang="en-US" i="1" dirty="0"/>
              <a:t>most appropriate</a:t>
            </a:r>
            <a:r>
              <a:rPr lang="en-US" dirty="0"/>
              <a:t> for the patient at this stage?</a:t>
            </a:r>
          </a:p>
          <a:p>
            <a:r>
              <a:rPr lang="en-US" i="1" dirty="0"/>
              <a:t>(use the ‘hospital IV fluid’ prescription form provided)</a:t>
            </a:r>
          </a:p>
        </p:txBody>
      </p:sp>
      <p:sp>
        <p:nvSpPr>
          <p:cNvPr id="15" name="TextBox 14">
            <a:extLst>
              <a:ext uri="{FF2B5EF4-FFF2-40B4-BE49-F238E27FC236}">
                <a16:creationId xmlns:a16="http://schemas.microsoft.com/office/drawing/2014/main" id="{EDB3D695-2CFF-7D40-B814-D9B963A9F09F}"/>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60-year-old man is admitted to hospital for an elective right hemicolectomy. He is waiting for the procedure on the surgical ward, however, the operation is delayed. Weight 80kg. </a:t>
            </a:r>
            <a:r>
              <a:rPr lang="en-US" b="1" dirty="0"/>
              <a:t>PMH.</a:t>
            </a:r>
            <a:r>
              <a:rPr lang="en-US" dirty="0"/>
              <a:t> COPD, T2DM. </a:t>
            </a:r>
            <a:r>
              <a:rPr lang="en-US" b="1" dirty="0"/>
              <a:t>DH.</a:t>
            </a:r>
            <a:r>
              <a:rPr lang="en-US" dirty="0"/>
              <a:t> Salbutamol MDI 2 puffs PRN, fluticasone </a:t>
            </a:r>
            <a:r>
              <a:rPr lang="en-US" dirty="0" err="1"/>
              <a:t>proprionate</a:t>
            </a:r>
            <a:r>
              <a:rPr lang="en-US" dirty="0"/>
              <a:t> 250mcg/salmeterol 50mcg (Seretide 250 </a:t>
            </a:r>
            <a:r>
              <a:rPr lang="en-US" dirty="0" err="1"/>
              <a:t>Accuhaler</a:t>
            </a:r>
            <a:r>
              <a:rPr lang="en-US" dirty="0"/>
              <a:t>) 1 puff twice daily, metformin 500mg TDS.</a:t>
            </a:r>
          </a:p>
          <a:p>
            <a:r>
              <a:rPr lang="en-US" b="1" dirty="0"/>
              <a:t>Investigations</a:t>
            </a:r>
          </a:p>
          <a:p>
            <a:r>
              <a:rPr lang="en-US" dirty="0"/>
              <a:t>Na 140 (137-144), K 4.0 (3.5-5.3), U 4.1 (2.5-7.0), Cr 90 (60-110), capillary glucose 11.6</a:t>
            </a:r>
          </a:p>
          <a:p>
            <a:r>
              <a:rPr lang="en-US" dirty="0"/>
              <a:t>He has had one bag of sodium chloride 0.9% / glucose 5% 1000ml over the last 12h.</a:t>
            </a:r>
          </a:p>
        </p:txBody>
      </p:sp>
      <p:sp>
        <p:nvSpPr>
          <p:cNvPr id="16" name="TextBox 15">
            <a:extLst>
              <a:ext uri="{FF2B5EF4-FFF2-40B4-BE49-F238E27FC236}">
                <a16:creationId xmlns:a16="http://schemas.microsoft.com/office/drawing/2014/main" id="{2FE873DF-EE5F-AD4F-ACEE-0FA55DA03ECD}"/>
              </a:ext>
            </a:extLst>
          </p:cNvPr>
          <p:cNvSpPr txBox="1"/>
          <p:nvPr/>
        </p:nvSpPr>
        <p:spPr>
          <a:xfrm>
            <a:off x="185739" y="5948964"/>
            <a:ext cx="2515420" cy="830997"/>
          </a:xfrm>
          <a:prstGeom prst="rect">
            <a:avLst/>
          </a:prstGeom>
          <a:noFill/>
        </p:spPr>
        <p:txBody>
          <a:bodyPr wrap="square" rtlCol="0">
            <a:spAutoFit/>
          </a:bodyPr>
          <a:lstStyle/>
          <a:p>
            <a:r>
              <a:rPr lang="en-US" sz="4800" dirty="0"/>
              <a:t>PWS Q4</a:t>
            </a:r>
          </a:p>
        </p:txBody>
      </p:sp>
    </p:spTree>
    <p:extLst>
      <p:ext uri="{BB962C8B-B14F-4D97-AF65-F5344CB8AC3E}">
        <p14:creationId xmlns:p14="http://schemas.microsoft.com/office/powerpoint/2010/main" val="3963800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20826-7AB9-B247-BEE7-5156BF359FA5}"/>
              </a:ext>
            </a:extLst>
          </p:cNvPr>
          <p:cNvSpPr>
            <a:spLocks noGrp="1"/>
          </p:cNvSpPr>
          <p:nvPr>
            <p:ph type="title"/>
          </p:nvPr>
        </p:nvSpPr>
        <p:spPr/>
        <p:txBody>
          <a:bodyPr/>
          <a:lstStyle/>
          <a:p>
            <a:r>
              <a:rPr lang="en-US" dirty="0"/>
              <a:t>Maintenance only but previous bag given</a:t>
            </a:r>
          </a:p>
        </p:txBody>
      </p:sp>
      <p:sp>
        <p:nvSpPr>
          <p:cNvPr id="3" name="Content Placeholder 2">
            <a:extLst>
              <a:ext uri="{FF2B5EF4-FFF2-40B4-BE49-F238E27FC236}">
                <a16:creationId xmlns:a16="http://schemas.microsoft.com/office/drawing/2014/main" id="{F5A2F4AF-C0B0-1047-B1E9-940C4A119739}"/>
              </a:ext>
            </a:extLst>
          </p:cNvPr>
          <p:cNvSpPr>
            <a:spLocks noGrp="1"/>
          </p:cNvSpPr>
          <p:nvPr>
            <p:ph idx="1"/>
          </p:nvPr>
        </p:nvSpPr>
        <p:spPr>
          <a:xfrm>
            <a:off x="838200" y="1825626"/>
            <a:ext cx="10515600" cy="823790"/>
          </a:xfrm>
        </p:spPr>
        <p:txBody>
          <a:bodyPr>
            <a:normAutofit fontScale="77500" lnSpcReduction="20000"/>
          </a:bodyPr>
          <a:lstStyle/>
          <a:p>
            <a:r>
              <a:rPr lang="en-US" dirty="0">
                <a:highlight>
                  <a:srgbClr val="00FF00"/>
                </a:highlight>
              </a:rPr>
              <a:t>sodium chloride 0.9% / potassium chloride 0.3%, 1000ml over 8-12h</a:t>
            </a:r>
          </a:p>
          <a:p>
            <a:pPr lvl="1"/>
            <a:r>
              <a:rPr lang="en-US" dirty="0"/>
              <a:t>potassium chloride 0.3% / glucose 5% </a:t>
            </a:r>
            <a:r>
              <a:rPr lang="en-US" u="sng" dirty="0"/>
              <a:t>less appropriate</a:t>
            </a:r>
            <a:r>
              <a:rPr lang="en-US" dirty="0"/>
              <a:t> (but might score some marks) given PMH of T2DM and high BM although likely to score more/full marks if this was not the case</a:t>
            </a:r>
          </a:p>
        </p:txBody>
      </p:sp>
      <p:graphicFrame>
        <p:nvGraphicFramePr>
          <p:cNvPr id="4" name="Table 3">
            <a:extLst>
              <a:ext uri="{FF2B5EF4-FFF2-40B4-BE49-F238E27FC236}">
                <a16:creationId xmlns:a16="http://schemas.microsoft.com/office/drawing/2014/main" id="{AFADAC6A-A78D-9243-80F6-87D5E1B2CCDE}"/>
              </a:ext>
            </a:extLst>
          </p:cNvPr>
          <p:cNvGraphicFramePr>
            <a:graphicFrameLocks noGrp="1"/>
          </p:cNvGraphicFramePr>
          <p:nvPr>
            <p:extLst>
              <p:ext uri="{D42A27DB-BD31-4B8C-83A1-F6EECF244321}">
                <p14:modId xmlns:p14="http://schemas.microsoft.com/office/powerpoint/2010/main" val="3880964060"/>
              </p:ext>
            </p:extLst>
          </p:nvPr>
        </p:nvGraphicFramePr>
        <p:xfrm>
          <a:off x="838200" y="2733324"/>
          <a:ext cx="10515600" cy="3215640"/>
        </p:xfrm>
        <a:graphic>
          <a:graphicData uri="http://schemas.openxmlformats.org/drawingml/2006/table">
            <a:tbl>
              <a:tblPr firstRow="1" bandRow="1">
                <a:tableStyleId>{5C22544A-7EE6-4342-B048-85BDC9FD1C3A}</a:tableStyleId>
              </a:tblPr>
              <a:tblGrid>
                <a:gridCol w="2303349">
                  <a:extLst>
                    <a:ext uri="{9D8B030D-6E8A-4147-A177-3AD203B41FA5}">
                      <a16:colId xmlns:a16="http://schemas.microsoft.com/office/drawing/2014/main" val="555002794"/>
                    </a:ext>
                  </a:extLst>
                </a:gridCol>
                <a:gridCol w="2119086">
                  <a:extLst>
                    <a:ext uri="{9D8B030D-6E8A-4147-A177-3AD203B41FA5}">
                      <a16:colId xmlns:a16="http://schemas.microsoft.com/office/drawing/2014/main" val="3993017981"/>
                    </a:ext>
                  </a:extLst>
                </a:gridCol>
                <a:gridCol w="1843314">
                  <a:extLst>
                    <a:ext uri="{9D8B030D-6E8A-4147-A177-3AD203B41FA5}">
                      <a16:colId xmlns:a16="http://schemas.microsoft.com/office/drawing/2014/main" val="3043460885"/>
                    </a:ext>
                  </a:extLst>
                </a:gridCol>
                <a:gridCol w="2336800">
                  <a:extLst>
                    <a:ext uri="{9D8B030D-6E8A-4147-A177-3AD203B41FA5}">
                      <a16:colId xmlns:a16="http://schemas.microsoft.com/office/drawing/2014/main" val="4219990104"/>
                    </a:ext>
                  </a:extLst>
                </a:gridCol>
                <a:gridCol w="1913051">
                  <a:extLst>
                    <a:ext uri="{9D8B030D-6E8A-4147-A177-3AD203B41FA5}">
                      <a16:colId xmlns:a16="http://schemas.microsoft.com/office/drawing/2014/main" val="1001517415"/>
                    </a:ext>
                  </a:extLst>
                </a:gridCol>
              </a:tblGrid>
              <a:tr h="549643">
                <a:tc>
                  <a:txBody>
                    <a:bodyPr/>
                    <a:lstStyle/>
                    <a:p>
                      <a:r>
                        <a:rPr lang="en-US" b="1" dirty="0">
                          <a:solidFill>
                            <a:schemeClr val="bg1"/>
                          </a:solidFill>
                        </a:rPr>
                        <a:t>Daily requirements </a:t>
                      </a:r>
                    </a:p>
                  </a:txBody>
                  <a:tcPr>
                    <a:solidFill>
                      <a:srgbClr val="4372C5"/>
                    </a:solidFill>
                  </a:tcPr>
                </a:tc>
                <a:tc>
                  <a:txBody>
                    <a:bodyPr/>
                    <a:lstStyle/>
                    <a:p>
                      <a:r>
                        <a:rPr lang="en-US" b="1" dirty="0">
                          <a:solidFill>
                            <a:schemeClr val="bg1"/>
                          </a:solidFill>
                        </a:rPr>
                        <a:t>Specific to weight of 60kg</a:t>
                      </a:r>
                    </a:p>
                  </a:txBody>
                  <a:tcPr>
                    <a:solidFill>
                      <a:srgbClr val="4372C5"/>
                    </a:solidFill>
                  </a:tcPr>
                </a:tc>
                <a:tc>
                  <a:txBody>
                    <a:bodyPr/>
                    <a:lstStyle/>
                    <a:p>
                      <a:r>
                        <a:rPr lang="en-US" b="1" dirty="0">
                          <a:solidFill>
                            <a:schemeClr val="bg1"/>
                          </a:solidFill>
                        </a:rPr>
                        <a:t>1</a:t>
                      </a:r>
                      <a:r>
                        <a:rPr lang="en-US" b="1" baseline="30000" dirty="0">
                          <a:solidFill>
                            <a:schemeClr val="bg1"/>
                          </a:solidFill>
                        </a:rPr>
                        <a:t>st</a:t>
                      </a:r>
                      <a:r>
                        <a:rPr lang="en-US" b="1" dirty="0">
                          <a:solidFill>
                            <a:schemeClr val="bg1"/>
                          </a:solidFill>
                        </a:rPr>
                        <a:t> bag</a:t>
                      </a:r>
                    </a:p>
                    <a:p>
                      <a:r>
                        <a:rPr lang="en-US" b="0" dirty="0">
                          <a:solidFill>
                            <a:schemeClr val="bg1"/>
                          </a:solidFill>
                        </a:rPr>
                        <a:t>Sodium chloride 0.9% / glucose 5% 1000ml 12h</a:t>
                      </a:r>
                    </a:p>
                  </a:txBody>
                  <a:tcPr>
                    <a:solidFill>
                      <a:srgbClr val="4372C5"/>
                    </a:solidFill>
                  </a:tcPr>
                </a:tc>
                <a:tc>
                  <a:txBody>
                    <a:bodyPr/>
                    <a:lstStyle/>
                    <a:p>
                      <a:r>
                        <a:rPr lang="en-US" b="1" dirty="0">
                          <a:solidFill>
                            <a:schemeClr val="bg1"/>
                          </a:solidFill>
                        </a:rPr>
                        <a:t>Requirements for next bag</a:t>
                      </a:r>
                      <a:endParaRPr lang="en-US" b="0" dirty="0">
                        <a:solidFill>
                          <a:schemeClr val="bg1"/>
                        </a:solidFill>
                      </a:endParaRPr>
                    </a:p>
                  </a:txBody>
                  <a:tcPr>
                    <a:solidFill>
                      <a:srgbClr val="4372C5"/>
                    </a:solidFill>
                  </a:tcPr>
                </a:tc>
                <a:tc>
                  <a:txBody>
                    <a:bodyPr/>
                    <a:lstStyle/>
                    <a:p>
                      <a:r>
                        <a:rPr lang="en-US" b="1" dirty="0">
                          <a:solidFill>
                            <a:schemeClr val="bg1"/>
                          </a:solidFill>
                        </a:rPr>
                        <a:t>2</a:t>
                      </a:r>
                      <a:r>
                        <a:rPr lang="en-US" b="1" baseline="30000" dirty="0">
                          <a:solidFill>
                            <a:schemeClr val="bg1"/>
                          </a:solidFill>
                        </a:rPr>
                        <a:t>nd</a:t>
                      </a:r>
                      <a:r>
                        <a:rPr lang="en-US" b="1" dirty="0">
                          <a:solidFill>
                            <a:schemeClr val="bg1"/>
                          </a:solidFill>
                        </a:rPr>
                        <a:t> bag</a:t>
                      </a:r>
                    </a:p>
                    <a:p>
                      <a:r>
                        <a:rPr lang="en-US" b="0" dirty="0">
                          <a:solidFill>
                            <a:schemeClr val="bg1"/>
                          </a:solidFill>
                        </a:rPr>
                        <a:t>Sodium chloride 0.9% / potassium chloride 0.3% 1000ml 8-12h</a:t>
                      </a:r>
                    </a:p>
                  </a:txBody>
                  <a:tcPr>
                    <a:solidFill>
                      <a:srgbClr val="4372C5"/>
                    </a:solidFill>
                  </a:tcPr>
                </a:tc>
                <a:extLst>
                  <a:ext uri="{0D108BD9-81ED-4DB2-BD59-A6C34878D82A}">
                    <a16:rowId xmlns:a16="http://schemas.microsoft.com/office/drawing/2014/main" val="230568780"/>
                  </a:ext>
                </a:extLst>
              </a:tr>
              <a:tr h="370840">
                <a:tc>
                  <a:txBody>
                    <a:bodyPr/>
                    <a:lstStyle/>
                    <a:p>
                      <a:r>
                        <a:rPr lang="en-US" dirty="0"/>
                        <a:t>25-30ml/kg/day water</a:t>
                      </a:r>
                    </a:p>
                  </a:txBody>
                  <a:tcPr/>
                </a:tc>
                <a:tc>
                  <a:txBody>
                    <a:bodyPr/>
                    <a:lstStyle/>
                    <a:p>
                      <a:r>
                        <a:rPr lang="en-US" dirty="0"/>
                        <a:t>30 x 80 = 2400ml water</a:t>
                      </a:r>
                    </a:p>
                  </a:txBody>
                  <a:tcPr/>
                </a:tc>
                <a:tc>
                  <a:txBody>
                    <a:bodyPr/>
                    <a:lstStyle/>
                    <a:p>
                      <a:r>
                        <a:rPr lang="en-US" dirty="0"/>
                        <a:t>1000ml water</a:t>
                      </a:r>
                    </a:p>
                  </a:txBody>
                  <a:tcPr/>
                </a:tc>
                <a:tc>
                  <a:txBody>
                    <a:bodyPr/>
                    <a:lstStyle/>
                    <a:p>
                      <a:r>
                        <a:rPr lang="en-US" dirty="0"/>
                        <a:t>Needs 1400ml water</a:t>
                      </a:r>
                    </a:p>
                  </a:txBody>
                  <a:tcPr/>
                </a:tc>
                <a:tc>
                  <a:txBody>
                    <a:bodyPr/>
                    <a:lstStyle/>
                    <a:p>
                      <a:r>
                        <a:rPr lang="en-US" dirty="0"/>
                        <a:t>1000ml water</a:t>
                      </a:r>
                    </a:p>
                  </a:txBody>
                  <a:tcPr/>
                </a:tc>
                <a:extLst>
                  <a:ext uri="{0D108BD9-81ED-4DB2-BD59-A6C34878D82A}">
                    <a16:rowId xmlns:a16="http://schemas.microsoft.com/office/drawing/2014/main" val="1337002266"/>
                  </a:ext>
                </a:extLst>
              </a:tr>
              <a:tr h="370840">
                <a:tc>
                  <a:txBody>
                    <a:bodyPr/>
                    <a:lstStyle/>
                    <a:p>
                      <a:r>
                        <a:rPr lang="en-US" dirty="0"/>
                        <a:t>1mmol/kg/day Na</a:t>
                      </a:r>
                    </a:p>
                  </a:txBody>
                  <a:tcPr/>
                </a:tc>
                <a:tc>
                  <a:txBody>
                    <a:bodyPr/>
                    <a:lstStyle/>
                    <a:p>
                      <a:r>
                        <a:rPr lang="en-US" dirty="0"/>
                        <a:t>1 x 80 = 80mmol Na</a:t>
                      </a:r>
                    </a:p>
                  </a:txBody>
                  <a:tcPr/>
                </a:tc>
                <a:tc>
                  <a:txBody>
                    <a:bodyPr/>
                    <a:lstStyle/>
                    <a:p>
                      <a:r>
                        <a:rPr lang="en-US" dirty="0"/>
                        <a:t>150mmol Na</a:t>
                      </a:r>
                    </a:p>
                  </a:txBody>
                  <a:tcPr/>
                </a:tc>
                <a:tc>
                  <a:txBody>
                    <a:bodyPr/>
                    <a:lstStyle/>
                    <a:p>
                      <a:r>
                        <a:rPr lang="en-US" dirty="0"/>
                        <a:t>-</a:t>
                      </a:r>
                    </a:p>
                  </a:txBody>
                  <a:tcPr/>
                </a:tc>
                <a:tc>
                  <a:txBody>
                    <a:bodyPr/>
                    <a:lstStyle/>
                    <a:p>
                      <a:r>
                        <a:rPr lang="en-US" dirty="0"/>
                        <a:t>150mmol Na</a:t>
                      </a:r>
                    </a:p>
                  </a:txBody>
                  <a:tcPr/>
                </a:tc>
                <a:extLst>
                  <a:ext uri="{0D108BD9-81ED-4DB2-BD59-A6C34878D82A}">
                    <a16:rowId xmlns:a16="http://schemas.microsoft.com/office/drawing/2014/main" val="1376988703"/>
                  </a:ext>
                </a:extLst>
              </a:tr>
              <a:tr h="370840">
                <a:tc>
                  <a:txBody>
                    <a:bodyPr/>
                    <a:lstStyle/>
                    <a:p>
                      <a:r>
                        <a:rPr lang="en-US" dirty="0"/>
                        <a:t>1mmol/kg/day 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 x 80 = 80mmol K</a:t>
                      </a:r>
                    </a:p>
                  </a:txBody>
                  <a:tcPr/>
                </a:tc>
                <a:tc>
                  <a:txBody>
                    <a:bodyPr/>
                    <a:lstStyle/>
                    <a:p>
                      <a:r>
                        <a:rPr lang="en-US" dirty="0"/>
                        <a:t>-</a:t>
                      </a:r>
                    </a:p>
                  </a:txBody>
                  <a:tcPr/>
                </a:tc>
                <a:tc>
                  <a:txBody>
                    <a:bodyPr/>
                    <a:lstStyle/>
                    <a:p>
                      <a:r>
                        <a:rPr lang="en-US" dirty="0"/>
                        <a:t>Needs 80mmol K</a:t>
                      </a:r>
                    </a:p>
                  </a:txBody>
                  <a:tcPr/>
                </a:tc>
                <a:tc>
                  <a:txBody>
                    <a:bodyPr/>
                    <a:lstStyle/>
                    <a:p>
                      <a:r>
                        <a:rPr lang="en-US" dirty="0"/>
                        <a:t>40mmol K</a:t>
                      </a:r>
                    </a:p>
                  </a:txBody>
                  <a:tcPr/>
                </a:tc>
                <a:extLst>
                  <a:ext uri="{0D108BD9-81ED-4DB2-BD59-A6C34878D82A}">
                    <a16:rowId xmlns:a16="http://schemas.microsoft.com/office/drawing/2014/main" val="3790267746"/>
                  </a:ext>
                </a:extLst>
              </a:tr>
              <a:tr h="370840">
                <a:tc>
                  <a:txBody>
                    <a:bodyPr/>
                    <a:lstStyle/>
                    <a:p>
                      <a:r>
                        <a:rPr lang="en-US" dirty="0"/>
                        <a:t>50-100g/day glucose</a:t>
                      </a:r>
                    </a:p>
                  </a:txBody>
                  <a:tcPr/>
                </a:tc>
                <a:tc>
                  <a:txBody>
                    <a:bodyPr/>
                    <a:lstStyle/>
                    <a:p>
                      <a:r>
                        <a:rPr lang="en-US" dirty="0"/>
                        <a:t>50-100g glucose</a:t>
                      </a:r>
                    </a:p>
                  </a:txBody>
                  <a:tcPr/>
                </a:tc>
                <a:tc>
                  <a:txBody>
                    <a:bodyPr/>
                    <a:lstStyle/>
                    <a:p>
                      <a:r>
                        <a:rPr lang="en-US" dirty="0"/>
                        <a:t>50g</a:t>
                      </a:r>
                    </a:p>
                  </a:txBody>
                  <a:tcPr/>
                </a:tc>
                <a:tc>
                  <a:txBody>
                    <a:bodyPr/>
                    <a:lstStyle/>
                    <a:p>
                      <a:r>
                        <a:rPr lang="en-US" dirty="0"/>
                        <a:t>-</a:t>
                      </a:r>
                    </a:p>
                  </a:txBody>
                  <a:tcPr/>
                </a:tc>
                <a:tc>
                  <a:txBody>
                    <a:bodyPr/>
                    <a:lstStyle/>
                    <a:p>
                      <a:r>
                        <a:rPr lang="en-US" dirty="0"/>
                        <a:t>-</a:t>
                      </a:r>
                    </a:p>
                  </a:txBody>
                  <a:tcPr/>
                </a:tc>
                <a:extLst>
                  <a:ext uri="{0D108BD9-81ED-4DB2-BD59-A6C34878D82A}">
                    <a16:rowId xmlns:a16="http://schemas.microsoft.com/office/drawing/2014/main" val="503258863"/>
                  </a:ext>
                </a:extLst>
              </a:tr>
            </a:tbl>
          </a:graphicData>
        </a:graphic>
      </p:graphicFrame>
      <p:sp>
        <p:nvSpPr>
          <p:cNvPr id="7" name="TextBox 6">
            <a:extLst>
              <a:ext uri="{FF2B5EF4-FFF2-40B4-BE49-F238E27FC236}">
                <a16:creationId xmlns:a16="http://schemas.microsoft.com/office/drawing/2014/main" id="{B0047001-764E-834B-A256-AF164CC76165}"/>
              </a:ext>
            </a:extLst>
          </p:cNvPr>
          <p:cNvSpPr txBox="1"/>
          <p:nvPr/>
        </p:nvSpPr>
        <p:spPr>
          <a:xfrm>
            <a:off x="185739" y="5948964"/>
            <a:ext cx="2515420" cy="830997"/>
          </a:xfrm>
          <a:prstGeom prst="rect">
            <a:avLst/>
          </a:prstGeom>
          <a:noFill/>
        </p:spPr>
        <p:txBody>
          <a:bodyPr wrap="square" rtlCol="0">
            <a:spAutoFit/>
          </a:bodyPr>
          <a:lstStyle/>
          <a:p>
            <a:r>
              <a:rPr lang="en-US" sz="4800" dirty="0"/>
              <a:t>PWS Q4</a:t>
            </a:r>
          </a:p>
        </p:txBody>
      </p:sp>
    </p:spTree>
    <p:extLst>
      <p:ext uri="{BB962C8B-B14F-4D97-AF65-F5344CB8AC3E}">
        <p14:creationId xmlns:p14="http://schemas.microsoft.com/office/powerpoint/2010/main" val="41375249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9" name="TextBox 8">
            <a:extLst>
              <a:ext uri="{FF2B5EF4-FFF2-40B4-BE49-F238E27FC236}">
                <a16:creationId xmlns:a16="http://schemas.microsoft.com/office/drawing/2014/main" id="{4F8078D2-1CF8-F345-956E-2F94E8640E00}"/>
              </a:ext>
            </a:extLst>
          </p:cNvPr>
          <p:cNvSpPr txBox="1"/>
          <p:nvPr/>
        </p:nvSpPr>
        <p:spPr>
          <a:xfrm>
            <a:off x="6191252" y="899730"/>
            <a:ext cx="5815012" cy="3970318"/>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sp>
        <p:nvSpPr>
          <p:cNvPr id="10" name="TextBox 9">
            <a:extLst>
              <a:ext uri="{FF2B5EF4-FFF2-40B4-BE49-F238E27FC236}">
                <a16:creationId xmlns:a16="http://schemas.microsoft.com/office/drawing/2014/main" id="{0D3C3266-16D4-D846-A8E8-E67A3F702AE6}"/>
              </a:ext>
            </a:extLst>
          </p:cNvPr>
          <p:cNvSpPr txBox="1"/>
          <p:nvPr/>
        </p:nvSpPr>
        <p:spPr>
          <a:xfrm>
            <a:off x="185738" y="5948964"/>
            <a:ext cx="2305214" cy="830997"/>
          </a:xfrm>
          <a:prstGeom prst="rect">
            <a:avLst/>
          </a:prstGeom>
          <a:noFill/>
        </p:spPr>
        <p:txBody>
          <a:bodyPr wrap="square" rtlCol="0">
            <a:spAutoFit/>
          </a:bodyPr>
          <a:lstStyle/>
          <a:p>
            <a:r>
              <a:rPr lang="en-US" sz="4800" dirty="0"/>
              <a:t>REV Q1</a:t>
            </a:r>
          </a:p>
        </p:txBody>
      </p:sp>
      <p:sp>
        <p:nvSpPr>
          <p:cNvPr id="12" name="TextBox 11">
            <a:extLst>
              <a:ext uri="{FF2B5EF4-FFF2-40B4-BE49-F238E27FC236}">
                <a16:creationId xmlns:a16="http://schemas.microsoft.com/office/drawing/2014/main" id="{12C7C71F-CADF-3741-AB2E-783D92B908BD}"/>
              </a:ext>
            </a:extLst>
          </p:cNvPr>
          <p:cNvSpPr txBox="1"/>
          <p:nvPr/>
        </p:nvSpPr>
        <p:spPr>
          <a:xfrm>
            <a:off x="185736" y="3129157"/>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THREE prescriptions that contain a serious dosing error.</a:t>
            </a:r>
          </a:p>
          <a:p>
            <a:r>
              <a:rPr lang="en-US" i="1" dirty="0"/>
              <a:t>(mark them with a tick in column A)</a:t>
            </a:r>
          </a:p>
        </p:txBody>
      </p:sp>
      <p:graphicFrame>
        <p:nvGraphicFramePr>
          <p:cNvPr id="14" name="Table 14">
            <a:extLst>
              <a:ext uri="{FF2B5EF4-FFF2-40B4-BE49-F238E27FC236}">
                <a16:creationId xmlns:a16="http://schemas.microsoft.com/office/drawing/2014/main" id="{169A0356-5929-E14F-8BA0-171233C60AB1}"/>
              </a:ext>
            </a:extLst>
          </p:cNvPr>
          <p:cNvGraphicFramePr>
            <a:graphicFrameLocks noGrp="1"/>
          </p:cNvGraphicFramePr>
          <p:nvPr>
            <p:extLst>
              <p:ext uri="{D42A27DB-BD31-4B8C-83A1-F6EECF244321}">
                <p14:modId xmlns:p14="http://schemas.microsoft.com/office/powerpoint/2010/main" val="2052346083"/>
              </p:ext>
            </p:extLst>
          </p:nvPr>
        </p:nvGraphicFramePr>
        <p:xfrm>
          <a:off x="6304756" y="1276008"/>
          <a:ext cx="5588003" cy="34848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amlodipine</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a:txBody>
                    <a:bodyPr/>
                    <a:lstStyle/>
                    <a:p>
                      <a:r>
                        <a:rPr lang="en-US" sz="1400" dirty="0"/>
                        <a:t>alendronic acid</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70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weekly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a:t>atorvastatin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nightly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a:txBody>
                    <a:bodyPr/>
                    <a:lstStyle/>
                    <a:p>
                      <a:r>
                        <a:rPr lang="en-US" sz="1400" dirty="0" err="1"/>
                        <a:t>colecalciferol</a:t>
                      </a:r>
                      <a:endParaRPr lang="en-US" sz="1400" dirty="0"/>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400 units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gentamicin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a:t>IV</a:t>
                      </a:r>
                      <a:endParaRPr lang="en-US" sz="1400" dirty="0"/>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levothyroxine sodium</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125 mcg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paracetamol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IV</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 (6-hrly)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412185"/>
                  </a:ext>
                </a:extLst>
              </a:tr>
              <a:tr h="370840">
                <a:tc>
                  <a:txBody>
                    <a:bodyPr/>
                    <a:lstStyle/>
                    <a:p>
                      <a:r>
                        <a:rPr lang="en-US" sz="1400" dirty="0"/>
                        <a:t>prednisolone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60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nightly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6314673"/>
                  </a:ext>
                </a:extLst>
              </a:tr>
            </a:tbl>
          </a:graphicData>
        </a:graphic>
      </p:graphicFrame>
      <p:sp>
        <p:nvSpPr>
          <p:cNvPr id="17" name="TextBox 16">
            <a:extLst>
              <a:ext uri="{FF2B5EF4-FFF2-40B4-BE49-F238E27FC236}">
                <a16:creationId xmlns:a16="http://schemas.microsoft.com/office/drawing/2014/main" id="{458747EB-71FB-2F49-B7F7-0CF4A0E76A7D}"/>
              </a:ext>
            </a:extLst>
          </p:cNvPr>
          <p:cNvSpPr txBox="1"/>
          <p:nvPr/>
        </p:nvSpPr>
        <p:spPr>
          <a:xfrm>
            <a:off x="185734" y="4514797"/>
            <a:ext cx="5815012" cy="923330"/>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ONE prescription that contains a frequency error.</a:t>
            </a:r>
          </a:p>
          <a:p>
            <a:r>
              <a:rPr lang="en-US" i="1" dirty="0"/>
              <a:t>(mark them with a tick in column B)</a:t>
            </a:r>
          </a:p>
        </p:txBody>
      </p:sp>
      <p:sp>
        <p:nvSpPr>
          <p:cNvPr id="13" name="TextBox 12">
            <a:extLst>
              <a:ext uri="{FF2B5EF4-FFF2-40B4-BE49-F238E27FC236}">
                <a16:creationId xmlns:a16="http://schemas.microsoft.com/office/drawing/2014/main" id="{1B503952-63F8-E642-B40C-325DF32333AC}"/>
              </a:ext>
            </a:extLst>
          </p:cNvPr>
          <p:cNvSpPr txBox="1"/>
          <p:nvPr/>
        </p:nvSpPr>
        <p:spPr>
          <a:xfrm>
            <a:off x="185738" y="899730"/>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72-year-old woman is on a medical ward following an acute exacerbation of COPD with additional acute pyelonephritis. Weight 49kg. </a:t>
            </a:r>
            <a:r>
              <a:rPr lang="en-US" b="1" dirty="0"/>
              <a:t>PMH. </a:t>
            </a:r>
            <a:r>
              <a:rPr lang="en-US" dirty="0" err="1"/>
              <a:t>Hypercholesterolaemia</a:t>
            </a:r>
            <a:r>
              <a:rPr lang="en-US" dirty="0"/>
              <a:t>, hypertension, hypothyroidism, osteoporosis, polymyalgia rheumatica.</a:t>
            </a:r>
            <a:r>
              <a:rPr lang="en-US" b="1" dirty="0"/>
              <a:t> DH. </a:t>
            </a:r>
            <a:r>
              <a:rPr lang="en-US" dirty="0"/>
              <a:t>Her current regular medications are listed (right).</a:t>
            </a:r>
          </a:p>
        </p:txBody>
      </p:sp>
    </p:spTree>
    <p:extLst>
      <p:ext uri="{BB962C8B-B14F-4D97-AF65-F5344CB8AC3E}">
        <p14:creationId xmlns:p14="http://schemas.microsoft.com/office/powerpoint/2010/main" val="18803547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9" name="TextBox 8">
            <a:extLst>
              <a:ext uri="{FF2B5EF4-FFF2-40B4-BE49-F238E27FC236}">
                <a16:creationId xmlns:a16="http://schemas.microsoft.com/office/drawing/2014/main" id="{4F8078D2-1CF8-F345-956E-2F94E8640E00}"/>
              </a:ext>
            </a:extLst>
          </p:cNvPr>
          <p:cNvSpPr txBox="1"/>
          <p:nvPr/>
        </p:nvSpPr>
        <p:spPr>
          <a:xfrm>
            <a:off x="6191252" y="899730"/>
            <a:ext cx="5815012" cy="3970318"/>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p:txBody>
      </p:sp>
      <p:graphicFrame>
        <p:nvGraphicFramePr>
          <p:cNvPr id="14" name="Table 14">
            <a:extLst>
              <a:ext uri="{FF2B5EF4-FFF2-40B4-BE49-F238E27FC236}">
                <a16:creationId xmlns:a16="http://schemas.microsoft.com/office/drawing/2014/main" id="{169A0356-5929-E14F-8BA0-171233C60AB1}"/>
              </a:ext>
            </a:extLst>
          </p:cNvPr>
          <p:cNvGraphicFramePr>
            <a:graphicFrameLocks noGrp="1"/>
          </p:cNvGraphicFramePr>
          <p:nvPr>
            <p:extLst>
              <p:ext uri="{D42A27DB-BD31-4B8C-83A1-F6EECF244321}">
                <p14:modId xmlns:p14="http://schemas.microsoft.com/office/powerpoint/2010/main" val="3410369586"/>
              </p:ext>
            </p:extLst>
          </p:nvPr>
        </p:nvGraphicFramePr>
        <p:xfrm>
          <a:off x="6304756" y="1276008"/>
          <a:ext cx="5588003" cy="34848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amlodipine</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a:txBody>
                    <a:bodyPr/>
                    <a:lstStyle/>
                    <a:p>
                      <a:r>
                        <a:rPr lang="en-US" sz="1400" dirty="0"/>
                        <a:t>alendronic acid</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70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weekly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a:t>atorvastatin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nightly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a:txBody>
                    <a:bodyPr/>
                    <a:lstStyle/>
                    <a:p>
                      <a:r>
                        <a:rPr lang="en-US" sz="1400" dirty="0" err="1"/>
                        <a:t>colecalciferol</a:t>
                      </a:r>
                      <a:endParaRPr lang="en-US" sz="1400" dirty="0"/>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400 units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gentamicin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IV</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levothyroxine sodium</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125 mcg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paracetamol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IV</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 (6-hrly)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p>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412185"/>
                  </a:ext>
                </a:extLst>
              </a:tr>
              <a:tr h="370840">
                <a:tc>
                  <a:txBody>
                    <a:bodyPr/>
                    <a:lstStyle/>
                    <a:p>
                      <a:r>
                        <a:rPr lang="en-US" sz="1400" dirty="0"/>
                        <a:t>prednisolone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60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nightly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6314673"/>
                  </a:ext>
                </a:extLst>
              </a:tr>
            </a:tbl>
          </a:graphicData>
        </a:graphic>
      </p:graphicFrame>
      <p:sp>
        <p:nvSpPr>
          <p:cNvPr id="2" name="TextBox 1">
            <a:extLst>
              <a:ext uri="{FF2B5EF4-FFF2-40B4-BE49-F238E27FC236}">
                <a16:creationId xmlns:a16="http://schemas.microsoft.com/office/drawing/2014/main" id="{AD3EBFAB-6837-434D-8D0E-52E933A7171E}"/>
              </a:ext>
            </a:extLst>
          </p:cNvPr>
          <p:cNvSpPr txBox="1"/>
          <p:nvPr/>
        </p:nvSpPr>
        <p:spPr>
          <a:xfrm>
            <a:off x="6191252" y="4984413"/>
            <a:ext cx="5815012" cy="1600438"/>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Gentamicin dose is too high here, should be 5-7mg/kg as per BNF</a:t>
            </a:r>
          </a:p>
          <a:p>
            <a:pPr marL="285750" indent="-285750">
              <a:buFont typeface="Arial" panose="020B0604020202020204" pitchFamily="34" charset="0"/>
              <a:buChar char="•"/>
            </a:pPr>
            <a:r>
              <a:rPr lang="en-US" sz="1400" dirty="0">
                <a:solidFill>
                  <a:srgbClr val="FF0000"/>
                </a:solidFill>
              </a:rPr>
              <a:t>Paracetamol dose is too high here, should be 15mg/kg as per BNF (but in hospital we just do 500mg doses for patients &lt;50kg)</a:t>
            </a:r>
          </a:p>
          <a:p>
            <a:pPr marL="285750" indent="-285750">
              <a:buFont typeface="Arial" panose="020B0604020202020204" pitchFamily="34" charset="0"/>
              <a:buChar char="•"/>
            </a:pPr>
            <a:r>
              <a:rPr lang="en-US" sz="1400" dirty="0">
                <a:solidFill>
                  <a:srgbClr val="FF0000"/>
                </a:solidFill>
              </a:rPr>
              <a:t>Prednisolone dose is too high here, prednisolone 30mg PO daily for </a:t>
            </a:r>
            <a:r>
              <a:rPr lang="en-US" sz="1400" dirty="0" err="1">
                <a:solidFill>
                  <a:srgbClr val="FF0000"/>
                </a:solidFill>
              </a:rPr>
              <a:t>eCOPD</a:t>
            </a:r>
            <a:r>
              <a:rPr lang="en-US" sz="1400" dirty="0">
                <a:solidFill>
                  <a:srgbClr val="FF0000"/>
                </a:solidFill>
              </a:rPr>
              <a:t> as per session 2 teaching</a:t>
            </a:r>
          </a:p>
          <a:p>
            <a:pPr marL="285750" indent="-285750">
              <a:buFont typeface="Arial" panose="020B0604020202020204" pitchFamily="34" charset="0"/>
              <a:buChar char="•"/>
            </a:pPr>
            <a:r>
              <a:rPr lang="en-US" sz="1400" dirty="0">
                <a:solidFill>
                  <a:srgbClr val="FF0000"/>
                </a:solidFill>
              </a:rPr>
              <a:t>Prednisolone is given in the morning not nightly otherwise the patient won’t be able to sleep!</a:t>
            </a:r>
          </a:p>
        </p:txBody>
      </p:sp>
      <p:sp>
        <p:nvSpPr>
          <p:cNvPr id="13" name="TextBox 12">
            <a:extLst>
              <a:ext uri="{FF2B5EF4-FFF2-40B4-BE49-F238E27FC236}">
                <a16:creationId xmlns:a16="http://schemas.microsoft.com/office/drawing/2014/main" id="{19F26879-6F69-BD4D-9CF8-3ED3DC7D1DDD}"/>
              </a:ext>
            </a:extLst>
          </p:cNvPr>
          <p:cNvSpPr txBox="1"/>
          <p:nvPr/>
        </p:nvSpPr>
        <p:spPr>
          <a:xfrm>
            <a:off x="185736" y="3129157"/>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THREE prescriptions that contain a serious dosing error.</a:t>
            </a:r>
          </a:p>
          <a:p>
            <a:r>
              <a:rPr lang="en-US" i="1" dirty="0"/>
              <a:t>(mark them with a tick in column A)</a:t>
            </a:r>
          </a:p>
        </p:txBody>
      </p:sp>
      <p:sp>
        <p:nvSpPr>
          <p:cNvPr id="15" name="TextBox 14">
            <a:extLst>
              <a:ext uri="{FF2B5EF4-FFF2-40B4-BE49-F238E27FC236}">
                <a16:creationId xmlns:a16="http://schemas.microsoft.com/office/drawing/2014/main" id="{8B5FA4D6-95B4-A044-94EF-CEA6EE0E455E}"/>
              </a:ext>
            </a:extLst>
          </p:cNvPr>
          <p:cNvSpPr txBox="1"/>
          <p:nvPr/>
        </p:nvSpPr>
        <p:spPr>
          <a:xfrm>
            <a:off x="185734" y="4514797"/>
            <a:ext cx="5815012" cy="923330"/>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ONE prescription that contains a frequency error.</a:t>
            </a:r>
          </a:p>
          <a:p>
            <a:r>
              <a:rPr lang="en-US" i="1" dirty="0"/>
              <a:t>(mark them with a tick in column B)</a:t>
            </a:r>
          </a:p>
        </p:txBody>
      </p:sp>
      <p:sp>
        <p:nvSpPr>
          <p:cNvPr id="16" name="TextBox 15">
            <a:extLst>
              <a:ext uri="{FF2B5EF4-FFF2-40B4-BE49-F238E27FC236}">
                <a16:creationId xmlns:a16="http://schemas.microsoft.com/office/drawing/2014/main" id="{CD1DD82D-7F73-3A47-ADC0-7DFF8649F456}"/>
              </a:ext>
            </a:extLst>
          </p:cNvPr>
          <p:cNvSpPr txBox="1"/>
          <p:nvPr/>
        </p:nvSpPr>
        <p:spPr>
          <a:xfrm>
            <a:off x="185738" y="899730"/>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72-year-old woman is on a medical ward following an acute exacerbation of COPD with additional acute pyelonephritis. Weight 49kg. </a:t>
            </a:r>
            <a:r>
              <a:rPr lang="en-US" b="1" dirty="0"/>
              <a:t>PMH. </a:t>
            </a:r>
            <a:r>
              <a:rPr lang="en-US" dirty="0" err="1"/>
              <a:t>Hypercholesterolaemia</a:t>
            </a:r>
            <a:r>
              <a:rPr lang="en-US" dirty="0"/>
              <a:t>, hypertension, hypothyroidism, osteoporosis, polymyalgia rheumatica.</a:t>
            </a:r>
            <a:r>
              <a:rPr lang="en-US" b="1" dirty="0"/>
              <a:t> DH. </a:t>
            </a:r>
            <a:r>
              <a:rPr lang="en-US" dirty="0"/>
              <a:t>Her current regular medications are listed (right).</a:t>
            </a:r>
          </a:p>
        </p:txBody>
      </p:sp>
      <p:sp>
        <p:nvSpPr>
          <p:cNvPr id="17" name="TextBox 16">
            <a:extLst>
              <a:ext uri="{FF2B5EF4-FFF2-40B4-BE49-F238E27FC236}">
                <a16:creationId xmlns:a16="http://schemas.microsoft.com/office/drawing/2014/main" id="{D42D87F0-5D3B-A548-970F-2924CBED2CBD}"/>
              </a:ext>
            </a:extLst>
          </p:cNvPr>
          <p:cNvSpPr txBox="1"/>
          <p:nvPr/>
        </p:nvSpPr>
        <p:spPr>
          <a:xfrm>
            <a:off x="185738" y="5948964"/>
            <a:ext cx="2305214" cy="830997"/>
          </a:xfrm>
          <a:prstGeom prst="rect">
            <a:avLst/>
          </a:prstGeom>
          <a:noFill/>
        </p:spPr>
        <p:txBody>
          <a:bodyPr wrap="square" rtlCol="0">
            <a:spAutoFit/>
          </a:bodyPr>
          <a:lstStyle/>
          <a:p>
            <a:r>
              <a:rPr lang="en-US" sz="4800" dirty="0"/>
              <a:t>REV A1</a:t>
            </a:r>
          </a:p>
        </p:txBody>
      </p:sp>
    </p:spTree>
    <p:extLst>
      <p:ext uri="{BB962C8B-B14F-4D97-AF65-F5344CB8AC3E}">
        <p14:creationId xmlns:p14="http://schemas.microsoft.com/office/powerpoint/2010/main" val="341613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12" name="TextBox 11">
            <a:extLst>
              <a:ext uri="{FF2B5EF4-FFF2-40B4-BE49-F238E27FC236}">
                <a16:creationId xmlns:a16="http://schemas.microsoft.com/office/drawing/2014/main" id="{12C7C71F-CADF-3741-AB2E-783D92B908BD}"/>
              </a:ext>
            </a:extLst>
          </p:cNvPr>
          <p:cNvSpPr txBox="1"/>
          <p:nvPr/>
        </p:nvSpPr>
        <p:spPr>
          <a:xfrm>
            <a:off x="185738" y="3404563"/>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TWO medications that are </a:t>
            </a:r>
            <a:r>
              <a:rPr lang="en-US" i="1" dirty="0"/>
              <a:t>most likely </a:t>
            </a:r>
            <a:r>
              <a:rPr lang="en-US" dirty="0"/>
              <a:t>to have increased her risk of falls.</a:t>
            </a:r>
          </a:p>
          <a:p>
            <a:r>
              <a:rPr lang="en-US" i="1" dirty="0"/>
              <a:t>(mark them with a tick in column A)</a:t>
            </a:r>
          </a:p>
        </p:txBody>
      </p:sp>
      <p:sp>
        <p:nvSpPr>
          <p:cNvPr id="17" name="TextBox 16">
            <a:extLst>
              <a:ext uri="{FF2B5EF4-FFF2-40B4-BE49-F238E27FC236}">
                <a16:creationId xmlns:a16="http://schemas.microsoft.com/office/drawing/2014/main" id="{458747EB-71FB-2F49-B7F7-0CF4A0E76A7D}"/>
              </a:ext>
            </a:extLst>
          </p:cNvPr>
          <p:cNvSpPr txBox="1"/>
          <p:nvPr/>
        </p:nvSpPr>
        <p:spPr>
          <a:xfrm>
            <a:off x="185736" y="4790203"/>
            <a:ext cx="5815012" cy="1200329"/>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TWO medications that are </a:t>
            </a:r>
            <a:r>
              <a:rPr lang="en-US" i="1" dirty="0"/>
              <a:t>most likely </a:t>
            </a:r>
            <a:r>
              <a:rPr lang="en-US" dirty="0"/>
              <a:t>to have increased her risk of a fracture. </a:t>
            </a:r>
          </a:p>
          <a:p>
            <a:r>
              <a:rPr lang="en-US" i="1" dirty="0"/>
              <a:t>(mark them with a tick in column B)</a:t>
            </a:r>
          </a:p>
        </p:txBody>
      </p:sp>
      <p:sp>
        <p:nvSpPr>
          <p:cNvPr id="13" name="TextBox 12">
            <a:extLst>
              <a:ext uri="{FF2B5EF4-FFF2-40B4-BE49-F238E27FC236}">
                <a16:creationId xmlns:a16="http://schemas.microsoft.com/office/drawing/2014/main" id="{1B503952-63F8-E642-B40C-325DF32333AC}"/>
              </a:ext>
            </a:extLst>
          </p:cNvPr>
          <p:cNvSpPr txBox="1"/>
          <p:nvPr/>
        </p:nvSpPr>
        <p:spPr>
          <a:xfrm>
            <a:off x="185738"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84-year-old woman is on a medical ward following a fall causing a shoulder fracture. Weight 76kg. </a:t>
            </a:r>
            <a:r>
              <a:rPr lang="en-US" b="1" dirty="0"/>
              <a:t>PMH. </a:t>
            </a:r>
            <a:r>
              <a:rPr lang="en-US" dirty="0"/>
              <a:t>Hypertension, neuropathic pain, rheumatoid arthritis, T2DM.</a:t>
            </a:r>
            <a:r>
              <a:rPr lang="en-US" b="1" dirty="0"/>
              <a:t> DH. </a:t>
            </a:r>
            <a:r>
              <a:rPr lang="en-US" dirty="0"/>
              <a:t>Her current regular medications are listed (right).</a:t>
            </a:r>
          </a:p>
          <a:p>
            <a:r>
              <a:rPr lang="en-US" b="1" dirty="0"/>
              <a:t>Investigations</a:t>
            </a:r>
          </a:p>
          <a:p>
            <a:r>
              <a:rPr lang="en-US" dirty="0"/>
              <a:t>Capillary glucose 6.1. XR shoulder – fractured humeral head</a:t>
            </a:r>
          </a:p>
        </p:txBody>
      </p:sp>
      <p:sp>
        <p:nvSpPr>
          <p:cNvPr id="15" name="TextBox 14">
            <a:extLst>
              <a:ext uri="{FF2B5EF4-FFF2-40B4-BE49-F238E27FC236}">
                <a16:creationId xmlns:a16="http://schemas.microsoft.com/office/drawing/2014/main" id="{5F45EE7B-C84F-2B45-8664-0BEF4A455C42}"/>
              </a:ext>
            </a:extLst>
          </p:cNvPr>
          <p:cNvSpPr txBox="1"/>
          <p:nvPr/>
        </p:nvSpPr>
        <p:spPr>
          <a:xfrm>
            <a:off x="185738" y="5948964"/>
            <a:ext cx="2305214" cy="830997"/>
          </a:xfrm>
          <a:prstGeom prst="rect">
            <a:avLst/>
          </a:prstGeom>
          <a:noFill/>
        </p:spPr>
        <p:txBody>
          <a:bodyPr wrap="square" rtlCol="0">
            <a:spAutoFit/>
          </a:bodyPr>
          <a:lstStyle/>
          <a:p>
            <a:r>
              <a:rPr lang="en-US" sz="4800" dirty="0"/>
              <a:t>REV Q2</a:t>
            </a:r>
          </a:p>
        </p:txBody>
      </p:sp>
      <p:sp>
        <p:nvSpPr>
          <p:cNvPr id="16" name="TextBox 15">
            <a:extLst>
              <a:ext uri="{FF2B5EF4-FFF2-40B4-BE49-F238E27FC236}">
                <a16:creationId xmlns:a16="http://schemas.microsoft.com/office/drawing/2014/main" id="{FAB4DC73-B400-304B-82C0-05279C65DCDD}"/>
              </a:ext>
            </a:extLst>
          </p:cNvPr>
          <p:cNvSpPr txBox="1"/>
          <p:nvPr/>
        </p:nvSpPr>
        <p:spPr>
          <a:xfrm>
            <a:off x="6191252" y="899730"/>
            <a:ext cx="5815012" cy="3046988"/>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600" b="1" dirty="0"/>
          </a:p>
          <a:p>
            <a:endParaRPr lang="en-US" sz="600" b="1" dirty="0"/>
          </a:p>
        </p:txBody>
      </p:sp>
      <p:graphicFrame>
        <p:nvGraphicFramePr>
          <p:cNvPr id="18" name="Table 14">
            <a:extLst>
              <a:ext uri="{FF2B5EF4-FFF2-40B4-BE49-F238E27FC236}">
                <a16:creationId xmlns:a16="http://schemas.microsoft.com/office/drawing/2014/main" id="{119DAD15-7C62-9B42-8A44-D24F0673B3A8}"/>
              </a:ext>
            </a:extLst>
          </p:cNvPr>
          <p:cNvGraphicFramePr>
            <a:graphicFrameLocks noGrp="1"/>
          </p:cNvGraphicFramePr>
          <p:nvPr>
            <p:extLst>
              <p:ext uri="{D42A27DB-BD31-4B8C-83A1-F6EECF244321}">
                <p14:modId xmlns:p14="http://schemas.microsoft.com/office/powerpoint/2010/main" val="1069830201"/>
              </p:ext>
            </p:extLst>
          </p:nvPr>
        </p:nvGraphicFramePr>
        <p:xfrm>
          <a:off x="6304756" y="1276008"/>
          <a:ext cx="5588003" cy="25958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amitriptyline </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75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nightly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a:t>metformin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omeprazole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prednisolone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ramipril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2.5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412185"/>
                  </a:ext>
                </a:extLst>
              </a:tr>
              <a:tr h="370840">
                <a:tc>
                  <a:txBody>
                    <a:bodyPr/>
                    <a:lstStyle/>
                    <a:p>
                      <a:r>
                        <a:rPr lang="en-US" sz="1400" dirty="0"/>
                        <a:t>gliclazide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6314673"/>
                  </a:ext>
                </a:extLst>
              </a:tr>
            </a:tbl>
          </a:graphicData>
        </a:graphic>
      </p:graphicFrame>
    </p:spTree>
    <p:extLst>
      <p:ext uri="{BB962C8B-B14F-4D97-AF65-F5344CB8AC3E}">
        <p14:creationId xmlns:p14="http://schemas.microsoft.com/office/powerpoint/2010/main" val="266489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9" name="TextBox 8">
            <a:extLst>
              <a:ext uri="{FF2B5EF4-FFF2-40B4-BE49-F238E27FC236}">
                <a16:creationId xmlns:a16="http://schemas.microsoft.com/office/drawing/2014/main" id="{4F8078D2-1CF8-F345-956E-2F94E8640E00}"/>
              </a:ext>
            </a:extLst>
          </p:cNvPr>
          <p:cNvSpPr txBox="1"/>
          <p:nvPr/>
        </p:nvSpPr>
        <p:spPr>
          <a:xfrm>
            <a:off x="6191252" y="899730"/>
            <a:ext cx="5815012" cy="3046988"/>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600" b="1" dirty="0"/>
          </a:p>
          <a:p>
            <a:endParaRPr lang="en-US" sz="600" b="1" dirty="0"/>
          </a:p>
        </p:txBody>
      </p:sp>
      <p:sp>
        <p:nvSpPr>
          <p:cNvPr id="12" name="TextBox 11">
            <a:extLst>
              <a:ext uri="{FF2B5EF4-FFF2-40B4-BE49-F238E27FC236}">
                <a16:creationId xmlns:a16="http://schemas.microsoft.com/office/drawing/2014/main" id="{12C7C71F-CADF-3741-AB2E-783D92B908BD}"/>
              </a:ext>
            </a:extLst>
          </p:cNvPr>
          <p:cNvSpPr txBox="1"/>
          <p:nvPr/>
        </p:nvSpPr>
        <p:spPr>
          <a:xfrm>
            <a:off x="185738" y="3404563"/>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TWO medications that are </a:t>
            </a:r>
            <a:r>
              <a:rPr lang="en-US" i="1" dirty="0"/>
              <a:t>most likely </a:t>
            </a:r>
            <a:r>
              <a:rPr lang="en-US" dirty="0"/>
              <a:t>to have increased her risk of falls.</a:t>
            </a:r>
          </a:p>
          <a:p>
            <a:r>
              <a:rPr lang="en-US" i="1" dirty="0"/>
              <a:t>(mark them with a tick in column A)</a:t>
            </a:r>
          </a:p>
        </p:txBody>
      </p:sp>
      <p:graphicFrame>
        <p:nvGraphicFramePr>
          <p:cNvPr id="14" name="Table 14">
            <a:extLst>
              <a:ext uri="{FF2B5EF4-FFF2-40B4-BE49-F238E27FC236}">
                <a16:creationId xmlns:a16="http://schemas.microsoft.com/office/drawing/2014/main" id="{169A0356-5929-E14F-8BA0-171233C60AB1}"/>
              </a:ext>
            </a:extLst>
          </p:cNvPr>
          <p:cNvGraphicFramePr>
            <a:graphicFrameLocks noGrp="1"/>
          </p:cNvGraphicFramePr>
          <p:nvPr>
            <p:extLst>
              <p:ext uri="{D42A27DB-BD31-4B8C-83A1-F6EECF244321}">
                <p14:modId xmlns:p14="http://schemas.microsoft.com/office/powerpoint/2010/main" val="1001804140"/>
              </p:ext>
            </p:extLst>
          </p:nvPr>
        </p:nvGraphicFramePr>
        <p:xfrm>
          <a:off x="6304756" y="1276008"/>
          <a:ext cx="5588003" cy="25958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amitriptyline </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75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nightly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a:t>metformin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omeprazole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prednisolone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ramipril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2.5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412185"/>
                  </a:ext>
                </a:extLst>
              </a:tr>
              <a:tr h="370840">
                <a:tc>
                  <a:txBody>
                    <a:bodyPr/>
                    <a:lstStyle/>
                    <a:p>
                      <a:r>
                        <a:rPr lang="en-US" sz="1400" dirty="0"/>
                        <a:t>gliclazide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40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6314673"/>
                  </a:ext>
                </a:extLst>
              </a:tr>
            </a:tbl>
          </a:graphicData>
        </a:graphic>
      </p:graphicFrame>
      <p:sp>
        <p:nvSpPr>
          <p:cNvPr id="17" name="TextBox 16">
            <a:extLst>
              <a:ext uri="{FF2B5EF4-FFF2-40B4-BE49-F238E27FC236}">
                <a16:creationId xmlns:a16="http://schemas.microsoft.com/office/drawing/2014/main" id="{458747EB-71FB-2F49-B7F7-0CF4A0E76A7D}"/>
              </a:ext>
            </a:extLst>
          </p:cNvPr>
          <p:cNvSpPr txBox="1"/>
          <p:nvPr/>
        </p:nvSpPr>
        <p:spPr>
          <a:xfrm>
            <a:off x="185736" y="4790203"/>
            <a:ext cx="5815012" cy="1200329"/>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TWO medications that are </a:t>
            </a:r>
            <a:r>
              <a:rPr lang="en-US" i="1" dirty="0"/>
              <a:t>most likely </a:t>
            </a:r>
            <a:r>
              <a:rPr lang="en-US" dirty="0"/>
              <a:t>to have increased her risk of a fracture. </a:t>
            </a:r>
          </a:p>
          <a:p>
            <a:r>
              <a:rPr lang="en-US" i="1" dirty="0"/>
              <a:t>(mark them with a tick in column B)</a:t>
            </a:r>
          </a:p>
        </p:txBody>
      </p:sp>
      <p:sp>
        <p:nvSpPr>
          <p:cNvPr id="13" name="TextBox 12">
            <a:extLst>
              <a:ext uri="{FF2B5EF4-FFF2-40B4-BE49-F238E27FC236}">
                <a16:creationId xmlns:a16="http://schemas.microsoft.com/office/drawing/2014/main" id="{1B503952-63F8-E642-B40C-325DF32333AC}"/>
              </a:ext>
            </a:extLst>
          </p:cNvPr>
          <p:cNvSpPr txBox="1"/>
          <p:nvPr/>
        </p:nvSpPr>
        <p:spPr>
          <a:xfrm>
            <a:off x="185738"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84-year-old woman is on a medical ward when she falls in her bay sustaining a shoulder fracture. Weight 76kg. </a:t>
            </a:r>
            <a:r>
              <a:rPr lang="en-US" b="1" dirty="0"/>
              <a:t>PMH. </a:t>
            </a:r>
            <a:r>
              <a:rPr lang="en-US" dirty="0"/>
              <a:t>Hypertension, neuropathic pain, rheumatoid arthritis, T2DM.</a:t>
            </a:r>
            <a:r>
              <a:rPr lang="en-US" b="1" dirty="0"/>
              <a:t> DH. </a:t>
            </a:r>
            <a:r>
              <a:rPr lang="en-US" dirty="0"/>
              <a:t>Her current regular medications are listed (right).</a:t>
            </a:r>
          </a:p>
          <a:p>
            <a:r>
              <a:rPr lang="en-US" b="1" dirty="0"/>
              <a:t>Investigations</a:t>
            </a:r>
          </a:p>
          <a:p>
            <a:r>
              <a:rPr lang="en-US" dirty="0"/>
              <a:t>Capillary glucose 6.1. XR shoulder – L proximal humerus #</a:t>
            </a:r>
          </a:p>
        </p:txBody>
      </p:sp>
      <p:sp>
        <p:nvSpPr>
          <p:cNvPr id="15" name="TextBox 14">
            <a:extLst>
              <a:ext uri="{FF2B5EF4-FFF2-40B4-BE49-F238E27FC236}">
                <a16:creationId xmlns:a16="http://schemas.microsoft.com/office/drawing/2014/main" id="{1DE99756-B736-764F-8747-EAB6EE12F829}"/>
              </a:ext>
            </a:extLst>
          </p:cNvPr>
          <p:cNvSpPr txBox="1"/>
          <p:nvPr/>
        </p:nvSpPr>
        <p:spPr>
          <a:xfrm>
            <a:off x="6191252" y="4133082"/>
            <a:ext cx="5815012"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Amitriptyline, particularly at higher doses, can increase risk of anticholinergic syndrome, drowsiness, postural hypotension contributing to falls</a:t>
            </a:r>
          </a:p>
          <a:p>
            <a:pPr marL="285750" indent="-285750">
              <a:buFont typeface="Arial" panose="020B0604020202020204" pitchFamily="34" charset="0"/>
              <a:buChar char="•"/>
            </a:pPr>
            <a:r>
              <a:rPr lang="en-US" sz="1400" dirty="0">
                <a:solidFill>
                  <a:srgbClr val="FF0000"/>
                </a:solidFill>
              </a:rPr>
              <a:t>Ramipril commonly causes dizziness, drowsiness and hypotension</a:t>
            </a:r>
          </a:p>
          <a:p>
            <a:pPr marL="285750" indent="-285750">
              <a:buFont typeface="Arial" panose="020B0604020202020204" pitchFamily="34" charset="0"/>
              <a:buChar char="•"/>
            </a:pPr>
            <a:r>
              <a:rPr lang="en-US" sz="1400" dirty="0">
                <a:solidFill>
                  <a:srgbClr val="FF0000"/>
                </a:solidFill>
              </a:rPr>
              <a:t>All PPIs increase fracture risk; this is a classic PSA question!</a:t>
            </a:r>
          </a:p>
          <a:p>
            <a:pPr marL="285750" indent="-285750">
              <a:buFont typeface="Arial" panose="020B0604020202020204" pitchFamily="34" charset="0"/>
              <a:buChar char="•"/>
            </a:pPr>
            <a:r>
              <a:rPr lang="en-US" sz="1400" dirty="0">
                <a:solidFill>
                  <a:srgbClr val="FF0000"/>
                </a:solidFill>
              </a:rPr>
              <a:t>All steroids increase fracture risk; only PO steroids though and not inhalers</a:t>
            </a:r>
          </a:p>
          <a:p>
            <a:pPr marL="285750" indent="-285750">
              <a:buFont typeface="Arial" panose="020B0604020202020204" pitchFamily="34" charset="0"/>
              <a:buChar char="•"/>
            </a:pPr>
            <a:r>
              <a:rPr lang="en-US" sz="1400" dirty="0">
                <a:solidFill>
                  <a:srgbClr val="FF0000"/>
                </a:solidFill>
              </a:rPr>
              <a:t>(Sulfonylureas do cause hypoglycemia but note the normal BM)</a:t>
            </a:r>
          </a:p>
        </p:txBody>
      </p:sp>
      <p:sp>
        <p:nvSpPr>
          <p:cNvPr id="16" name="TextBox 15">
            <a:extLst>
              <a:ext uri="{FF2B5EF4-FFF2-40B4-BE49-F238E27FC236}">
                <a16:creationId xmlns:a16="http://schemas.microsoft.com/office/drawing/2014/main" id="{F1EA833C-2528-A14E-B770-4F83C7F7F76D}"/>
              </a:ext>
            </a:extLst>
          </p:cNvPr>
          <p:cNvSpPr txBox="1"/>
          <p:nvPr/>
        </p:nvSpPr>
        <p:spPr>
          <a:xfrm>
            <a:off x="185738" y="5948964"/>
            <a:ext cx="2305214" cy="830997"/>
          </a:xfrm>
          <a:prstGeom prst="rect">
            <a:avLst/>
          </a:prstGeom>
          <a:noFill/>
        </p:spPr>
        <p:txBody>
          <a:bodyPr wrap="square" rtlCol="0">
            <a:spAutoFit/>
          </a:bodyPr>
          <a:lstStyle/>
          <a:p>
            <a:r>
              <a:rPr lang="en-US" sz="4800" dirty="0"/>
              <a:t>REV A2</a:t>
            </a:r>
          </a:p>
        </p:txBody>
      </p:sp>
    </p:spTree>
    <p:extLst>
      <p:ext uri="{BB962C8B-B14F-4D97-AF65-F5344CB8AC3E}">
        <p14:creationId xmlns:p14="http://schemas.microsoft.com/office/powerpoint/2010/main" val="4118990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67A0F65-BE09-F54E-AE15-8C44125BBBE6}"/>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567917" y="268287"/>
            <a:ext cx="4756684" cy="6321425"/>
          </a:xfrm>
          <a:prstGeom prst="rect">
            <a:avLst/>
          </a:prstGeom>
        </p:spPr>
      </p:pic>
      <p:sp>
        <p:nvSpPr>
          <p:cNvPr id="5" name="TextBox 4">
            <a:extLst>
              <a:ext uri="{FF2B5EF4-FFF2-40B4-BE49-F238E27FC236}">
                <a16:creationId xmlns:a16="http://schemas.microsoft.com/office/drawing/2014/main" id="{593AD41B-AFC7-314C-A4E5-78D7A69339B1}"/>
              </a:ext>
            </a:extLst>
          </p:cNvPr>
          <p:cNvSpPr txBox="1"/>
          <p:nvPr/>
        </p:nvSpPr>
        <p:spPr>
          <a:xfrm>
            <a:off x="6652159" y="612843"/>
            <a:ext cx="4463516" cy="5632311"/>
          </a:xfrm>
          <a:prstGeom prst="rect">
            <a:avLst/>
          </a:prstGeom>
          <a:noFill/>
        </p:spPr>
        <p:txBody>
          <a:bodyPr wrap="square" rtlCol="0">
            <a:spAutoFit/>
          </a:bodyPr>
          <a:lstStyle/>
          <a:p>
            <a:r>
              <a:rPr lang="en-US" sz="2400" dirty="0"/>
              <a:t>True scenario seen I saw on the ward when working as an F1. Here is the XR shoulder. The patient wasn’t supervised in the bay and got up and fell. Happened when I was at lunch and when I returned, I spoke to her and examined her shoulder. No bruising or deformity, no obvious abnormalities on palpation, patient still able to move arm but in pain. I went ahead and ordered an XR to be safe and she had an obvious proximal humerus fracture.</a:t>
            </a:r>
          </a:p>
        </p:txBody>
      </p:sp>
    </p:spTree>
    <p:extLst>
      <p:ext uri="{BB962C8B-B14F-4D97-AF65-F5344CB8AC3E}">
        <p14:creationId xmlns:p14="http://schemas.microsoft.com/office/powerpoint/2010/main" val="460186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8AC08E5B-A93F-7148-B566-C16BE3935594}"/>
              </a:ext>
            </a:extLst>
          </p:cNvPr>
          <p:cNvGraphicFramePr>
            <a:graphicFrameLocks noGrp="1"/>
          </p:cNvGraphicFramePr>
          <p:nvPr>
            <p:extLst>
              <p:ext uri="{D42A27DB-BD31-4B8C-83A1-F6EECF244321}">
                <p14:modId xmlns:p14="http://schemas.microsoft.com/office/powerpoint/2010/main" val="489115317"/>
              </p:ext>
            </p:extLst>
          </p:nvPr>
        </p:nvGraphicFramePr>
        <p:xfrm>
          <a:off x="2032000" y="2100580"/>
          <a:ext cx="8128000" cy="2656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4036647945"/>
                    </a:ext>
                  </a:extLst>
                </a:gridCol>
                <a:gridCol w="4064000">
                  <a:extLst>
                    <a:ext uri="{9D8B030D-6E8A-4147-A177-3AD203B41FA5}">
                      <a16:colId xmlns:a16="http://schemas.microsoft.com/office/drawing/2014/main" val="1229111741"/>
                    </a:ext>
                  </a:extLst>
                </a:gridCol>
              </a:tblGrid>
              <a:tr h="370840">
                <a:tc>
                  <a:txBody>
                    <a:bodyPr/>
                    <a:lstStyle/>
                    <a:p>
                      <a:r>
                        <a:rPr lang="en-US" dirty="0"/>
                        <a:t>Drugs which increase risk of falls</a:t>
                      </a:r>
                    </a:p>
                  </a:txBody>
                  <a:tcPr/>
                </a:tc>
                <a:tc>
                  <a:txBody>
                    <a:bodyPr/>
                    <a:lstStyle/>
                    <a:p>
                      <a:r>
                        <a:rPr lang="en-US" dirty="0"/>
                        <a:t>Drugs which increase risk of fractures</a:t>
                      </a:r>
                    </a:p>
                  </a:txBody>
                  <a:tcPr/>
                </a:tc>
                <a:extLst>
                  <a:ext uri="{0D108BD9-81ED-4DB2-BD59-A6C34878D82A}">
                    <a16:rowId xmlns:a16="http://schemas.microsoft.com/office/drawing/2014/main" val="1481971587"/>
                  </a:ext>
                </a:extLst>
              </a:tr>
              <a:tr h="370840">
                <a:tc>
                  <a:txBody>
                    <a:bodyPr/>
                    <a:lstStyle/>
                    <a:p>
                      <a:r>
                        <a:rPr lang="en-US" dirty="0"/>
                        <a:t>Benzodiazepines</a:t>
                      </a:r>
                    </a:p>
                    <a:p>
                      <a:r>
                        <a:rPr lang="en-US" dirty="0"/>
                        <a:t>Antidepressants (particularly TCAs and SNRIs)</a:t>
                      </a:r>
                    </a:p>
                    <a:p>
                      <a:r>
                        <a:rPr lang="en-US" dirty="0"/>
                        <a:t>Monoamine oxidase inhibitors</a:t>
                      </a:r>
                    </a:p>
                    <a:p>
                      <a:r>
                        <a:rPr lang="en-US" dirty="0"/>
                        <a:t>Most antipsychotics</a:t>
                      </a:r>
                    </a:p>
                    <a:p>
                      <a:r>
                        <a:rPr lang="en-US" dirty="0"/>
                        <a:t>Opiates</a:t>
                      </a:r>
                    </a:p>
                    <a:p>
                      <a:r>
                        <a:rPr lang="en-US" dirty="0"/>
                        <a:t>Most antihypertensives (particularly diuretics and alpha-blockers)</a:t>
                      </a:r>
                    </a:p>
                  </a:txBody>
                  <a:tcPr/>
                </a:tc>
                <a:tc>
                  <a:txBody>
                    <a:bodyPr/>
                    <a:lstStyle/>
                    <a:p>
                      <a:r>
                        <a:rPr lang="en-US" dirty="0"/>
                        <a:t>PPIs</a:t>
                      </a:r>
                    </a:p>
                    <a:p>
                      <a:r>
                        <a:rPr lang="en-US" dirty="0"/>
                        <a:t>Steroids</a:t>
                      </a:r>
                    </a:p>
                    <a:p>
                      <a:r>
                        <a:rPr lang="en-US" dirty="0"/>
                        <a:t>GnRH agonists (</a:t>
                      </a:r>
                      <a:r>
                        <a:rPr lang="en-US" dirty="0" err="1"/>
                        <a:t>buserelin</a:t>
                      </a:r>
                      <a:r>
                        <a:rPr lang="en-US" dirty="0"/>
                        <a:t>, </a:t>
                      </a:r>
                      <a:r>
                        <a:rPr lang="en-US" dirty="0" err="1"/>
                        <a:t>goserelin</a:t>
                      </a:r>
                      <a:r>
                        <a:rPr lang="en-US" dirty="0"/>
                        <a:t> </a:t>
                      </a:r>
                      <a:r>
                        <a:rPr lang="en-US" dirty="0" err="1"/>
                        <a:t>etc</a:t>
                      </a:r>
                      <a:r>
                        <a:rPr lang="en-US" dirty="0"/>
                        <a:t>)</a:t>
                      </a:r>
                    </a:p>
                  </a:txBody>
                  <a:tcPr/>
                </a:tc>
                <a:extLst>
                  <a:ext uri="{0D108BD9-81ED-4DB2-BD59-A6C34878D82A}">
                    <a16:rowId xmlns:a16="http://schemas.microsoft.com/office/drawing/2014/main" val="2822546466"/>
                  </a:ext>
                </a:extLst>
              </a:tr>
            </a:tbl>
          </a:graphicData>
        </a:graphic>
      </p:graphicFrame>
    </p:spTree>
    <p:extLst>
      <p:ext uri="{BB962C8B-B14F-4D97-AF65-F5344CB8AC3E}">
        <p14:creationId xmlns:p14="http://schemas.microsoft.com/office/powerpoint/2010/main" val="27065148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9" name="TextBox 8">
            <a:extLst>
              <a:ext uri="{FF2B5EF4-FFF2-40B4-BE49-F238E27FC236}">
                <a16:creationId xmlns:a16="http://schemas.microsoft.com/office/drawing/2014/main" id="{4F8078D2-1CF8-F345-956E-2F94E8640E00}"/>
              </a:ext>
            </a:extLst>
          </p:cNvPr>
          <p:cNvSpPr txBox="1"/>
          <p:nvPr/>
        </p:nvSpPr>
        <p:spPr>
          <a:xfrm>
            <a:off x="6191252" y="899730"/>
            <a:ext cx="5815012" cy="4062651"/>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600" b="1" dirty="0"/>
          </a:p>
        </p:txBody>
      </p:sp>
      <p:sp>
        <p:nvSpPr>
          <p:cNvPr id="12" name="TextBox 11">
            <a:extLst>
              <a:ext uri="{FF2B5EF4-FFF2-40B4-BE49-F238E27FC236}">
                <a16:creationId xmlns:a16="http://schemas.microsoft.com/office/drawing/2014/main" id="{12C7C71F-CADF-3741-AB2E-783D92B908BD}"/>
              </a:ext>
            </a:extLst>
          </p:cNvPr>
          <p:cNvSpPr txBox="1"/>
          <p:nvPr/>
        </p:nvSpPr>
        <p:spPr>
          <a:xfrm>
            <a:off x="185736" y="3406156"/>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TWO medications that are </a:t>
            </a:r>
            <a:r>
              <a:rPr lang="en-US" i="1" dirty="0"/>
              <a:t>most likely </a:t>
            </a:r>
            <a:r>
              <a:rPr lang="en-US" dirty="0"/>
              <a:t>to have increased his risk of pancreatitis.</a:t>
            </a:r>
          </a:p>
          <a:p>
            <a:r>
              <a:rPr lang="en-US" i="1" dirty="0"/>
              <a:t>(mark them with a tick in column A)</a:t>
            </a:r>
          </a:p>
        </p:txBody>
      </p:sp>
      <p:graphicFrame>
        <p:nvGraphicFramePr>
          <p:cNvPr id="14" name="Table 14">
            <a:extLst>
              <a:ext uri="{FF2B5EF4-FFF2-40B4-BE49-F238E27FC236}">
                <a16:creationId xmlns:a16="http://schemas.microsoft.com/office/drawing/2014/main" id="{169A0356-5929-E14F-8BA0-171233C60AB1}"/>
              </a:ext>
            </a:extLst>
          </p:cNvPr>
          <p:cNvGraphicFramePr>
            <a:graphicFrameLocks noGrp="1"/>
          </p:cNvGraphicFramePr>
          <p:nvPr>
            <p:extLst>
              <p:ext uri="{D42A27DB-BD31-4B8C-83A1-F6EECF244321}">
                <p14:modId xmlns:p14="http://schemas.microsoft.com/office/powerpoint/2010/main" val="2212871899"/>
              </p:ext>
            </p:extLst>
          </p:nvPr>
        </p:nvGraphicFramePr>
        <p:xfrm>
          <a:off x="6304756" y="1276008"/>
          <a:ext cx="5588003" cy="363220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cefuroxime</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750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IV</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a:txBody>
                    <a:bodyPr/>
                    <a:lstStyle/>
                    <a:p>
                      <a:r>
                        <a:rPr lang="en-US" sz="1400" dirty="0"/>
                        <a:t>candesartan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32mg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a:t>exenatide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mcg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SC</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a:txBody>
                    <a:bodyPr/>
                    <a:lstStyle/>
                    <a:p>
                      <a:r>
                        <a:rPr lang="en-US" sz="1400" dirty="0"/>
                        <a:t>metformin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oxycodone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nystatin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100 000 units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paracetamol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412185"/>
                  </a:ext>
                </a:extLst>
              </a:tr>
              <a:tr h="370840">
                <a:tc>
                  <a:txBody>
                    <a:bodyPr/>
                    <a:lstStyle/>
                    <a:p>
                      <a:r>
                        <a:rPr lang="en-US" sz="1400" dirty="0"/>
                        <a:t>sitagliptin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6314673"/>
                  </a:ext>
                </a:extLst>
              </a:tr>
            </a:tbl>
          </a:graphicData>
        </a:graphic>
      </p:graphicFrame>
      <p:sp>
        <p:nvSpPr>
          <p:cNvPr id="17" name="TextBox 16">
            <a:extLst>
              <a:ext uri="{FF2B5EF4-FFF2-40B4-BE49-F238E27FC236}">
                <a16:creationId xmlns:a16="http://schemas.microsoft.com/office/drawing/2014/main" id="{458747EB-71FB-2F49-B7F7-0CF4A0E76A7D}"/>
              </a:ext>
            </a:extLst>
          </p:cNvPr>
          <p:cNvSpPr txBox="1"/>
          <p:nvPr/>
        </p:nvSpPr>
        <p:spPr>
          <a:xfrm>
            <a:off x="185734" y="4791796"/>
            <a:ext cx="5815012" cy="1200329"/>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TWO medications that </a:t>
            </a:r>
            <a:r>
              <a:rPr lang="en-US" i="1" dirty="0"/>
              <a:t>should consider </a:t>
            </a:r>
            <a:r>
              <a:rPr lang="en-US" dirty="0"/>
              <a:t>being stopped given her AKI.</a:t>
            </a:r>
          </a:p>
          <a:p>
            <a:r>
              <a:rPr lang="en-US" i="1" dirty="0"/>
              <a:t>(mark them with a tick in column B)</a:t>
            </a:r>
          </a:p>
        </p:txBody>
      </p:sp>
      <p:sp>
        <p:nvSpPr>
          <p:cNvPr id="16" name="TextBox 15">
            <a:extLst>
              <a:ext uri="{FF2B5EF4-FFF2-40B4-BE49-F238E27FC236}">
                <a16:creationId xmlns:a16="http://schemas.microsoft.com/office/drawing/2014/main" id="{1D5934DA-8AB7-1448-AFD6-0525B8098F75}"/>
              </a:ext>
            </a:extLst>
          </p:cNvPr>
          <p:cNvSpPr txBox="1"/>
          <p:nvPr/>
        </p:nvSpPr>
        <p:spPr>
          <a:xfrm>
            <a:off x="185738"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54-year-old woman is on a surgical ward with pancreatitis. She has developed sepsis and an associated AKI. Weight 77kg. </a:t>
            </a:r>
            <a:r>
              <a:rPr lang="en-US" b="1" dirty="0"/>
              <a:t>PMH. </a:t>
            </a:r>
            <a:r>
              <a:rPr lang="en-US" dirty="0"/>
              <a:t>T2DM.</a:t>
            </a:r>
            <a:r>
              <a:rPr lang="en-US" b="1" dirty="0"/>
              <a:t> DH. </a:t>
            </a:r>
            <a:r>
              <a:rPr lang="en-US" dirty="0"/>
              <a:t>Her current regular medications are listed (right).</a:t>
            </a:r>
          </a:p>
          <a:p>
            <a:r>
              <a:rPr lang="en-US" b="1" dirty="0"/>
              <a:t>Investigations</a:t>
            </a:r>
          </a:p>
          <a:p>
            <a:r>
              <a:rPr lang="en-US" dirty="0"/>
              <a:t>Cr 273 (60-110), eGFR 9 (&gt;60). Blood cultures – gram negative rods, cefuroxime (s). </a:t>
            </a:r>
          </a:p>
        </p:txBody>
      </p:sp>
      <p:sp>
        <p:nvSpPr>
          <p:cNvPr id="15" name="TextBox 14">
            <a:extLst>
              <a:ext uri="{FF2B5EF4-FFF2-40B4-BE49-F238E27FC236}">
                <a16:creationId xmlns:a16="http://schemas.microsoft.com/office/drawing/2014/main" id="{AE816EA2-01AF-2B4F-BC81-88B183F58B21}"/>
              </a:ext>
            </a:extLst>
          </p:cNvPr>
          <p:cNvSpPr txBox="1"/>
          <p:nvPr/>
        </p:nvSpPr>
        <p:spPr>
          <a:xfrm>
            <a:off x="185738" y="5948964"/>
            <a:ext cx="2305214" cy="830997"/>
          </a:xfrm>
          <a:prstGeom prst="rect">
            <a:avLst/>
          </a:prstGeom>
          <a:noFill/>
        </p:spPr>
        <p:txBody>
          <a:bodyPr wrap="square" rtlCol="0">
            <a:spAutoFit/>
          </a:bodyPr>
          <a:lstStyle/>
          <a:p>
            <a:r>
              <a:rPr lang="en-US" sz="4800" dirty="0"/>
              <a:t>REV Q3</a:t>
            </a:r>
          </a:p>
        </p:txBody>
      </p:sp>
    </p:spTree>
    <p:extLst>
      <p:ext uri="{BB962C8B-B14F-4D97-AF65-F5344CB8AC3E}">
        <p14:creationId xmlns:p14="http://schemas.microsoft.com/office/powerpoint/2010/main" val="847403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9" name="TextBox 8">
            <a:extLst>
              <a:ext uri="{FF2B5EF4-FFF2-40B4-BE49-F238E27FC236}">
                <a16:creationId xmlns:a16="http://schemas.microsoft.com/office/drawing/2014/main" id="{4F8078D2-1CF8-F345-956E-2F94E8640E00}"/>
              </a:ext>
            </a:extLst>
          </p:cNvPr>
          <p:cNvSpPr txBox="1"/>
          <p:nvPr/>
        </p:nvSpPr>
        <p:spPr>
          <a:xfrm>
            <a:off x="6191252" y="899730"/>
            <a:ext cx="5815012" cy="4062651"/>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600" b="1" dirty="0"/>
          </a:p>
        </p:txBody>
      </p:sp>
      <p:sp>
        <p:nvSpPr>
          <p:cNvPr id="12" name="TextBox 11">
            <a:extLst>
              <a:ext uri="{FF2B5EF4-FFF2-40B4-BE49-F238E27FC236}">
                <a16:creationId xmlns:a16="http://schemas.microsoft.com/office/drawing/2014/main" id="{12C7C71F-CADF-3741-AB2E-783D92B908BD}"/>
              </a:ext>
            </a:extLst>
          </p:cNvPr>
          <p:cNvSpPr txBox="1"/>
          <p:nvPr/>
        </p:nvSpPr>
        <p:spPr>
          <a:xfrm>
            <a:off x="185736" y="3406156"/>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TWO medications that are </a:t>
            </a:r>
            <a:r>
              <a:rPr lang="en-US" i="1" dirty="0"/>
              <a:t>most likely </a:t>
            </a:r>
            <a:r>
              <a:rPr lang="en-US" dirty="0"/>
              <a:t>to have increased his risk of pancreatitis.</a:t>
            </a:r>
          </a:p>
          <a:p>
            <a:r>
              <a:rPr lang="en-US" i="1" dirty="0"/>
              <a:t>(mark them with a tick in column A)</a:t>
            </a:r>
          </a:p>
        </p:txBody>
      </p:sp>
      <p:graphicFrame>
        <p:nvGraphicFramePr>
          <p:cNvPr id="14" name="Table 14">
            <a:extLst>
              <a:ext uri="{FF2B5EF4-FFF2-40B4-BE49-F238E27FC236}">
                <a16:creationId xmlns:a16="http://schemas.microsoft.com/office/drawing/2014/main" id="{169A0356-5929-E14F-8BA0-171233C60AB1}"/>
              </a:ext>
            </a:extLst>
          </p:cNvPr>
          <p:cNvGraphicFramePr>
            <a:graphicFrameLocks noGrp="1"/>
          </p:cNvGraphicFramePr>
          <p:nvPr>
            <p:extLst>
              <p:ext uri="{D42A27DB-BD31-4B8C-83A1-F6EECF244321}">
                <p14:modId xmlns:p14="http://schemas.microsoft.com/office/powerpoint/2010/main" val="2689727616"/>
              </p:ext>
            </p:extLst>
          </p:nvPr>
        </p:nvGraphicFramePr>
        <p:xfrm>
          <a:off x="6304756" y="1276008"/>
          <a:ext cx="5588003" cy="363220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cefuroxime</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750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IV</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daily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a:txBody>
                    <a:bodyPr/>
                    <a:lstStyle/>
                    <a:p>
                      <a:r>
                        <a:rPr lang="en-US" sz="1400" dirty="0"/>
                        <a:t>candesartan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32mg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a:t>exenatide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mcg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SC</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a:txBody>
                    <a:bodyPr/>
                    <a:lstStyle/>
                    <a:p>
                      <a:r>
                        <a:rPr lang="en-US" sz="1400" dirty="0"/>
                        <a:t>metformin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oxycodone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nystatin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100 000 units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paracetamol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5412185"/>
                  </a:ext>
                </a:extLst>
              </a:tr>
              <a:tr h="370840">
                <a:tc>
                  <a:txBody>
                    <a:bodyPr/>
                    <a:lstStyle/>
                    <a:p>
                      <a:r>
                        <a:rPr lang="en-US" sz="1400" dirty="0"/>
                        <a:t>sitagliptin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6314673"/>
                  </a:ext>
                </a:extLst>
              </a:tr>
            </a:tbl>
          </a:graphicData>
        </a:graphic>
      </p:graphicFrame>
      <p:sp>
        <p:nvSpPr>
          <p:cNvPr id="17" name="TextBox 16">
            <a:extLst>
              <a:ext uri="{FF2B5EF4-FFF2-40B4-BE49-F238E27FC236}">
                <a16:creationId xmlns:a16="http://schemas.microsoft.com/office/drawing/2014/main" id="{458747EB-71FB-2F49-B7F7-0CF4A0E76A7D}"/>
              </a:ext>
            </a:extLst>
          </p:cNvPr>
          <p:cNvSpPr txBox="1"/>
          <p:nvPr/>
        </p:nvSpPr>
        <p:spPr>
          <a:xfrm>
            <a:off x="185734" y="4791796"/>
            <a:ext cx="5815012" cy="1200329"/>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TWO medications that </a:t>
            </a:r>
            <a:r>
              <a:rPr lang="en-US" i="1" dirty="0"/>
              <a:t>should consider </a:t>
            </a:r>
            <a:r>
              <a:rPr lang="en-US" dirty="0"/>
              <a:t>being stopped given her AKI.</a:t>
            </a:r>
          </a:p>
          <a:p>
            <a:r>
              <a:rPr lang="en-US" i="1" dirty="0"/>
              <a:t>(mark them with a tick in column B)</a:t>
            </a:r>
          </a:p>
        </p:txBody>
      </p:sp>
      <p:sp>
        <p:nvSpPr>
          <p:cNvPr id="13" name="TextBox 12">
            <a:extLst>
              <a:ext uri="{FF2B5EF4-FFF2-40B4-BE49-F238E27FC236}">
                <a16:creationId xmlns:a16="http://schemas.microsoft.com/office/drawing/2014/main" id="{1B503952-63F8-E642-B40C-325DF32333AC}"/>
              </a:ext>
            </a:extLst>
          </p:cNvPr>
          <p:cNvSpPr txBox="1"/>
          <p:nvPr/>
        </p:nvSpPr>
        <p:spPr>
          <a:xfrm>
            <a:off x="185738"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54-year-old woman is on a surgical ward with pancreatitis. She has developed sepsis and an associated AKI. Weight 77kg. </a:t>
            </a:r>
            <a:r>
              <a:rPr lang="en-US" b="1" dirty="0"/>
              <a:t>PMH. </a:t>
            </a:r>
            <a:r>
              <a:rPr lang="en-US" dirty="0"/>
              <a:t>T2DM.</a:t>
            </a:r>
            <a:r>
              <a:rPr lang="en-US" b="1" dirty="0"/>
              <a:t> DH. </a:t>
            </a:r>
            <a:r>
              <a:rPr lang="en-US" dirty="0"/>
              <a:t>Her current regular medications are listed (right).</a:t>
            </a:r>
          </a:p>
          <a:p>
            <a:r>
              <a:rPr lang="en-US" b="1" dirty="0"/>
              <a:t>Investigations</a:t>
            </a:r>
          </a:p>
          <a:p>
            <a:r>
              <a:rPr lang="en-US" dirty="0"/>
              <a:t>Cr 273 (60-110), eGFR 9 (&gt;60). Blood cultures – gram negative rods, cefuroxime (s). </a:t>
            </a:r>
          </a:p>
        </p:txBody>
      </p:sp>
      <p:sp>
        <p:nvSpPr>
          <p:cNvPr id="15" name="TextBox 14">
            <a:extLst>
              <a:ext uri="{FF2B5EF4-FFF2-40B4-BE49-F238E27FC236}">
                <a16:creationId xmlns:a16="http://schemas.microsoft.com/office/drawing/2014/main" id="{6DD9D4B6-4432-C945-A443-3FF598DACD67}"/>
              </a:ext>
            </a:extLst>
          </p:cNvPr>
          <p:cNvSpPr txBox="1"/>
          <p:nvPr/>
        </p:nvSpPr>
        <p:spPr>
          <a:xfrm>
            <a:off x="6191252" y="5180096"/>
            <a:ext cx="5815012"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Exenatide and sitagliptin are examples from T2DM drug classes that both have a risk of pancreatitis, learn the table, will be tested in PSA and finals!</a:t>
            </a:r>
          </a:p>
          <a:p>
            <a:pPr marL="285750" indent="-285750">
              <a:buFont typeface="Arial" panose="020B0604020202020204" pitchFamily="34" charset="0"/>
              <a:buChar char="•"/>
            </a:pPr>
            <a:r>
              <a:rPr lang="en-US" sz="1400" dirty="0">
                <a:solidFill>
                  <a:srgbClr val="FF0000"/>
                </a:solidFill>
              </a:rPr>
              <a:t>Remember – ‘stop the DAMN drugs’ both ARBs and metformin in this mnemonic</a:t>
            </a:r>
          </a:p>
          <a:p>
            <a:pPr marL="285750" indent="-285750">
              <a:buFont typeface="Arial" panose="020B0604020202020204" pitchFamily="34" charset="0"/>
              <a:buChar char="•"/>
            </a:pPr>
            <a:r>
              <a:rPr lang="en-US" sz="1400" dirty="0">
                <a:solidFill>
                  <a:srgbClr val="FF0000"/>
                </a:solidFill>
              </a:rPr>
              <a:t>(Cefuroxime is also nephrotoxic and antibiotics often need to be stopped in AKI but the dose is appropriate here for her eGFR)</a:t>
            </a:r>
          </a:p>
        </p:txBody>
      </p:sp>
      <p:sp>
        <p:nvSpPr>
          <p:cNvPr id="16" name="TextBox 15">
            <a:extLst>
              <a:ext uri="{FF2B5EF4-FFF2-40B4-BE49-F238E27FC236}">
                <a16:creationId xmlns:a16="http://schemas.microsoft.com/office/drawing/2014/main" id="{49D947B6-6279-9E47-87DF-0D324E64672D}"/>
              </a:ext>
            </a:extLst>
          </p:cNvPr>
          <p:cNvSpPr txBox="1"/>
          <p:nvPr/>
        </p:nvSpPr>
        <p:spPr>
          <a:xfrm>
            <a:off x="185738" y="5948964"/>
            <a:ext cx="2305214" cy="830997"/>
          </a:xfrm>
          <a:prstGeom prst="rect">
            <a:avLst/>
          </a:prstGeom>
          <a:noFill/>
        </p:spPr>
        <p:txBody>
          <a:bodyPr wrap="square" rtlCol="0">
            <a:spAutoFit/>
          </a:bodyPr>
          <a:lstStyle/>
          <a:p>
            <a:r>
              <a:rPr lang="en-US" sz="4800" dirty="0"/>
              <a:t>REV A3</a:t>
            </a:r>
          </a:p>
        </p:txBody>
      </p:sp>
    </p:spTree>
    <p:extLst>
      <p:ext uri="{BB962C8B-B14F-4D97-AF65-F5344CB8AC3E}">
        <p14:creationId xmlns:p14="http://schemas.microsoft.com/office/powerpoint/2010/main" val="42838649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4">
            <a:extLst>
              <a:ext uri="{FF2B5EF4-FFF2-40B4-BE49-F238E27FC236}">
                <a16:creationId xmlns:a16="http://schemas.microsoft.com/office/drawing/2014/main" id="{020AD5AA-D2B2-F92F-2536-641144C3A11D}"/>
              </a:ext>
            </a:extLst>
          </p:cNvPr>
          <p:cNvGraphicFramePr>
            <a:graphicFrameLocks noGrp="1"/>
          </p:cNvGraphicFramePr>
          <p:nvPr>
            <p:ph idx="1"/>
            <p:extLst>
              <p:ext uri="{D42A27DB-BD31-4B8C-83A1-F6EECF244321}">
                <p14:modId xmlns:p14="http://schemas.microsoft.com/office/powerpoint/2010/main" val="3500637733"/>
              </p:ext>
            </p:extLst>
          </p:nvPr>
        </p:nvGraphicFramePr>
        <p:xfrm>
          <a:off x="838200" y="1430020"/>
          <a:ext cx="10515600" cy="3997960"/>
        </p:xfrm>
        <a:graphic>
          <a:graphicData uri="http://schemas.openxmlformats.org/drawingml/2006/table">
            <a:tbl>
              <a:tblPr firstRow="1" bandRow="1">
                <a:tableStyleId>{5C22544A-7EE6-4342-B048-85BDC9FD1C3A}</a:tableStyleId>
              </a:tblPr>
              <a:tblGrid>
                <a:gridCol w="1925123">
                  <a:extLst>
                    <a:ext uri="{9D8B030D-6E8A-4147-A177-3AD203B41FA5}">
                      <a16:colId xmlns:a16="http://schemas.microsoft.com/office/drawing/2014/main" val="2138219576"/>
                    </a:ext>
                  </a:extLst>
                </a:gridCol>
                <a:gridCol w="3831441">
                  <a:extLst>
                    <a:ext uri="{9D8B030D-6E8A-4147-A177-3AD203B41FA5}">
                      <a16:colId xmlns:a16="http://schemas.microsoft.com/office/drawing/2014/main" val="522810743"/>
                    </a:ext>
                  </a:extLst>
                </a:gridCol>
                <a:gridCol w="3811961">
                  <a:extLst>
                    <a:ext uri="{9D8B030D-6E8A-4147-A177-3AD203B41FA5}">
                      <a16:colId xmlns:a16="http://schemas.microsoft.com/office/drawing/2014/main" val="2233019473"/>
                    </a:ext>
                  </a:extLst>
                </a:gridCol>
                <a:gridCol w="947075">
                  <a:extLst>
                    <a:ext uri="{9D8B030D-6E8A-4147-A177-3AD203B41FA5}">
                      <a16:colId xmlns:a16="http://schemas.microsoft.com/office/drawing/2014/main" val="4088945606"/>
                    </a:ext>
                  </a:extLst>
                </a:gridCol>
              </a:tblGrid>
              <a:tr h="370840">
                <a:tc>
                  <a:txBody>
                    <a:bodyPr/>
                    <a:lstStyle/>
                    <a:p>
                      <a:endParaRPr lang="en-US" sz="1400" dirty="0"/>
                    </a:p>
                  </a:txBody>
                  <a:tcPr/>
                </a:tc>
                <a:tc>
                  <a:txBody>
                    <a:bodyPr/>
                    <a:lstStyle/>
                    <a:p>
                      <a:r>
                        <a:rPr lang="en-US" sz="1400" dirty="0"/>
                        <a:t>Mode of action</a:t>
                      </a:r>
                    </a:p>
                  </a:txBody>
                  <a:tcPr/>
                </a:tc>
                <a:tc>
                  <a:txBody>
                    <a:bodyPr/>
                    <a:lstStyle/>
                    <a:p>
                      <a:r>
                        <a:rPr lang="en-US" sz="1400" dirty="0"/>
                        <a:t>Side effects</a:t>
                      </a:r>
                    </a:p>
                  </a:txBody>
                  <a:tcPr/>
                </a:tc>
                <a:tc>
                  <a:txBody>
                    <a:bodyPr/>
                    <a:lstStyle/>
                    <a:p>
                      <a:r>
                        <a:rPr lang="en-US" sz="1400" dirty="0"/>
                        <a:t>Weight</a:t>
                      </a:r>
                    </a:p>
                  </a:txBody>
                  <a:tcPr/>
                </a:tc>
                <a:extLst>
                  <a:ext uri="{0D108BD9-81ED-4DB2-BD59-A6C34878D82A}">
                    <a16:rowId xmlns:a16="http://schemas.microsoft.com/office/drawing/2014/main" val="1938326164"/>
                  </a:ext>
                </a:extLst>
              </a:tr>
              <a:tr h="370840">
                <a:tc>
                  <a:txBody>
                    <a:bodyPr/>
                    <a:lstStyle/>
                    <a:p>
                      <a:r>
                        <a:rPr lang="en-US" sz="1400" b="1" dirty="0"/>
                        <a:t>Biguanide</a:t>
                      </a:r>
                      <a:endParaRPr lang="en-US" sz="1400" b="1" baseline="0" dirty="0"/>
                    </a:p>
                    <a:p>
                      <a:r>
                        <a:rPr lang="en-US" sz="1400" b="0" baseline="0" dirty="0"/>
                        <a:t>M</a:t>
                      </a:r>
                      <a:r>
                        <a:rPr lang="en-US" sz="1400" baseline="0" dirty="0"/>
                        <a:t>etformin</a:t>
                      </a:r>
                      <a:endParaRPr lang="en-US" sz="1400" dirty="0"/>
                    </a:p>
                  </a:txBody>
                  <a:tcPr anchor="ctr"/>
                </a:tc>
                <a:tc>
                  <a:txBody>
                    <a:bodyPr/>
                    <a:lstStyle/>
                    <a:p>
                      <a:r>
                        <a:rPr lang="en-US" sz="1400" dirty="0"/>
                        <a:t>Improves</a:t>
                      </a:r>
                      <a:r>
                        <a:rPr lang="en-US" sz="1400" baseline="0" dirty="0"/>
                        <a:t> insulin sensitivity in liver/muscle, suppresses hepatic gluconeogenesis</a:t>
                      </a:r>
                      <a:endParaRPr lang="en-US" sz="1400" dirty="0"/>
                    </a:p>
                  </a:txBody>
                  <a:tcPr anchor="ctr"/>
                </a:tc>
                <a:tc>
                  <a:txBody>
                    <a:bodyPr/>
                    <a:lstStyle/>
                    <a:p>
                      <a:r>
                        <a:rPr lang="en-US" sz="1400" dirty="0"/>
                        <a:t>Nausea,</a:t>
                      </a:r>
                      <a:r>
                        <a:rPr lang="en-US" sz="1400" baseline="0" dirty="0"/>
                        <a:t> diarrhoea, MALA (take care if eGFR &lt;45, stop if eGFR &lt;30)</a:t>
                      </a:r>
                      <a:endParaRPr lang="en-US" sz="1400" dirty="0"/>
                    </a:p>
                  </a:txBody>
                  <a:tcPr anchor="ctr"/>
                </a:tc>
                <a:tc>
                  <a:txBody>
                    <a:bodyPr/>
                    <a:lstStyle/>
                    <a:p>
                      <a:r>
                        <a:rPr lang="en-US" sz="1400" dirty="0"/>
                        <a:t>Neutral</a:t>
                      </a:r>
                    </a:p>
                  </a:txBody>
                  <a:tcPr anchor="ctr"/>
                </a:tc>
                <a:extLst>
                  <a:ext uri="{0D108BD9-81ED-4DB2-BD59-A6C34878D82A}">
                    <a16:rowId xmlns:a16="http://schemas.microsoft.com/office/drawing/2014/main" val="2407983358"/>
                  </a:ext>
                </a:extLst>
              </a:tr>
              <a:tr h="370840">
                <a:tc>
                  <a:txBody>
                    <a:bodyPr/>
                    <a:lstStyle/>
                    <a:p>
                      <a:r>
                        <a:rPr lang="en-US" sz="1400" b="1" dirty="0"/>
                        <a:t>DDP4i</a:t>
                      </a:r>
                    </a:p>
                    <a:p>
                      <a:r>
                        <a:rPr lang="en-US" sz="1400" b="0" dirty="0"/>
                        <a:t>Lin</a:t>
                      </a:r>
                      <a:r>
                        <a:rPr lang="en-US" sz="1400" dirty="0"/>
                        <a:t>agliptin</a:t>
                      </a:r>
                    </a:p>
                  </a:txBody>
                  <a:tcPr anchor="ctr"/>
                </a:tc>
                <a:tc>
                  <a:txBody>
                    <a:bodyPr/>
                    <a:lstStyle/>
                    <a:p>
                      <a:r>
                        <a:rPr lang="en-US" sz="1400" dirty="0"/>
                        <a:t>Incretin effect</a:t>
                      </a:r>
                    </a:p>
                  </a:txBody>
                  <a:tcPr anchor="ctr"/>
                </a:tc>
                <a:tc>
                  <a:txBody>
                    <a:bodyPr/>
                    <a:lstStyle/>
                    <a:p>
                      <a:r>
                        <a:rPr lang="en-US" sz="1400" dirty="0"/>
                        <a:t>Pancreatitis, nasopharyngitis</a:t>
                      </a:r>
                    </a:p>
                  </a:txBody>
                  <a:tcPr anchor="ctr"/>
                </a:tc>
                <a:tc>
                  <a:txBody>
                    <a:bodyPr/>
                    <a:lstStyle/>
                    <a:p>
                      <a:r>
                        <a:rPr lang="en-US" sz="1400" dirty="0"/>
                        <a:t>Neutral</a:t>
                      </a:r>
                    </a:p>
                  </a:txBody>
                  <a:tcPr anchor="ctr"/>
                </a:tc>
                <a:extLst>
                  <a:ext uri="{0D108BD9-81ED-4DB2-BD59-A6C34878D82A}">
                    <a16:rowId xmlns:a16="http://schemas.microsoft.com/office/drawing/2014/main" val="822915336"/>
                  </a:ext>
                </a:extLst>
              </a:tr>
              <a:tr h="370840">
                <a:tc>
                  <a:txBody>
                    <a:bodyPr/>
                    <a:lstStyle/>
                    <a:p>
                      <a:r>
                        <a:rPr lang="en-US" sz="1400" b="1" dirty="0"/>
                        <a:t>Thiazolidinedione</a:t>
                      </a:r>
                    </a:p>
                    <a:p>
                      <a:r>
                        <a:rPr lang="en-US" sz="1400" b="0" dirty="0"/>
                        <a:t>Pio</a:t>
                      </a:r>
                      <a:r>
                        <a:rPr lang="en-US" sz="1400" dirty="0"/>
                        <a:t>glitazone</a:t>
                      </a:r>
                    </a:p>
                  </a:txBody>
                  <a:tcPr anchor="ctr"/>
                </a:tc>
                <a:tc>
                  <a:txBody>
                    <a:bodyPr/>
                    <a:lstStyle/>
                    <a:p>
                      <a:r>
                        <a:rPr lang="en-US" sz="1400" dirty="0"/>
                        <a:t>Improves insulin</a:t>
                      </a:r>
                      <a:r>
                        <a:rPr lang="en-US" sz="1400" baseline="0" dirty="0"/>
                        <a:t> sensitivity in liver/muscle/fat, suppresses hepatic gluconeogenesis</a:t>
                      </a:r>
                      <a:endParaRPr lang="en-US" sz="1400" dirty="0"/>
                    </a:p>
                  </a:txBody>
                  <a:tcPr anchor="ctr"/>
                </a:tc>
                <a:tc>
                  <a:txBody>
                    <a:bodyPr/>
                    <a:lstStyle/>
                    <a:p>
                      <a:r>
                        <a:rPr lang="en-US" sz="1400" dirty="0"/>
                        <a:t>Oedema, heart failure, post-menopausal osteoporosis, bladder cancer</a:t>
                      </a:r>
                      <a:endParaRPr lang="en-US" sz="1400" b="0" dirty="0"/>
                    </a:p>
                  </a:txBody>
                  <a:tcPr anchor="ctr"/>
                </a:tc>
                <a:tc>
                  <a:txBody>
                    <a:bodyPr/>
                    <a:lstStyle/>
                    <a:p>
                      <a:pPr algn="ctr"/>
                      <a:r>
                        <a:rPr lang="en-US" sz="1400" dirty="0"/>
                        <a:t>↑</a:t>
                      </a:r>
                    </a:p>
                  </a:txBody>
                  <a:tcPr anchor="ctr"/>
                </a:tc>
                <a:extLst>
                  <a:ext uri="{0D108BD9-81ED-4DB2-BD59-A6C34878D82A}">
                    <a16:rowId xmlns:a16="http://schemas.microsoft.com/office/drawing/2014/main" val="1547000342"/>
                  </a:ext>
                </a:extLst>
              </a:tr>
              <a:tr h="370840">
                <a:tc>
                  <a:txBody>
                    <a:bodyPr/>
                    <a:lstStyle/>
                    <a:p>
                      <a:r>
                        <a:rPr lang="en-US" sz="1400" b="1" dirty="0"/>
                        <a:t>Sulfonylurea</a:t>
                      </a:r>
                      <a:endParaRPr lang="en-US" sz="1400" b="1" baseline="0" dirty="0"/>
                    </a:p>
                    <a:p>
                      <a:r>
                        <a:rPr lang="en-US" sz="1400" b="0" baseline="0" dirty="0"/>
                        <a:t>Gli</a:t>
                      </a:r>
                      <a:r>
                        <a:rPr lang="en-US" sz="1400" baseline="0" dirty="0"/>
                        <a:t>clazide</a:t>
                      </a:r>
                      <a:endParaRPr lang="en-US" sz="1400" dirty="0"/>
                    </a:p>
                  </a:txBody>
                  <a:tcPr anchor="ctr"/>
                </a:tc>
                <a:tc>
                  <a:txBody>
                    <a:bodyPr/>
                    <a:lstStyle/>
                    <a:p>
                      <a:r>
                        <a:rPr lang="en-US" sz="1400" dirty="0"/>
                        <a:t>Enhances insulin secretion</a:t>
                      </a:r>
                    </a:p>
                  </a:txBody>
                  <a:tcPr anchor="ctr"/>
                </a:tc>
                <a:tc>
                  <a:txBody>
                    <a:bodyPr/>
                    <a:lstStyle/>
                    <a:p>
                      <a:r>
                        <a:rPr lang="en-US" sz="1400" dirty="0" err="1"/>
                        <a:t>Hypoglycaemia</a:t>
                      </a:r>
                      <a:r>
                        <a:rPr lang="en-US" sz="1400" dirty="0"/>
                        <a:t>, cholestasis</a:t>
                      </a:r>
                    </a:p>
                  </a:txBody>
                  <a:tcPr anchor="ctr"/>
                </a:tc>
                <a:tc>
                  <a:txBody>
                    <a:bodyPr/>
                    <a:lstStyle/>
                    <a:p>
                      <a:pPr algn="ctr"/>
                      <a:r>
                        <a:rPr lang="en-US" sz="1400" dirty="0"/>
                        <a:t>↑</a:t>
                      </a:r>
                    </a:p>
                  </a:txBody>
                  <a:tcPr anchor="ctr"/>
                </a:tc>
                <a:extLst>
                  <a:ext uri="{0D108BD9-81ED-4DB2-BD59-A6C34878D82A}">
                    <a16:rowId xmlns:a16="http://schemas.microsoft.com/office/drawing/2014/main" val="1781282572"/>
                  </a:ext>
                </a:extLst>
              </a:tr>
              <a:tr h="370840">
                <a:tc>
                  <a:txBody>
                    <a:bodyPr/>
                    <a:lstStyle/>
                    <a:p>
                      <a:r>
                        <a:rPr lang="en-US" sz="1400" b="1" dirty="0"/>
                        <a:t>SGLT-2i</a:t>
                      </a:r>
                      <a:r>
                        <a:rPr lang="en-US" sz="1400" baseline="0" dirty="0"/>
                        <a:t> </a:t>
                      </a:r>
                    </a:p>
                    <a:p>
                      <a:r>
                        <a:rPr lang="en-US" sz="1400" baseline="0" dirty="0"/>
                        <a:t>Empagliflozin</a:t>
                      </a:r>
                      <a:endParaRPr lang="en-US" sz="1400" dirty="0"/>
                    </a:p>
                  </a:txBody>
                  <a:tcPr anchor="ctr"/>
                </a:tc>
                <a:tc>
                  <a:txBody>
                    <a:bodyPr/>
                    <a:lstStyle/>
                    <a:p>
                      <a:r>
                        <a:rPr lang="en-US" sz="1400" dirty="0"/>
                        <a:t>Reduces renal glucose reabsorption</a:t>
                      </a:r>
                    </a:p>
                  </a:txBody>
                  <a:tcPr anchor="ctr"/>
                </a:tc>
                <a:tc>
                  <a:txBody>
                    <a:bodyPr/>
                    <a:lstStyle/>
                    <a:p>
                      <a:r>
                        <a:rPr lang="en-US" sz="1400" dirty="0" err="1"/>
                        <a:t>Euglycaemic</a:t>
                      </a:r>
                      <a:r>
                        <a:rPr lang="en-US" sz="1400" dirty="0"/>
                        <a:t> ketoacidosis, genital infections</a:t>
                      </a:r>
                    </a:p>
                  </a:txBody>
                  <a:tcPr anchor="ctr"/>
                </a:tc>
                <a:tc>
                  <a:txBody>
                    <a:bodyPr/>
                    <a:lstStyle/>
                    <a:p>
                      <a:r>
                        <a:rPr lang="en-US" sz="1400" dirty="0"/>
                        <a:t>Neutral</a:t>
                      </a:r>
                    </a:p>
                  </a:txBody>
                  <a:tcPr anchor="ctr"/>
                </a:tc>
                <a:extLst>
                  <a:ext uri="{0D108BD9-81ED-4DB2-BD59-A6C34878D82A}">
                    <a16:rowId xmlns:a16="http://schemas.microsoft.com/office/drawing/2014/main" val="3711562175"/>
                  </a:ext>
                </a:extLst>
              </a:tr>
              <a:tr h="370840">
                <a:tc>
                  <a:txBody>
                    <a:bodyPr/>
                    <a:lstStyle/>
                    <a:p>
                      <a:r>
                        <a:rPr lang="en-US" sz="1400" b="1" dirty="0"/>
                        <a:t>GLP-1</a:t>
                      </a:r>
                      <a:r>
                        <a:rPr lang="en-US" sz="1400" dirty="0"/>
                        <a:t> </a:t>
                      </a:r>
                      <a:r>
                        <a:rPr lang="en-US" sz="1400" b="1" dirty="0"/>
                        <a:t>analogue</a:t>
                      </a:r>
                      <a:r>
                        <a:rPr lang="en-US" sz="1400" dirty="0"/>
                        <a:t> Exenatide, </a:t>
                      </a:r>
                      <a:r>
                        <a:rPr lang="en-US" sz="1400" dirty="0" err="1"/>
                        <a:t>semaglutide</a:t>
                      </a:r>
                      <a:endParaRPr lang="en-US" sz="1400" dirty="0"/>
                    </a:p>
                  </a:txBody>
                  <a:tcPr anchor="ctr"/>
                </a:tc>
                <a:tc>
                  <a:txBody>
                    <a:bodyPr/>
                    <a:lstStyle/>
                    <a:p>
                      <a:r>
                        <a:rPr lang="en-US" sz="1400" dirty="0"/>
                        <a:t>Incretin effect</a:t>
                      </a:r>
                    </a:p>
                  </a:txBody>
                  <a:tcPr anchor="ctr"/>
                </a:tc>
                <a:tc>
                  <a:txBody>
                    <a:bodyPr/>
                    <a:lstStyle/>
                    <a:p>
                      <a:r>
                        <a:rPr lang="en-US" sz="1400" dirty="0"/>
                        <a:t>Nausea, diarrhoea, pancreatitis</a:t>
                      </a:r>
                    </a:p>
                  </a:txBody>
                  <a:tcPr anchor="ctr"/>
                </a:tc>
                <a:tc>
                  <a:txBody>
                    <a:bodyPr/>
                    <a:lstStyle/>
                    <a:p>
                      <a:pPr algn="ctr"/>
                      <a:r>
                        <a:rPr lang="en-US" sz="1400" dirty="0"/>
                        <a:t>↓</a:t>
                      </a:r>
                    </a:p>
                  </a:txBody>
                  <a:tcPr anchor="ctr"/>
                </a:tc>
                <a:extLst>
                  <a:ext uri="{0D108BD9-81ED-4DB2-BD59-A6C34878D82A}">
                    <a16:rowId xmlns:a16="http://schemas.microsoft.com/office/drawing/2014/main" val="92159209"/>
                  </a:ext>
                </a:extLst>
              </a:tr>
              <a:tr h="0">
                <a:tc>
                  <a:txBody>
                    <a:bodyPr/>
                    <a:lstStyle/>
                    <a:p>
                      <a:r>
                        <a:rPr lang="en-US" sz="1400" b="1" dirty="0"/>
                        <a:t>a-glucosidase</a:t>
                      </a:r>
                      <a:r>
                        <a:rPr lang="en-US" sz="1400" baseline="0" dirty="0"/>
                        <a:t> </a:t>
                      </a:r>
                      <a:r>
                        <a:rPr lang="en-US" sz="1400" b="1" baseline="0" dirty="0"/>
                        <a:t>inhibitor</a:t>
                      </a:r>
                      <a:r>
                        <a:rPr lang="en-US" sz="1400" baseline="0" dirty="0"/>
                        <a:t> </a:t>
                      </a:r>
                    </a:p>
                    <a:p>
                      <a:r>
                        <a:rPr lang="en-US" sz="1400" baseline="0" dirty="0"/>
                        <a:t>Acarbose</a:t>
                      </a:r>
                      <a:endParaRPr lang="en-US" sz="1400" dirty="0"/>
                    </a:p>
                  </a:txBody>
                  <a:tcPr anchor="ctr"/>
                </a:tc>
                <a:tc>
                  <a:txBody>
                    <a:bodyPr/>
                    <a:lstStyle/>
                    <a:p>
                      <a:r>
                        <a:rPr lang="en-US" sz="1400" dirty="0"/>
                        <a:t>Reduces intestinal glucose absorption </a:t>
                      </a:r>
                    </a:p>
                  </a:txBody>
                  <a:tcPr anchor="ctr"/>
                </a:tc>
                <a:tc>
                  <a:txBody>
                    <a:bodyPr/>
                    <a:lstStyle/>
                    <a:p>
                      <a:r>
                        <a:rPr lang="en-US" sz="1400" dirty="0"/>
                        <a:t>Bloating, flatulence,</a:t>
                      </a:r>
                      <a:r>
                        <a:rPr lang="en-US" sz="1400" baseline="0" dirty="0"/>
                        <a:t> diarrhoea</a:t>
                      </a:r>
                      <a:endParaRPr lang="en-US" sz="1400" dirty="0"/>
                    </a:p>
                  </a:txBody>
                  <a:tcPr anchor="ctr"/>
                </a:tc>
                <a:tc>
                  <a:txBody>
                    <a:bodyPr/>
                    <a:lstStyle/>
                    <a:p>
                      <a:r>
                        <a:rPr lang="en-US" sz="1400" dirty="0"/>
                        <a:t>Neutral</a:t>
                      </a:r>
                    </a:p>
                  </a:txBody>
                  <a:tcPr anchor="ctr"/>
                </a:tc>
                <a:extLst>
                  <a:ext uri="{0D108BD9-81ED-4DB2-BD59-A6C34878D82A}">
                    <a16:rowId xmlns:a16="http://schemas.microsoft.com/office/drawing/2014/main" val="2013735432"/>
                  </a:ext>
                </a:extLst>
              </a:tr>
            </a:tbl>
          </a:graphicData>
        </a:graphic>
      </p:graphicFrame>
    </p:spTree>
    <p:extLst>
      <p:ext uri="{BB962C8B-B14F-4D97-AF65-F5344CB8AC3E}">
        <p14:creationId xmlns:p14="http://schemas.microsoft.com/office/powerpoint/2010/main" val="24676689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7B9C6D6-16BF-534D-958D-9532BDA43DCE}"/>
              </a:ext>
            </a:extLst>
          </p:cNvPr>
          <p:cNvGraphicFramePr>
            <a:graphicFrameLocks/>
          </p:cNvGraphicFramePr>
          <p:nvPr>
            <p:extLst>
              <p:ext uri="{D42A27DB-BD31-4B8C-83A1-F6EECF244321}">
                <p14:modId xmlns:p14="http://schemas.microsoft.com/office/powerpoint/2010/main" val="2982209958"/>
              </p:ext>
            </p:extLst>
          </p:nvPr>
        </p:nvGraphicFramePr>
        <p:xfrm>
          <a:off x="4061618" y="1277620"/>
          <a:ext cx="4068763" cy="4302760"/>
        </p:xfrm>
        <a:graphic>
          <a:graphicData uri="http://schemas.openxmlformats.org/drawingml/2006/table">
            <a:tbl>
              <a:tblPr firstRow="1" bandRow="1">
                <a:tableStyleId>{5C22544A-7EE6-4342-B048-85BDC9FD1C3A}</a:tableStyleId>
              </a:tblPr>
              <a:tblGrid>
                <a:gridCol w="4068763">
                  <a:extLst>
                    <a:ext uri="{9D8B030D-6E8A-4147-A177-3AD203B41FA5}">
                      <a16:colId xmlns:a16="http://schemas.microsoft.com/office/drawing/2014/main" val="1713477330"/>
                    </a:ext>
                  </a:extLst>
                </a:gridCol>
              </a:tblGrid>
              <a:tr h="370840">
                <a:tc>
                  <a:txBody>
                    <a:bodyPr/>
                    <a:lstStyle/>
                    <a:p>
                      <a:r>
                        <a:rPr lang="en-US" dirty="0"/>
                        <a:t>Causes of pancreatitis</a:t>
                      </a:r>
                    </a:p>
                  </a:txBody>
                  <a:tcPr/>
                </a:tc>
                <a:extLst>
                  <a:ext uri="{0D108BD9-81ED-4DB2-BD59-A6C34878D82A}">
                    <a16:rowId xmlns:a16="http://schemas.microsoft.com/office/drawing/2014/main" val="4261868807"/>
                  </a:ext>
                </a:extLst>
              </a:tr>
              <a:tr h="370840">
                <a:tc>
                  <a:txBody>
                    <a:bodyPr/>
                    <a:lstStyle/>
                    <a:p>
                      <a:r>
                        <a:rPr lang="en-US" b="1" dirty="0"/>
                        <a:t>I</a:t>
                      </a:r>
                      <a:r>
                        <a:rPr lang="en-US" dirty="0"/>
                        <a:t>diopathic</a:t>
                      </a:r>
                    </a:p>
                    <a:p>
                      <a:endParaRPr lang="en-US" dirty="0"/>
                    </a:p>
                    <a:p>
                      <a:r>
                        <a:rPr lang="en-US" b="1" dirty="0"/>
                        <a:t>G</a:t>
                      </a:r>
                      <a:r>
                        <a:rPr lang="en-US" dirty="0"/>
                        <a:t>allstones</a:t>
                      </a:r>
                    </a:p>
                    <a:p>
                      <a:r>
                        <a:rPr lang="en-US" b="1" dirty="0"/>
                        <a:t>E</a:t>
                      </a:r>
                      <a:r>
                        <a:rPr lang="en-US" dirty="0"/>
                        <a:t>thanol</a:t>
                      </a:r>
                    </a:p>
                    <a:p>
                      <a:r>
                        <a:rPr lang="en-US" b="1" dirty="0"/>
                        <a:t>T</a:t>
                      </a:r>
                      <a:r>
                        <a:rPr lang="en-US" dirty="0"/>
                        <a:t>rauma</a:t>
                      </a:r>
                    </a:p>
                    <a:p>
                      <a:endParaRPr lang="en-US" dirty="0"/>
                    </a:p>
                    <a:p>
                      <a:r>
                        <a:rPr lang="en-US" b="1" dirty="0"/>
                        <a:t>S</a:t>
                      </a:r>
                      <a:r>
                        <a:rPr lang="en-US" dirty="0"/>
                        <a:t>teroids</a:t>
                      </a:r>
                    </a:p>
                    <a:p>
                      <a:r>
                        <a:rPr lang="en-US" b="1" dirty="0"/>
                        <a:t>M</a:t>
                      </a:r>
                      <a:r>
                        <a:rPr lang="en-US" dirty="0"/>
                        <a:t>umps/</a:t>
                      </a:r>
                      <a:r>
                        <a:rPr lang="en-US" b="1" dirty="0"/>
                        <a:t>M</a:t>
                      </a:r>
                      <a:r>
                        <a:rPr lang="en-US" b="0" dirty="0"/>
                        <a:t>alignancy</a:t>
                      </a:r>
                      <a:endParaRPr lang="en-US" dirty="0"/>
                    </a:p>
                    <a:p>
                      <a:r>
                        <a:rPr lang="en-US" b="1" dirty="0"/>
                        <a:t>A</a:t>
                      </a:r>
                      <a:r>
                        <a:rPr lang="en-US" dirty="0"/>
                        <a:t>utoimmune</a:t>
                      </a:r>
                    </a:p>
                    <a:p>
                      <a:r>
                        <a:rPr lang="en-US" b="1" dirty="0"/>
                        <a:t>S</a:t>
                      </a:r>
                      <a:r>
                        <a:rPr lang="en-US" dirty="0"/>
                        <a:t>corpion bite</a:t>
                      </a:r>
                    </a:p>
                    <a:p>
                      <a:r>
                        <a:rPr lang="en-US" b="1" dirty="0" err="1"/>
                        <a:t>H</a:t>
                      </a:r>
                      <a:r>
                        <a:rPr lang="en-US" dirty="0" err="1"/>
                        <a:t>ypercalaemia</a:t>
                      </a:r>
                      <a:r>
                        <a:rPr lang="en-US" dirty="0"/>
                        <a:t>, </a:t>
                      </a:r>
                      <a:r>
                        <a:rPr lang="en-US" dirty="0" err="1"/>
                        <a:t>hypertriglyceridaemia</a:t>
                      </a:r>
                      <a:endParaRPr lang="en-US" dirty="0"/>
                    </a:p>
                    <a:p>
                      <a:r>
                        <a:rPr lang="en-US" b="1" dirty="0"/>
                        <a:t>E</a:t>
                      </a:r>
                      <a:r>
                        <a:rPr lang="en-US" dirty="0"/>
                        <a:t>RCP</a:t>
                      </a:r>
                      <a:br>
                        <a:rPr lang="en-US" dirty="0"/>
                      </a:br>
                      <a:r>
                        <a:rPr lang="en-US" b="1" dirty="0"/>
                        <a:t>D</a:t>
                      </a:r>
                      <a:r>
                        <a:rPr lang="en-US" dirty="0"/>
                        <a:t>rugs (many…DDP4i, GLP-1 analogue, </a:t>
                      </a:r>
                      <a:r>
                        <a:rPr lang="en-US" dirty="0" err="1"/>
                        <a:t>mesalazine</a:t>
                      </a:r>
                      <a:r>
                        <a:rPr lang="en-US" dirty="0"/>
                        <a:t> &gt; </a:t>
                      </a:r>
                      <a:r>
                        <a:rPr lang="en-US" dirty="0" err="1"/>
                        <a:t>sulphasalazine</a:t>
                      </a:r>
                      <a:r>
                        <a:rPr lang="en-US" dirty="0"/>
                        <a:t>)</a:t>
                      </a:r>
                    </a:p>
                  </a:txBody>
                  <a:tcPr/>
                </a:tc>
                <a:extLst>
                  <a:ext uri="{0D108BD9-81ED-4DB2-BD59-A6C34878D82A}">
                    <a16:rowId xmlns:a16="http://schemas.microsoft.com/office/drawing/2014/main" val="3243421399"/>
                  </a:ext>
                </a:extLst>
              </a:tr>
            </a:tbl>
          </a:graphicData>
        </a:graphic>
      </p:graphicFrame>
    </p:spTree>
    <p:extLst>
      <p:ext uri="{BB962C8B-B14F-4D97-AF65-F5344CB8AC3E}">
        <p14:creationId xmlns:p14="http://schemas.microsoft.com/office/powerpoint/2010/main" val="3712013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17AC2844-0F27-FE49-BFE9-F4719E548674}"/>
              </a:ext>
            </a:extLst>
          </p:cNvPr>
          <p:cNvGraphicFramePr>
            <a:graphicFrameLocks noGrp="1"/>
          </p:cNvGraphicFramePr>
          <p:nvPr>
            <p:ph idx="1"/>
            <p:extLst>
              <p:ext uri="{D42A27DB-BD31-4B8C-83A1-F6EECF244321}">
                <p14:modId xmlns:p14="http://schemas.microsoft.com/office/powerpoint/2010/main" val="4202425588"/>
              </p:ext>
            </p:extLst>
          </p:nvPr>
        </p:nvGraphicFramePr>
        <p:xfrm>
          <a:off x="974724" y="1277620"/>
          <a:ext cx="4068763" cy="4302760"/>
        </p:xfrm>
        <a:graphic>
          <a:graphicData uri="http://schemas.openxmlformats.org/drawingml/2006/table">
            <a:tbl>
              <a:tblPr firstRow="1" bandRow="1">
                <a:tableStyleId>{5C22544A-7EE6-4342-B048-85BDC9FD1C3A}</a:tableStyleId>
              </a:tblPr>
              <a:tblGrid>
                <a:gridCol w="4068763">
                  <a:extLst>
                    <a:ext uri="{9D8B030D-6E8A-4147-A177-3AD203B41FA5}">
                      <a16:colId xmlns:a16="http://schemas.microsoft.com/office/drawing/2014/main" val="1713477330"/>
                    </a:ext>
                  </a:extLst>
                </a:gridCol>
              </a:tblGrid>
              <a:tr h="370840">
                <a:tc>
                  <a:txBody>
                    <a:bodyPr/>
                    <a:lstStyle/>
                    <a:p>
                      <a:r>
                        <a:rPr lang="en-US" dirty="0"/>
                        <a:t>Drugs to stop in AKI</a:t>
                      </a:r>
                    </a:p>
                  </a:txBody>
                  <a:tcPr/>
                </a:tc>
                <a:extLst>
                  <a:ext uri="{0D108BD9-81ED-4DB2-BD59-A6C34878D82A}">
                    <a16:rowId xmlns:a16="http://schemas.microsoft.com/office/drawing/2014/main" val="4261868807"/>
                  </a:ext>
                </a:extLst>
              </a:tr>
              <a:tr h="370840">
                <a:tc>
                  <a:txBody>
                    <a:bodyPr/>
                    <a:lstStyle/>
                    <a:p>
                      <a:r>
                        <a:rPr lang="en-US" dirty="0"/>
                        <a:t>‘Stop the DAMN drugs’</a:t>
                      </a:r>
                    </a:p>
                    <a:p>
                      <a:pPr marL="285750" indent="-285750">
                        <a:buFont typeface="Arial" panose="020B0604020202020204" pitchFamily="34" charset="0"/>
                        <a:buChar char="•"/>
                      </a:pPr>
                      <a:r>
                        <a:rPr lang="en-US" b="1" dirty="0"/>
                        <a:t>D</a:t>
                      </a:r>
                      <a:r>
                        <a:rPr lang="en-US" dirty="0"/>
                        <a:t>iuretics</a:t>
                      </a:r>
                    </a:p>
                    <a:p>
                      <a:pPr marL="285750" indent="-285750">
                        <a:buFont typeface="Arial" panose="020B0604020202020204" pitchFamily="34" charset="0"/>
                        <a:buChar char="•"/>
                      </a:pPr>
                      <a:r>
                        <a:rPr lang="en-US" b="1" dirty="0" err="1"/>
                        <a:t>A</a:t>
                      </a:r>
                      <a:r>
                        <a:rPr lang="en-US" dirty="0" err="1"/>
                        <a:t>CEi</a:t>
                      </a:r>
                      <a:r>
                        <a:rPr lang="en-US" dirty="0"/>
                        <a:t>/</a:t>
                      </a:r>
                      <a:r>
                        <a:rPr lang="en-US" b="1" dirty="0"/>
                        <a:t>A</a:t>
                      </a:r>
                      <a:r>
                        <a:rPr lang="en-US" dirty="0"/>
                        <a:t>RB</a:t>
                      </a:r>
                    </a:p>
                    <a:p>
                      <a:pPr marL="285750" indent="-285750">
                        <a:buFont typeface="Arial" panose="020B0604020202020204" pitchFamily="34" charset="0"/>
                        <a:buChar char="•"/>
                      </a:pPr>
                      <a:r>
                        <a:rPr lang="en-US" b="1" dirty="0"/>
                        <a:t>M</a:t>
                      </a:r>
                      <a:r>
                        <a:rPr lang="en-US" dirty="0"/>
                        <a:t>etformin</a:t>
                      </a:r>
                    </a:p>
                    <a:p>
                      <a:pPr marL="285750" indent="-285750">
                        <a:buFont typeface="Arial" panose="020B0604020202020204" pitchFamily="34" charset="0"/>
                        <a:buChar char="•"/>
                      </a:pPr>
                      <a:r>
                        <a:rPr lang="en-US" b="1" dirty="0"/>
                        <a:t>N</a:t>
                      </a:r>
                      <a:r>
                        <a:rPr lang="en-US" dirty="0"/>
                        <a:t>SAIDs</a:t>
                      </a:r>
                    </a:p>
                    <a:p>
                      <a:pPr marL="285750" indent="-285750">
                        <a:buFont typeface="Arial" panose="020B0604020202020204" pitchFamily="34" charset="0"/>
                        <a:buChar char="•"/>
                      </a:pPr>
                      <a:endParaRPr lang="en-US" dirty="0"/>
                    </a:p>
                    <a:p>
                      <a:r>
                        <a:rPr lang="en-US" dirty="0"/>
                        <a:t>But also…</a:t>
                      </a:r>
                    </a:p>
                    <a:p>
                      <a:pPr marL="285750" indent="-285750">
                        <a:buFont typeface="Arial" panose="020B0604020202020204" pitchFamily="34" charset="0"/>
                        <a:buChar char="•"/>
                      </a:pPr>
                      <a:r>
                        <a:rPr lang="en-US" dirty="0"/>
                        <a:t>Many antibiotics</a:t>
                      </a:r>
                    </a:p>
                    <a:p>
                      <a:pPr marL="285750" indent="-285750">
                        <a:buFont typeface="Arial" panose="020B0604020202020204" pitchFamily="34" charset="0"/>
                        <a:buChar char="•"/>
                      </a:pPr>
                      <a:r>
                        <a:rPr lang="en-US" dirty="0"/>
                        <a:t>Chemotherapy drugs</a:t>
                      </a:r>
                    </a:p>
                    <a:p>
                      <a:pPr marL="285750" indent="-285750">
                        <a:buFont typeface="Arial" panose="020B0604020202020204" pitchFamily="34" charset="0"/>
                        <a:buChar char="•"/>
                      </a:pPr>
                      <a:r>
                        <a:rPr lang="en-US" dirty="0"/>
                        <a:t>Iodine based contrast</a:t>
                      </a:r>
                    </a:p>
                    <a:p>
                      <a:pPr marL="285750" indent="-285750">
                        <a:buFont typeface="Arial" panose="020B0604020202020204" pitchFamily="34" charset="0"/>
                        <a:buChar char="•"/>
                      </a:pPr>
                      <a:endParaRPr lang="en-US" dirty="0"/>
                    </a:p>
                    <a:p>
                      <a:pPr marL="0" indent="0">
                        <a:buFont typeface="Arial" panose="020B0604020202020204" pitchFamily="34" charset="0"/>
                        <a:buNone/>
                      </a:pPr>
                      <a:r>
                        <a:rPr lang="en-US" dirty="0"/>
                        <a:t>Other drugs can accumulate and cause harm…</a:t>
                      </a:r>
                    </a:p>
                    <a:p>
                      <a:pPr marL="285750" indent="-285750">
                        <a:buFont typeface="Arial" panose="020B0604020202020204" pitchFamily="34" charset="0"/>
                        <a:buChar char="•"/>
                      </a:pPr>
                      <a:r>
                        <a:rPr lang="en-US" dirty="0"/>
                        <a:t>Opioids</a:t>
                      </a:r>
                    </a:p>
                  </a:txBody>
                  <a:tcPr/>
                </a:tc>
                <a:extLst>
                  <a:ext uri="{0D108BD9-81ED-4DB2-BD59-A6C34878D82A}">
                    <a16:rowId xmlns:a16="http://schemas.microsoft.com/office/drawing/2014/main" val="3243421399"/>
                  </a:ext>
                </a:extLst>
              </a:tr>
            </a:tbl>
          </a:graphicData>
        </a:graphic>
      </p:graphicFrame>
      <p:sp>
        <p:nvSpPr>
          <p:cNvPr id="6" name="TextBox 5">
            <a:extLst>
              <a:ext uri="{FF2B5EF4-FFF2-40B4-BE49-F238E27FC236}">
                <a16:creationId xmlns:a16="http://schemas.microsoft.com/office/drawing/2014/main" id="{84CF92E7-BDF3-A541-A500-3AB938EDE881}"/>
              </a:ext>
            </a:extLst>
          </p:cNvPr>
          <p:cNvSpPr txBox="1"/>
          <p:nvPr/>
        </p:nvSpPr>
        <p:spPr>
          <a:xfrm>
            <a:off x="5414962" y="920621"/>
            <a:ext cx="6172200" cy="5016758"/>
          </a:xfrm>
          <a:prstGeom prst="rect">
            <a:avLst/>
          </a:prstGeom>
          <a:noFill/>
        </p:spPr>
        <p:txBody>
          <a:bodyPr wrap="square" rtlCol="0">
            <a:spAutoFit/>
          </a:bodyPr>
          <a:lstStyle/>
          <a:p>
            <a:r>
              <a:rPr lang="en-US" sz="2000" dirty="0"/>
              <a:t>The clerking proformas at St Richard’s Hospital contain the following which I think is quite helpful.</a:t>
            </a:r>
          </a:p>
          <a:p>
            <a:endParaRPr lang="en-US" sz="2000" dirty="0"/>
          </a:p>
          <a:p>
            <a:r>
              <a:rPr lang="en-US" sz="2000" dirty="0"/>
              <a:t>Dehydration, urinary obstruction, nephrotoxic drugs, poor urine output and sepsis are all key features of AKI. All patients must be screened and action taken urgently. </a:t>
            </a:r>
          </a:p>
          <a:p>
            <a:endParaRPr lang="en-US" sz="2000" dirty="0"/>
          </a:p>
          <a:p>
            <a:r>
              <a:rPr lang="en-US" sz="2000" dirty="0">
                <a:solidFill>
                  <a:srgbClr val="FF0000"/>
                </a:solidFill>
              </a:rPr>
              <a:t>D-</a:t>
            </a:r>
            <a:r>
              <a:rPr lang="en-US" sz="2000" dirty="0"/>
              <a:t> Dehydration: consider prescribing 500ml normal saline, especially if BP &lt;100 systolic</a:t>
            </a:r>
          </a:p>
          <a:p>
            <a:r>
              <a:rPr lang="en-US" sz="2000" dirty="0">
                <a:solidFill>
                  <a:srgbClr val="FF0000"/>
                </a:solidFill>
              </a:rPr>
              <a:t>O-</a:t>
            </a:r>
            <a:r>
              <a:rPr lang="en-US" sz="2000" dirty="0"/>
              <a:t> Obstruction: perform a bladder scan if at risk of urinary retention</a:t>
            </a:r>
          </a:p>
          <a:p>
            <a:r>
              <a:rPr lang="en-US" sz="2000" dirty="0">
                <a:solidFill>
                  <a:srgbClr val="FF0000"/>
                </a:solidFill>
              </a:rPr>
              <a:t>N-</a:t>
            </a:r>
            <a:r>
              <a:rPr lang="en-US" sz="2000" dirty="0"/>
              <a:t> Nephrotoxic drugs: avoid if possible on drug chart</a:t>
            </a:r>
          </a:p>
          <a:p>
            <a:r>
              <a:rPr lang="en-US" sz="2000" dirty="0">
                <a:solidFill>
                  <a:srgbClr val="FF0000"/>
                </a:solidFill>
              </a:rPr>
              <a:t>U-</a:t>
            </a:r>
            <a:r>
              <a:rPr lang="en-US" sz="2000" dirty="0"/>
              <a:t> Urine output monitoring: ensure input/output monitoring</a:t>
            </a:r>
          </a:p>
          <a:p>
            <a:r>
              <a:rPr lang="en-US" sz="2000" dirty="0">
                <a:solidFill>
                  <a:srgbClr val="FF0000"/>
                </a:solidFill>
              </a:rPr>
              <a:t>T-</a:t>
            </a:r>
            <a:r>
              <a:rPr lang="en-US" sz="2000" dirty="0"/>
              <a:t> Think sepsis (‘3 in, 3 out’ or ‘</a:t>
            </a:r>
            <a:r>
              <a:rPr lang="en-US" sz="2000" dirty="0" err="1"/>
              <a:t>bufalo</a:t>
            </a:r>
            <a:r>
              <a:rPr lang="en-US" sz="2000" dirty="0"/>
              <a:t>’ – </a:t>
            </a:r>
            <a:r>
              <a:rPr lang="en-US" sz="2000" b="1" dirty="0"/>
              <a:t>B</a:t>
            </a:r>
            <a:r>
              <a:rPr lang="en-US" sz="2000" dirty="0"/>
              <a:t>lood cultures, </a:t>
            </a:r>
            <a:r>
              <a:rPr lang="en-US" sz="2000" b="1" dirty="0"/>
              <a:t>U</a:t>
            </a:r>
            <a:r>
              <a:rPr lang="en-US" sz="2000" dirty="0"/>
              <a:t>rine output, </a:t>
            </a:r>
            <a:r>
              <a:rPr lang="en-US" sz="2000" b="1" dirty="0"/>
              <a:t>F</a:t>
            </a:r>
            <a:r>
              <a:rPr lang="en-US" sz="2000" dirty="0"/>
              <a:t>luids, </a:t>
            </a:r>
            <a:r>
              <a:rPr lang="en-US" sz="2000" b="1" dirty="0"/>
              <a:t>A</a:t>
            </a:r>
            <a:r>
              <a:rPr lang="en-US" sz="2000" dirty="0"/>
              <a:t>ntibiotics, </a:t>
            </a:r>
            <a:r>
              <a:rPr lang="en-US" sz="2000" b="1" dirty="0"/>
              <a:t>L</a:t>
            </a:r>
            <a:r>
              <a:rPr lang="en-US" sz="2000" dirty="0"/>
              <a:t>actate, </a:t>
            </a:r>
            <a:r>
              <a:rPr lang="en-US" sz="2000" b="1" dirty="0"/>
              <a:t>O</a:t>
            </a:r>
            <a:r>
              <a:rPr lang="en-US" sz="2000" dirty="0"/>
              <a:t>xygen)</a:t>
            </a:r>
          </a:p>
        </p:txBody>
      </p:sp>
    </p:spTree>
    <p:extLst>
      <p:ext uri="{BB962C8B-B14F-4D97-AF65-F5344CB8AC3E}">
        <p14:creationId xmlns:p14="http://schemas.microsoft.com/office/powerpoint/2010/main" val="3376382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13" name="TextBox 12">
            <a:extLst>
              <a:ext uri="{FF2B5EF4-FFF2-40B4-BE49-F238E27FC236}">
                <a16:creationId xmlns:a16="http://schemas.microsoft.com/office/drawing/2014/main" id="{899D08D8-9118-D34B-A965-55764FBC5F58}"/>
              </a:ext>
            </a:extLst>
          </p:cNvPr>
          <p:cNvSpPr txBox="1"/>
          <p:nvPr/>
        </p:nvSpPr>
        <p:spPr>
          <a:xfrm>
            <a:off x="6191252" y="899730"/>
            <a:ext cx="5815012" cy="4093428"/>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5" name="TextBox 14">
            <a:extLst>
              <a:ext uri="{FF2B5EF4-FFF2-40B4-BE49-F238E27FC236}">
                <a16:creationId xmlns:a16="http://schemas.microsoft.com/office/drawing/2014/main" id="{AB1C6E6D-4E75-3F4F-80CE-CD6D3B612E8D}"/>
              </a:ext>
            </a:extLst>
          </p:cNvPr>
          <p:cNvSpPr txBox="1"/>
          <p:nvPr/>
        </p:nvSpPr>
        <p:spPr>
          <a:xfrm>
            <a:off x="185738" y="3372301"/>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TWO medications that </a:t>
            </a:r>
            <a:r>
              <a:rPr lang="en-US" i="1" dirty="0"/>
              <a:t>should not </a:t>
            </a:r>
            <a:r>
              <a:rPr lang="en-US" dirty="0"/>
              <a:t>be prescribed during pregnancy and stopped immediately.</a:t>
            </a:r>
          </a:p>
          <a:p>
            <a:r>
              <a:rPr lang="en-US" i="1" dirty="0"/>
              <a:t>(mark them with a tick in column A)</a:t>
            </a:r>
          </a:p>
        </p:txBody>
      </p:sp>
      <p:graphicFrame>
        <p:nvGraphicFramePr>
          <p:cNvPr id="18" name="Table 14">
            <a:extLst>
              <a:ext uri="{FF2B5EF4-FFF2-40B4-BE49-F238E27FC236}">
                <a16:creationId xmlns:a16="http://schemas.microsoft.com/office/drawing/2014/main" id="{E02A12B5-ADE0-8E42-979A-6736A7F0E6EF}"/>
              </a:ext>
            </a:extLst>
          </p:cNvPr>
          <p:cNvGraphicFramePr>
            <a:graphicFrameLocks noGrp="1"/>
          </p:cNvGraphicFramePr>
          <p:nvPr>
            <p:extLst>
              <p:ext uri="{D42A27DB-BD31-4B8C-83A1-F6EECF244321}">
                <p14:modId xmlns:p14="http://schemas.microsoft.com/office/powerpoint/2010/main" val="3498404469"/>
              </p:ext>
            </p:extLst>
          </p:nvPr>
        </p:nvGraphicFramePr>
        <p:xfrm>
          <a:off x="6304756" y="1276008"/>
          <a:ext cx="5588003" cy="363220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amlodipine</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 </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a:txBody>
                    <a:bodyPr/>
                    <a:lstStyle/>
                    <a:p>
                      <a:r>
                        <a:rPr lang="en-US" sz="1400" dirty="0"/>
                        <a:t>apixaban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2.5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err="1"/>
                        <a:t>bendroflumethiazide</a:t>
                      </a:r>
                      <a:endParaRPr lang="en-US" sz="1400" dirty="0"/>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2.5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a:txBody>
                    <a:bodyPr/>
                    <a:lstStyle/>
                    <a:p>
                      <a:r>
                        <a:rPr lang="en-US" sz="1400" dirty="0"/>
                        <a:t>clotrimazole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 cream</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top</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Gaviscon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with meals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lactulose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15 ml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paracetamol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4778838"/>
                  </a:ext>
                </a:extLst>
              </a:tr>
              <a:tr h="370840">
                <a:tc>
                  <a:txBody>
                    <a:bodyPr/>
                    <a:lstStyle/>
                    <a:p>
                      <a:r>
                        <a:rPr lang="en-US" sz="1400" dirty="0"/>
                        <a:t>prednisolone</a:t>
                      </a:r>
                    </a:p>
                  </a:txBody>
                  <a:tcPr anchor="ctr">
                    <a:lnL w="12700" cmpd="sng">
                      <a:noFill/>
                    </a:lnL>
                    <a:lnR w="12700" cmpd="sng">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15 mg</a:t>
                      </a:r>
                    </a:p>
                  </a:txBody>
                  <a:tcPr anchor="ctr">
                    <a:lnL w="12700" cmpd="sng">
                      <a:noFill/>
                    </a:lnL>
                    <a:lnR w="12700" cmpd="sng">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5494594"/>
                  </a:ext>
                </a:extLst>
              </a:tr>
            </a:tbl>
          </a:graphicData>
        </a:graphic>
      </p:graphicFrame>
      <p:sp>
        <p:nvSpPr>
          <p:cNvPr id="19" name="TextBox 18">
            <a:extLst>
              <a:ext uri="{FF2B5EF4-FFF2-40B4-BE49-F238E27FC236}">
                <a16:creationId xmlns:a16="http://schemas.microsoft.com/office/drawing/2014/main" id="{C01EEAFE-4622-664C-BB89-FA8EF6D2DCA3}"/>
              </a:ext>
            </a:extLst>
          </p:cNvPr>
          <p:cNvSpPr txBox="1"/>
          <p:nvPr/>
        </p:nvSpPr>
        <p:spPr>
          <a:xfrm>
            <a:off x="185736" y="4757941"/>
            <a:ext cx="5815012" cy="1200329"/>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TWO medications which </a:t>
            </a:r>
            <a:r>
              <a:rPr lang="en-US" i="1" dirty="0"/>
              <a:t>might contribute </a:t>
            </a:r>
            <a:r>
              <a:rPr lang="en-US" dirty="0"/>
              <a:t>to her deranged glucose level.</a:t>
            </a:r>
          </a:p>
          <a:p>
            <a:r>
              <a:rPr lang="en-US" i="1" dirty="0"/>
              <a:t>(mark them with a tick in column B)</a:t>
            </a:r>
          </a:p>
        </p:txBody>
      </p:sp>
      <p:sp>
        <p:nvSpPr>
          <p:cNvPr id="20" name="TextBox 19">
            <a:extLst>
              <a:ext uri="{FF2B5EF4-FFF2-40B4-BE49-F238E27FC236}">
                <a16:creationId xmlns:a16="http://schemas.microsoft.com/office/drawing/2014/main" id="{0169B957-2581-704C-A10A-D1E317A17F7D}"/>
              </a:ext>
            </a:extLst>
          </p:cNvPr>
          <p:cNvSpPr txBox="1"/>
          <p:nvPr/>
        </p:nvSpPr>
        <p:spPr>
          <a:xfrm>
            <a:off x="185738"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35-year-old woman presents to her GP with thirst and increased urinary frequency. She is 17 weeks pregnant. </a:t>
            </a:r>
          </a:p>
          <a:p>
            <a:r>
              <a:rPr lang="en-US" dirty="0"/>
              <a:t>Weight 89kg. </a:t>
            </a:r>
            <a:r>
              <a:rPr lang="en-US" b="1" dirty="0"/>
              <a:t>PMH. </a:t>
            </a:r>
            <a:r>
              <a:rPr lang="en-US" dirty="0"/>
              <a:t>Hypertension, polymyalgia rheumatica, recurrent DVTs. </a:t>
            </a:r>
            <a:r>
              <a:rPr lang="en-US" b="1" dirty="0"/>
              <a:t>DH. </a:t>
            </a:r>
            <a:r>
              <a:rPr lang="en-US" dirty="0"/>
              <a:t>Her current regular medications are listed (right).</a:t>
            </a:r>
          </a:p>
          <a:p>
            <a:r>
              <a:rPr lang="en-US" b="1" dirty="0"/>
              <a:t>Investigations</a:t>
            </a:r>
          </a:p>
          <a:p>
            <a:r>
              <a:rPr lang="en-US" dirty="0"/>
              <a:t>Capillary glucose 16.8.</a:t>
            </a:r>
          </a:p>
        </p:txBody>
      </p:sp>
      <p:sp>
        <p:nvSpPr>
          <p:cNvPr id="12" name="TextBox 11">
            <a:extLst>
              <a:ext uri="{FF2B5EF4-FFF2-40B4-BE49-F238E27FC236}">
                <a16:creationId xmlns:a16="http://schemas.microsoft.com/office/drawing/2014/main" id="{C084D8E3-A071-1542-83FB-2D9A7474FE33}"/>
              </a:ext>
            </a:extLst>
          </p:cNvPr>
          <p:cNvSpPr txBox="1"/>
          <p:nvPr/>
        </p:nvSpPr>
        <p:spPr>
          <a:xfrm>
            <a:off x="185738" y="5948964"/>
            <a:ext cx="2305214" cy="830997"/>
          </a:xfrm>
          <a:prstGeom prst="rect">
            <a:avLst/>
          </a:prstGeom>
          <a:noFill/>
        </p:spPr>
        <p:txBody>
          <a:bodyPr wrap="square" rtlCol="0">
            <a:spAutoFit/>
          </a:bodyPr>
          <a:lstStyle/>
          <a:p>
            <a:r>
              <a:rPr lang="en-US" sz="4800" dirty="0"/>
              <a:t>REV Q4</a:t>
            </a:r>
          </a:p>
        </p:txBody>
      </p:sp>
    </p:spTree>
    <p:extLst>
      <p:ext uri="{BB962C8B-B14F-4D97-AF65-F5344CB8AC3E}">
        <p14:creationId xmlns:p14="http://schemas.microsoft.com/office/powerpoint/2010/main" val="2536893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F68323-8C46-9749-9E14-BEC01BD91226}"/>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EAD87659-8886-5640-8874-FD834E9BAB5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EAD641A1-7F63-2242-82F2-80844D28F126}"/>
              </a:ext>
            </a:extLst>
          </p:cNvPr>
          <p:cNvSpPr txBox="1"/>
          <p:nvPr/>
        </p:nvSpPr>
        <p:spPr>
          <a:xfrm>
            <a:off x="185738" y="257178"/>
            <a:ext cx="1985962" cy="353943"/>
          </a:xfrm>
          <a:prstGeom prst="rect">
            <a:avLst/>
          </a:prstGeom>
          <a:solidFill>
            <a:srgbClr val="1556C7"/>
          </a:solidFill>
        </p:spPr>
        <p:txBody>
          <a:bodyPr wrap="square" rtlCol="0">
            <a:spAutoFit/>
          </a:bodyPr>
          <a:lstStyle/>
          <a:p>
            <a:pPr algn="ctr"/>
            <a:r>
              <a:rPr lang="en-US" sz="1700" dirty="0">
                <a:solidFill>
                  <a:schemeClr val="bg1"/>
                </a:solidFill>
              </a:rPr>
              <a:t>Prescription review</a:t>
            </a:r>
          </a:p>
        </p:txBody>
      </p:sp>
      <p:sp>
        <p:nvSpPr>
          <p:cNvPr id="7" name="TextBox 6">
            <a:extLst>
              <a:ext uri="{FF2B5EF4-FFF2-40B4-BE49-F238E27FC236}">
                <a16:creationId xmlns:a16="http://schemas.microsoft.com/office/drawing/2014/main" id="{B2D197A2-DC98-CB4F-9CBD-8F61F8886340}"/>
              </a:ext>
            </a:extLst>
          </p:cNvPr>
          <p:cNvSpPr txBox="1"/>
          <p:nvPr/>
        </p:nvSpPr>
        <p:spPr>
          <a:xfrm>
            <a:off x="2171700" y="256796"/>
            <a:ext cx="1096960" cy="353943"/>
          </a:xfrm>
          <a:prstGeom prst="rect">
            <a:avLst/>
          </a:prstGeom>
          <a:noFill/>
        </p:spPr>
        <p:txBody>
          <a:bodyPr wrap="square" rtlCol="0">
            <a:spAutoFit/>
          </a:bodyPr>
          <a:lstStyle/>
          <a:p>
            <a:r>
              <a:rPr lang="en-US" sz="1700" b="1" dirty="0"/>
              <a:t>4 marks</a:t>
            </a:r>
          </a:p>
        </p:txBody>
      </p:sp>
      <p:sp>
        <p:nvSpPr>
          <p:cNvPr id="9" name="TextBox 8">
            <a:extLst>
              <a:ext uri="{FF2B5EF4-FFF2-40B4-BE49-F238E27FC236}">
                <a16:creationId xmlns:a16="http://schemas.microsoft.com/office/drawing/2014/main" id="{4F8078D2-1CF8-F345-956E-2F94E8640E00}"/>
              </a:ext>
            </a:extLst>
          </p:cNvPr>
          <p:cNvSpPr txBox="1"/>
          <p:nvPr/>
        </p:nvSpPr>
        <p:spPr>
          <a:xfrm>
            <a:off x="6191252" y="899730"/>
            <a:ext cx="5815012" cy="4093428"/>
          </a:xfrm>
          <a:prstGeom prst="rect">
            <a:avLst/>
          </a:prstGeom>
          <a:solidFill>
            <a:srgbClr val="ECECEC"/>
          </a:solidFill>
          <a:ln>
            <a:solidFill>
              <a:schemeClr val="tx1"/>
            </a:solidFill>
          </a:ln>
        </p:spPr>
        <p:txBody>
          <a:bodyPr wrap="square" rtlCol="0">
            <a:spAutoFit/>
          </a:bodyPr>
          <a:lstStyle/>
          <a:p>
            <a:r>
              <a:rPr lang="en-US" b="1" dirty="0"/>
              <a:t>CURRENT PRESCRIPTIONS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2" name="TextBox 11">
            <a:extLst>
              <a:ext uri="{FF2B5EF4-FFF2-40B4-BE49-F238E27FC236}">
                <a16:creationId xmlns:a16="http://schemas.microsoft.com/office/drawing/2014/main" id="{12C7C71F-CADF-3741-AB2E-783D92B908BD}"/>
              </a:ext>
            </a:extLst>
          </p:cNvPr>
          <p:cNvSpPr txBox="1"/>
          <p:nvPr/>
        </p:nvSpPr>
        <p:spPr>
          <a:xfrm>
            <a:off x="185738" y="3372301"/>
            <a:ext cx="5815012" cy="1200329"/>
          </a:xfrm>
          <a:prstGeom prst="rect">
            <a:avLst/>
          </a:prstGeom>
          <a:solidFill>
            <a:srgbClr val="F6FEEA"/>
          </a:solidFill>
          <a:ln>
            <a:solidFill>
              <a:schemeClr val="tx1"/>
            </a:solidFill>
          </a:ln>
        </p:spPr>
        <p:txBody>
          <a:bodyPr wrap="square" rtlCol="0">
            <a:spAutoFit/>
          </a:bodyPr>
          <a:lstStyle/>
          <a:p>
            <a:r>
              <a:rPr lang="en-US" b="1" dirty="0"/>
              <a:t>Question A</a:t>
            </a:r>
          </a:p>
          <a:p>
            <a:r>
              <a:rPr lang="en-US" dirty="0"/>
              <a:t>Select TWO medications that </a:t>
            </a:r>
            <a:r>
              <a:rPr lang="en-US" i="1" dirty="0"/>
              <a:t>should not </a:t>
            </a:r>
            <a:r>
              <a:rPr lang="en-US" dirty="0"/>
              <a:t>be prescribed during pregnancy and stopped immediately.</a:t>
            </a:r>
          </a:p>
          <a:p>
            <a:r>
              <a:rPr lang="en-US" i="1" dirty="0"/>
              <a:t>(mark them with a tick in column A)</a:t>
            </a:r>
          </a:p>
        </p:txBody>
      </p:sp>
      <p:graphicFrame>
        <p:nvGraphicFramePr>
          <p:cNvPr id="14" name="Table 14">
            <a:extLst>
              <a:ext uri="{FF2B5EF4-FFF2-40B4-BE49-F238E27FC236}">
                <a16:creationId xmlns:a16="http://schemas.microsoft.com/office/drawing/2014/main" id="{169A0356-5929-E14F-8BA0-171233C60AB1}"/>
              </a:ext>
            </a:extLst>
          </p:cNvPr>
          <p:cNvGraphicFramePr>
            <a:graphicFrameLocks noGrp="1"/>
          </p:cNvGraphicFramePr>
          <p:nvPr>
            <p:extLst>
              <p:ext uri="{D42A27DB-BD31-4B8C-83A1-F6EECF244321}">
                <p14:modId xmlns:p14="http://schemas.microsoft.com/office/powerpoint/2010/main" val="3173643235"/>
              </p:ext>
            </p:extLst>
          </p:nvPr>
        </p:nvGraphicFramePr>
        <p:xfrm>
          <a:off x="6304756" y="1276008"/>
          <a:ext cx="5588003" cy="363220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r>
                        <a:rPr lang="en-US" sz="1400" dirty="0">
                          <a:solidFill>
                            <a:schemeClr val="tx1"/>
                          </a:solidFill>
                        </a:rPr>
                        <a:t>Medicine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Dose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Route</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Frequency</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A</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solidFill>
                            <a:schemeClr val="tx1"/>
                          </a:solidFill>
                        </a:rPr>
                        <a:t>B</a:t>
                      </a: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a:txBody>
                    <a:bodyPr/>
                    <a:lstStyle/>
                    <a:p>
                      <a:r>
                        <a:rPr lang="en-US" sz="1400" dirty="0"/>
                        <a:t>amlodipine</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 </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a:txBody>
                    <a:bodyPr/>
                    <a:lstStyle/>
                    <a:p>
                      <a:r>
                        <a:rPr lang="en-US" sz="1400" dirty="0"/>
                        <a:t>apixaban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2.5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a:txBody>
                    <a:bodyPr/>
                    <a:lstStyle/>
                    <a:p>
                      <a:r>
                        <a:rPr lang="en-US" sz="1400" dirty="0" err="1"/>
                        <a:t>bendroflumethiazide</a:t>
                      </a:r>
                      <a:endParaRPr lang="en-US" sz="1400" dirty="0"/>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2.5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a:txBody>
                    <a:bodyPr/>
                    <a:lstStyle/>
                    <a:p>
                      <a:r>
                        <a:rPr lang="en-US" sz="1400" dirty="0"/>
                        <a:t>clotrimazole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 cream</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top</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a:txBody>
                    <a:bodyPr/>
                    <a:lstStyle/>
                    <a:p>
                      <a:r>
                        <a:rPr lang="en-US" sz="1400" dirty="0"/>
                        <a:t>Gaviscon</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 ml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with meals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r h="370840">
                <a:tc>
                  <a:txBody>
                    <a:bodyPr/>
                    <a:lstStyle/>
                    <a:p>
                      <a:r>
                        <a:rPr lang="en-US" sz="1400" dirty="0"/>
                        <a:t>lactulose</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15 ml </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twice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6824158"/>
                  </a:ext>
                </a:extLst>
              </a:tr>
              <a:tr h="370840">
                <a:tc>
                  <a:txBody>
                    <a:bodyPr/>
                    <a:lstStyle/>
                    <a:p>
                      <a:r>
                        <a:rPr lang="en-US" sz="1400" dirty="0"/>
                        <a:t>paracetamol</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1000 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four times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4778838"/>
                  </a:ext>
                </a:extLst>
              </a:tr>
              <a:tr h="370840">
                <a:tc>
                  <a:txBody>
                    <a:bodyPr/>
                    <a:lstStyle/>
                    <a:p>
                      <a:r>
                        <a:rPr lang="en-US" sz="1400" dirty="0"/>
                        <a:t>prednisolone</a:t>
                      </a:r>
                    </a:p>
                  </a:txBody>
                  <a:tcPr anchor="ctr">
                    <a:lnL w="12700" cmpd="sng">
                      <a:noFill/>
                    </a:lnL>
                    <a:lnR w="12700" cmpd="sng">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15 mg</a:t>
                      </a:r>
                    </a:p>
                  </a:txBody>
                  <a:tcPr anchor="ctr">
                    <a:lnL w="12700" cmpd="sng">
                      <a:noFill/>
                    </a:lnL>
                    <a:lnR w="12700" cmpd="sng">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400" dirty="0"/>
                        <a:t>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5494594"/>
                  </a:ext>
                </a:extLst>
              </a:tr>
            </a:tbl>
          </a:graphicData>
        </a:graphic>
      </p:graphicFrame>
      <p:sp>
        <p:nvSpPr>
          <p:cNvPr id="17" name="TextBox 16">
            <a:extLst>
              <a:ext uri="{FF2B5EF4-FFF2-40B4-BE49-F238E27FC236}">
                <a16:creationId xmlns:a16="http://schemas.microsoft.com/office/drawing/2014/main" id="{458747EB-71FB-2F49-B7F7-0CF4A0E76A7D}"/>
              </a:ext>
            </a:extLst>
          </p:cNvPr>
          <p:cNvSpPr txBox="1"/>
          <p:nvPr/>
        </p:nvSpPr>
        <p:spPr>
          <a:xfrm>
            <a:off x="185736" y="4757941"/>
            <a:ext cx="5815012" cy="1200329"/>
          </a:xfrm>
          <a:prstGeom prst="rect">
            <a:avLst/>
          </a:prstGeom>
          <a:solidFill>
            <a:srgbClr val="F6FEEA"/>
          </a:solidFill>
          <a:ln>
            <a:solidFill>
              <a:schemeClr val="tx1"/>
            </a:solidFill>
          </a:ln>
        </p:spPr>
        <p:txBody>
          <a:bodyPr wrap="square" rtlCol="0">
            <a:spAutoFit/>
          </a:bodyPr>
          <a:lstStyle/>
          <a:p>
            <a:r>
              <a:rPr lang="en-US" b="1" dirty="0"/>
              <a:t>Question B</a:t>
            </a:r>
          </a:p>
          <a:p>
            <a:r>
              <a:rPr lang="en-US" dirty="0"/>
              <a:t>Select TWO medications which </a:t>
            </a:r>
            <a:r>
              <a:rPr lang="en-US" i="1" dirty="0"/>
              <a:t>might contribute </a:t>
            </a:r>
            <a:r>
              <a:rPr lang="en-US" dirty="0"/>
              <a:t>to her deranged glucose level.</a:t>
            </a:r>
          </a:p>
          <a:p>
            <a:r>
              <a:rPr lang="en-US" i="1" dirty="0"/>
              <a:t>(mark them with a tick in column B)</a:t>
            </a:r>
          </a:p>
        </p:txBody>
      </p:sp>
      <p:sp>
        <p:nvSpPr>
          <p:cNvPr id="16" name="TextBox 15">
            <a:extLst>
              <a:ext uri="{FF2B5EF4-FFF2-40B4-BE49-F238E27FC236}">
                <a16:creationId xmlns:a16="http://schemas.microsoft.com/office/drawing/2014/main" id="{1D5934DA-8AB7-1448-AFD6-0525B8098F75}"/>
              </a:ext>
            </a:extLst>
          </p:cNvPr>
          <p:cNvSpPr txBox="1"/>
          <p:nvPr/>
        </p:nvSpPr>
        <p:spPr>
          <a:xfrm>
            <a:off x="185738"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35-year-old woman presents to her GP with thirst and increased urinary frequency. She is 17 weeks pregnant. </a:t>
            </a:r>
          </a:p>
          <a:p>
            <a:r>
              <a:rPr lang="en-US" dirty="0"/>
              <a:t>Weight 89kg. </a:t>
            </a:r>
            <a:r>
              <a:rPr lang="en-US" b="1" dirty="0"/>
              <a:t>PMH. </a:t>
            </a:r>
            <a:r>
              <a:rPr lang="en-US" dirty="0"/>
              <a:t>Hypertension, polymyalgia rheumatica, recurrent DVTs. </a:t>
            </a:r>
            <a:r>
              <a:rPr lang="en-US" b="1" dirty="0"/>
              <a:t>DH. </a:t>
            </a:r>
            <a:r>
              <a:rPr lang="en-US" dirty="0"/>
              <a:t>Her current regular medications are listed (right).</a:t>
            </a:r>
          </a:p>
          <a:p>
            <a:r>
              <a:rPr lang="en-US" b="1" dirty="0"/>
              <a:t>Investigations</a:t>
            </a:r>
          </a:p>
          <a:p>
            <a:r>
              <a:rPr lang="en-US" dirty="0"/>
              <a:t>Capillary glucose 16.8.</a:t>
            </a:r>
          </a:p>
        </p:txBody>
      </p:sp>
      <p:sp>
        <p:nvSpPr>
          <p:cNvPr id="13" name="TextBox 12">
            <a:extLst>
              <a:ext uri="{FF2B5EF4-FFF2-40B4-BE49-F238E27FC236}">
                <a16:creationId xmlns:a16="http://schemas.microsoft.com/office/drawing/2014/main" id="{86B0F361-0573-F84A-9613-D233915EF037}"/>
              </a:ext>
            </a:extLst>
          </p:cNvPr>
          <p:cNvSpPr txBox="1"/>
          <p:nvPr/>
        </p:nvSpPr>
        <p:spPr>
          <a:xfrm>
            <a:off x="6191250" y="5181870"/>
            <a:ext cx="5815012"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Apixaban and </a:t>
            </a:r>
            <a:r>
              <a:rPr lang="en-US" sz="1400" dirty="0" err="1">
                <a:solidFill>
                  <a:srgbClr val="FF0000"/>
                </a:solidFill>
              </a:rPr>
              <a:t>bendroflumethiazide</a:t>
            </a:r>
            <a:r>
              <a:rPr lang="en-US" sz="1400" dirty="0">
                <a:solidFill>
                  <a:srgbClr val="FF0000"/>
                </a:solidFill>
              </a:rPr>
              <a:t> are both unsafe in pregnancy, this can be found on the ‘Pregnancy’ section of the BNF pages for both drugs (amlodipine and prednisolone both could be considered the answer here but can be prescribed on a risk vs benefit basis)</a:t>
            </a:r>
          </a:p>
          <a:p>
            <a:pPr marL="285750" indent="-285750">
              <a:buFont typeface="Arial" panose="020B0604020202020204" pitchFamily="34" charset="0"/>
              <a:buChar char="•"/>
            </a:pPr>
            <a:r>
              <a:rPr lang="en-US" sz="1400" dirty="0">
                <a:solidFill>
                  <a:srgbClr val="FF0000"/>
                </a:solidFill>
              </a:rPr>
              <a:t>Thiazide diuretics can commonly cause </a:t>
            </a:r>
            <a:r>
              <a:rPr lang="en-US" sz="1400" dirty="0" err="1">
                <a:solidFill>
                  <a:srgbClr val="FF0000"/>
                </a:solidFill>
              </a:rPr>
              <a:t>hyperglycaemia</a:t>
            </a:r>
            <a:endParaRPr lang="en-US" sz="1400" dirty="0">
              <a:solidFill>
                <a:srgbClr val="FF0000"/>
              </a:solidFill>
            </a:endParaRPr>
          </a:p>
          <a:p>
            <a:pPr marL="285750" indent="-285750">
              <a:buFont typeface="Arial" panose="020B0604020202020204" pitchFamily="34" charset="0"/>
              <a:buChar char="•"/>
            </a:pPr>
            <a:r>
              <a:rPr lang="en-US" sz="1400" dirty="0">
                <a:solidFill>
                  <a:srgbClr val="FF0000"/>
                </a:solidFill>
              </a:rPr>
              <a:t>Steroids commonly cause deranged BMs</a:t>
            </a:r>
          </a:p>
        </p:txBody>
      </p:sp>
      <p:sp>
        <p:nvSpPr>
          <p:cNvPr id="15" name="TextBox 14">
            <a:extLst>
              <a:ext uri="{FF2B5EF4-FFF2-40B4-BE49-F238E27FC236}">
                <a16:creationId xmlns:a16="http://schemas.microsoft.com/office/drawing/2014/main" id="{ED39F8E9-0AD3-B143-9737-B6F78AC99B89}"/>
              </a:ext>
            </a:extLst>
          </p:cNvPr>
          <p:cNvSpPr txBox="1"/>
          <p:nvPr/>
        </p:nvSpPr>
        <p:spPr>
          <a:xfrm>
            <a:off x="185738" y="5948964"/>
            <a:ext cx="2305214" cy="830997"/>
          </a:xfrm>
          <a:prstGeom prst="rect">
            <a:avLst/>
          </a:prstGeom>
          <a:noFill/>
        </p:spPr>
        <p:txBody>
          <a:bodyPr wrap="square" rtlCol="0">
            <a:spAutoFit/>
          </a:bodyPr>
          <a:lstStyle/>
          <a:p>
            <a:r>
              <a:rPr lang="en-US" sz="4800" dirty="0"/>
              <a:t>REV A4</a:t>
            </a:r>
          </a:p>
        </p:txBody>
      </p:sp>
    </p:spTree>
    <p:extLst>
      <p:ext uri="{BB962C8B-B14F-4D97-AF65-F5344CB8AC3E}">
        <p14:creationId xmlns:p14="http://schemas.microsoft.com/office/powerpoint/2010/main" val="34762762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431435"/>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9" name="TextBox 8">
            <a:extLst>
              <a:ext uri="{FF2B5EF4-FFF2-40B4-BE49-F238E27FC236}">
                <a16:creationId xmlns:a16="http://schemas.microsoft.com/office/drawing/2014/main" id="{66010B4C-B4B7-DD42-96F6-A0CDCAD3C31A}"/>
              </a:ext>
            </a:extLst>
          </p:cNvPr>
          <p:cNvSpPr txBox="1"/>
          <p:nvPr/>
        </p:nvSpPr>
        <p:spPr>
          <a:xfrm>
            <a:off x="185738" y="5948964"/>
            <a:ext cx="2578483" cy="830997"/>
          </a:xfrm>
          <a:prstGeom prst="rect">
            <a:avLst/>
          </a:prstGeom>
          <a:noFill/>
        </p:spPr>
        <p:txBody>
          <a:bodyPr wrap="square" rtlCol="0">
            <a:spAutoFit/>
          </a:bodyPr>
          <a:lstStyle/>
          <a:p>
            <a:r>
              <a:rPr lang="en-US" sz="4800" dirty="0"/>
              <a:t>MAN Q1</a:t>
            </a:r>
          </a:p>
        </p:txBody>
      </p:sp>
      <p:sp>
        <p:nvSpPr>
          <p:cNvPr id="10" name="TextBox 9">
            <a:extLst>
              <a:ext uri="{FF2B5EF4-FFF2-40B4-BE49-F238E27FC236}">
                <a16:creationId xmlns:a16="http://schemas.microsoft.com/office/drawing/2014/main" id="{F4571597-A461-9949-AEB6-3A625F86A39F}"/>
              </a:ext>
            </a:extLst>
          </p:cNvPr>
          <p:cNvSpPr txBox="1"/>
          <p:nvPr/>
        </p:nvSpPr>
        <p:spPr>
          <a:xfrm>
            <a:off x="185736" y="899730"/>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65-year-old is brought to A&amp;E by paramedics shaking, confused and aggressive.</a:t>
            </a:r>
          </a:p>
          <a:p>
            <a:r>
              <a:rPr lang="en-US" b="1" dirty="0"/>
              <a:t>Investigations</a:t>
            </a:r>
          </a:p>
          <a:p>
            <a:r>
              <a:rPr lang="en-US" dirty="0"/>
              <a:t>Capillary glucose 2.1.</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575160"/>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management option at this stage.</a:t>
            </a:r>
          </a:p>
        </p:txBody>
      </p:sp>
      <p:graphicFrame>
        <p:nvGraphicFramePr>
          <p:cNvPr id="13" name="Table 14">
            <a:extLst>
              <a:ext uri="{FF2B5EF4-FFF2-40B4-BE49-F238E27FC236}">
                <a16:creationId xmlns:a16="http://schemas.microsoft.com/office/drawing/2014/main" id="{0C25F9D5-95DE-E849-822B-F0124E2A67C2}"/>
              </a:ext>
            </a:extLst>
          </p:cNvPr>
          <p:cNvGraphicFramePr>
            <a:graphicFrameLocks noGrp="1"/>
          </p:cNvGraphicFramePr>
          <p:nvPr>
            <p:extLst>
              <p:ext uri="{D42A27DB-BD31-4B8C-83A1-F6EECF244321}">
                <p14:modId xmlns:p14="http://schemas.microsoft.com/office/powerpoint/2010/main" val="2190685943"/>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glucose 10%, 50mls over 15m IV</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glucose 10%, 100mls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glucose 20%, 50mls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glucose 20%, 100mls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glucose 50%, 10mls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Tree>
    <p:extLst>
      <p:ext uri="{BB962C8B-B14F-4D97-AF65-F5344CB8AC3E}">
        <p14:creationId xmlns:p14="http://schemas.microsoft.com/office/powerpoint/2010/main" val="4140287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431435"/>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6" y="899730"/>
            <a:ext cx="5815012" cy="1477328"/>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65-year-old is brought to A&amp;E by paramedics shaking, confused and aggressive.</a:t>
            </a:r>
          </a:p>
          <a:p>
            <a:r>
              <a:rPr lang="en-US" b="1" dirty="0"/>
              <a:t>Investigations</a:t>
            </a:r>
          </a:p>
          <a:p>
            <a:r>
              <a:rPr lang="en-US" dirty="0"/>
              <a:t>Capillary glucose 2.1.</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575160"/>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management option at this stage.</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1671155414"/>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glucose 10%, 50mls over 15m IV</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glucose 10%, 100mls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glucose 20%, 50mls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glucose 20%, 100mls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glucose 50%, 10mls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pic>
        <p:nvPicPr>
          <p:cNvPr id="2" name="Picture 1">
            <a:extLst>
              <a:ext uri="{FF2B5EF4-FFF2-40B4-BE49-F238E27FC236}">
                <a16:creationId xmlns:a16="http://schemas.microsoft.com/office/drawing/2014/main" id="{38A03B72-C952-E94D-B036-A9783E78C173}"/>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85736" y="3696592"/>
            <a:ext cx="5815012" cy="1810120"/>
          </a:xfrm>
          <a:prstGeom prst="rect">
            <a:avLst/>
          </a:prstGeom>
        </p:spPr>
      </p:pic>
      <p:sp>
        <p:nvSpPr>
          <p:cNvPr id="13" name="TextBox 12">
            <a:extLst>
              <a:ext uri="{FF2B5EF4-FFF2-40B4-BE49-F238E27FC236}">
                <a16:creationId xmlns:a16="http://schemas.microsoft.com/office/drawing/2014/main" id="{15F27866-0078-BD4B-951C-86B8658D7902}"/>
              </a:ext>
            </a:extLst>
          </p:cNvPr>
          <p:cNvSpPr txBox="1"/>
          <p:nvPr/>
        </p:nvSpPr>
        <p:spPr>
          <a:xfrm>
            <a:off x="6191251" y="3526836"/>
            <a:ext cx="5815012" cy="1384995"/>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As per the BNF the treatment for </a:t>
            </a:r>
            <a:r>
              <a:rPr lang="en-US" sz="1400" dirty="0" err="1">
                <a:solidFill>
                  <a:srgbClr val="FF0000"/>
                </a:solidFill>
              </a:rPr>
              <a:t>hypoglycaemia</a:t>
            </a:r>
            <a:r>
              <a:rPr lang="en-US" sz="1400" dirty="0">
                <a:solidFill>
                  <a:srgbClr val="FF0000"/>
                </a:solidFill>
              </a:rPr>
              <a:t> is glucose 15-20g administered over 15 minutes as glucose 10% or 20% IV</a:t>
            </a:r>
          </a:p>
          <a:p>
            <a:pPr marL="285750" indent="-285750">
              <a:buFont typeface="Arial" panose="020B0604020202020204" pitchFamily="34" charset="0"/>
              <a:buChar char="•"/>
            </a:pPr>
            <a:r>
              <a:rPr lang="en-US" sz="1400" dirty="0">
                <a:solidFill>
                  <a:srgbClr val="FF0000"/>
                </a:solidFill>
              </a:rPr>
              <a:t>There is only one correct option that is equivalent to this</a:t>
            </a:r>
          </a:p>
          <a:p>
            <a:pPr marL="285750" indent="-285750">
              <a:buFont typeface="Arial" panose="020B0604020202020204" pitchFamily="34" charset="0"/>
              <a:buChar char="•"/>
            </a:pPr>
            <a:r>
              <a:rPr lang="en-US" sz="1400" dirty="0">
                <a:solidFill>
                  <a:srgbClr val="FF0000"/>
                </a:solidFill>
              </a:rPr>
              <a:t>Glucose 50% is hypertonic and risks extravasation so would not be appropriate (although it does equate to 20g so the dose would be correct)</a:t>
            </a:r>
          </a:p>
        </p:txBody>
      </p:sp>
      <p:sp>
        <p:nvSpPr>
          <p:cNvPr id="14" name="TextBox 13">
            <a:extLst>
              <a:ext uri="{FF2B5EF4-FFF2-40B4-BE49-F238E27FC236}">
                <a16:creationId xmlns:a16="http://schemas.microsoft.com/office/drawing/2014/main" id="{DDE4DFD9-04D9-294B-AE67-017968E1BC4C}"/>
              </a:ext>
            </a:extLst>
          </p:cNvPr>
          <p:cNvSpPr txBox="1"/>
          <p:nvPr/>
        </p:nvSpPr>
        <p:spPr>
          <a:xfrm>
            <a:off x="185738" y="5948964"/>
            <a:ext cx="2578483" cy="830997"/>
          </a:xfrm>
          <a:prstGeom prst="rect">
            <a:avLst/>
          </a:prstGeom>
          <a:noFill/>
        </p:spPr>
        <p:txBody>
          <a:bodyPr wrap="square" rtlCol="0">
            <a:spAutoFit/>
          </a:bodyPr>
          <a:lstStyle/>
          <a:p>
            <a:r>
              <a:rPr lang="en-US" sz="4800" dirty="0"/>
              <a:t>MAN A1</a:t>
            </a:r>
          </a:p>
        </p:txBody>
      </p:sp>
    </p:spTree>
    <p:extLst>
      <p:ext uri="{BB962C8B-B14F-4D97-AF65-F5344CB8AC3E}">
        <p14:creationId xmlns:p14="http://schemas.microsoft.com/office/powerpoint/2010/main" val="36284714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708434"/>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5" name="Table 14">
            <a:extLst>
              <a:ext uri="{FF2B5EF4-FFF2-40B4-BE49-F238E27FC236}">
                <a16:creationId xmlns:a16="http://schemas.microsoft.com/office/drawing/2014/main" id="{F266EC26-BAAC-EA49-B637-16D6C1CB7622}"/>
              </a:ext>
            </a:extLst>
          </p:cNvPr>
          <p:cNvGraphicFramePr>
            <a:graphicFrameLocks noGrp="1"/>
          </p:cNvGraphicFramePr>
          <p:nvPr>
            <p:extLst>
              <p:ext uri="{D42A27DB-BD31-4B8C-83A1-F6EECF244321}">
                <p14:modId xmlns:p14="http://schemas.microsoft.com/office/powerpoint/2010/main" val="3739071770"/>
              </p:ext>
            </p:extLst>
          </p:nvPr>
        </p:nvGraphicFramePr>
        <p:xfrm>
          <a:off x="6304756" y="975549"/>
          <a:ext cx="5588003" cy="24942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offer a fall detector pendant</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trial of fludrocortisone 100 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arrange occupational therapists to visit and assess fall hazards at home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amlodipine 5 mg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offer ambulatory blood pressure monitoring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6" name="TextBox 15">
            <a:extLst>
              <a:ext uri="{FF2B5EF4-FFF2-40B4-BE49-F238E27FC236}">
                <a16:creationId xmlns:a16="http://schemas.microsoft.com/office/drawing/2014/main" id="{1A8CA953-3FDF-3347-8C9D-90CA182F0713}"/>
              </a:ext>
            </a:extLst>
          </p:cNvPr>
          <p:cNvSpPr txBox="1"/>
          <p:nvPr/>
        </p:nvSpPr>
        <p:spPr>
          <a:xfrm>
            <a:off x="185736" y="899730"/>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81-year-old man presents to his GP with ongoing falls at home. </a:t>
            </a:r>
            <a:r>
              <a:rPr lang="en-US" b="1" dirty="0"/>
              <a:t>PMH.</a:t>
            </a:r>
            <a:r>
              <a:rPr lang="en-US" dirty="0"/>
              <a:t> T2DM. </a:t>
            </a:r>
            <a:r>
              <a:rPr lang="en-US" b="1" dirty="0"/>
              <a:t>DH.</a:t>
            </a:r>
            <a:r>
              <a:rPr lang="en-US" dirty="0"/>
              <a:t> Metformin 1000mg PO daily.</a:t>
            </a:r>
          </a:p>
          <a:p>
            <a:r>
              <a:rPr lang="en-US" b="1" dirty="0"/>
              <a:t>Investigations</a:t>
            </a:r>
          </a:p>
          <a:p>
            <a:r>
              <a:rPr lang="en-US" dirty="0"/>
              <a:t>Lying blood pressure 145/95, standing blood pressure 123/84.</a:t>
            </a:r>
          </a:p>
        </p:txBody>
      </p:sp>
      <p:sp>
        <p:nvSpPr>
          <p:cNvPr id="17" name="TextBox 16">
            <a:extLst>
              <a:ext uri="{FF2B5EF4-FFF2-40B4-BE49-F238E27FC236}">
                <a16:creationId xmlns:a16="http://schemas.microsoft.com/office/drawing/2014/main" id="{2D36D0BD-2AA4-1B45-A5B7-00F529021568}"/>
              </a:ext>
            </a:extLst>
          </p:cNvPr>
          <p:cNvSpPr txBox="1"/>
          <p:nvPr/>
        </p:nvSpPr>
        <p:spPr>
          <a:xfrm>
            <a:off x="185736" y="2852158"/>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management option at this stage.</a:t>
            </a:r>
          </a:p>
        </p:txBody>
      </p:sp>
      <p:sp>
        <p:nvSpPr>
          <p:cNvPr id="11" name="TextBox 10">
            <a:extLst>
              <a:ext uri="{FF2B5EF4-FFF2-40B4-BE49-F238E27FC236}">
                <a16:creationId xmlns:a16="http://schemas.microsoft.com/office/drawing/2014/main" id="{B853F479-394A-B54C-B265-0B365590A66E}"/>
              </a:ext>
            </a:extLst>
          </p:cNvPr>
          <p:cNvSpPr txBox="1"/>
          <p:nvPr/>
        </p:nvSpPr>
        <p:spPr>
          <a:xfrm>
            <a:off x="185738" y="5948964"/>
            <a:ext cx="2578483" cy="830997"/>
          </a:xfrm>
          <a:prstGeom prst="rect">
            <a:avLst/>
          </a:prstGeom>
          <a:noFill/>
        </p:spPr>
        <p:txBody>
          <a:bodyPr wrap="square" rtlCol="0">
            <a:spAutoFit/>
          </a:bodyPr>
          <a:lstStyle/>
          <a:p>
            <a:r>
              <a:rPr lang="en-US" sz="4800" dirty="0"/>
              <a:t>MAN Q2</a:t>
            </a:r>
          </a:p>
        </p:txBody>
      </p:sp>
    </p:spTree>
    <p:extLst>
      <p:ext uri="{BB962C8B-B14F-4D97-AF65-F5344CB8AC3E}">
        <p14:creationId xmlns:p14="http://schemas.microsoft.com/office/powerpoint/2010/main" val="3629542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708434"/>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6" y="899730"/>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81-year-old man presents to his GP with ongoing falls at home. </a:t>
            </a:r>
            <a:r>
              <a:rPr lang="en-US" b="1" dirty="0"/>
              <a:t>PMH.</a:t>
            </a:r>
            <a:r>
              <a:rPr lang="en-US" dirty="0"/>
              <a:t> T2DM. </a:t>
            </a:r>
            <a:r>
              <a:rPr lang="en-US" b="1" dirty="0"/>
              <a:t>DH.</a:t>
            </a:r>
            <a:r>
              <a:rPr lang="en-US" dirty="0"/>
              <a:t> Metformin 1000mg PO daily.</a:t>
            </a:r>
          </a:p>
          <a:p>
            <a:r>
              <a:rPr lang="en-US" b="1" dirty="0"/>
              <a:t>Investigations</a:t>
            </a:r>
          </a:p>
          <a:p>
            <a:r>
              <a:rPr lang="en-US" dirty="0"/>
              <a:t>Lying blood pressure 145/95, standing blood pressure 123/84.</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852158"/>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management option at this stage.</a:t>
            </a:r>
          </a:p>
        </p:txBody>
      </p:sp>
      <p:graphicFrame>
        <p:nvGraphicFramePr>
          <p:cNvPr id="15" name="Table 14">
            <a:extLst>
              <a:ext uri="{FF2B5EF4-FFF2-40B4-BE49-F238E27FC236}">
                <a16:creationId xmlns:a16="http://schemas.microsoft.com/office/drawing/2014/main" id="{F266EC26-BAAC-EA49-B637-16D6C1CB7622}"/>
              </a:ext>
            </a:extLst>
          </p:cNvPr>
          <p:cNvGraphicFramePr>
            <a:graphicFrameLocks noGrp="1"/>
          </p:cNvGraphicFramePr>
          <p:nvPr>
            <p:extLst>
              <p:ext uri="{D42A27DB-BD31-4B8C-83A1-F6EECF244321}">
                <p14:modId xmlns:p14="http://schemas.microsoft.com/office/powerpoint/2010/main" val="1538511711"/>
              </p:ext>
            </p:extLst>
          </p:nvPr>
        </p:nvGraphicFramePr>
        <p:xfrm>
          <a:off x="6304756" y="975549"/>
          <a:ext cx="5588003" cy="24942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offer a fall detector pendant</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trial of fludrocortisone 100 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arrange occupational therapists to visit and assess fall hazards at home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amlodipine 5 mg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offer ambulatory blood pressure monitoring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2" name="TextBox 11">
            <a:extLst>
              <a:ext uri="{FF2B5EF4-FFF2-40B4-BE49-F238E27FC236}">
                <a16:creationId xmlns:a16="http://schemas.microsoft.com/office/drawing/2014/main" id="{DE31A063-F4F9-754D-B787-4927CC8D792E}"/>
              </a:ext>
            </a:extLst>
          </p:cNvPr>
          <p:cNvSpPr txBox="1"/>
          <p:nvPr/>
        </p:nvSpPr>
        <p:spPr>
          <a:xfrm>
            <a:off x="6191251" y="3825879"/>
            <a:ext cx="5815012"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This patient has postural hypotension (also known as orthostatic hypotension). It is diagnosed if a systolic drop of </a:t>
            </a:r>
            <a:r>
              <a:rPr lang="en-GB" sz="1400" dirty="0">
                <a:solidFill>
                  <a:srgbClr val="FF0000"/>
                </a:solidFill>
              </a:rPr>
              <a:t>≥20mmHg and/or a diastolic drop ≥10mmgHg. The first line treatment is fludrocortisone.</a:t>
            </a:r>
          </a:p>
          <a:p>
            <a:pPr marL="285750" indent="-285750">
              <a:buFont typeface="Arial" panose="020B0604020202020204" pitchFamily="34" charset="0"/>
              <a:buChar char="•"/>
            </a:pPr>
            <a:r>
              <a:rPr lang="en-GB" sz="1400" dirty="0">
                <a:solidFill>
                  <a:srgbClr val="FF0000"/>
                </a:solidFill>
              </a:rPr>
              <a:t>It would not be appropriate to offer ABM or amlodipine for a patient of this age with a lying BP of 145/95.</a:t>
            </a:r>
          </a:p>
          <a:p>
            <a:pPr marL="285750" indent="-285750">
              <a:buFont typeface="Arial" panose="020B0604020202020204" pitchFamily="34" charset="0"/>
              <a:buChar char="•"/>
            </a:pPr>
            <a:r>
              <a:rPr lang="en-GB" sz="1400" dirty="0">
                <a:solidFill>
                  <a:srgbClr val="FF0000"/>
                </a:solidFill>
              </a:rPr>
              <a:t>A fall detector pendant or OT assessment would not address the underlying issue of postural hypotension which is the most likely reason for his falls.</a:t>
            </a:r>
            <a:endParaRPr lang="en-US" sz="1400" dirty="0">
              <a:solidFill>
                <a:srgbClr val="FF0000"/>
              </a:solidFill>
            </a:endParaRPr>
          </a:p>
        </p:txBody>
      </p:sp>
      <p:sp>
        <p:nvSpPr>
          <p:cNvPr id="13" name="TextBox 12">
            <a:extLst>
              <a:ext uri="{FF2B5EF4-FFF2-40B4-BE49-F238E27FC236}">
                <a16:creationId xmlns:a16="http://schemas.microsoft.com/office/drawing/2014/main" id="{5C9DE4EF-D863-E541-8FB8-07A5AE9DD906}"/>
              </a:ext>
            </a:extLst>
          </p:cNvPr>
          <p:cNvSpPr txBox="1"/>
          <p:nvPr/>
        </p:nvSpPr>
        <p:spPr>
          <a:xfrm>
            <a:off x="185738" y="5948964"/>
            <a:ext cx="2578483" cy="830997"/>
          </a:xfrm>
          <a:prstGeom prst="rect">
            <a:avLst/>
          </a:prstGeom>
          <a:noFill/>
        </p:spPr>
        <p:txBody>
          <a:bodyPr wrap="square" rtlCol="0">
            <a:spAutoFit/>
          </a:bodyPr>
          <a:lstStyle/>
          <a:p>
            <a:r>
              <a:rPr lang="en-US" sz="4800" dirty="0"/>
              <a:t>MAN A2</a:t>
            </a:r>
          </a:p>
        </p:txBody>
      </p:sp>
    </p:spTree>
    <p:extLst>
      <p:ext uri="{BB962C8B-B14F-4D97-AF65-F5344CB8AC3E}">
        <p14:creationId xmlns:p14="http://schemas.microsoft.com/office/powerpoint/2010/main" val="38308376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431435"/>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6" y="899730"/>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67-year-old woman presents to A&amp;E with worsening SOB and a dry cough. </a:t>
            </a:r>
            <a:r>
              <a:rPr lang="en-US" b="1" dirty="0"/>
              <a:t>PMH.</a:t>
            </a:r>
            <a:r>
              <a:rPr lang="en-US" dirty="0"/>
              <a:t> COPD. </a:t>
            </a:r>
            <a:r>
              <a:rPr lang="en-US" b="1" dirty="0"/>
              <a:t>DH.</a:t>
            </a:r>
            <a:r>
              <a:rPr lang="en-US" dirty="0"/>
              <a:t> Salbutamol 100mcg 2 puffs PRN, tiotropium 18mcg 1 puff once daily. </a:t>
            </a:r>
          </a:p>
          <a:p>
            <a:r>
              <a:rPr lang="en-US" b="1" dirty="0"/>
              <a:t>On examination</a:t>
            </a:r>
          </a:p>
          <a:p>
            <a:r>
              <a:rPr lang="en-US" dirty="0"/>
              <a:t>Acutely short of breath. </a:t>
            </a:r>
            <a:r>
              <a:rPr lang="en-US" dirty="0" err="1"/>
              <a:t>Sats</a:t>
            </a:r>
            <a:r>
              <a:rPr lang="en-US" dirty="0"/>
              <a:t> 85% on RA, RR 32, reduced air entry. BP 150/98, HR 98 and regular, HS I+II+0, cap refill 2s. Temp 37.3, PEARL, GCS 15/15, capillary glucose 4.8. Abdomen SNT, no peripheral oedema.</a:t>
            </a:r>
          </a:p>
          <a:p>
            <a:r>
              <a:rPr lang="en-US" b="1" dirty="0"/>
              <a:t>Investigations</a:t>
            </a:r>
          </a:p>
          <a:p>
            <a:r>
              <a:rPr lang="en-US" dirty="0"/>
              <a:t>ABG – pH 7.31, pO2 5.6kPa, pCO2 9.5kPa, HCO3 32.1mmol, BE 2.5mmol</a:t>
            </a:r>
          </a:p>
          <a:p>
            <a:r>
              <a:rPr lang="en-US" dirty="0"/>
              <a:t>CXR – hyperinflation</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4791151"/>
            <a:ext cx="5815012" cy="646331"/>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oxygen therapy at this stage.</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1119052758"/>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4L/min nasal </a:t>
                      </a:r>
                      <a:r>
                        <a:rPr lang="en-US" sz="1800" dirty="0" err="1"/>
                        <a:t>cannulae</a:t>
                      </a:r>
                      <a:endParaRPr lang="en-US" sz="1800" dirty="0"/>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28% venturi</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40% venturi</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15L non-rebreathe mask</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BiPAP titrating to maintain </a:t>
                      </a:r>
                      <a:r>
                        <a:rPr lang="en-US" sz="1800" dirty="0" err="1"/>
                        <a:t>sats</a:t>
                      </a:r>
                      <a:r>
                        <a:rPr lang="en-US" sz="1800" dirty="0"/>
                        <a:t> of 88-92%</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1D6B1777-70F0-9048-9226-3FC7E5760FD8}"/>
              </a:ext>
            </a:extLst>
          </p:cNvPr>
          <p:cNvSpPr txBox="1"/>
          <p:nvPr/>
        </p:nvSpPr>
        <p:spPr>
          <a:xfrm>
            <a:off x="185738" y="5948964"/>
            <a:ext cx="2578483" cy="830997"/>
          </a:xfrm>
          <a:prstGeom prst="rect">
            <a:avLst/>
          </a:prstGeom>
          <a:noFill/>
        </p:spPr>
        <p:txBody>
          <a:bodyPr wrap="square" rtlCol="0">
            <a:spAutoFit/>
          </a:bodyPr>
          <a:lstStyle/>
          <a:p>
            <a:r>
              <a:rPr lang="en-US" sz="4800" dirty="0"/>
              <a:t>MAN Q3</a:t>
            </a:r>
          </a:p>
        </p:txBody>
      </p:sp>
    </p:spTree>
    <p:extLst>
      <p:ext uri="{BB962C8B-B14F-4D97-AF65-F5344CB8AC3E}">
        <p14:creationId xmlns:p14="http://schemas.microsoft.com/office/powerpoint/2010/main" val="22101576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431435"/>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6" y="899730"/>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67-year-old woman presents to A&amp;E with worsening SOB and a dry cough. </a:t>
            </a:r>
            <a:r>
              <a:rPr lang="en-US" b="1" dirty="0"/>
              <a:t>PMH.</a:t>
            </a:r>
            <a:r>
              <a:rPr lang="en-US" dirty="0"/>
              <a:t> COPD. </a:t>
            </a:r>
            <a:r>
              <a:rPr lang="en-US" b="1" dirty="0"/>
              <a:t>DH.</a:t>
            </a:r>
            <a:r>
              <a:rPr lang="en-US" dirty="0"/>
              <a:t> Salbutamol 100mcg 2 puffs PRN, tiotropium 18mcg 1 puff once daily. </a:t>
            </a:r>
          </a:p>
          <a:p>
            <a:r>
              <a:rPr lang="en-US" b="1" dirty="0"/>
              <a:t>On examination</a:t>
            </a:r>
          </a:p>
          <a:p>
            <a:r>
              <a:rPr lang="en-US" dirty="0"/>
              <a:t>Acutely short of breath. </a:t>
            </a:r>
            <a:r>
              <a:rPr lang="en-US" dirty="0" err="1"/>
              <a:t>Sats</a:t>
            </a:r>
            <a:r>
              <a:rPr lang="en-US" dirty="0"/>
              <a:t> 85% on RA, RR 32, reduced air entry. BP 150/98, HR 98 and regular, HS I+II+0, cap refill 2s. Temp 37.3, PEARL, GCS 15/15, capillary glucose 4.8. Abdomen SNT, no peripheral oedema.</a:t>
            </a:r>
          </a:p>
          <a:p>
            <a:r>
              <a:rPr lang="en-US" b="1" dirty="0"/>
              <a:t>Investigations</a:t>
            </a:r>
          </a:p>
          <a:p>
            <a:r>
              <a:rPr lang="en-US" dirty="0"/>
              <a:t>ABG – pH 7.31, pO2 5.6kPa, pCO2 9.5kPa, HCO3 32.1mmol, BE 2.5mmol</a:t>
            </a:r>
          </a:p>
          <a:p>
            <a:r>
              <a:rPr lang="en-US" dirty="0"/>
              <a:t>CXR – hyperinflation</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4791151"/>
            <a:ext cx="5815012" cy="646331"/>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oxygen therapy at this stage.</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547772164"/>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4L/min nasal </a:t>
                      </a:r>
                      <a:r>
                        <a:rPr lang="en-US" sz="1800" dirty="0" err="1"/>
                        <a:t>cannulae</a:t>
                      </a:r>
                      <a:endParaRPr lang="en-US" sz="1800" dirty="0"/>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28% venturi</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40% venturi</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15L non-rebreathe mask</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BiPAP titrating to maintain </a:t>
                      </a:r>
                      <a:r>
                        <a:rPr lang="en-US" sz="1800" dirty="0" err="1"/>
                        <a:t>sats</a:t>
                      </a:r>
                      <a:r>
                        <a:rPr lang="en-US" sz="1800" dirty="0"/>
                        <a:t> of 88-92%</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4E2B44C0-D116-5F43-A687-39BFDDD770AC}"/>
              </a:ext>
            </a:extLst>
          </p:cNvPr>
          <p:cNvSpPr txBox="1"/>
          <p:nvPr/>
        </p:nvSpPr>
        <p:spPr>
          <a:xfrm>
            <a:off x="6191251" y="3548880"/>
            <a:ext cx="5815012" cy="1815882"/>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This patient is having an acute exacerbation of COPD.</a:t>
            </a:r>
          </a:p>
          <a:p>
            <a:pPr marL="285750" indent="-285750">
              <a:buFont typeface="Arial" panose="020B0604020202020204" pitchFamily="34" charset="0"/>
              <a:buChar char="•"/>
            </a:pPr>
            <a:r>
              <a:rPr lang="en-GB" sz="1400" dirty="0">
                <a:solidFill>
                  <a:srgbClr val="FF0000"/>
                </a:solidFill>
              </a:rPr>
              <a:t>From the ABG you can see she is retaining CO2 which means we need to be very cautious about giving lots of O2!</a:t>
            </a:r>
          </a:p>
          <a:p>
            <a:pPr marL="285750" indent="-285750">
              <a:buFont typeface="Arial" panose="020B0604020202020204" pitchFamily="34" charset="0"/>
              <a:buChar char="•"/>
            </a:pPr>
            <a:r>
              <a:rPr lang="en-GB" sz="1400" dirty="0">
                <a:solidFill>
                  <a:srgbClr val="FF0000"/>
                </a:solidFill>
              </a:rPr>
              <a:t>The most appropriate option here is 28% venturi. This is important as we are using a low and controlled concentration of O2.</a:t>
            </a:r>
          </a:p>
          <a:p>
            <a:pPr marL="285750" indent="-285750">
              <a:buFont typeface="Arial" panose="020B0604020202020204" pitchFamily="34" charset="0"/>
              <a:buChar char="•"/>
            </a:pPr>
            <a:r>
              <a:rPr lang="en-GB" sz="1400" dirty="0">
                <a:solidFill>
                  <a:srgbClr val="FF0000"/>
                </a:solidFill>
              </a:rPr>
              <a:t>4L/min nasal </a:t>
            </a:r>
            <a:r>
              <a:rPr lang="en-GB" sz="1400" dirty="0" err="1">
                <a:solidFill>
                  <a:srgbClr val="FF0000"/>
                </a:solidFill>
              </a:rPr>
              <a:t>cannulae</a:t>
            </a:r>
            <a:r>
              <a:rPr lang="en-GB" sz="1400" dirty="0">
                <a:solidFill>
                  <a:srgbClr val="FF0000"/>
                </a:solidFill>
              </a:rPr>
              <a:t> is equivalent to 36% and it is not a controlled amount. 40% venturi and 15L non-rebreathe would be too much O2.</a:t>
            </a:r>
          </a:p>
          <a:p>
            <a:pPr marL="285750" indent="-285750">
              <a:buFont typeface="Arial" panose="020B0604020202020204" pitchFamily="34" charset="0"/>
              <a:buChar char="•"/>
            </a:pPr>
            <a:r>
              <a:rPr lang="en-GB" sz="1400" dirty="0">
                <a:solidFill>
                  <a:srgbClr val="FF0000"/>
                </a:solidFill>
              </a:rPr>
              <a:t>BiPAP would not be a feasible option to start in A&amp;E.</a:t>
            </a:r>
            <a:endParaRPr lang="en-US" sz="1400" dirty="0">
              <a:solidFill>
                <a:srgbClr val="FF0000"/>
              </a:solidFill>
            </a:endParaRPr>
          </a:p>
        </p:txBody>
      </p:sp>
      <p:sp>
        <p:nvSpPr>
          <p:cNvPr id="14" name="TextBox 13">
            <a:extLst>
              <a:ext uri="{FF2B5EF4-FFF2-40B4-BE49-F238E27FC236}">
                <a16:creationId xmlns:a16="http://schemas.microsoft.com/office/drawing/2014/main" id="{7229B621-171F-9E4E-915C-C48371927E9D}"/>
              </a:ext>
            </a:extLst>
          </p:cNvPr>
          <p:cNvSpPr txBox="1"/>
          <p:nvPr/>
        </p:nvSpPr>
        <p:spPr>
          <a:xfrm>
            <a:off x="185738" y="5948964"/>
            <a:ext cx="2578483" cy="830997"/>
          </a:xfrm>
          <a:prstGeom prst="rect">
            <a:avLst/>
          </a:prstGeom>
          <a:noFill/>
        </p:spPr>
        <p:txBody>
          <a:bodyPr wrap="square" rtlCol="0">
            <a:spAutoFit/>
          </a:bodyPr>
          <a:lstStyle/>
          <a:p>
            <a:r>
              <a:rPr lang="en-US" sz="4800" dirty="0"/>
              <a:t>MAN A3</a:t>
            </a:r>
          </a:p>
        </p:txBody>
      </p:sp>
    </p:spTree>
    <p:extLst>
      <p:ext uri="{BB962C8B-B14F-4D97-AF65-F5344CB8AC3E}">
        <p14:creationId xmlns:p14="http://schemas.microsoft.com/office/powerpoint/2010/main" val="18853168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3597E17-A7E9-7345-8C89-301FA68A3728}"/>
              </a:ext>
            </a:extLst>
          </p:cNvPr>
          <p:cNvGrpSpPr/>
          <p:nvPr/>
        </p:nvGrpSpPr>
        <p:grpSpPr>
          <a:xfrm>
            <a:off x="1108075" y="585225"/>
            <a:ext cx="9975850" cy="5687550"/>
            <a:chOff x="1162050" y="718748"/>
            <a:chExt cx="9867900" cy="5626004"/>
          </a:xfrm>
        </p:grpSpPr>
        <p:pic>
          <p:nvPicPr>
            <p:cNvPr id="8" name="Picture 7">
              <a:extLst>
                <a:ext uri="{FF2B5EF4-FFF2-40B4-BE49-F238E27FC236}">
                  <a16:creationId xmlns:a16="http://schemas.microsoft.com/office/drawing/2014/main" id="{25C7EF84-4DD8-9142-B732-2E6AA44EE9F4}"/>
                </a:ext>
              </a:extLst>
            </p:cNvPr>
            <p:cNvPicPr>
              <a:picLocks noChangeAspect="1"/>
            </p:cNvPicPr>
            <p:nvPr/>
          </p:nvPicPr>
          <p:blipFill>
            <a:blip r:embed="rId2"/>
            <a:stretch>
              <a:fillRect/>
            </a:stretch>
          </p:blipFill>
          <p:spPr>
            <a:xfrm>
              <a:off x="1162050" y="2077552"/>
              <a:ext cx="9867900" cy="4267200"/>
            </a:xfrm>
            <a:prstGeom prst="rect">
              <a:avLst/>
            </a:prstGeom>
          </p:spPr>
        </p:pic>
        <p:pic>
          <p:nvPicPr>
            <p:cNvPr id="9" name="Picture 8">
              <a:extLst>
                <a:ext uri="{FF2B5EF4-FFF2-40B4-BE49-F238E27FC236}">
                  <a16:creationId xmlns:a16="http://schemas.microsoft.com/office/drawing/2014/main" id="{96E05EB5-4C21-874A-9112-F4FD4FE8660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162050" y="718748"/>
              <a:ext cx="9867900" cy="1358804"/>
            </a:xfrm>
            <a:prstGeom prst="rect">
              <a:avLst/>
            </a:prstGeom>
          </p:spPr>
        </p:pic>
      </p:grpSp>
    </p:spTree>
    <p:extLst>
      <p:ext uri="{BB962C8B-B14F-4D97-AF65-F5344CB8AC3E}">
        <p14:creationId xmlns:p14="http://schemas.microsoft.com/office/powerpoint/2010/main" val="2406095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61AB9D-C3D0-66F5-1DB3-B8CA9DFBE0CE}"/>
              </a:ext>
            </a:extLst>
          </p:cNvPr>
          <p:cNvPicPr>
            <a:picLocks noChangeAspect="1"/>
          </p:cNvPicPr>
          <p:nvPr/>
        </p:nvPicPr>
        <p:blipFill>
          <a:blip r:embed="rId2"/>
          <a:stretch>
            <a:fillRect/>
          </a:stretch>
        </p:blipFill>
        <p:spPr>
          <a:xfrm>
            <a:off x="1640359" y="89052"/>
            <a:ext cx="8911281" cy="6679896"/>
          </a:xfrm>
          <a:prstGeom prst="rect">
            <a:avLst/>
          </a:prstGeom>
        </p:spPr>
      </p:pic>
    </p:spTree>
    <p:extLst>
      <p:ext uri="{BB962C8B-B14F-4D97-AF65-F5344CB8AC3E}">
        <p14:creationId xmlns:p14="http://schemas.microsoft.com/office/powerpoint/2010/main" val="1000591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431435"/>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2903339866"/>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sodium chloride 0.9%, 1000ml over 4h IV</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calcium gluconate 10%, 30ml over 10m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salbutamol 500 mcg nebulised</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glucose 20%, 20mls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calcium polystyrene sulfonate 15g PO</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4" name="TextBox 13">
            <a:extLst>
              <a:ext uri="{FF2B5EF4-FFF2-40B4-BE49-F238E27FC236}">
                <a16:creationId xmlns:a16="http://schemas.microsoft.com/office/drawing/2014/main" id="{617A2442-0853-0545-A357-3E6E72C9EFE7}"/>
              </a:ext>
            </a:extLst>
          </p:cNvPr>
          <p:cNvSpPr txBox="1"/>
          <p:nvPr/>
        </p:nvSpPr>
        <p:spPr>
          <a:xfrm>
            <a:off x="185736"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50-year-old woman is reviewed on the surgical ward round after having a laparoscopic cholecystectomy. She is complaining of some palpitations.</a:t>
            </a:r>
          </a:p>
          <a:p>
            <a:r>
              <a:rPr lang="en-US" b="1" dirty="0"/>
              <a:t>Investigations</a:t>
            </a:r>
          </a:p>
          <a:p>
            <a:r>
              <a:rPr lang="en-US" dirty="0"/>
              <a:t>Hb 120, Na 140 (137-144), K 6.9 (3.5-5.3), U 4.8 (2.5-7.0), Cr 65 (60-110), eGFR &gt;90 (&gt;60). ECG shows mildly peaked T waves.</a:t>
            </a:r>
          </a:p>
        </p:txBody>
      </p:sp>
      <p:sp>
        <p:nvSpPr>
          <p:cNvPr id="15" name="TextBox 14">
            <a:extLst>
              <a:ext uri="{FF2B5EF4-FFF2-40B4-BE49-F238E27FC236}">
                <a16:creationId xmlns:a16="http://schemas.microsoft.com/office/drawing/2014/main" id="{1FB3D7AB-1C0E-2A49-9D8B-30453A7865CD}"/>
              </a:ext>
            </a:extLst>
          </p:cNvPr>
          <p:cNvSpPr txBox="1"/>
          <p:nvPr/>
        </p:nvSpPr>
        <p:spPr>
          <a:xfrm>
            <a:off x="185736" y="3397663"/>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management option at this stage.</a:t>
            </a:r>
          </a:p>
        </p:txBody>
      </p:sp>
      <p:sp>
        <p:nvSpPr>
          <p:cNvPr id="11" name="TextBox 10">
            <a:extLst>
              <a:ext uri="{FF2B5EF4-FFF2-40B4-BE49-F238E27FC236}">
                <a16:creationId xmlns:a16="http://schemas.microsoft.com/office/drawing/2014/main" id="{62DC4162-1C69-474F-AD2B-8795965D3C81}"/>
              </a:ext>
            </a:extLst>
          </p:cNvPr>
          <p:cNvSpPr txBox="1"/>
          <p:nvPr/>
        </p:nvSpPr>
        <p:spPr>
          <a:xfrm>
            <a:off x="185738" y="5948964"/>
            <a:ext cx="2578483" cy="830997"/>
          </a:xfrm>
          <a:prstGeom prst="rect">
            <a:avLst/>
          </a:prstGeom>
          <a:noFill/>
        </p:spPr>
        <p:txBody>
          <a:bodyPr wrap="square" rtlCol="0">
            <a:spAutoFit/>
          </a:bodyPr>
          <a:lstStyle/>
          <a:p>
            <a:r>
              <a:rPr lang="en-US" sz="4800" dirty="0"/>
              <a:t>MAN Q4</a:t>
            </a:r>
          </a:p>
        </p:txBody>
      </p:sp>
    </p:spTree>
    <p:extLst>
      <p:ext uri="{BB962C8B-B14F-4D97-AF65-F5344CB8AC3E}">
        <p14:creationId xmlns:p14="http://schemas.microsoft.com/office/powerpoint/2010/main" val="15729822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243137" cy="353943"/>
          </a:xfrm>
          <a:prstGeom prst="rect">
            <a:avLst/>
          </a:prstGeom>
          <a:solidFill>
            <a:srgbClr val="A02C2B"/>
          </a:solidFill>
        </p:spPr>
        <p:txBody>
          <a:bodyPr wrap="square" rtlCol="0">
            <a:spAutoFit/>
          </a:bodyPr>
          <a:lstStyle/>
          <a:p>
            <a:pPr algn="ctr"/>
            <a:r>
              <a:rPr lang="en-US" sz="1700" dirty="0">
                <a:solidFill>
                  <a:schemeClr val="bg1"/>
                </a:solidFill>
              </a:rPr>
              <a:t>Planning Management</a:t>
            </a:r>
          </a:p>
        </p:txBody>
      </p:sp>
      <p:sp>
        <p:nvSpPr>
          <p:cNvPr id="7" name="TextBox 6">
            <a:extLst>
              <a:ext uri="{FF2B5EF4-FFF2-40B4-BE49-F238E27FC236}">
                <a16:creationId xmlns:a16="http://schemas.microsoft.com/office/drawing/2014/main" id="{1B7972FD-31F3-CA4B-911E-3F823F1D38A7}"/>
              </a:ext>
            </a:extLst>
          </p:cNvPr>
          <p:cNvSpPr txBox="1"/>
          <p:nvPr/>
        </p:nvSpPr>
        <p:spPr>
          <a:xfrm>
            <a:off x="2428874" y="256799"/>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899730"/>
            <a:ext cx="5815012" cy="2431435"/>
          </a:xfrm>
          <a:prstGeom prst="rect">
            <a:avLst/>
          </a:prstGeom>
          <a:solidFill>
            <a:srgbClr val="ECECEC"/>
          </a:solidFill>
          <a:ln>
            <a:solidFill>
              <a:schemeClr val="tx1"/>
            </a:solidFill>
          </a:ln>
        </p:spPr>
        <p:txBody>
          <a:bodyPr wrap="square" rtlCol="0">
            <a:spAutoFit/>
          </a:bodyPr>
          <a:lstStyle/>
          <a:p>
            <a:r>
              <a:rPr lang="en-US" b="1" dirty="0"/>
              <a:t>MANAGEMENT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659822161"/>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sodium chloride 0.9%, 1000ml over 4h IV</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calcium gluconate 10%, 30ml over 10m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salbutamol 500 mcg nebulised</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glucose 20%, 20mls over 15m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calcium polystyrene sulfonate 15g PO</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4" name="TextBox 13">
            <a:extLst>
              <a:ext uri="{FF2B5EF4-FFF2-40B4-BE49-F238E27FC236}">
                <a16:creationId xmlns:a16="http://schemas.microsoft.com/office/drawing/2014/main" id="{617A2442-0853-0545-A357-3E6E72C9EFE7}"/>
              </a:ext>
            </a:extLst>
          </p:cNvPr>
          <p:cNvSpPr txBox="1"/>
          <p:nvPr/>
        </p:nvSpPr>
        <p:spPr>
          <a:xfrm>
            <a:off x="185736" y="899730"/>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50-year-old woman is reviewed on the surgical ward round after having a laparoscopic cholecystectomy. She is complaining of some palpitations.</a:t>
            </a:r>
          </a:p>
          <a:p>
            <a:r>
              <a:rPr lang="en-US" b="1" dirty="0"/>
              <a:t>Investigations</a:t>
            </a:r>
          </a:p>
          <a:p>
            <a:r>
              <a:rPr lang="en-US" dirty="0"/>
              <a:t>Hb 120, Na 140 (137-144), K 6.9 (3.5-5.3), U 4.8 (2.5-7.0), Cr 65 (60-110), eGFR &gt;90 (&gt;60). ECG shows mildly peaked T waves.</a:t>
            </a:r>
          </a:p>
        </p:txBody>
      </p:sp>
      <p:sp>
        <p:nvSpPr>
          <p:cNvPr id="15" name="TextBox 14">
            <a:extLst>
              <a:ext uri="{FF2B5EF4-FFF2-40B4-BE49-F238E27FC236}">
                <a16:creationId xmlns:a16="http://schemas.microsoft.com/office/drawing/2014/main" id="{1FB3D7AB-1C0E-2A49-9D8B-30453A7865CD}"/>
              </a:ext>
            </a:extLst>
          </p:cNvPr>
          <p:cNvSpPr txBox="1"/>
          <p:nvPr/>
        </p:nvSpPr>
        <p:spPr>
          <a:xfrm>
            <a:off x="185736" y="3397663"/>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management option at this stage.</a:t>
            </a:r>
          </a:p>
        </p:txBody>
      </p:sp>
      <p:sp>
        <p:nvSpPr>
          <p:cNvPr id="16" name="TextBox 15">
            <a:extLst>
              <a:ext uri="{FF2B5EF4-FFF2-40B4-BE49-F238E27FC236}">
                <a16:creationId xmlns:a16="http://schemas.microsoft.com/office/drawing/2014/main" id="{CC8F08F8-8C12-044D-BCD6-64548445777A}"/>
              </a:ext>
            </a:extLst>
          </p:cNvPr>
          <p:cNvSpPr txBox="1"/>
          <p:nvPr/>
        </p:nvSpPr>
        <p:spPr>
          <a:xfrm>
            <a:off x="6191251" y="3548880"/>
            <a:ext cx="5815012" cy="1169551"/>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This is an example of emergency hyperkalaemia with ECG changes. You need to give calcium gluconate urgently.</a:t>
            </a:r>
          </a:p>
          <a:p>
            <a:pPr marL="285750" indent="-285750">
              <a:buFont typeface="Arial" panose="020B0604020202020204" pitchFamily="34" charset="0"/>
              <a:buChar char="•"/>
            </a:pPr>
            <a:r>
              <a:rPr lang="en-GB" sz="1400" dirty="0">
                <a:solidFill>
                  <a:srgbClr val="FF0000"/>
                </a:solidFill>
              </a:rPr>
              <a:t>Sodium chloride 0.9% would not help her hyperkalaemia.</a:t>
            </a:r>
          </a:p>
          <a:p>
            <a:pPr marL="285750" indent="-285750">
              <a:buFont typeface="Arial" panose="020B0604020202020204" pitchFamily="34" charset="0"/>
              <a:buChar char="•"/>
            </a:pPr>
            <a:r>
              <a:rPr lang="en-GB" sz="1400" dirty="0">
                <a:solidFill>
                  <a:srgbClr val="FF0000"/>
                </a:solidFill>
              </a:rPr>
              <a:t>The remaining options are all treatments for hyperkalaemia but not in the emergency setting with ECG changes.</a:t>
            </a:r>
            <a:endParaRPr lang="en-US" sz="1400" dirty="0">
              <a:solidFill>
                <a:srgbClr val="FF0000"/>
              </a:solidFill>
            </a:endParaRPr>
          </a:p>
        </p:txBody>
      </p:sp>
      <p:sp>
        <p:nvSpPr>
          <p:cNvPr id="13" name="TextBox 12">
            <a:extLst>
              <a:ext uri="{FF2B5EF4-FFF2-40B4-BE49-F238E27FC236}">
                <a16:creationId xmlns:a16="http://schemas.microsoft.com/office/drawing/2014/main" id="{5C17EC95-35B9-5344-9678-C331E2186F3E}"/>
              </a:ext>
            </a:extLst>
          </p:cNvPr>
          <p:cNvSpPr txBox="1"/>
          <p:nvPr/>
        </p:nvSpPr>
        <p:spPr>
          <a:xfrm>
            <a:off x="185738" y="5948964"/>
            <a:ext cx="2578483" cy="830997"/>
          </a:xfrm>
          <a:prstGeom prst="rect">
            <a:avLst/>
          </a:prstGeom>
          <a:noFill/>
        </p:spPr>
        <p:txBody>
          <a:bodyPr wrap="square" rtlCol="0">
            <a:spAutoFit/>
          </a:bodyPr>
          <a:lstStyle/>
          <a:p>
            <a:r>
              <a:rPr lang="en-US" sz="4800" dirty="0"/>
              <a:t>MAN A4</a:t>
            </a:r>
          </a:p>
        </p:txBody>
      </p:sp>
    </p:spTree>
    <p:extLst>
      <p:ext uri="{BB962C8B-B14F-4D97-AF65-F5344CB8AC3E}">
        <p14:creationId xmlns:p14="http://schemas.microsoft.com/office/powerpoint/2010/main" val="27429869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4FC0A2D0-4657-7241-84EE-6C3689240784}"/>
              </a:ext>
            </a:extLst>
          </p:cNvPr>
          <p:cNvGrpSpPr/>
          <p:nvPr/>
        </p:nvGrpSpPr>
        <p:grpSpPr>
          <a:xfrm>
            <a:off x="1079500" y="303867"/>
            <a:ext cx="10033000" cy="6250266"/>
            <a:chOff x="946150" y="245784"/>
            <a:chExt cx="10033000" cy="6250266"/>
          </a:xfrm>
        </p:grpSpPr>
        <p:pic>
          <p:nvPicPr>
            <p:cNvPr id="4" name="Picture 3">
              <a:extLst>
                <a:ext uri="{FF2B5EF4-FFF2-40B4-BE49-F238E27FC236}">
                  <a16:creationId xmlns:a16="http://schemas.microsoft.com/office/drawing/2014/main" id="{EC435F53-5788-EB47-B615-1F43CC754C11}"/>
                </a:ext>
              </a:extLst>
            </p:cNvPr>
            <p:cNvPicPr>
              <a:picLocks noChangeAspect="1"/>
            </p:cNvPicPr>
            <p:nvPr/>
          </p:nvPicPr>
          <p:blipFill>
            <a:blip r:embed="rId2"/>
            <a:stretch>
              <a:fillRect/>
            </a:stretch>
          </p:blipFill>
          <p:spPr>
            <a:xfrm>
              <a:off x="946150" y="1619250"/>
              <a:ext cx="10033000" cy="4876800"/>
            </a:xfrm>
            <a:prstGeom prst="rect">
              <a:avLst/>
            </a:prstGeom>
          </p:spPr>
        </p:pic>
        <p:pic>
          <p:nvPicPr>
            <p:cNvPr id="5" name="Picture 4">
              <a:extLst>
                <a:ext uri="{FF2B5EF4-FFF2-40B4-BE49-F238E27FC236}">
                  <a16:creationId xmlns:a16="http://schemas.microsoft.com/office/drawing/2014/main" id="{C1AC430E-05CD-BF47-916E-2DB43065614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46150" y="245784"/>
              <a:ext cx="10033000" cy="1373466"/>
            </a:xfrm>
            <a:prstGeom prst="rect">
              <a:avLst/>
            </a:prstGeom>
          </p:spPr>
        </p:pic>
      </p:grpSp>
    </p:spTree>
    <p:extLst>
      <p:ext uri="{BB962C8B-B14F-4D97-AF65-F5344CB8AC3E}">
        <p14:creationId xmlns:p14="http://schemas.microsoft.com/office/powerpoint/2010/main" val="233257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7A9ADA0-C2A2-1E4B-BF7E-98696D1C28B5}"/>
              </a:ext>
            </a:extLst>
          </p:cNvPr>
          <p:cNvGraphicFramePr>
            <a:graphicFrameLocks noGrp="1"/>
          </p:cNvGraphicFramePr>
          <p:nvPr>
            <p:extLst>
              <p:ext uri="{D42A27DB-BD31-4B8C-83A1-F6EECF244321}">
                <p14:modId xmlns:p14="http://schemas.microsoft.com/office/powerpoint/2010/main" val="645375012"/>
              </p:ext>
            </p:extLst>
          </p:nvPr>
        </p:nvGraphicFramePr>
        <p:xfrm>
          <a:off x="838199" y="1094740"/>
          <a:ext cx="10515601" cy="4668520"/>
        </p:xfrm>
        <a:graphic>
          <a:graphicData uri="http://schemas.openxmlformats.org/drawingml/2006/table">
            <a:tbl>
              <a:tblPr firstRow="1" bandRow="1">
                <a:tableStyleId>{5C22544A-7EE6-4342-B048-85BDC9FD1C3A}</a:tableStyleId>
              </a:tblPr>
              <a:tblGrid>
                <a:gridCol w="471552">
                  <a:extLst>
                    <a:ext uri="{9D8B030D-6E8A-4147-A177-3AD203B41FA5}">
                      <a16:colId xmlns:a16="http://schemas.microsoft.com/office/drawing/2014/main" val="3102846193"/>
                    </a:ext>
                  </a:extLst>
                </a:gridCol>
                <a:gridCol w="4002491">
                  <a:extLst>
                    <a:ext uri="{9D8B030D-6E8A-4147-A177-3AD203B41FA5}">
                      <a16:colId xmlns:a16="http://schemas.microsoft.com/office/drawing/2014/main" val="3248067391"/>
                    </a:ext>
                  </a:extLst>
                </a:gridCol>
                <a:gridCol w="2065112">
                  <a:extLst>
                    <a:ext uri="{9D8B030D-6E8A-4147-A177-3AD203B41FA5}">
                      <a16:colId xmlns:a16="http://schemas.microsoft.com/office/drawing/2014/main" val="4036388165"/>
                    </a:ext>
                  </a:extLst>
                </a:gridCol>
                <a:gridCol w="1723019">
                  <a:extLst>
                    <a:ext uri="{9D8B030D-6E8A-4147-A177-3AD203B41FA5}">
                      <a16:colId xmlns:a16="http://schemas.microsoft.com/office/drawing/2014/main" val="3746694311"/>
                    </a:ext>
                  </a:extLst>
                </a:gridCol>
                <a:gridCol w="2253427">
                  <a:extLst>
                    <a:ext uri="{9D8B030D-6E8A-4147-A177-3AD203B41FA5}">
                      <a16:colId xmlns:a16="http://schemas.microsoft.com/office/drawing/2014/main" val="2935502373"/>
                    </a:ext>
                  </a:extLst>
                </a:gridCol>
              </a:tblGrid>
              <a:tr h="370840">
                <a:tc>
                  <a:txBody>
                    <a:bodyPr/>
                    <a:lstStyle/>
                    <a:p>
                      <a:endParaRPr lang="en-US" dirty="0"/>
                    </a:p>
                  </a:txBody>
                  <a:tcPr/>
                </a:tc>
                <a:tc>
                  <a:txBody>
                    <a:bodyPr/>
                    <a:lstStyle/>
                    <a:p>
                      <a:r>
                        <a:rPr lang="en-US" dirty="0"/>
                        <a:t>Causes</a:t>
                      </a:r>
                    </a:p>
                  </a:txBody>
                  <a:tcPr/>
                </a:tc>
                <a:tc>
                  <a:txBody>
                    <a:bodyPr/>
                    <a:lstStyle/>
                    <a:p>
                      <a:r>
                        <a:rPr lang="en-US" dirty="0"/>
                        <a:t>Symptoms</a:t>
                      </a:r>
                    </a:p>
                  </a:txBody>
                  <a:tcPr/>
                </a:tc>
                <a:tc>
                  <a:txBody>
                    <a:bodyPr/>
                    <a:lstStyle/>
                    <a:p>
                      <a:r>
                        <a:rPr lang="en-US" dirty="0"/>
                        <a:t>Diagnosis</a:t>
                      </a:r>
                    </a:p>
                  </a:txBody>
                  <a:tcPr/>
                </a:tc>
                <a:tc>
                  <a:txBody>
                    <a:bodyPr/>
                    <a:lstStyle/>
                    <a:p>
                      <a:r>
                        <a:rPr lang="en-US" dirty="0"/>
                        <a:t>Treatment</a:t>
                      </a:r>
                    </a:p>
                  </a:txBody>
                  <a:tcPr/>
                </a:tc>
                <a:extLst>
                  <a:ext uri="{0D108BD9-81ED-4DB2-BD59-A6C34878D82A}">
                    <a16:rowId xmlns:a16="http://schemas.microsoft.com/office/drawing/2014/main" val="1651846834"/>
                  </a:ext>
                </a:extLst>
              </a:tr>
              <a:tr h="370840">
                <a:tc>
                  <a:txBody>
                    <a:bodyPr/>
                    <a:lstStyle/>
                    <a:p>
                      <a:pPr algn="ctr"/>
                      <a:r>
                        <a:rPr lang="en-US" dirty="0" err="1"/>
                        <a:t>Hypokalaemia</a:t>
                      </a:r>
                      <a:endParaRPr lang="en-US" dirty="0"/>
                    </a:p>
                  </a:txBody>
                  <a:tcPr vert="vert270" anchor="ctr"/>
                </a:tc>
                <a:tc>
                  <a:txBody>
                    <a:bodyPr/>
                    <a:lstStyle/>
                    <a:p>
                      <a:r>
                        <a:rPr lang="en-US" sz="1400" b="1" dirty="0"/>
                        <a:t>Intake</a:t>
                      </a:r>
                      <a:r>
                        <a:rPr lang="en-US" sz="1400" dirty="0"/>
                        <a:t> – low K+ diet</a:t>
                      </a:r>
                    </a:p>
                    <a:p>
                      <a:r>
                        <a:rPr lang="en-US" sz="1400" b="1" dirty="0"/>
                        <a:t>Drugs</a:t>
                      </a:r>
                      <a:r>
                        <a:rPr lang="en-US" sz="1400" dirty="0"/>
                        <a:t> – loop or thiazide diuretics, steroids</a:t>
                      </a:r>
                    </a:p>
                    <a:p>
                      <a:r>
                        <a:rPr lang="en-US" sz="1400" b="1" dirty="0"/>
                        <a:t>Transcellular shift </a:t>
                      </a:r>
                      <a:r>
                        <a:rPr lang="en-US" sz="1400" dirty="0"/>
                        <a:t>– alkalosis, refeeding syndrome, SABA, insulin, hypomagnesemia</a:t>
                      </a:r>
                    </a:p>
                    <a:p>
                      <a:r>
                        <a:rPr lang="en-US" sz="1400" b="1" dirty="0"/>
                        <a:t>Endocrine</a:t>
                      </a:r>
                      <a:r>
                        <a:rPr lang="en-US" sz="1400" dirty="0"/>
                        <a:t> – Cushing’s syndrome, DI, primary polydipsia, hyperaldosteronism (Conn’s syndrome)</a:t>
                      </a:r>
                    </a:p>
                    <a:p>
                      <a:r>
                        <a:rPr lang="en-US" sz="1400" b="1" dirty="0"/>
                        <a:t>Renal</a:t>
                      </a:r>
                      <a:r>
                        <a:rPr lang="en-US" sz="1400" dirty="0"/>
                        <a:t> – dialysis</a:t>
                      </a:r>
                    </a:p>
                    <a:p>
                      <a:r>
                        <a:rPr lang="en-US" sz="1400" b="1" dirty="0"/>
                        <a:t>GI</a:t>
                      </a:r>
                      <a:r>
                        <a:rPr lang="en-US" sz="1400" dirty="0"/>
                        <a:t> – vomiting, </a:t>
                      </a:r>
                      <a:r>
                        <a:rPr lang="en-US" sz="1400" dirty="0" err="1"/>
                        <a:t>diarrhoea</a:t>
                      </a:r>
                      <a:endParaRPr lang="en-US" sz="1400" dirty="0"/>
                    </a:p>
                    <a:p>
                      <a:r>
                        <a:rPr lang="en-US" sz="1400" b="1" dirty="0"/>
                        <a:t>Pseudo</a:t>
                      </a:r>
                      <a:r>
                        <a:rPr lang="en-US" sz="1400" dirty="0"/>
                        <a:t> – leukocytosis </a:t>
                      </a:r>
                    </a:p>
                  </a:txBody>
                  <a:tcPr/>
                </a:tc>
                <a:tc>
                  <a:txBody>
                    <a:bodyPr/>
                    <a:lstStyle/>
                    <a:p>
                      <a:r>
                        <a:rPr lang="en-US" dirty="0"/>
                        <a:t>Metabolic alkalosis</a:t>
                      </a:r>
                    </a:p>
                    <a:p>
                      <a:r>
                        <a:rPr lang="en-US" dirty="0"/>
                        <a:t>Arrythmias</a:t>
                      </a:r>
                    </a:p>
                    <a:p>
                      <a:r>
                        <a:rPr lang="en-US" dirty="0"/>
                        <a:t>Muscle weakness</a:t>
                      </a:r>
                    </a:p>
                    <a:p>
                      <a:r>
                        <a:rPr lang="en-US" dirty="0"/>
                        <a:t>Reduced reflexes</a:t>
                      </a:r>
                    </a:p>
                    <a:p>
                      <a:r>
                        <a:rPr lang="en-US" dirty="0"/>
                        <a:t>Constipation</a:t>
                      </a:r>
                    </a:p>
                  </a:txBody>
                  <a:tcPr/>
                </a:tc>
                <a:tc>
                  <a:txBody>
                    <a:bodyPr/>
                    <a:lstStyle/>
                    <a:p>
                      <a:r>
                        <a:rPr lang="en-US" dirty="0"/>
                        <a:t>K &lt;3.5</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ECG – ‘In </a:t>
                      </a:r>
                      <a:r>
                        <a:rPr lang="en-US" dirty="0" err="1"/>
                        <a:t>hypokalaemia</a:t>
                      </a:r>
                      <a:r>
                        <a:rPr lang="en-US" dirty="0"/>
                        <a:t> </a:t>
                      </a:r>
                      <a:r>
                        <a:rPr lang="en-US" b="1" dirty="0"/>
                        <a:t>U</a:t>
                      </a:r>
                      <a:r>
                        <a:rPr lang="en-US" dirty="0"/>
                        <a:t> have </a:t>
                      </a:r>
                      <a:r>
                        <a:rPr lang="en-US" b="1" dirty="0"/>
                        <a:t>no Pot </a:t>
                      </a:r>
                      <a:r>
                        <a:rPr lang="en-US" dirty="0"/>
                        <a:t>or </a:t>
                      </a:r>
                      <a:r>
                        <a:rPr lang="en-US" b="1" dirty="0"/>
                        <a:t>no T</a:t>
                      </a:r>
                      <a:r>
                        <a:rPr lang="en-US" dirty="0"/>
                        <a:t> but a </a:t>
                      </a:r>
                      <a:r>
                        <a:rPr lang="en-US" b="1" dirty="0"/>
                        <a:t>long PR </a:t>
                      </a:r>
                      <a:r>
                        <a:rPr lang="en-US" dirty="0"/>
                        <a:t>and a </a:t>
                      </a:r>
                      <a:r>
                        <a:rPr lang="en-US" b="1" dirty="0"/>
                        <a:t>long QT</a:t>
                      </a:r>
                      <a:r>
                        <a:rPr lang="en-US" dirty="0"/>
                        <a:t>’</a:t>
                      </a:r>
                    </a:p>
                  </a:txBody>
                  <a:tcPr/>
                </a:tc>
                <a:tc>
                  <a:txBody>
                    <a:bodyPr/>
                    <a:lstStyle/>
                    <a:p>
                      <a:r>
                        <a:rPr lang="en-US" dirty="0">
                          <a:highlight>
                            <a:srgbClr val="FFFF00"/>
                          </a:highlight>
                        </a:rPr>
                        <a:t>0.3% potassium chloride, 1000ml over 4h</a:t>
                      </a:r>
                    </a:p>
                    <a:p>
                      <a:endParaRPr lang="en-US" dirty="0"/>
                    </a:p>
                    <a:p>
                      <a:r>
                        <a:rPr lang="en-US" dirty="0"/>
                        <a:t>Sando K</a:t>
                      </a:r>
                    </a:p>
                  </a:txBody>
                  <a:tcPr/>
                </a:tc>
                <a:extLst>
                  <a:ext uri="{0D108BD9-81ED-4DB2-BD59-A6C34878D82A}">
                    <a16:rowId xmlns:a16="http://schemas.microsoft.com/office/drawing/2014/main" val="3755296429"/>
                  </a:ext>
                </a:extLst>
              </a:tr>
              <a:tr h="370840">
                <a:tc>
                  <a:txBody>
                    <a:bodyPr/>
                    <a:lstStyle/>
                    <a:p>
                      <a:pPr algn="ctr"/>
                      <a:r>
                        <a:rPr lang="en-US" dirty="0" err="1"/>
                        <a:t>Hyperkalaemia</a:t>
                      </a:r>
                      <a:endParaRPr lang="en-US" dirty="0"/>
                    </a:p>
                  </a:txBody>
                  <a:tcPr vert="vert27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Intake</a:t>
                      </a:r>
                      <a:r>
                        <a:rPr lang="en-US" sz="1400" dirty="0"/>
                        <a:t> – high K+ diet, K+ supplementation (fluids, sando K), blood transfusion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Drugs</a:t>
                      </a:r>
                      <a:r>
                        <a:rPr lang="en-US" sz="1400" dirty="0"/>
                        <a:t> – K+ sparing diuretics, </a:t>
                      </a:r>
                      <a:r>
                        <a:rPr lang="en-US" sz="1400" dirty="0" err="1"/>
                        <a:t>ACEi</a:t>
                      </a:r>
                      <a:r>
                        <a:rPr lang="en-US" sz="1400" dirty="0"/>
                        <a:t>, ARB, NSAIDs, BB</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Transcellular</a:t>
                      </a:r>
                      <a:r>
                        <a:rPr lang="en-US" sz="1400" dirty="0"/>
                        <a:t> </a:t>
                      </a:r>
                      <a:r>
                        <a:rPr lang="en-US" sz="1400" b="1" dirty="0"/>
                        <a:t>shift</a:t>
                      </a:r>
                      <a:r>
                        <a:rPr lang="en-US" sz="1400" dirty="0"/>
                        <a:t> – acidosis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Endocrine</a:t>
                      </a:r>
                      <a:r>
                        <a:rPr lang="en-US" sz="1400" dirty="0"/>
                        <a:t> – hypoaldosteronism (Addison’s disease)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Renal</a:t>
                      </a:r>
                      <a:r>
                        <a:rPr lang="en-US" sz="1400" dirty="0"/>
                        <a:t> – AKI, CKD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GI</a:t>
                      </a:r>
                      <a:r>
                        <a:rPr lang="en-US" sz="1400" dirty="0"/>
                        <a:t> – nil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t>Pseudo</a:t>
                      </a:r>
                      <a:r>
                        <a:rPr lang="en-US" sz="1400" dirty="0"/>
                        <a:t> – </a:t>
                      </a:r>
                      <a:r>
                        <a:rPr lang="en-US" sz="1400" dirty="0" err="1"/>
                        <a:t>haemolysed</a:t>
                      </a:r>
                      <a:r>
                        <a:rPr lang="en-US" sz="1400" dirty="0"/>
                        <a:t> sample, dehydration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r>
                        <a:rPr lang="en-US" dirty="0"/>
                        <a:t>Metabolic acidosis</a:t>
                      </a:r>
                    </a:p>
                    <a:p>
                      <a:r>
                        <a:rPr lang="en-US" dirty="0"/>
                        <a:t>Arrythmias</a:t>
                      </a:r>
                    </a:p>
                    <a:p>
                      <a:r>
                        <a:rPr lang="en-US" dirty="0"/>
                        <a:t>Muscle weakness</a:t>
                      </a:r>
                    </a:p>
                    <a:p>
                      <a:r>
                        <a:rPr lang="en-US" dirty="0"/>
                        <a:t>Reduced reflexes</a:t>
                      </a:r>
                    </a:p>
                    <a:p>
                      <a:r>
                        <a:rPr lang="en-US" dirty="0" err="1"/>
                        <a:t>Diarrhoea</a:t>
                      </a:r>
                      <a:endParaRPr lang="en-US" dirty="0"/>
                    </a:p>
                  </a:txBody>
                  <a:tcPr/>
                </a:tc>
                <a:tc>
                  <a:txBody>
                    <a:bodyPr/>
                    <a:lstStyle/>
                    <a:p>
                      <a:r>
                        <a:rPr lang="en-US" dirty="0"/>
                        <a:t>K &gt;5.3</a:t>
                      </a:r>
                    </a:p>
                    <a:p>
                      <a:r>
                        <a:rPr lang="en-US" dirty="0"/>
                        <a:t>ECG – absent P waves, prolonged QRS, peaked or ‘tall tented’ T waves, sine wave pattern</a:t>
                      </a:r>
                    </a:p>
                  </a:txBody>
                  <a:tcPr/>
                </a:tc>
                <a:tc>
                  <a:txBody>
                    <a:bodyPr/>
                    <a:lstStyle/>
                    <a:p>
                      <a:r>
                        <a:rPr lang="en-US" dirty="0">
                          <a:highlight>
                            <a:srgbClr val="FFFF00"/>
                          </a:highlight>
                        </a:rPr>
                        <a:t>calcium gluconate 10%, 30ml over 10m</a:t>
                      </a:r>
                    </a:p>
                    <a:p>
                      <a:endParaRPr lang="en-US" dirty="0"/>
                    </a:p>
                    <a:p>
                      <a:r>
                        <a:rPr lang="en-US" b="1" dirty="0"/>
                        <a:t>Short-term</a:t>
                      </a:r>
                      <a:r>
                        <a:rPr lang="en-US" dirty="0"/>
                        <a:t> – insulin + glucose, salbutamol</a:t>
                      </a:r>
                    </a:p>
                    <a:p>
                      <a:r>
                        <a:rPr lang="en-US" b="1" dirty="0"/>
                        <a:t>Long-term</a:t>
                      </a:r>
                      <a:r>
                        <a:rPr lang="en-US" dirty="0"/>
                        <a:t> – calcium polystyrene sulfonate, loop diuretics, dialysis</a:t>
                      </a:r>
                    </a:p>
                  </a:txBody>
                  <a:tcPr/>
                </a:tc>
                <a:extLst>
                  <a:ext uri="{0D108BD9-81ED-4DB2-BD59-A6C34878D82A}">
                    <a16:rowId xmlns:a16="http://schemas.microsoft.com/office/drawing/2014/main" val="2077815651"/>
                  </a:ext>
                </a:extLst>
              </a:tr>
            </a:tbl>
          </a:graphicData>
        </a:graphic>
      </p:graphicFrame>
    </p:spTree>
    <p:extLst>
      <p:ext uri="{BB962C8B-B14F-4D97-AF65-F5344CB8AC3E}">
        <p14:creationId xmlns:p14="http://schemas.microsoft.com/office/powerpoint/2010/main" val="34741359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757160" cy="353943"/>
          </a:xfrm>
          <a:prstGeom prst="rect">
            <a:avLst/>
          </a:prstGeom>
          <a:solidFill>
            <a:srgbClr val="56C0D9"/>
          </a:solidFill>
        </p:spPr>
        <p:txBody>
          <a:bodyPr wrap="square" rtlCol="0">
            <a:spAutoFit/>
          </a:bodyPr>
          <a:lstStyle/>
          <a:p>
            <a:pPr algn="ctr"/>
            <a:r>
              <a:rPr lang="en-US" sz="1700" dirty="0">
                <a:solidFill>
                  <a:schemeClr val="bg1"/>
                </a:solidFill>
              </a:rPr>
              <a:t>Communicating Information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942897" y="269956"/>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INFORMATION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9" name="TextBox 8">
            <a:extLst>
              <a:ext uri="{FF2B5EF4-FFF2-40B4-BE49-F238E27FC236}">
                <a16:creationId xmlns:a16="http://schemas.microsoft.com/office/drawing/2014/main" id="{66010B4C-B4B7-DD42-96F6-A0CDCAD3C31A}"/>
              </a:ext>
            </a:extLst>
          </p:cNvPr>
          <p:cNvSpPr txBox="1"/>
          <p:nvPr/>
        </p:nvSpPr>
        <p:spPr>
          <a:xfrm>
            <a:off x="185739" y="5948964"/>
            <a:ext cx="2473378" cy="830997"/>
          </a:xfrm>
          <a:prstGeom prst="rect">
            <a:avLst/>
          </a:prstGeom>
          <a:noFill/>
        </p:spPr>
        <p:txBody>
          <a:bodyPr wrap="square" rtlCol="0">
            <a:spAutoFit/>
          </a:bodyPr>
          <a:lstStyle/>
          <a:p>
            <a:r>
              <a:rPr lang="en-US" sz="4800" dirty="0"/>
              <a:t>COM Q1</a:t>
            </a:r>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a:t>
            </a:r>
            <a:r>
              <a:rPr lang="en-GB" dirty="0"/>
              <a:t>72-year-old man is started on amitriptyline for ongoing neuropathic pain.</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7"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important</a:t>
            </a:r>
            <a:r>
              <a:rPr lang="en-US" dirty="0"/>
              <a:t> information option that should be provided for the patient.</a:t>
            </a:r>
            <a:endParaRPr lang="en-US" i="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812087479"/>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it might cause weight changes</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the dose must be titrated up</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he must avoid bright sunlight</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avoid operating heavy machinery if drinking alcohol</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drowsiness is a common side effect</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Tree>
    <p:extLst>
      <p:ext uri="{BB962C8B-B14F-4D97-AF65-F5344CB8AC3E}">
        <p14:creationId xmlns:p14="http://schemas.microsoft.com/office/powerpoint/2010/main" val="2097897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757160" cy="353943"/>
          </a:xfrm>
          <a:prstGeom prst="rect">
            <a:avLst/>
          </a:prstGeom>
          <a:solidFill>
            <a:srgbClr val="56C0D9"/>
          </a:solidFill>
        </p:spPr>
        <p:txBody>
          <a:bodyPr wrap="square" rtlCol="0">
            <a:spAutoFit/>
          </a:bodyPr>
          <a:lstStyle/>
          <a:p>
            <a:pPr algn="ctr"/>
            <a:r>
              <a:rPr lang="en-US" sz="1700" dirty="0">
                <a:solidFill>
                  <a:schemeClr val="bg1"/>
                </a:solidFill>
              </a:rPr>
              <a:t>Communicating Information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942897" y="269956"/>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INFORMATION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a:t>
            </a:r>
            <a:r>
              <a:rPr lang="en-GB" dirty="0"/>
              <a:t>72-year-old man is started on amitriptyline for ongoing neuropathic pain.</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7"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important</a:t>
            </a:r>
            <a:r>
              <a:rPr lang="en-US" dirty="0"/>
              <a:t> information option that should be provided for the patient.</a:t>
            </a:r>
            <a:endParaRPr lang="en-US" i="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2614445839"/>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it might cause weight changes</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the dose must be titrated up</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he must avoid bright sunlight</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avoid operating heavy machinery if drinking alcohol</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drowsiness is a common side effect</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5BC9BC5E-016A-FD42-B724-5345F17F16C0}"/>
              </a:ext>
            </a:extLst>
          </p:cNvPr>
          <p:cNvSpPr txBox="1"/>
          <p:nvPr/>
        </p:nvSpPr>
        <p:spPr>
          <a:xfrm>
            <a:off x="6191251" y="3548880"/>
            <a:ext cx="5815012" cy="738664"/>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Many of these options are correct but which is the </a:t>
            </a:r>
            <a:r>
              <a:rPr lang="en-US" sz="1400" i="1" dirty="0">
                <a:solidFill>
                  <a:srgbClr val="FF0000"/>
                </a:solidFill>
              </a:rPr>
              <a:t>most important</a:t>
            </a:r>
            <a:r>
              <a:rPr lang="en-US" sz="1400" dirty="0">
                <a:solidFill>
                  <a:srgbClr val="FF0000"/>
                </a:solidFill>
              </a:rPr>
              <a:t>?</a:t>
            </a:r>
          </a:p>
          <a:p>
            <a:pPr marL="285750" indent="-285750">
              <a:buFont typeface="Arial" panose="020B0604020202020204" pitchFamily="34" charset="0"/>
              <a:buChar char="•"/>
            </a:pPr>
            <a:r>
              <a:rPr lang="en-US" sz="1400" dirty="0">
                <a:solidFill>
                  <a:srgbClr val="FF0000"/>
                </a:solidFill>
              </a:rPr>
              <a:t>Alcohol can enhance the effect of amitriptyline meaning operating heavy machinery would be very dangerous. This must be avoided.</a:t>
            </a:r>
          </a:p>
        </p:txBody>
      </p:sp>
      <p:pic>
        <p:nvPicPr>
          <p:cNvPr id="2" name="Picture 1">
            <a:extLst>
              <a:ext uri="{FF2B5EF4-FFF2-40B4-BE49-F238E27FC236}">
                <a16:creationId xmlns:a16="http://schemas.microsoft.com/office/drawing/2014/main" id="{A8E300EB-C735-5B48-9A99-6BBCE3E3312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19812" y="4420894"/>
            <a:ext cx="5815012" cy="986475"/>
          </a:xfrm>
          <a:prstGeom prst="rect">
            <a:avLst/>
          </a:prstGeom>
        </p:spPr>
      </p:pic>
      <p:pic>
        <p:nvPicPr>
          <p:cNvPr id="3" name="Picture 2">
            <a:extLst>
              <a:ext uri="{FF2B5EF4-FFF2-40B4-BE49-F238E27FC236}">
                <a16:creationId xmlns:a16="http://schemas.microsoft.com/office/drawing/2014/main" id="{A02E4253-001B-0D46-814E-A5A5FDB17CA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119812" y="5540719"/>
            <a:ext cx="5856274" cy="1146272"/>
          </a:xfrm>
          <a:prstGeom prst="rect">
            <a:avLst/>
          </a:prstGeom>
        </p:spPr>
      </p:pic>
      <p:sp>
        <p:nvSpPr>
          <p:cNvPr id="14" name="TextBox 13">
            <a:extLst>
              <a:ext uri="{FF2B5EF4-FFF2-40B4-BE49-F238E27FC236}">
                <a16:creationId xmlns:a16="http://schemas.microsoft.com/office/drawing/2014/main" id="{2BCC9963-78C9-1846-91FB-8D98C3648D53}"/>
              </a:ext>
            </a:extLst>
          </p:cNvPr>
          <p:cNvSpPr txBox="1"/>
          <p:nvPr/>
        </p:nvSpPr>
        <p:spPr>
          <a:xfrm>
            <a:off x="185739" y="5948964"/>
            <a:ext cx="2473378" cy="830997"/>
          </a:xfrm>
          <a:prstGeom prst="rect">
            <a:avLst/>
          </a:prstGeom>
          <a:noFill/>
        </p:spPr>
        <p:txBody>
          <a:bodyPr wrap="square" rtlCol="0">
            <a:spAutoFit/>
          </a:bodyPr>
          <a:lstStyle/>
          <a:p>
            <a:r>
              <a:rPr lang="en-US" sz="4800" dirty="0"/>
              <a:t>COM A1</a:t>
            </a:r>
          </a:p>
        </p:txBody>
      </p:sp>
    </p:spTree>
    <p:extLst>
      <p:ext uri="{BB962C8B-B14F-4D97-AF65-F5344CB8AC3E}">
        <p14:creationId xmlns:p14="http://schemas.microsoft.com/office/powerpoint/2010/main" val="797845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757160" cy="353943"/>
          </a:xfrm>
          <a:prstGeom prst="rect">
            <a:avLst/>
          </a:prstGeom>
          <a:solidFill>
            <a:srgbClr val="56C0D9"/>
          </a:solidFill>
        </p:spPr>
        <p:txBody>
          <a:bodyPr wrap="square" rtlCol="0">
            <a:spAutoFit/>
          </a:bodyPr>
          <a:lstStyle/>
          <a:p>
            <a:pPr algn="ctr"/>
            <a:r>
              <a:rPr lang="en-US" sz="1700" dirty="0">
                <a:solidFill>
                  <a:schemeClr val="bg1"/>
                </a:solidFill>
              </a:rPr>
              <a:t>Communicating Information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942897" y="269956"/>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985433"/>
          </a:xfrm>
          <a:prstGeom prst="rect">
            <a:avLst/>
          </a:prstGeom>
          <a:solidFill>
            <a:srgbClr val="ECECEC"/>
          </a:solidFill>
          <a:ln>
            <a:solidFill>
              <a:schemeClr val="tx1"/>
            </a:solidFill>
          </a:ln>
        </p:spPr>
        <p:txBody>
          <a:bodyPr wrap="square" rtlCol="0">
            <a:spAutoFit/>
          </a:bodyPr>
          <a:lstStyle/>
          <a:p>
            <a:r>
              <a:rPr lang="en-US" b="1" dirty="0"/>
              <a:t>INFORMATION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a:t>
            </a:r>
            <a:r>
              <a:rPr lang="en-GB" dirty="0"/>
              <a:t>12-year-old girl is started on an insulin pump for newly diagnosed T1DM.</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7"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important</a:t>
            </a:r>
            <a:r>
              <a:rPr lang="en-US" dirty="0"/>
              <a:t> information option that should be provided for the patient.</a:t>
            </a:r>
            <a:endParaRPr lang="en-US" i="1" dirty="0"/>
          </a:p>
        </p:txBody>
      </p:sp>
      <p:graphicFrame>
        <p:nvGraphicFramePr>
          <p:cNvPr id="14" name="Table 14">
            <a:extLst>
              <a:ext uri="{FF2B5EF4-FFF2-40B4-BE49-F238E27FC236}">
                <a16:creationId xmlns:a16="http://schemas.microsoft.com/office/drawing/2014/main" id="{514FDA84-80EA-B642-B79E-DFF178C49ADB}"/>
              </a:ext>
            </a:extLst>
          </p:cNvPr>
          <p:cNvGraphicFramePr>
            <a:graphicFrameLocks noGrp="1"/>
          </p:cNvGraphicFramePr>
          <p:nvPr>
            <p:extLst>
              <p:ext uri="{D42A27DB-BD31-4B8C-83A1-F6EECF244321}">
                <p14:modId xmlns:p14="http://schemas.microsoft.com/office/powerpoint/2010/main" val="1029783513"/>
              </p:ext>
            </p:extLst>
          </p:nvPr>
        </p:nvGraphicFramePr>
        <p:xfrm>
          <a:off x="6304756" y="975549"/>
          <a:ext cx="5588003" cy="276352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she must monitor her blood glucose six times a day </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she should seek medical help if she is unable to drink fluids due to N&amp;V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she should check ketones if her blood glucose is &gt;10mmol</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she will need to have blood tests to check HbA1c</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she must be aware of the signs of </a:t>
                      </a:r>
                      <a:r>
                        <a:rPr lang="en-US" sz="1800" dirty="0" err="1"/>
                        <a:t>hypoglycaemia</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2" name="TextBox 11">
            <a:extLst>
              <a:ext uri="{FF2B5EF4-FFF2-40B4-BE49-F238E27FC236}">
                <a16:creationId xmlns:a16="http://schemas.microsoft.com/office/drawing/2014/main" id="{427D59EE-B98A-4D4D-89D1-98B9E2DDB03D}"/>
              </a:ext>
            </a:extLst>
          </p:cNvPr>
          <p:cNvSpPr txBox="1"/>
          <p:nvPr/>
        </p:nvSpPr>
        <p:spPr>
          <a:xfrm>
            <a:off x="185739" y="5948964"/>
            <a:ext cx="2473378" cy="830997"/>
          </a:xfrm>
          <a:prstGeom prst="rect">
            <a:avLst/>
          </a:prstGeom>
          <a:noFill/>
        </p:spPr>
        <p:txBody>
          <a:bodyPr wrap="square" rtlCol="0">
            <a:spAutoFit/>
          </a:bodyPr>
          <a:lstStyle/>
          <a:p>
            <a:r>
              <a:rPr lang="en-US" sz="4800" dirty="0"/>
              <a:t>COM Q2</a:t>
            </a:r>
          </a:p>
        </p:txBody>
      </p:sp>
    </p:spTree>
    <p:extLst>
      <p:ext uri="{BB962C8B-B14F-4D97-AF65-F5344CB8AC3E}">
        <p14:creationId xmlns:p14="http://schemas.microsoft.com/office/powerpoint/2010/main" val="23164418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757160" cy="353943"/>
          </a:xfrm>
          <a:prstGeom prst="rect">
            <a:avLst/>
          </a:prstGeom>
          <a:solidFill>
            <a:srgbClr val="56C0D9"/>
          </a:solidFill>
        </p:spPr>
        <p:txBody>
          <a:bodyPr wrap="square" rtlCol="0">
            <a:spAutoFit/>
          </a:bodyPr>
          <a:lstStyle/>
          <a:p>
            <a:pPr algn="ctr"/>
            <a:r>
              <a:rPr lang="en-US" sz="1700" dirty="0">
                <a:solidFill>
                  <a:schemeClr val="bg1"/>
                </a:solidFill>
              </a:rPr>
              <a:t>Communicating Information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942897" y="269956"/>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985433"/>
          </a:xfrm>
          <a:prstGeom prst="rect">
            <a:avLst/>
          </a:prstGeom>
          <a:solidFill>
            <a:srgbClr val="ECECEC"/>
          </a:solidFill>
          <a:ln>
            <a:solidFill>
              <a:schemeClr val="tx1"/>
            </a:solidFill>
          </a:ln>
        </p:spPr>
        <p:txBody>
          <a:bodyPr wrap="square" rtlCol="0">
            <a:spAutoFit/>
          </a:bodyPr>
          <a:lstStyle/>
          <a:p>
            <a:r>
              <a:rPr lang="en-US" b="1" dirty="0"/>
              <a:t>INFORMATION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a:t>
            </a:r>
            <a:r>
              <a:rPr lang="en-GB" dirty="0"/>
              <a:t>12-year-old girl is started on an insulin pump for newly diagnosed T1DM.</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7"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important</a:t>
            </a:r>
            <a:r>
              <a:rPr lang="en-US" dirty="0"/>
              <a:t> information option that should be provided for the patient.</a:t>
            </a:r>
            <a:endParaRPr lang="en-US" i="1" dirty="0"/>
          </a:p>
        </p:txBody>
      </p:sp>
      <p:graphicFrame>
        <p:nvGraphicFramePr>
          <p:cNvPr id="14" name="Table 14">
            <a:extLst>
              <a:ext uri="{FF2B5EF4-FFF2-40B4-BE49-F238E27FC236}">
                <a16:creationId xmlns:a16="http://schemas.microsoft.com/office/drawing/2014/main" id="{514FDA84-80EA-B642-B79E-DFF178C49ADB}"/>
              </a:ext>
            </a:extLst>
          </p:cNvPr>
          <p:cNvGraphicFramePr>
            <a:graphicFrameLocks noGrp="1"/>
          </p:cNvGraphicFramePr>
          <p:nvPr>
            <p:extLst>
              <p:ext uri="{D42A27DB-BD31-4B8C-83A1-F6EECF244321}">
                <p14:modId xmlns:p14="http://schemas.microsoft.com/office/powerpoint/2010/main" val="2601915423"/>
              </p:ext>
            </p:extLst>
          </p:nvPr>
        </p:nvGraphicFramePr>
        <p:xfrm>
          <a:off x="6304756" y="975549"/>
          <a:ext cx="5588003" cy="276352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she must monitor her blood glucose six times a day </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she should seek medical help if she is unable to drink fluids due to N&amp;V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she should check ketones if her blood glucose is &gt;10mmol</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she will need to have blood tests to check HbA1c</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she must be aware of the signs of </a:t>
                      </a:r>
                      <a:r>
                        <a:rPr lang="en-US" sz="1800" dirty="0" err="1"/>
                        <a:t>hypoglycaemia</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2" name="TextBox 11">
            <a:extLst>
              <a:ext uri="{FF2B5EF4-FFF2-40B4-BE49-F238E27FC236}">
                <a16:creationId xmlns:a16="http://schemas.microsoft.com/office/drawing/2014/main" id="{CB1AA0E9-D045-224F-A98D-02C3C91F8236}"/>
              </a:ext>
            </a:extLst>
          </p:cNvPr>
          <p:cNvSpPr txBox="1"/>
          <p:nvPr/>
        </p:nvSpPr>
        <p:spPr>
          <a:xfrm>
            <a:off x="6191250" y="4103642"/>
            <a:ext cx="5815012" cy="1815882"/>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These are all examples of sick day rules discussed during session 4</a:t>
            </a:r>
          </a:p>
          <a:p>
            <a:pPr marL="285750" indent="-285750">
              <a:buFont typeface="Arial" panose="020B0604020202020204" pitchFamily="34" charset="0"/>
              <a:buChar char="•"/>
            </a:pPr>
            <a:r>
              <a:rPr lang="en-US" sz="1400" dirty="0">
                <a:solidFill>
                  <a:srgbClr val="FF0000"/>
                </a:solidFill>
              </a:rPr>
              <a:t>Some are incorrect…</a:t>
            </a:r>
          </a:p>
          <a:p>
            <a:pPr marL="742950" lvl="1" indent="-285750">
              <a:buFont typeface="Arial" panose="020B0604020202020204" pitchFamily="34" charset="0"/>
              <a:buChar char="•"/>
            </a:pPr>
            <a:r>
              <a:rPr lang="en-US" sz="1400" dirty="0">
                <a:solidFill>
                  <a:srgbClr val="FF0000"/>
                </a:solidFill>
              </a:rPr>
              <a:t>Monitoring BMS six times a day is too frequent</a:t>
            </a:r>
          </a:p>
          <a:p>
            <a:pPr marL="742950" lvl="1" indent="-285750">
              <a:buFont typeface="Arial" panose="020B0604020202020204" pitchFamily="34" charset="0"/>
              <a:buChar char="•"/>
            </a:pPr>
            <a:r>
              <a:rPr lang="en-US" sz="1400" dirty="0">
                <a:solidFill>
                  <a:srgbClr val="FF0000"/>
                </a:solidFill>
              </a:rPr>
              <a:t>Ketones should be checked if BMs &gt;15</a:t>
            </a:r>
          </a:p>
          <a:p>
            <a:pPr marL="742950" lvl="1" indent="-285750">
              <a:buFont typeface="Arial" panose="020B0604020202020204" pitchFamily="34" charset="0"/>
              <a:buChar char="•"/>
            </a:pPr>
            <a:r>
              <a:rPr lang="en-US" sz="1400" dirty="0">
                <a:solidFill>
                  <a:srgbClr val="FF0000"/>
                </a:solidFill>
              </a:rPr>
              <a:t>The other two options are true but less important</a:t>
            </a:r>
          </a:p>
          <a:p>
            <a:pPr marL="285750" indent="-285750">
              <a:buFont typeface="Arial" panose="020B0604020202020204" pitchFamily="34" charset="0"/>
              <a:buChar char="•"/>
            </a:pPr>
            <a:r>
              <a:rPr lang="en-US" sz="1400" dirty="0">
                <a:solidFill>
                  <a:srgbClr val="FF0000"/>
                </a:solidFill>
              </a:rPr>
              <a:t>Patients with T1DM must seek medical help if they are unable to drink fluids due to N&amp;V as they are at a very high risk of developing a DKA and need urgent IVI</a:t>
            </a:r>
          </a:p>
        </p:txBody>
      </p:sp>
      <p:sp>
        <p:nvSpPr>
          <p:cNvPr id="13" name="TextBox 12">
            <a:extLst>
              <a:ext uri="{FF2B5EF4-FFF2-40B4-BE49-F238E27FC236}">
                <a16:creationId xmlns:a16="http://schemas.microsoft.com/office/drawing/2014/main" id="{0AEEBEC3-BE0E-7F4B-909B-8DC3CA177684}"/>
              </a:ext>
            </a:extLst>
          </p:cNvPr>
          <p:cNvSpPr txBox="1"/>
          <p:nvPr/>
        </p:nvSpPr>
        <p:spPr>
          <a:xfrm>
            <a:off x="185739" y="5948964"/>
            <a:ext cx="2473378" cy="830997"/>
          </a:xfrm>
          <a:prstGeom prst="rect">
            <a:avLst/>
          </a:prstGeom>
          <a:noFill/>
        </p:spPr>
        <p:txBody>
          <a:bodyPr wrap="square" rtlCol="0">
            <a:spAutoFit/>
          </a:bodyPr>
          <a:lstStyle/>
          <a:p>
            <a:r>
              <a:rPr lang="en-US" sz="4800" dirty="0"/>
              <a:t>COM A2</a:t>
            </a:r>
          </a:p>
        </p:txBody>
      </p:sp>
    </p:spTree>
    <p:extLst>
      <p:ext uri="{BB962C8B-B14F-4D97-AF65-F5344CB8AC3E}">
        <p14:creationId xmlns:p14="http://schemas.microsoft.com/office/powerpoint/2010/main" val="39181170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757160" cy="353943"/>
          </a:xfrm>
          <a:prstGeom prst="rect">
            <a:avLst/>
          </a:prstGeom>
          <a:solidFill>
            <a:srgbClr val="56C0D9"/>
          </a:solidFill>
        </p:spPr>
        <p:txBody>
          <a:bodyPr wrap="square" rtlCol="0">
            <a:spAutoFit/>
          </a:bodyPr>
          <a:lstStyle/>
          <a:p>
            <a:pPr algn="ctr"/>
            <a:r>
              <a:rPr lang="en-US" sz="1700" dirty="0">
                <a:solidFill>
                  <a:schemeClr val="bg1"/>
                </a:solidFill>
              </a:rPr>
              <a:t>Communicating Information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942897" y="269956"/>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708434"/>
          </a:xfrm>
          <a:prstGeom prst="rect">
            <a:avLst/>
          </a:prstGeom>
          <a:solidFill>
            <a:srgbClr val="ECECEC"/>
          </a:solidFill>
          <a:ln>
            <a:solidFill>
              <a:schemeClr val="tx1"/>
            </a:solidFill>
          </a:ln>
        </p:spPr>
        <p:txBody>
          <a:bodyPr wrap="square" rtlCol="0">
            <a:spAutoFit/>
          </a:bodyPr>
          <a:lstStyle/>
          <a:p>
            <a:r>
              <a:rPr lang="en-US" b="1" dirty="0"/>
              <a:t>INFORMATION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78</a:t>
            </a:r>
            <a:r>
              <a:rPr lang="en-GB" dirty="0"/>
              <a:t>-year-old women develops C. difficile after taking clindamycin for a diabetic foot infection. </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7"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important</a:t>
            </a:r>
            <a:r>
              <a:rPr lang="en-US" dirty="0"/>
              <a:t> information option that should be provided for the patient.</a:t>
            </a:r>
            <a:endParaRPr lang="en-US" i="1" dirty="0"/>
          </a:p>
        </p:txBody>
      </p:sp>
      <p:graphicFrame>
        <p:nvGraphicFramePr>
          <p:cNvPr id="13" name="Table 14">
            <a:extLst>
              <a:ext uri="{FF2B5EF4-FFF2-40B4-BE49-F238E27FC236}">
                <a16:creationId xmlns:a16="http://schemas.microsoft.com/office/drawing/2014/main" id="{A7BAACCC-A7BC-474B-8527-47ED5E309343}"/>
              </a:ext>
            </a:extLst>
          </p:cNvPr>
          <p:cNvGraphicFramePr>
            <a:graphicFrameLocks noGrp="1"/>
          </p:cNvGraphicFramePr>
          <p:nvPr>
            <p:extLst>
              <p:ext uri="{D42A27DB-BD31-4B8C-83A1-F6EECF244321}">
                <p14:modId xmlns:p14="http://schemas.microsoft.com/office/powerpoint/2010/main" val="3483681565"/>
              </p:ext>
            </p:extLst>
          </p:nvPr>
        </p:nvGraphicFramePr>
        <p:xfrm>
          <a:off x="6304756" y="975549"/>
          <a:ext cx="5588003" cy="24942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oral vancomycin is taken four times a day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IV vancomycin is as effective as oral vancomycin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vancomycin will clear any MRSA skin </a:t>
                      </a:r>
                      <a:r>
                        <a:rPr lang="en-US" sz="1800" dirty="0" err="1"/>
                        <a:t>colonisation</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she will require regular blood tests to check LFTs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if vancomycin dose not clear the infection, she will require anti-TNF therapies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2" name="TextBox 11">
            <a:extLst>
              <a:ext uri="{FF2B5EF4-FFF2-40B4-BE49-F238E27FC236}">
                <a16:creationId xmlns:a16="http://schemas.microsoft.com/office/drawing/2014/main" id="{9ACCE383-95E7-7A4C-B9E3-E4B9E325A182}"/>
              </a:ext>
            </a:extLst>
          </p:cNvPr>
          <p:cNvSpPr txBox="1"/>
          <p:nvPr/>
        </p:nvSpPr>
        <p:spPr>
          <a:xfrm>
            <a:off x="185739" y="5948964"/>
            <a:ext cx="2473378" cy="830997"/>
          </a:xfrm>
          <a:prstGeom prst="rect">
            <a:avLst/>
          </a:prstGeom>
          <a:noFill/>
        </p:spPr>
        <p:txBody>
          <a:bodyPr wrap="square" rtlCol="0">
            <a:spAutoFit/>
          </a:bodyPr>
          <a:lstStyle/>
          <a:p>
            <a:r>
              <a:rPr lang="en-US" sz="4800" dirty="0"/>
              <a:t>COM Q3</a:t>
            </a:r>
          </a:p>
        </p:txBody>
      </p:sp>
    </p:spTree>
    <p:extLst>
      <p:ext uri="{BB962C8B-B14F-4D97-AF65-F5344CB8AC3E}">
        <p14:creationId xmlns:p14="http://schemas.microsoft.com/office/powerpoint/2010/main" val="392126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757160" cy="353943"/>
          </a:xfrm>
          <a:prstGeom prst="rect">
            <a:avLst/>
          </a:prstGeom>
          <a:solidFill>
            <a:srgbClr val="56C0D9"/>
          </a:solidFill>
        </p:spPr>
        <p:txBody>
          <a:bodyPr wrap="square" rtlCol="0">
            <a:spAutoFit/>
          </a:bodyPr>
          <a:lstStyle/>
          <a:p>
            <a:pPr algn="ctr"/>
            <a:r>
              <a:rPr lang="en-US" sz="1700" dirty="0">
                <a:solidFill>
                  <a:schemeClr val="bg1"/>
                </a:solidFill>
              </a:rPr>
              <a:t>Communicating Information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942897" y="269956"/>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708434"/>
          </a:xfrm>
          <a:prstGeom prst="rect">
            <a:avLst/>
          </a:prstGeom>
          <a:solidFill>
            <a:srgbClr val="ECECEC"/>
          </a:solidFill>
          <a:ln>
            <a:solidFill>
              <a:schemeClr val="tx1"/>
            </a:solidFill>
          </a:ln>
        </p:spPr>
        <p:txBody>
          <a:bodyPr wrap="square" rtlCol="0">
            <a:spAutoFit/>
          </a:bodyPr>
          <a:lstStyle/>
          <a:p>
            <a:r>
              <a:rPr lang="en-US" b="1" dirty="0"/>
              <a:t>INFORMATION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78</a:t>
            </a:r>
            <a:r>
              <a:rPr lang="en-GB" dirty="0"/>
              <a:t>-year-old women develops C. difficile after taking clindamycin for a diabetic foot infection. </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7"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important</a:t>
            </a:r>
            <a:r>
              <a:rPr lang="en-US" dirty="0"/>
              <a:t> information option that should be provided for the patient.</a:t>
            </a:r>
            <a:endParaRPr lang="en-US" i="1" dirty="0"/>
          </a:p>
        </p:txBody>
      </p:sp>
      <p:graphicFrame>
        <p:nvGraphicFramePr>
          <p:cNvPr id="13" name="Table 14">
            <a:extLst>
              <a:ext uri="{FF2B5EF4-FFF2-40B4-BE49-F238E27FC236}">
                <a16:creationId xmlns:a16="http://schemas.microsoft.com/office/drawing/2014/main" id="{A7BAACCC-A7BC-474B-8527-47ED5E309343}"/>
              </a:ext>
            </a:extLst>
          </p:cNvPr>
          <p:cNvGraphicFramePr>
            <a:graphicFrameLocks noGrp="1"/>
          </p:cNvGraphicFramePr>
          <p:nvPr>
            <p:extLst>
              <p:ext uri="{D42A27DB-BD31-4B8C-83A1-F6EECF244321}">
                <p14:modId xmlns:p14="http://schemas.microsoft.com/office/powerpoint/2010/main" val="4204914022"/>
              </p:ext>
            </p:extLst>
          </p:nvPr>
        </p:nvGraphicFramePr>
        <p:xfrm>
          <a:off x="6304756" y="975549"/>
          <a:ext cx="5588003" cy="249428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oral vancomycin is taken four times a day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IV vancomycin is as effective as oral vancomycin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vancomycin will clear any MRSA skin </a:t>
                      </a:r>
                      <a:r>
                        <a:rPr lang="en-US" sz="1800" dirty="0" err="1"/>
                        <a:t>colonisation</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she will require regular blood tests to check LFTs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if vancomycin dose not clear the infection, she will require anti-TNF therapies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2" name="TextBox 11">
            <a:extLst>
              <a:ext uri="{FF2B5EF4-FFF2-40B4-BE49-F238E27FC236}">
                <a16:creationId xmlns:a16="http://schemas.microsoft.com/office/drawing/2014/main" id="{0FD16983-8704-864F-80D4-3FF951D4E17B}"/>
              </a:ext>
            </a:extLst>
          </p:cNvPr>
          <p:cNvSpPr txBox="1"/>
          <p:nvPr/>
        </p:nvSpPr>
        <p:spPr>
          <a:xfrm>
            <a:off x="6191250" y="3826643"/>
            <a:ext cx="5815012" cy="2031325"/>
          </a:xfrm>
          <a:prstGeom prst="rect">
            <a:avLst/>
          </a:prstGeom>
          <a:noFill/>
        </p:spPr>
        <p:txBody>
          <a:bodyPr wrap="square" rtlCol="0">
            <a:spAutoFit/>
          </a:bodyPr>
          <a:lstStyle/>
          <a:p>
            <a:pPr marL="285750" indent="-285750">
              <a:buFont typeface="Arial" panose="020B0604020202020204" pitchFamily="34" charset="0"/>
              <a:buChar char="•"/>
            </a:pPr>
            <a:r>
              <a:rPr lang="en-US" sz="1400" dirty="0">
                <a:solidFill>
                  <a:srgbClr val="FF0000"/>
                </a:solidFill>
              </a:rPr>
              <a:t>This is the only true option</a:t>
            </a:r>
          </a:p>
          <a:p>
            <a:pPr marL="285750" indent="-285750">
              <a:buFont typeface="Arial" panose="020B0604020202020204" pitchFamily="34" charset="0"/>
              <a:buChar char="•"/>
            </a:pPr>
            <a:r>
              <a:rPr lang="en-US" sz="1400" dirty="0">
                <a:solidFill>
                  <a:srgbClr val="FF0000"/>
                </a:solidFill>
              </a:rPr>
              <a:t>IV vancomycin will not be effective for C. difficile as it will not reach the bowel</a:t>
            </a:r>
          </a:p>
          <a:p>
            <a:pPr marL="285750" indent="-285750">
              <a:buFont typeface="Arial" panose="020B0604020202020204" pitchFamily="34" charset="0"/>
              <a:buChar char="•"/>
            </a:pPr>
            <a:r>
              <a:rPr lang="en-US" sz="1400" dirty="0">
                <a:solidFill>
                  <a:srgbClr val="FF0000"/>
                </a:solidFill>
              </a:rPr>
              <a:t>Vancomycin will not clear any skin MRSA colonization although can be used for MRSA associated infections</a:t>
            </a:r>
          </a:p>
          <a:p>
            <a:pPr marL="285750" indent="-285750">
              <a:buFont typeface="Arial" panose="020B0604020202020204" pitchFamily="34" charset="0"/>
              <a:buChar char="•"/>
            </a:pPr>
            <a:r>
              <a:rPr lang="en-US" sz="1400" dirty="0">
                <a:solidFill>
                  <a:srgbClr val="FF0000"/>
                </a:solidFill>
              </a:rPr>
              <a:t>LFT monitoring is not indicated, monitoring of serum-vancomycin concentration is recommended In inflammatory bowel disorders</a:t>
            </a:r>
          </a:p>
          <a:p>
            <a:pPr marL="285750" indent="-285750">
              <a:buFont typeface="Arial" panose="020B0604020202020204" pitchFamily="34" charset="0"/>
              <a:buChar char="•"/>
            </a:pPr>
            <a:r>
              <a:rPr lang="en-US" sz="1400" dirty="0">
                <a:solidFill>
                  <a:srgbClr val="FF0000"/>
                </a:solidFill>
              </a:rPr>
              <a:t>Immunosuppressive therapies only indicated in life threatening C. difficile infections. ‘She will need’ is a strong statement and not a definite.</a:t>
            </a:r>
          </a:p>
        </p:txBody>
      </p:sp>
      <p:sp>
        <p:nvSpPr>
          <p:cNvPr id="15" name="TextBox 14">
            <a:extLst>
              <a:ext uri="{FF2B5EF4-FFF2-40B4-BE49-F238E27FC236}">
                <a16:creationId xmlns:a16="http://schemas.microsoft.com/office/drawing/2014/main" id="{1965328A-1B51-7B49-A429-5CC53476A25A}"/>
              </a:ext>
            </a:extLst>
          </p:cNvPr>
          <p:cNvSpPr txBox="1"/>
          <p:nvPr/>
        </p:nvSpPr>
        <p:spPr>
          <a:xfrm>
            <a:off x="185739" y="5948964"/>
            <a:ext cx="2473378" cy="830997"/>
          </a:xfrm>
          <a:prstGeom prst="rect">
            <a:avLst/>
          </a:prstGeom>
          <a:noFill/>
        </p:spPr>
        <p:txBody>
          <a:bodyPr wrap="square" rtlCol="0">
            <a:spAutoFit/>
          </a:bodyPr>
          <a:lstStyle/>
          <a:p>
            <a:r>
              <a:rPr lang="en-US" sz="4800" dirty="0"/>
              <a:t>COM A3</a:t>
            </a:r>
          </a:p>
        </p:txBody>
      </p:sp>
    </p:spTree>
    <p:extLst>
      <p:ext uri="{BB962C8B-B14F-4D97-AF65-F5344CB8AC3E}">
        <p14:creationId xmlns:p14="http://schemas.microsoft.com/office/powerpoint/2010/main" val="20463997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615553"/>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ml/h</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tx1"/>
              </a:solidFill>
            </a:endParaRP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2683586" cy="830997"/>
          </a:xfrm>
          <a:prstGeom prst="rect">
            <a:avLst/>
          </a:prstGeom>
          <a:noFill/>
        </p:spPr>
        <p:txBody>
          <a:bodyPr wrap="square" rtlCol="0">
            <a:spAutoFit/>
          </a:bodyPr>
          <a:lstStyle/>
          <a:p>
            <a:r>
              <a:rPr lang="en-US" sz="4800" dirty="0"/>
              <a:t>CAL Q1</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80-year-old man with terminal prostate cancer has been taking </a:t>
            </a:r>
            <a:r>
              <a:rPr lang="en-US" dirty="0" err="1"/>
              <a:t>Zomorph</a:t>
            </a:r>
            <a:r>
              <a:rPr lang="en-US" dirty="0"/>
              <a:t> (morphine sulphate MR) 80mg twice daily supplemented with </a:t>
            </a:r>
            <a:r>
              <a:rPr lang="en-US" dirty="0" err="1"/>
              <a:t>oromorph</a:t>
            </a:r>
            <a:r>
              <a:rPr lang="en-US" dirty="0"/>
              <a:t> (morphine sulphate oral solution) PO PRN. Over the last 24h he has required:</a:t>
            </a:r>
          </a:p>
          <a:p>
            <a:r>
              <a:rPr lang="en-US" dirty="0"/>
              <a:t>08:00 30mg </a:t>
            </a:r>
            <a:r>
              <a:rPr lang="en-US" dirty="0" err="1"/>
              <a:t>oromorph</a:t>
            </a:r>
            <a:endParaRPr lang="en-US" dirty="0"/>
          </a:p>
          <a:p>
            <a:r>
              <a:rPr lang="en-US" dirty="0"/>
              <a:t>18:00 10mg </a:t>
            </a:r>
            <a:r>
              <a:rPr lang="en-US" dirty="0" err="1"/>
              <a:t>oromorph</a:t>
            </a:r>
            <a:endParaRPr lang="en-US" dirty="0"/>
          </a:p>
          <a:p>
            <a:r>
              <a:rPr lang="en-US" dirty="0"/>
              <a:t>He would like this to be switched to a syringe driver which is delivered subcutaneously. 10mg morphine sulphate orally is equivalent to 5mg morphine subcutaneously. The concentration of morphine to be administered subcutaneously is 10mg/10ml.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452060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morphine sulphate subcutaneous syringe driver be set? </a:t>
            </a:r>
          </a:p>
          <a:p>
            <a:r>
              <a:rPr lang="en-US" i="1" dirty="0"/>
              <a:t>(write your answer in the box provided to 2 decimal places)</a:t>
            </a:r>
          </a:p>
        </p:txBody>
      </p:sp>
      <p:sp>
        <p:nvSpPr>
          <p:cNvPr id="12" name="TextBox 11">
            <a:extLst>
              <a:ext uri="{FF2B5EF4-FFF2-40B4-BE49-F238E27FC236}">
                <a16:creationId xmlns:a16="http://schemas.microsoft.com/office/drawing/2014/main" id="{73A958CD-4B25-2948-B04A-D0016297312C}"/>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D2012E0C-10C8-0345-BB40-D43C045BA04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39642870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662541"/>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ml/h</a:t>
            </a:r>
          </a:p>
          <a:p>
            <a:endParaRPr lang="en-US" dirty="0"/>
          </a:p>
          <a:p>
            <a:r>
              <a:rPr lang="en-US" dirty="0" err="1">
                <a:solidFill>
                  <a:srgbClr val="FF0000"/>
                </a:solidFill>
              </a:rPr>
              <a:t>Zomorph</a:t>
            </a:r>
            <a:r>
              <a:rPr lang="en-US" dirty="0">
                <a:solidFill>
                  <a:srgbClr val="FF0000"/>
                </a:solidFill>
              </a:rPr>
              <a:t> = 80mg x 2 = 160mg</a:t>
            </a:r>
          </a:p>
          <a:p>
            <a:r>
              <a:rPr lang="en-US" dirty="0" err="1">
                <a:solidFill>
                  <a:srgbClr val="FF0000"/>
                </a:solidFill>
              </a:rPr>
              <a:t>Oromorph</a:t>
            </a:r>
            <a:r>
              <a:rPr lang="en-US" dirty="0">
                <a:solidFill>
                  <a:srgbClr val="FF0000"/>
                </a:solidFill>
              </a:rPr>
              <a:t> = 30mg + 10mg = 40mg</a:t>
            </a:r>
          </a:p>
          <a:p>
            <a:endParaRPr lang="en-US" dirty="0">
              <a:solidFill>
                <a:srgbClr val="FF0000"/>
              </a:solidFill>
            </a:endParaRPr>
          </a:p>
          <a:p>
            <a:r>
              <a:rPr lang="en-US" dirty="0">
                <a:solidFill>
                  <a:srgbClr val="FF0000"/>
                </a:solidFill>
              </a:rPr>
              <a:t>160mg + 40mg = 200mg per day of morphine sulphate PO</a:t>
            </a:r>
          </a:p>
          <a:p>
            <a:r>
              <a:rPr lang="en-US" dirty="0">
                <a:solidFill>
                  <a:srgbClr val="FF0000"/>
                </a:solidFill>
              </a:rPr>
              <a:t>200mg/2 = 100mg per day of morphine sulphate SC</a:t>
            </a:r>
          </a:p>
          <a:p>
            <a:endParaRPr lang="en-US" dirty="0">
              <a:solidFill>
                <a:srgbClr val="FF0000"/>
              </a:solidFill>
            </a:endParaRPr>
          </a:p>
          <a:p>
            <a:r>
              <a:rPr lang="en-US" dirty="0">
                <a:solidFill>
                  <a:srgbClr val="FF0000"/>
                </a:solidFill>
              </a:rPr>
              <a:t>10mg/10ml</a:t>
            </a:r>
          </a:p>
          <a:p>
            <a:r>
              <a:rPr lang="en-US" dirty="0">
                <a:solidFill>
                  <a:srgbClr val="FF0000"/>
                </a:solidFill>
              </a:rPr>
              <a:t>100mg/100ml</a:t>
            </a:r>
          </a:p>
          <a:p>
            <a:endParaRPr lang="en-US" dirty="0">
              <a:solidFill>
                <a:srgbClr val="FF0000"/>
              </a:solidFill>
            </a:endParaRPr>
          </a:p>
          <a:p>
            <a:r>
              <a:rPr lang="en-US" dirty="0">
                <a:solidFill>
                  <a:srgbClr val="FF0000"/>
                </a:solidFill>
              </a:rPr>
              <a:t>100ml/24h = 4.17ml/h</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rgbClr val="FF0000"/>
                </a:solidFill>
              </a:rPr>
              <a:t>4.17</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341632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An 80-year-old man with terminal prostate cancer has been taking </a:t>
            </a:r>
            <a:r>
              <a:rPr lang="en-US" dirty="0" err="1"/>
              <a:t>Zomorph</a:t>
            </a:r>
            <a:r>
              <a:rPr lang="en-US" dirty="0"/>
              <a:t> (morphine sulphate MR) 80mg twice daily supplemented with </a:t>
            </a:r>
            <a:r>
              <a:rPr lang="en-US" dirty="0" err="1"/>
              <a:t>oromorph</a:t>
            </a:r>
            <a:r>
              <a:rPr lang="en-US" dirty="0"/>
              <a:t> (morphine sulphate oral solution) PO PRN. Over the last 24h he has required:</a:t>
            </a:r>
          </a:p>
          <a:p>
            <a:r>
              <a:rPr lang="en-US" dirty="0"/>
              <a:t>08:00 30mg </a:t>
            </a:r>
            <a:r>
              <a:rPr lang="en-US" dirty="0" err="1"/>
              <a:t>oromorph</a:t>
            </a:r>
            <a:endParaRPr lang="en-US" dirty="0"/>
          </a:p>
          <a:p>
            <a:r>
              <a:rPr lang="en-US" dirty="0"/>
              <a:t>18:00 10mg </a:t>
            </a:r>
            <a:r>
              <a:rPr lang="en-US" dirty="0" err="1"/>
              <a:t>oromorph</a:t>
            </a:r>
            <a:endParaRPr lang="en-US" dirty="0"/>
          </a:p>
          <a:p>
            <a:r>
              <a:rPr lang="en-US" dirty="0"/>
              <a:t>He would like this to be switched to a syringe driver which is delivered subcutaneously. 10mg morphine sulphate orally is equivalent to 5mg morphine subcutaneously. The concentration of morphine to be administered subcutaneously is 10mg/10ml.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4520604"/>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At what rate (ml/h) should the morphine sulphate subcutaneous syringe driver be set? </a:t>
            </a:r>
          </a:p>
          <a:p>
            <a:r>
              <a:rPr lang="en-US" i="1" dirty="0"/>
              <a:t>(write your answer in the box provided to 2 decimal places)</a:t>
            </a:r>
          </a:p>
        </p:txBody>
      </p:sp>
      <p:sp>
        <p:nvSpPr>
          <p:cNvPr id="12" name="TextBox 11">
            <a:extLst>
              <a:ext uri="{FF2B5EF4-FFF2-40B4-BE49-F238E27FC236}">
                <a16:creationId xmlns:a16="http://schemas.microsoft.com/office/drawing/2014/main" id="{73A958CD-4B25-2948-B04A-D0016297312C}"/>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D2012E0C-10C8-0345-BB40-D43C045BA043}"/>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5" name="TextBox 14">
            <a:extLst>
              <a:ext uri="{FF2B5EF4-FFF2-40B4-BE49-F238E27FC236}">
                <a16:creationId xmlns:a16="http://schemas.microsoft.com/office/drawing/2014/main" id="{21B0F072-C184-A34F-8D02-B8591D20022F}"/>
              </a:ext>
            </a:extLst>
          </p:cNvPr>
          <p:cNvSpPr txBox="1"/>
          <p:nvPr/>
        </p:nvSpPr>
        <p:spPr>
          <a:xfrm>
            <a:off x="185738" y="5948964"/>
            <a:ext cx="2683586" cy="830997"/>
          </a:xfrm>
          <a:prstGeom prst="rect">
            <a:avLst/>
          </a:prstGeom>
          <a:noFill/>
        </p:spPr>
        <p:txBody>
          <a:bodyPr wrap="square" rtlCol="0">
            <a:spAutoFit/>
          </a:bodyPr>
          <a:lstStyle/>
          <a:p>
            <a:r>
              <a:rPr lang="en-US" sz="4800" dirty="0"/>
              <a:t>CAL A1</a:t>
            </a:r>
          </a:p>
        </p:txBody>
      </p:sp>
    </p:spTree>
    <p:extLst>
      <p:ext uri="{BB962C8B-B14F-4D97-AF65-F5344CB8AC3E}">
        <p14:creationId xmlns:p14="http://schemas.microsoft.com/office/powerpoint/2010/main" val="427512935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615553"/>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                              </a:t>
            </a:r>
            <a:r>
              <a:rPr lang="en-US" dirty="0"/>
              <a:t>vials</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tx1"/>
              </a:solidFill>
            </a:endParaRP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6-month-old girl requires </a:t>
            </a:r>
            <a:r>
              <a:rPr lang="en-US" dirty="0" err="1"/>
              <a:t>aciclovir</a:t>
            </a:r>
            <a:r>
              <a:rPr lang="en-US" dirty="0"/>
              <a:t> 500mg/m</a:t>
            </a:r>
            <a:r>
              <a:rPr lang="en-US" baseline="30000" dirty="0"/>
              <a:t>2</a:t>
            </a:r>
            <a:r>
              <a:rPr lang="en-US" dirty="0"/>
              <a:t> 8-hourly IV for 10 days. </a:t>
            </a:r>
            <a:r>
              <a:rPr lang="en-GB" dirty="0"/>
              <a:t>Body surface area = 0.4 m</a:t>
            </a:r>
            <a:r>
              <a:rPr lang="en-GB" baseline="30000" dirty="0"/>
              <a:t>2</a:t>
            </a:r>
            <a:r>
              <a:rPr lang="en-GB" dirty="0"/>
              <a:t>.</a:t>
            </a:r>
            <a:endParaRPr lang="en-US" dirty="0"/>
          </a:p>
          <a:p>
            <a:endParaRPr lang="en-US" dirty="0"/>
          </a:p>
          <a:p>
            <a:r>
              <a:rPr lang="en-US" dirty="0" err="1"/>
              <a:t>Aciclovir</a:t>
            </a:r>
            <a:r>
              <a:rPr lang="en-US" dirty="0"/>
              <a:t> is available in 250mg vials and must be used immediately after reconstitution with sodium chloride 0.9% 50mls. Any left over drug must be disposed of and new vials used for each dose. </a:t>
            </a:r>
          </a:p>
        </p:txBody>
      </p:sp>
      <p:sp>
        <p:nvSpPr>
          <p:cNvPr id="19" name="TextBox 18">
            <a:extLst>
              <a:ext uri="{FF2B5EF4-FFF2-40B4-BE49-F238E27FC236}">
                <a16:creationId xmlns:a16="http://schemas.microsoft.com/office/drawing/2014/main" id="{634582E3-2198-CF4F-83A3-E91D8412319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883B417D-AF94-D141-B053-DA439C020B59}"/>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1" name="TextBox 10">
            <a:extLst>
              <a:ext uri="{FF2B5EF4-FFF2-40B4-BE49-F238E27FC236}">
                <a16:creationId xmlns:a16="http://schemas.microsoft.com/office/drawing/2014/main" id="{9D7892C3-9B9D-B349-8300-FB46B6CD1598}"/>
              </a:ext>
            </a:extLst>
          </p:cNvPr>
          <p:cNvSpPr txBox="1"/>
          <p:nvPr/>
        </p:nvSpPr>
        <p:spPr>
          <a:xfrm>
            <a:off x="185737" y="3404056"/>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vials of </a:t>
            </a:r>
            <a:r>
              <a:rPr lang="en-US" dirty="0" err="1"/>
              <a:t>aciclovir</a:t>
            </a:r>
            <a:r>
              <a:rPr lang="en-US" dirty="0"/>
              <a:t> will the patient need to complete the 10-day course?</a:t>
            </a:r>
          </a:p>
          <a:p>
            <a:r>
              <a:rPr lang="en-US" i="1" dirty="0"/>
              <a:t>(write your answer in the box provided)</a:t>
            </a:r>
          </a:p>
        </p:txBody>
      </p:sp>
      <p:sp>
        <p:nvSpPr>
          <p:cNvPr id="12" name="TextBox 11">
            <a:extLst>
              <a:ext uri="{FF2B5EF4-FFF2-40B4-BE49-F238E27FC236}">
                <a16:creationId xmlns:a16="http://schemas.microsoft.com/office/drawing/2014/main" id="{9C2EED7A-78F1-644F-9468-E4209AF3D156}"/>
              </a:ext>
            </a:extLst>
          </p:cNvPr>
          <p:cNvSpPr txBox="1"/>
          <p:nvPr/>
        </p:nvSpPr>
        <p:spPr>
          <a:xfrm>
            <a:off x="185738" y="5948964"/>
            <a:ext cx="2683586" cy="830997"/>
          </a:xfrm>
          <a:prstGeom prst="rect">
            <a:avLst/>
          </a:prstGeom>
          <a:noFill/>
        </p:spPr>
        <p:txBody>
          <a:bodyPr wrap="square" rtlCol="0">
            <a:spAutoFit/>
          </a:bodyPr>
          <a:lstStyle/>
          <a:p>
            <a:r>
              <a:rPr lang="en-US" sz="4800" dirty="0"/>
              <a:t>CAL Q2</a:t>
            </a:r>
          </a:p>
        </p:txBody>
      </p:sp>
    </p:spTree>
    <p:extLst>
      <p:ext uri="{BB962C8B-B14F-4D97-AF65-F5344CB8AC3E}">
        <p14:creationId xmlns:p14="http://schemas.microsoft.com/office/powerpoint/2010/main" val="34830429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2000548"/>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                              </a:t>
            </a:r>
            <a:r>
              <a:rPr lang="en-US" dirty="0"/>
              <a:t>vials</a:t>
            </a:r>
          </a:p>
          <a:p>
            <a:endParaRPr lang="en-US" dirty="0"/>
          </a:p>
          <a:p>
            <a:r>
              <a:rPr lang="en-US" dirty="0">
                <a:solidFill>
                  <a:srgbClr val="FF0000"/>
                </a:solidFill>
              </a:rPr>
              <a:t>500mg x 0.4m</a:t>
            </a:r>
            <a:r>
              <a:rPr lang="en-US" baseline="30000" dirty="0">
                <a:solidFill>
                  <a:srgbClr val="FF0000"/>
                </a:solidFill>
              </a:rPr>
              <a:t>2</a:t>
            </a:r>
            <a:r>
              <a:rPr lang="en-US" dirty="0">
                <a:solidFill>
                  <a:srgbClr val="FF0000"/>
                </a:solidFill>
              </a:rPr>
              <a:t> = 200mg dose</a:t>
            </a:r>
          </a:p>
          <a:p>
            <a:r>
              <a:rPr lang="en-US" dirty="0">
                <a:solidFill>
                  <a:srgbClr val="FF0000"/>
                </a:solidFill>
              </a:rPr>
              <a:t>Vials contain 250mg so one vial per dose</a:t>
            </a:r>
          </a:p>
          <a:p>
            <a:r>
              <a:rPr lang="en-US" dirty="0">
                <a:solidFill>
                  <a:srgbClr val="FF0000"/>
                </a:solidFill>
              </a:rPr>
              <a:t>1 x 3 (needs to be given 8-hourly </a:t>
            </a:r>
            <a:r>
              <a:rPr lang="en-US" dirty="0" err="1">
                <a:solidFill>
                  <a:srgbClr val="FF0000"/>
                </a:solidFill>
              </a:rPr>
              <a:t>ie</a:t>
            </a:r>
            <a:r>
              <a:rPr lang="en-US" dirty="0">
                <a:solidFill>
                  <a:srgbClr val="FF0000"/>
                </a:solidFill>
              </a:rPr>
              <a:t>. TDS) = 3 bottles per day</a:t>
            </a:r>
          </a:p>
          <a:p>
            <a:r>
              <a:rPr lang="en-US" dirty="0">
                <a:solidFill>
                  <a:srgbClr val="FF0000"/>
                </a:solidFill>
              </a:rPr>
              <a:t>3 x 10 = 30 bottles for 10-day course</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rgbClr val="FF0000"/>
                </a:solidFill>
              </a:rPr>
              <a:t>30</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6-month-old girl requires </a:t>
            </a:r>
            <a:r>
              <a:rPr lang="en-US" dirty="0" err="1"/>
              <a:t>aciclovir</a:t>
            </a:r>
            <a:r>
              <a:rPr lang="en-US" dirty="0"/>
              <a:t> 500mg/m</a:t>
            </a:r>
            <a:r>
              <a:rPr lang="en-US" baseline="30000" dirty="0"/>
              <a:t>2</a:t>
            </a:r>
            <a:r>
              <a:rPr lang="en-US" dirty="0"/>
              <a:t> 8-hourly IV for 10 days. </a:t>
            </a:r>
            <a:r>
              <a:rPr lang="en-GB" dirty="0"/>
              <a:t>Body surface area = 0.4 m</a:t>
            </a:r>
            <a:r>
              <a:rPr lang="en-GB" baseline="30000" dirty="0"/>
              <a:t>2</a:t>
            </a:r>
            <a:r>
              <a:rPr lang="en-GB" dirty="0"/>
              <a:t>.</a:t>
            </a:r>
            <a:endParaRPr lang="en-US" dirty="0"/>
          </a:p>
          <a:p>
            <a:endParaRPr lang="en-US" dirty="0"/>
          </a:p>
          <a:p>
            <a:r>
              <a:rPr lang="en-US" dirty="0" err="1"/>
              <a:t>Aciclovir</a:t>
            </a:r>
            <a:r>
              <a:rPr lang="en-US" dirty="0"/>
              <a:t> is available in 250mg vials and must be used immediately after reconstitution with sodium chloride 0.9% 50mls. Any left over drug must be disposed of and new vials used for each dose. </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7" y="3404056"/>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vials of </a:t>
            </a:r>
            <a:r>
              <a:rPr lang="en-US" dirty="0" err="1"/>
              <a:t>aciclovir</a:t>
            </a:r>
            <a:r>
              <a:rPr lang="en-US" dirty="0"/>
              <a:t> will the patient need to complete the 10-day course?</a:t>
            </a:r>
          </a:p>
          <a:p>
            <a:r>
              <a:rPr lang="en-US" i="1" dirty="0"/>
              <a:t>(write your answer in the box provided)</a:t>
            </a:r>
          </a:p>
        </p:txBody>
      </p:sp>
      <p:sp>
        <p:nvSpPr>
          <p:cNvPr id="19" name="TextBox 18">
            <a:extLst>
              <a:ext uri="{FF2B5EF4-FFF2-40B4-BE49-F238E27FC236}">
                <a16:creationId xmlns:a16="http://schemas.microsoft.com/office/drawing/2014/main" id="{634582E3-2198-CF4F-83A3-E91D8412319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883B417D-AF94-D141-B053-DA439C020B59}"/>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1" name="TextBox 10">
            <a:extLst>
              <a:ext uri="{FF2B5EF4-FFF2-40B4-BE49-F238E27FC236}">
                <a16:creationId xmlns:a16="http://schemas.microsoft.com/office/drawing/2014/main" id="{06FCE4EE-4039-0E43-B881-97E52211F9F8}"/>
              </a:ext>
            </a:extLst>
          </p:cNvPr>
          <p:cNvSpPr txBox="1"/>
          <p:nvPr/>
        </p:nvSpPr>
        <p:spPr>
          <a:xfrm>
            <a:off x="185738" y="5948964"/>
            <a:ext cx="2683586" cy="830997"/>
          </a:xfrm>
          <a:prstGeom prst="rect">
            <a:avLst/>
          </a:prstGeom>
          <a:noFill/>
        </p:spPr>
        <p:txBody>
          <a:bodyPr wrap="square" rtlCol="0">
            <a:spAutoFit/>
          </a:bodyPr>
          <a:lstStyle/>
          <a:p>
            <a:r>
              <a:rPr lang="en-US" sz="4800" dirty="0"/>
              <a:t>CAL A2</a:t>
            </a:r>
          </a:p>
        </p:txBody>
      </p:sp>
    </p:spTree>
    <p:extLst>
      <p:ext uri="{BB962C8B-B14F-4D97-AF65-F5344CB8AC3E}">
        <p14:creationId xmlns:p14="http://schemas.microsoft.com/office/powerpoint/2010/main" val="5740366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615553"/>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tx1"/>
              </a:solidFill>
            </a:endParaRP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26-year-old man with a dog bite requires treatment with co-amoxiclav 1.2g by intravenous infusion. Weight 82kg. Prior to administration, co-amoxiclav powder needs to be diluted with sodium chloride 0.9% to a concentration of 10mg/ml. It is then administered over 30-40 minutes.</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the diluted co-amoxiclav should be given intravenously? </a:t>
            </a:r>
          </a:p>
          <a:p>
            <a:r>
              <a:rPr lang="en-US" i="1" dirty="0"/>
              <a:t>(write your answer in the box provided)</a:t>
            </a:r>
          </a:p>
        </p:txBody>
      </p:sp>
      <p:sp>
        <p:nvSpPr>
          <p:cNvPr id="11" name="TextBox 10">
            <a:extLst>
              <a:ext uri="{FF2B5EF4-FFF2-40B4-BE49-F238E27FC236}">
                <a16:creationId xmlns:a16="http://schemas.microsoft.com/office/drawing/2014/main" id="{CDA503DA-EE22-764E-8198-13D706A8E986}"/>
              </a:ext>
            </a:extLst>
          </p:cNvPr>
          <p:cNvSpPr txBox="1"/>
          <p:nvPr/>
        </p:nvSpPr>
        <p:spPr>
          <a:xfrm>
            <a:off x="185738" y="5948964"/>
            <a:ext cx="2683586" cy="830997"/>
          </a:xfrm>
          <a:prstGeom prst="rect">
            <a:avLst/>
          </a:prstGeom>
          <a:noFill/>
        </p:spPr>
        <p:txBody>
          <a:bodyPr wrap="square" rtlCol="0">
            <a:spAutoFit/>
          </a:bodyPr>
          <a:lstStyle/>
          <a:p>
            <a:r>
              <a:rPr lang="en-US" sz="4800" dirty="0"/>
              <a:t>CAL Q3</a:t>
            </a:r>
          </a:p>
        </p:txBody>
      </p:sp>
      <p:sp>
        <p:nvSpPr>
          <p:cNvPr id="12" name="TextBox 11">
            <a:extLst>
              <a:ext uri="{FF2B5EF4-FFF2-40B4-BE49-F238E27FC236}">
                <a16:creationId xmlns:a16="http://schemas.microsoft.com/office/drawing/2014/main" id="{92453348-734D-9E49-B263-65BE57A8C006}"/>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2777EC2A-ABE6-1E4B-8A74-2B8E521AA094}"/>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40066954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3108543"/>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ml</a:t>
            </a:r>
          </a:p>
          <a:p>
            <a:endParaRPr lang="en-US" dirty="0"/>
          </a:p>
          <a:p>
            <a:r>
              <a:rPr lang="en-US" dirty="0">
                <a:solidFill>
                  <a:srgbClr val="FF0000"/>
                </a:solidFill>
              </a:rPr>
              <a:t>1.2g dose</a:t>
            </a:r>
          </a:p>
          <a:p>
            <a:r>
              <a:rPr lang="en-US" dirty="0">
                <a:solidFill>
                  <a:srgbClr val="FF0000"/>
                </a:solidFill>
              </a:rPr>
              <a:t>1.2g x 1000 = 1200mg (don’t forget to change units early)</a:t>
            </a:r>
          </a:p>
          <a:p>
            <a:r>
              <a:rPr lang="en-US" dirty="0">
                <a:solidFill>
                  <a:srgbClr val="FF0000"/>
                </a:solidFill>
              </a:rPr>
              <a:t>10mg/1ml concentration</a:t>
            </a:r>
          </a:p>
          <a:p>
            <a:r>
              <a:rPr lang="en-US" dirty="0">
                <a:solidFill>
                  <a:srgbClr val="FF0000"/>
                </a:solidFill>
              </a:rPr>
              <a:t>1200mg/120ml (1ml/10mg x 120mg = 12ml)</a:t>
            </a:r>
          </a:p>
          <a:p>
            <a:endParaRPr lang="en-US" dirty="0">
              <a:solidFill>
                <a:srgbClr val="FF0000"/>
              </a:solidFill>
            </a:endParaRPr>
          </a:p>
          <a:p>
            <a:r>
              <a:rPr lang="en-US" dirty="0">
                <a:solidFill>
                  <a:srgbClr val="FF0000"/>
                </a:solidFill>
              </a:rPr>
              <a:t>volume = dose/concentration</a:t>
            </a:r>
          </a:p>
          <a:p>
            <a:r>
              <a:rPr lang="en-US" dirty="0">
                <a:solidFill>
                  <a:srgbClr val="FF0000"/>
                </a:solidFill>
              </a:rPr>
              <a:t>volume = 1200mg/10mg/1ml</a:t>
            </a:r>
          </a:p>
          <a:p>
            <a:r>
              <a:rPr lang="en-US" dirty="0">
                <a:solidFill>
                  <a:srgbClr val="FF0000"/>
                </a:solidFill>
              </a:rPr>
              <a:t>volume = 120ml</a:t>
            </a:r>
          </a:p>
          <a:p>
            <a:endParaRPr lang="en-US" sz="800" dirty="0">
              <a:solidFill>
                <a:schemeClr val="bg1">
                  <a:lumMod val="65000"/>
                </a:schemeClr>
              </a:solidFill>
            </a:endParaRPr>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rgbClr val="FF0000"/>
                </a:solidFill>
              </a:rPr>
              <a:t>120</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26-year-old man with a dog bite requires treatment with co-amoxiclav 1.2g by intravenous infusion. Weight 82kg. Prior to administration, co-amoxiclav powder needs to be diluted with sodium chloride 0.9% to a concentration of 10mg/1ml. It is then administered over 30-40 minutes.</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2852922"/>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What volume (ml) of the diluted co-amoxiclav should be given intravenously? </a:t>
            </a:r>
          </a:p>
          <a:p>
            <a:r>
              <a:rPr lang="en-US" i="1" dirty="0"/>
              <a:t>(write your answer in the box provided)</a:t>
            </a:r>
          </a:p>
        </p:txBody>
      </p:sp>
      <p:sp>
        <p:nvSpPr>
          <p:cNvPr id="11" name="TextBox 10">
            <a:extLst>
              <a:ext uri="{FF2B5EF4-FFF2-40B4-BE49-F238E27FC236}">
                <a16:creationId xmlns:a16="http://schemas.microsoft.com/office/drawing/2014/main" id="{EF2EB0B4-D7A8-7C4E-9EA1-DB234EE3C3B1}"/>
              </a:ext>
            </a:extLst>
          </p:cNvPr>
          <p:cNvSpPr txBox="1"/>
          <p:nvPr/>
        </p:nvSpPr>
        <p:spPr>
          <a:xfrm>
            <a:off x="185738" y="5948964"/>
            <a:ext cx="2683586" cy="830997"/>
          </a:xfrm>
          <a:prstGeom prst="rect">
            <a:avLst/>
          </a:prstGeom>
          <a:noFill/>
        </p:spPr>
        <p:txBody>
          <a:bodyPr wrap="square" rtlCol="0">
            <a:spAutoFit/>
          </a:bodyPr>
          <a:lstStyle/>
          <a:p>
            <a:r>
              <a:rPr lang="en-US" sz="4800" dirty="0"/>
              <a:t>CAL A3</a:t>
            </a:r>
          </a:p>
        </p:txBody>
      </p:sp>
      <p:sp>
        <p:nvSpPr>
          <p:cNvPr id="12" name="TextBox 11">
            <a:extLst>
              <a:ext uri="{FF2B5EF4-FFF2-40B4-BE49-F238E27FC236}">
                <a16:creationId xmlns:a16="http://schemas.microsoft.com/office/drawing/2014/main" id="{F83337B9-2B57-EB46-BE36-CD2B53F619FB}"/>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13" name="TextBox 12">
            <a:extLst>
              <a:ext uri="{FF2B5EF4-FFF2-40B4-BE49-F238E27FC236}">
                <a16:creationId xmlns:a16="http://schemas.microsoft.com/office/drawing/2014/main" id="{3F7B4803-85D6-5C4D-94EE-EE122E692789}"/>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27489645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615553"/>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blister packs</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solidFill>
                <a:schemeClr val="tx1"/>
              </a:solidFill>
            </a:endParaRP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71-year-old man has been started on a chlordiazepoxide reducing dose regime for alcohol withdrawal with moderate dependence.</a:t>
            </a:r>
          </a:p>
          <a:p>
            <a:endParaRPr lang="en-US" dirty="0"/>
          </a:p>
          <a:p>
            <a:r>
              <a:rPr lang="en-US" dirty="0"/>
              <a:t>Planned reducing dose:</a:t>
            </a:r>
          </a:p>
          <a:p>
            <a:r>
              <a:rPr lang="en-US" dirty="0"/>
              <a:t>2 days 30mg PO four times daily</a:t>
            </a:r>
          </a:p>
          <a:p>
            <a:r>
              <a:rPr lang="en-US" dirty="0"/>
              <a:t>2 days 20mg PO four times daily</a:t>
            </a:r>
          </a:p>
          <a:p>
            <a:r>
              <a:rPr lang="en-US" dirty="0"/>
              <a:t>2 days 10mg PO four times daily</a:t>
            </a:r>
          </a:p>
          <a:p>
            <a:r>
              <a:rPr lang="en-US" dirty="0"/>
              <a:t>2 days 5mg PO four times daily</a:t>
            </a:r>
          </a:p>
          <a:p>
            <a:endParaRPr lang="en-US" dirty="0"/>
          </a:p>
          <a:p>
            <a:r>
              <a:rPr lang="en-US" dirty="0"/>
              <a:t>Chlordiazepoxide is available as 5mg tablets in blister packs containing 12 tablets.</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479191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blister packs of chlordiazepoxide will the patient need to complete the reducing dose regime? </a:t>
            </a:r>
          </a:p>
          <a:p>
            <a:r>
              <a:rPr lang="en-US" i="1" dirty="0"/>
              <a:t>(write your answer in the box provided)</a:t>
            </a:r>
          </a:p>
        </p:txBody>
      </p:sp>
      <p:sp>
        <p:nvSpPr>
          <p:cNvPr id="19" name="TextBox 18">
            <a:extLst>
              <a:ext uri="{FF2B5EF4-FFF2-40B4-BE49-F238E27FC236}">
                <a16:creationId xmlns:a16="http://schemas.microsoft.com/office/drawing/2014/main" id="{634582E3-2198-CF4F-83A3-E91D8412319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883B417D-AF94-D141-B053-DA439C020B59}"/>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
        <p:nvSpPr>
          <p:cNvPr id="11" name="TextBox 10">
            <a:extLst>
              <a:ext uri="{FF2B5EF4-FFF2-40B4-BE49-F238E27FC236}">
                <a16:creationId xmlns:a16="http://schemas.microsoft.com/office/drawing/2014/main" id="{BBBF358C-9375-5B42-BCFB-8DF579969143}"/>
              </a:ext>
            </a:extLst>
          </p:cNvPr>
          <p:cNvSpPr txBox="1"/>
          <p:nvPr/>
        </p:nvSpPr>
        <p:spPr>
          <a:xfrm>
            <a:off x="185738" y="5948964"/>
            <a:ext cx="2683586" cy="830997"/>
          </a:xfrm>
          <a:prstGeom prst="rect">
            <a:avLst/>
          </a:prstGeom>
          <a:noFill/>
        </p:spPr>
        <p:txBody>
          <a:bodyPr wrap="square" rtlCol="0">
            <a:spAutoFit/>
          </a:bodyPr>
          <a:lstStyle/>
          <a:p>
            <a:r>
              <a:rPr lang="en-US" sz="4800" dirty="0"/>
              <a:t>CAL Q4</a:t>
            </a:r>
          </a:p>
        </p:txBody>
      </p:sp>
    </p:spTree>
    <p:extLst>
      <p:ext uri="{BB962C8B-B14F-4D97-AF65-F5344CB8AC3E}">
        <p14:creationId xmlns:p14="http://schemas.microsoft.com/office/powerpoint/2010/main" val="42609383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E6B892-03D5-8749-A256-B7DC38A07F28}"/>
              </a:ext>
            </a:extLst>
          </p:cNvPr>
          <p:cNvPicPr>
            <a:picLocks noChangeAspect="1"/>
          </p:cNvPicPr>
          <p:nvPr/>
        </p:nvPicPr>
        <p:blipFill>
          <a:blip r:embed="rId3"/>
          <a:stretch>
            <a:fillRect/>
          </a:stretch>
        </p:blipFill>
        <p:spPr>
          <a:xfrm>
            <a:off x="4822825" y="57487"/>
            <a:ext cx="2593975" cy="644141"/>
          </a:xfrm>
          <a:prstGeom prst="rect">
            <a:avLst/>
          </a:prstGeom>
        </p:spPr>
      </p:pic>
      <p:pic>
        <p:nvPicPr>
          <p:cNvPr id="14" name="Picture 13">
            <a:extLst>
              <a:ext uri="{FF2B5EF4-FFF2-40B4-BE49-F238E27FC236}">
                <a16:creationId xmlns:a16="http://schemas.microsoft.com/office/drawing/2014/main" id="{6D50317B-A843-BE40-994C-5E720A674EB6}"/>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27" name="TextBox 26">
            <a:extLst>
              <a:ext uri="{FF2B5EF4-FFF2-40B4-BE49-F238E27FC236}">
                <a16:creationId xmlns:a16="http://schemas.microsoft.com/office/drawing/2014/main" id="{01BFCCA7-8455-1D4E-AF3D-5A1E24315E9A}"/>
              </a:ext>
            </a:extLst>
          </p:cNvPr>
          <p:cNvSpPr txBox="1"/>
          <p:nvPr/>
        </p:nvSpPr>
        <p:spPr>
          <a:xfrm>
            <a:off x="6191250" y="900112"/>
            <a:ext cx="5815012" cy="4216539"/>
          </a:xfrm>
          <a:prstGeom prst="rect">
            <a:avLst/>
          </a:prstGeom>
          <a:solidFill>
            <a:srgbClr val="ECECEC"/>
          </a:solidFill>
          <a:ln>
            <a:solidFill>
              <a:schemeClr val="tx1"/>
            </a:solidFill>
          </a:ln>
        </p:spPr>
        <p:txBody>
          <a:bodyPr wrap="square" rtlCol="0">
            <a:spAutoFit/>
          </a:bodyPr>
          <a:lstStyle/>
          <a:p>
            <a:endParaRPr lang="en-US" sz="800" dirty="0">
              <a:solidFill>
                <a:schemeClr val="bg1">
                  <a:lumMod val="65000"/>
                </a:schemeClr>
              </a:solidFill>
            </a:endParaRPr>
          </a:p>
          <a:p>
            <a:r>
              <a:rPr lang="en-US" b="1" dirty="0"/>
              <a:t>   Answer</a:t>
            </a:r>
            <a:r>
              <a:rPr lang="en-US" dirty="0">
                <a:solidFill>
                  <a:schemeClr val="bg1">
                    <a:lumMod val="65000"/>
                  </a:schemeClr>
                </a:solidFill>
              </a:rPr>
              <a:t>                              </a:t>
            </a:r>
            <a:r>
              <a:rPr lang="en-US" dirty="0"/>
              <a:t>blister packs</a:t>
            </a:r>
          </a:p>
          <a:p>
            <a:endParaRPr lang="en-US" dirty="0"/>
          </a:p>
          <a:p>
            <a:r>
              <a:rPr lang="en-US" dirty="0">
                <a:solidFill>
                  <a:srgbClr val="FF0000"/>
                </a:solidFill>
              </a:rPr>
              <a:t>2 x 30mg x 4 = 240mg</a:t>
            </a:r>
          </a:p>
          <a:p>
            <a:r>
              <a:rPr lang="en-US" dirty="0">
                <a:solidFill>
                  <a:srgbClr val="FF0000"/>
                </a:solidFill>
              </a:rPr>
              <a:t>2 x 20mg x4 = 160mg</a:t>
            </a:r>
          </a:p>
          <a:p>
            <a:r>
              <a:rPr lang="en-US" dirty="0">
                <a:solidFill>
                  <a:srgbClr val="FF0000"/>
                </a:solidFill>
              </a:rPr>
              <a:t>2 x 10mg x4 = 80mg</a:t>
            </a:r>
          </a:p>
          <a:p>
            <a:r>
              <a:rPr lang="en-US" dirty="0">
                <a:solidFill>
                  <a:srgbClr val="FF0000"/>
                </a:solidFill>
              </a:rPr>
              <a:t>2 x 5mg x4 = 40mg</a:t>
            </a:r>
          </a:p>
          <a:p>
            <a:endParaRPr lang="en-US" dirty="0">
              <a:solidFill>
                <a:srgbClr val="FF0000"/>
              </a:solidFill>
            </a:endParaRPr>
          </a:p>
          <a:p>
            <a:r>
              <a:rPr lang="en-US" dirty="0">
                <a:solidFill>
                  <a:srgbClr val="FF0000"/>
                </a:solidFill>
              </a:rPr>
              <a:t>240mg + 160mg + 80mg + 40mg = 520mg</a:t>
            </a:r>
          </a:p>
          <a:p>
            <a:endParaRPr lang="en-US" dirty="0">
              <a:solidFill>
                <a:srgbClr val="FF0000"/>
              </a:solidFill>
            </a:endParaRPr>
          </a:p>
          <a:p>
            <a:r>
              <a:rPr lang="en-US" dirty="0">
                <a:solidFill>
                  <a:srgbClr val="FF0000"/>
                </a:solidFill>
              </a:rPr>
              <a:t>5mg tablets available</a:t>
            </a:r>
          </a:p>
          <a:p>
            <a:r>
              <a:rPr lang="en-US" dirty="0">
                <a:solidFill>
                  <a:srgbClr val="FF0000"/>
                </a:solidFill>
              </a:rPr>
              <a:t>520mg/5 = 104 tablets</a:t>
            </a:r>
          </a:p>
          <a:p>
            <a:endParaRPr lang="en-US" dirty="0">
              <a:solidFill>
                <a:srgbClr val="FF0000"/>
              </a:solidFill>
            </a:endParaRPr>
          </a:p>
          <a:p>
            <a:r>
              <a:rPr lang="en-US" dirty="0">
                <a:solidFill>
                  <a:srgbClr val="FF0000"/>
                </a:solidFill>
              </a:rPr>
              <a:t>104 tablets/12 = 8.67 packs required</a:t>
            </a:r>
          </a:p>
          <a:p>
            <a:r>
              <a:rPr lang="en-US" dirty="0" err="1">
                <a:solidFill>
                  <a:srgbClr val="FF0000"/>
                </a:solidFill>
              </a:rPr>
              <a:t>ie</a:t>
            </a:r>
            <a:r>
              <a:rPr lang="en-US" dirty="0">
                <a:solidFill>
                  <a:srgbClr val="FF0000"/>
                </a:solidFill>
              </a:rPr>
              <a:t>. 9 packs (you have to round up)</a:t>
            </a:r>
          </a:p>
          <a:p>
            <a:endParaRPr lang="en-US" sz="800" dirty="0"/>
          </a:p>
        </p:txBody>
      </p:sp>
      <p:sp>
        <p:nvSpPr>
          <p:cNvPr id="28" name="Rectangle 27">
            <a:extLst>
              <a:ext uri="{FF2B5EF4-FFF2-40B4-BE49-F238E27FC236}">
                <a16:creationId xmlns:a16="http://schemas.microsoft.com/office/drawing/2014/main" id="{7B675C6F-8AAF-644A-A7BB-61AF02EC8469}"/>
              </a:ext>
            </a:extLst>
          </p:cNvPr>
          <p:cNvSpPr/>
          <p:nvPr/>
        </p:nvSpPr>
        <p:spPr>
          <a:xfrm>
            <a:off x="7341162" y="1013887"/>
            <a:ext cx="1292030" cy="388002"/>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dirty="0">
                <a:solidFill>
                  <a:srgbClr val="FF0000"/>
                </a:solidFill>
              </a:rPr>
              <a:t>9</a:t>
            </a:r>
          </a:p>
        </p:txBody>
      </p:sp>
      <p:sp>
        <p:nvSpPr>
          <p:cNvPr id="18" name="TextBox 17">
            <a:extLst>
              <a:ext uri="{FF2B5EF4-FFF2-40B4-BE49-F238E27FC236}">
                <a16:creationId xmlns:a16="http://schemas.microsoft.com/office/drawing/2014/main" id="{DEE943FA-A3C4-6242-B4B0-203E149BDBF1}"/>
              </a:ext>
            </a:extLst>
          </p:cNvPr>
          <p:cNvSpPr txBox="1"/>
          <p:nvPr/>
        </p:nvSpPr>
        <p:spPr>
          <a:xfrm>
            <a:off x="185738" y="5948964"/>
            <a:ext cx="2326233" cy="830997"/>
          </a:xfrm>
          <a:prstGeom prst="rect">
            <a:avLst/>
          </a:prstGeom>
          <a:noFill/>
        </p:spPr>
        <p:txBody>
          <a:bodyPr wrap="square" rtlCol="0">
            <a:spAutoFit/>
          </a:bodyPr>
          <a:lstStyle/>
          <a:p>
            <a:r>
              <a:rPr lang="en-US" sz="4800" dirty="0"/>
              <a:t>CAL A4</a:t>
            </a:r>
          </a:p>
        </p:txBody>
      </p:sp>
      <p:sp>
        <p:nvSpPr>
          <p:cNvPr id="16" name="TextBox 15">
            <a:extLst>
              <a:ext uri="{FF2B5EF4-FFF2-40B4-BE49-F238E27FC236}">
                <a16:creationId xmlns:a16="http://schemas.microsoft.com/office/drawing/2014/main" id="{E5B1C2E8-B26D-E546-864A-EE4FC5FEA921}"/>
              </a:ext>
            </a:extLst>
          </p:cNvPr>
          <p:cNvSpPr txBox="1"/>
          <p:nvPr/>
        </p:nvSpPr>
        <p:spPr>
          <a:xfrm>
            <a:off x="185738" y="900112"/>
            <a:ext cx="5815012" cy="369331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71-year-old man has been started on a chlordiazepoxide reducing dose regime for alcohol withdrawal with moderate dependence.</a:t>
            </a:r>
          </a:p>
          <a:p>
            <a:endParaRPr lang="en-US" dirty="0"/>
          </a:p>
          <a:p>
            <a:r>
              <a:rPr lang="en-US" dirty="0"/>
              <a:t>Planned reducing dose:</a:t>
            </a:r>
          </a:p>
          <a:p>
            <a:r>
              <a:rPr lang="en-US" dirty="0"/>
              <a:t>2 days 30mg PO four times daily</a:t>
            </a:r>
          </a:p>
          <a:p>
            <a:r>
              <a:rPr lang="en-US" dirty="0"/>
              <a:t>2 days 20mg PO four times daily</a:t>
            </a:r>
          </a:p>
          <a:p>
            <a:r>
              <a:rPr lang="en-US" dirty="0"/>
              <a:t>2 days 10mg PO four times daily</a:t>
            </a:r>
          </a:p>
          <a:p>
            <a:r>
              <a:rPr lang="en-US" dirty="0"/>
              <a:t>2 days 5mg PO four times daily</a:t>
            </a:r>
          </a:p>
          <a:p>
            <a:endParaRPr lang="en-US" dirty="0"/>
          </a:p>
          <a:p>
            <a:r>
              <a:rPr lang="en-US" dirty="0"/>
              <a:t>Chlordiazepoxide is available as 5mg tablets in blister packs containing 12 tablets.</a:t>
            </a:r>
          </a:p>
        </p:txBody>
      </p:sp>
      <p:sp>
        <p:nvSpPr>
          <p:cNvPr id="17" name="TextBox 16">
            <a:extLst>
              <a:ext uri="{FF2B5EF4-FFF2-40B4-BE49-F238E27FC236}">
                <a16:creationId xmlns:a16="http://schemas.microsoft.com/office/drawing/2014/main" id="{4FB7DD3E-4C7C-6F41-9DD2-D118953DDA26}"/>
              </a:ext>
            </a:extLst>
          </p:cNvPr>
          <p:cNvSpPr txBox="1"/>
          <p:nvPr/>
        </p:nvSpPr>
        <p:spPr>
          <a:xfrm>
            <a:off x="185738" y="4791915"/>
            <a:ext cx="5815012" cy="1200329"/>
          </a:xfrm>
          <a:prstGeom prst="rect">
            <a:avLst/>
          </a:prstGeom>
          <a:solidFill>
            <a:srgbClr val="F6FEEA"/>
          </a:solidFill>
          <a:ln>
            <a:solidFill>
              <a:schemeClr val="tx1"/>
            </a:solidFill>
          </a:ln>
        </p:spPr>
        <p:txBody>
          <a:bodyPr wrap="square" rtlCol="0">
            <a:spAutoFit/>
          </a:bodyPr>
          <a:lstStyle/>
          <a:p>
            <a:r>
              <a:rPr lang="en-US" b="1" dirty="0"/>
              <a:t>Prescribing request</a:t>
            </a:r>
          </a:p>
          <a:p>
            <a:r>
              <a:rPr lang="en-US" dirty="0"/>
              <a:t>How many blister packs of chlordiazepoxide will the patient need to complete the reducing dose regime? </a:t>
            </a:r>
          </a:p>
          <a:p>
            <a:r>
              <a:rPr lang="en-US" i="1" dirty="0"/>
              <a:t>(write your answer in the box provided)</a:t>
            </a:r>
          </a:p>
        </p:txBody>
      </p:sp>
      <p:sp>
        <p:nvSpPr>
          <p:cNvPr id="19" name="TextBox 18">
            <a:extLst>
              <a:ext uri="{FF2B5EF4-FFF2-40B4-BE49-F238E27FC236}">
                <a16:creationId xmlns:a16="http://schemas.microsoft.com/office/drawing/2014/main" id="{634582E3-2198-CF4F-83A3-E91D84123195}"/>
              </a:ext>
            </a:extLst>
          </p:cNvPr>
          <p:cNvSpPr txBox="1"/>
          <p:nvPr/>
        </p:nvSpPr>
        <p:spPr>
          <a:xfrm>
            <a:off x="185737" y="257178"/>
            <a:ext cx="1710297" cy="353943"/>
          </a:xfrm>
          <a:prstGeom prst="rect">
            <a:avLst/>
          </a:prstGeom>
          <a:solidFill>
            <a:srgbClr val="E9E9E9"/>
          </a:solidFill>
        </p:spPr>
        <p:txBody>
          <a:bodyPr wrap="square" rtlCol="0">
            <a:spAutoFit/>
          </a:bodyPr>
          <a:lstStyle/>
          <a:p>
            <a:pPr algn="ctr"/>
            <a:r>
              <a:rPr lang="en-US" sz="1700" dirty="0">
                <a:solidFill>
                  <a:srgbClr val="337AB7"/>
                </a:solidFill>
              </a:rPr>
              <a:t>Calculation Skills</a:t>
            </a:r>
          </a:p>
        </p:txBody>
      </p:sp>
      <p:sp>
        <p:nvSpPr>
          <p:cNvPr id="20" name="TextBox 19">
            <a:extLst>
              <a:ext uri="{FF2B5EF4-FFF2-40B4-BE49-F238E27FC236}">
                <a16:creationId xmlns:a16="http://schemas.microsoft.com/office/drawing/2014/main" id="{883B417D-AF94-D141-B053-DA439C020B59}"/>
              </a:ext>
            </a:extLst>
          </p:cNvPr>
          <p:cNvSpPr txBox="1"/>
          <p:nvPr/>
        </p:nvSpPr>
        <p:spPr>
          <a:xfrm>
            <a:off x="1896034" y="257177"/>
            <a:ext cx="1096960" cy="353943"/>
          </a:xfrm>
          <a:prstGeom prst="rect">
            <a:avLst/>
          </a:prstGeom>
          <a:noFill/>
        </p:spPr>
        <p:txBody>
          <a:bodyPr wrap="square" rtlCol="0">
            <a:spAutoFit/>
          </a:bodyPr>
          <a:lstStyle/>
          <a:p>
            <a:r>
              <a:rPr lang="en-US" sz="1700" b="1" dirty="0"/>
              <a:t>2 marks</a:t>
            </a:r>
          </a:p>
        </p:txBody>
      </p:sp>
    </p:spTree>
    <p:extLst>
      <p:ext uri="{BB962C8B-B14F-4D97-AF65-F5344CB8AC3E}">
        <p14:creationId xmlns:p14="http://schemas.microsoft.com/office/powerpoint/2010/main" val="5044690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9" name="TextBox 8">
            <a:extLst>
              <a:ext uri="{FF2B5EF4-FFF2-40B4-BE49-F238E27FC236}">
                <a16:creationId xmlns:a16="http://schemas.microsoft.com/office/drawing/2014/main" id="{66010B4C-B4B7-DD42-96F6-A0CDCAD3C31A}"/>
              </a:ext>
            </a:extLst>
          </p:cNvPr>
          <p:cNvSpPr txBox="1"/>
          <p:nvPr/>
        </p:nvSpPr>
        <p:spPr>
          <a:xfrm>
            <a:off x="185738" y="5948964"/>
            <a:ext cx="2189600" cy="830997"/>
          </a:xfrm>
          <a:prstGeom prst="rect">
            <a:avLst/>
          </a:prstGeom>
          <a:noFill/>
        </p:spPr>
        <p:txBody>
          <a:bodyPr wrap="square" rtlCol="0">
            <a:spAutoFit/>
          </a:bodyPr>
          <a:lstStyle/>
          <a:p>
            <a:r>
              <a:rPr lang="en-US" sz="4800" dirty="0"/>
              <a:t>ADR Q1</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1997252494"/>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amiloride</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amitriptyline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ibuprofen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ondansetron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salbutamol</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B2337783-A468-7B4B-9DD6-C6645BF17E05}"/>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67-year-old woman is noted to have QT prolongation on her admission ECG. QTc 540ms. </a:t>
            </a:r>
            <a:r>
              <a:rPr lang="en-US" b="1" dirty="0"/>
              <a:t>PMH.</a:t>
            </a:r>
            <a:r>
              <a:rPr lang="en-US" dirty="0"/>
              <a:t> Depression. </a:t>
            </a:r>
            <a:r>
              <a:rPr lang="en-US" b="1" dirty="0"/>
              <a:t>DH. </a:t>
            </a:r>
            <a:r>
              <a:rPr lang="en-US" dirty="0"/>
              <a:t>Citalopram.</a:t>
            </a:r>
          </a:p>
        </p:txBody>
      </p:sp>
      <p:sp>
        <p:nvSpPr>
          <p:cNvPr id="14" name="TextBox 13">
            <a:extLst>
              <a:ext uri="{FF2B5EF4-FFF2-40B4-BE49-F238E27FC236}">
                <a16:creationId xmlns:a16="http://schemas.microsoft.com/office/drawing/2014/main" id="{2AC7584C-01E6-2546-B7AC-DBEB0ED95C02}"/>
              </a:ext>
            </a:extLst>
          </p:cNvPr>
          <p:cNvSpPr txBox="1"/>
          <p:nvPr/>
        </p:nvSpPr>
        <p:spPr>
          <a:xfrm>
            <a:off x="185737" y="2297137"/>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Which medication is </a:t>
            </a:r>
            <a:r>
              <a:rPr lang="en-US" i="1" dirty="0"/>
              <a:t>most likely </a:t>
            </a:r>
            <a:r>
              <a:rPr lang="en-US" dirty="0"/>
              <a:t>to interact with citalopram to cause QT prolongation?</a:t>
            </a:r>
          </a:p>
        </p:txBody>
      </p:sp>
    </p:spTree>
    <p:extLst>
      <p:ext uri="{BB962C8B-B14F-4D97-AF65-F5344CB8AC3E}">
        <p14:creationId xmlns:p14="http://schemas.microsoft.com/office/powerpoint/2010/main" val="26743258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1416341443"/>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amiloride</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amitriptyline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ibuprofen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ondansetron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salbutamol</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B2337783-A468-7B4B-9DD6-C6645BF17E05}"/>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67-year-old woman is noted to have QT prolongation on her admission ECG. QTc 540ms. </a:t>
            </a:r>
            <a:r>
              <a:rPr lang="en-US" b="1" dirty="0"/>
              <a:t>PMH.</a:t>
            </a:r>
            <a:r>
              <a:rPr lang="en-US" dirty="0"/>
              <a:t> Depression. </a:t>
            </a:r>
            <a:r>
              <a:rPr lang="en-US" b="1" dirty="0"/>
              <a:t>DH. </a:t>
            </a:r>
            <a:r>
              <a:rPr lang="en-US" dirty="0"/>
              <a:t>Citalopram.</a:t>
            </a:r>
          </a:p>
        </p:txBody>
      </p:sp>
      <p:sp>
        <p:nvSpPr>
          <p:cNvPr id="14" name="TextBox 13">
            <a:extLst>
              <a:ext uri="{FF2B5EF4-FFF2-40B4-BE49-F238E27FC236}">
                <a16:creationId xmlns:a16="http://schemas.microsoft.com/office/drawing/2014/main" id="{2AC7584C-01E6-2546-B7AC-DBEB0ED95C02}"/>
              </a:ext>
            </a:extLst>
          </p:cNvPr>
          <p:cNvSpPr txBox="1"/>
          <p:nvPr/>
        </p:nvSpPr>
        <p:spPr>
          <a:xfrm>
            <a:off x="185737" y="2297137"/>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Which medication is </a:t>
            </a:r>
            <a:r>
              <a:rPr lang="en-US" i="1" dirty="0"/>
              <a:t>most likely </a:t>
            </a:r>
            <a:r>
              <a:rPr lang="en-US" dirty="0"/>
              <a:t>to interact with citalopram to cause QT prolongation?</a:t>
            </a:r>
          </a:p>
        </p:txBody>
      </p:sp>
      <p:sp>
        <p:nvSpPr>
          <p:cNvPr id="11" name="TextBox 10">
            <a:extLst>
              <a:ext uri="{FF2B5EF4-FFF2-40B4-BE49-F238E27FC236}">
                <a16:creationId xmlns:a16="http://schemas.microsoft.com/office/drawing/2014/main" id="{A4469031-0D71-654A-8D9E-D7B37798221F}"/>
              </a:ext>
            </a:extLst>
          </p:cNvPr>
          <p:cNvSpPr txBox="1"/>
          <p:nvPr/>
        </p:nvSpPr>
        <p:spPr>
          <a:xfrm>
            <a:off x="6191250" y="3549644"/>
            <a:ext cx="5815012" cy="738664"/>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This is a simple question, check each drug in the interactions section for citalopram (remembering to use CTRL + F) and only ondansetron will increase risk of QT prolongation when used in conjunction.</a:t>
            </a:r>
            <a:endParaRPr lang="en-US" sz="1400" dirty="0">
              <a:solidFill>
                <a:srgbClr val="FF0000"/>
              </a:solidFill>
            </a:endParaRPr>
          </a:p>
        </p:txBody>
      </p:sp>
      <p:sp>
        <p:nvSpPr>
          <p:cNvPr id="15" name="TextBox 14">
            <a:extLst>
              <a:ext uri="{FF2B5EF4-FFF2-40B4-BE49-F238E27FC236}">
                <a16:creationId xmlns:a16="http://schemas.microsoft.com/office/drawing/2014/main" id="{72E8B447-8C12-E349-8A3A-20D08609B77A}"/>
              </a:ext>
            </a:extLst>
          </p:cNvPr>
          <p:cNvSpPr txBox="1"/>
          <p:nvPr/>
        </p:nvSpPr>
        <p:spPr>
          <a:xfrm>
            <a:off x="185738" y="5948964"/>
            <a:ext cx="2189600" cy="830997"/>
          </a:xfrm>
          <a:prstGeom prst="rect">
            <a:avLst/>
          </a:prstGeom>
          <a:noFill/>
        </p:spPr>
        <p:txBody>
          <a:bodyPr wrap="square" rtlCol="0">
            <a:spAutoFit/>
          </a:bodyPr>
          <a:lstStyle/>
          <a:p>
            <a:r>
              <a:rPr lang="en-US" sz="4800" dirty="0"/>
              <a:t>ADR A1</a:t>
            </a:r>
          </a:p>
        </p:txBody>
      </p:sp>
    </p:spTree>
    <p:extLst>
      <p:ext uri="{BB962C8B-B14F-4D97-AF65-F5344CB8AC3E}">
        <p14:creationId xmlns:p14="http://schemas.microsoft.com/office/powerpoint/2010/main" val="4402292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913153373"/>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540mg</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5400mg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8100mg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1080mg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10800mg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B2337783-A468-7B4B-9DD6-C6645BF17E05}"/>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53-year-old man presents after taking an overdose of paracetamol. He says he has taken a pack of 20 paracetamol tablets, 500mg each. Weight 54kg. </a:t>
            </a:r>
          </a:p>
        </p:txBody>
      </p:sp>
      <p:sp>
        <p:nvSpPr>
          <p:cNvPr id="16" name="TextBox 15">
            <a:extLst>
              <a:ext uri="{FF2B5EF4-FFF2-40B4-BE49-F238E27FC236}">
                <a16:creationId xmlns:a16="http://schemas.microsoft.com/office/drawing/2014/main" id="{420461B5-4E0B-7144-96F2-D08E1780A56B}"/>
              </a:ext>
            </a:extLst>
          </p:cNvPr>
          <p:cNvSpPr txBox="1"/>
          <p:nvPr/>
        </p:nvSpPr>
        <p:spPr>
          <a:xfrm>
            <a:off x="185737" y="2298925"/>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What dose of </a:t>
            </a:r>
            <a:r>
              <a:rPr lang="en-GB" dirty="0"/>
              <a:t>acetylcysteine is required to prepare the first infusion of the 12-hour SNAP regimen?</a:t>
            </a:r>
          </a:p>
        </p:txBody>
      </p:sp>
      <p:sp>
        <p:nvSpPr>
          <p:cNvPr id="14" name="TextBox 13">
            <a:extLst>
              <a:ext uri="{FF2B5EF4-FFF2-40B4-BE49-F238E27FC236}">
                <a16:creationId xmlns:a16="http://schemas.microsoft.com/office/drawing/2014/main" id="{BE09C9FA-715D-A74F-A289-32764C875964}"/>
              </a:ext>
            </a:extLst>
          </p:cNvPr>
          <p:cNvSpPr txBox="1"/>
          <p:nvPr/>
        </p:nvSpPr>
        <p:spPr>
          <a:xfrm>
            <a:off x="185738" y="5948964"/>
            <a:ext cx="2189600" cy="830997"/>
          </a:xfrm>
          <a:prstGeom prst="rect">
            <a:avLst/>
          </a:prstGeom>
          <a:noFill/>
        </p:spPr>
        <p:txBody>
          <a:bodyPr wrap="square" rtlCol="0">
            <a:spAutoFit/>
          </a:bodyPr>
          <a:lstStyle/>
          <a:p>
            <a:r>
              <a:rPr lang="en-US" sz="4800" dirty="0"/>
              <a:t>ADR Q2</a:t>
            </a:r>
          </a:p>
        </p:txBody>
      </p:sp>
    </p:spTree>
    <p:extLst>
      <p:ext uri="{BB962C8B-B14F-4D97-AF65-F5344CB8AC3E}">
        <p14:creationId xmlns:p14="http://schemas.microsoft.com/office/powerpoint/2010/main" val="22468218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622944594"/>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540mg</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5400mg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8100mg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1080mg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10800mg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pic>
        <p:nvPicPr>
          <p:cNvPr id="3" name="Picture 2">
            <a:extLst>
              <a:ext uri="{FF2B5EF4-FFF2-40B4-BE49-F238E27FC236}">
                <a16:creationId xmlns:a16="http://schemas.microsoft.com/office/drawing/2014/main" id="{31B7FD1C-7DCC-0D48-AD58-59FD5B2409A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07783" y="3420738"/>
            <a:ext cx="5792966" cy="729013"/>
          </a:xfrm>
          <a:prstGeom prst="rect">
            <a:avLst/>
          </a:prstGeom>
        </p:spPr>
      </p:pic>
      <p:sp>
        <p:nvSpPr>
          <p:cNvPr id="15" name="TextBox 14">
            <a:extLst>
              <a:ext uri="{FF2B5EF4-FFF2-40B4-BE49-F238E27FC236}">
                <a16:creationId xmlns:a16="http://schemas.microsoft.com/office/drawing/2014/main" id="{A48149B8-BA1E-7548-A7AC-1B6BE239E242}"/>
              </a:ext>
            </a:extLst>
          </p:cNvPr>
          <p:cNvSpPr txBox="1"/>
          <p:nvPr/>
        </p:nvSpPr>
        <p:spPr>
          <a:xfrm>
            <a:off x="185737" y="4246908"/>
            <a:ext cx="5815012" cy="738664"/>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Use the treatment summary above for overdose questions.</a:t>
            </a:r>
          </a:p>
          <a:p>
            <a:pPr marL="285750" indent="-285750">
              <a:buFont typeface="Arial" panose="020B0604020202020204" pitchFamily="34" charset="0"/>
              <a:buChar char="•"/>
            </a:pPr>
            <a:r>
              <a:rPr lang="en-GB" sz="1400" dirty="0">
                <a:solidFill>
                  <a:srgbClr val="FF0000"/>
                </a:solidFill>
              </a:rPr>
              <a:t>Remember there are the 12-hour SNAP regimen and the 21-hour regimen which have different doses.</a:t>
            </a:r>
            <a:endParaRPr lang="en-US" sz="1400" dirty="0">
              <a:solidFill>
                <a:srgbClr val="FF0000"/>
              </a:solidFill>
            </a:endParaRPr>
          </a:p>
        </p:txBody>
      </p:sp>
      <p:sp>
        <p:nvSpPr>
          <p:cNvPr id="16" name="TextBox 15">
            <a:extLst>
              <a:ext uri="{FF2B5EF4-FFF2-40B4-BE49-F238E27FC236}">
                <a16:creationId xmlns:a16="http://schemas.microsoft.com/office/drawing/2014/main" id="{5297C83E-C610-8B4F-8D7A-9D30585AB003}"/>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53-year-old man presents after taking an overdose of paracetamol. He says he has taken a pack of 20 paracetamol tablets, 500mg each. Weight 54kg. </a:t>
            </a:r>
          </a:p>
        </p:txBody>
      </p:sp>
      <p:sp>
        <p:nvSpPr>
          <p:cNvPr id="17" name="TextBox 16">
            <a:extLst>
              <a:ext uri="{FF2B5EF4-FFF2-40B4-BE49-F238E27FC236}">
                <a16:creationId xmlns:a16="http://schemas.microsoft.com/office/drawing/2014/main" id="{AD343A4D-F8FC-2E4F-BE67-63BDAA23A5CE}"/>
              </a:ext>
            </a:extLst>
          </p:cNvPr>
          <p:cNvSpPr txBox="1"/>
          <p:nvPr/>
        </p:nvSpPr>
        <p:spPr>
          <a:xfrm>
            <a:off x="185737" y="2298925"/>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What dose of </a:t>
            </a:r>
            <a:r>
              <a:rPr lang="en-GB" dirty="0"/>
              <a:t>acetylcysteine is required to prepare the first infusion of the 12-hour SNAP regimen?</a:t>
            </a:r>
          </a:p>
        </p:txBody>
      </p:sp>
      <p:sp>
        <p:nvSpPr>
          <p:cNvPr id="19" name="TextBox 18">
            <a:extLst>
              <a:ext uri="{FF2B5EF4-FFF2-40B4-BE49-F238E27FC236}">
                <a16:creationId xmlns:a16="http://schemas.microsoft.com/office/drawing/2014/main" id="{6EC88ABF-C64A-2B4F-9430-5FBE84268A4E}"/>
              </a:ext>
            </a:extLst>
          </p:cNvPr>
          <p:cNvSpPr txBox="1"/>
          <p:nvPr/>
        </p:nvSpPr>
        <p:spPr>
          <a:xfrm>
            <a:off x="185738" y="5948964"/>
            <a:ext cx="2189600" cy="830997"/>
          </a:xfrm>
          <a:prstGeom prst="rect">
            <a:avLst/>
          </a:prstGeom>
          <a:noFill/>
        </p:spPr>
        <p:txBody>
          <a:bodyPr wrap="square" rtlCol="0">
            <a:spAutoFit/>
          </a:bodyPr>
          <a:lstStyle/>
          <a:p>
            <a:r>
              <a:rPr lang="en-US" sz="4800" dirty="0"/>
              <a:t>ADR A2</a:t>
            </a:r>
          </a:p>
        </p:txBody>
      </p:sp>
      <p:pic>
        <p:nvPicPr>
          <p:cNvPr id="9" name="Picture 8">
            <a:extLst>
              <a:ext uri="{FF2B5EF4-FFF2-40B4-BE49-F238E27FC236}">
                <a16:creationId xmlns:a16="http://schemas.microsoft.com/office/drawing/2014/main" id="{9CE3B547-BC48-FB89-D4E5-AA44550AD002}"/>
              </a:ext>
            </a:extLst>
          </p:cNvPr>
          <p:cNvPicPr>
            <a:picLocks noChangeAspect="1"/>
          </p:cNvPicPr>
          <p:nvPr/>
        </p:nvPicPr>
        <p:blipFill>
          <a:blip r:embed="rId5"/>
          <a:stretch>
            <a:fillRect/>
          </a:stretch>
        </p:blipFill>
        <p:spPr>
          <a:xfrm>
            <a:off x="6820822" y="3429000"/>
            <a:ext cx="4545384" cy="3182752"/>
          </a:xfrm>
          <a:prstGeom prst="rect">
            <a:avLst/>
          </a:prstGeom>
          <a:effectLst/>
        </p:spPr>
      </p:pic>
      <p:sp>
        <p:nvSpPr>
          <p:cNvPr id="11" name="Rectangle 10">
            <a:extLst>
              <a:ext uri="{FF2B5EF4-FFF2-40B4-BE49-F238E27FC236}">
                <a16:creationId xmlns:a16="http://schemas.microsoft.com/office/drawing/2014/main" id="{61BF4469-0919-4408-9D0C-CDED51C3AD0F}"/>
              </a:ext>
            </a:extLst>
          </p:cNvPr>
          <p:cNvSpPr/>
          <p:nvPr/>
        </p:nvSpPr>
        <p:spPr>
          <a:xfrm>
            <a:off x="6810189" y="5888496"/>
            <a:ext cx="4564847" cy="723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16384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BFDB2-00F5-5243-9488-C5D53FBECF4C}"/>
              </a:ext>
            </a:extLst>
          </p:cNvPr>
          <p:cNvSpPr>
            <a:spLocks noGrp="1"/>
          </p:cNvSpPr>
          <p:nvPr>
            <p:ph type="title"/>
          </p:nvPr>
        </p:nvSpPr>
        <p:spPr/>
        <p:txBody>
          <a:bodyPr/>
          <a:lstStyle/>
          <a:p>
            <a:r>
              <a:rPr lang="en-US" dirty="0"/>
              <a:t>Paracetamol overdose</a:t>
            </a:r>
          </a:p>
        </p:txBody>
      </p:sp>
      <p:sp>
        <p:nvSpPr>
          <p:cNvPr id="3" name="Content Placeholder 2">
            <a:extLst>
              <a:ext uri="{FF2B5EF4-FFF2-40B4-BE49-F238E27FC236}">
                <a16:creationId xmlns:a16="http://schemas.microsoft.com/office/drawing/2014/main" id="{2A720D08-1F30-6342-9678-C8F75834CC80}"/>
              </a:ext>
            </a:extLst>
          </p:cNvPr>
          <p:cNvSpPr>
            <a:spLocks noGrp="1"/>
          </p:cNvSpPr>
          <p:nvPr>
            <p:ph idx="1"/>
          </p:nvPr>
        </p:nvSpPr>
        <p:spPr/>
        <p:txBody>
          <a:bodyPr>
            <a:normAutofit fontScale="92500" lnSpcReduction="10000"/>
          </a:bodyPr>
          <a:lstStyle/>
          <a:p>
            <a:r>
              <a:rPr lang="en-US" dirty="0"/>
              <a:t>Remember:</a:t>
            </a:r>
          </a:p>
          <a:p>
            <a:pPr lvl="1"/>
            <a:r>
              <a:rPr lang="en-US" dirty="0"/>
              <a:t>Paracetamol is broken down into two non-toxic molecules and one toxic molecule called NAPQI</a:t>
            </a:r>
          </a:p>
          <a:p>
            <a:pPr lvl="1"/>
            <a:r>
              <a:rPr lang="en-US" dirty="0"/>
              <a:t>NAPQI is usually broken down to a non-toxic form by glutathione in the liver</a:t>
            </a:r>
          </a:p>
          <a:p>
            <a:pPr lvl="1"/>
            <a:r>
              <a:rPr lang="en-US" dirty="0"/>
              <a:t>In paracetamol overdose there is not enough glutathione as it is all used up</a:t>
            </a:r>
          </a:p>
          <a:p>
            <a:pPr lvl="1"/>
            <a:r>
              <a:rPr lang="en-US" dirty="0"/>
              <a:t>This means NAPQI cannot all be broken down resulting acute liver failure and liver necrosis</a:t>
            </a:r>
          </a:p>
          <a:p>
            <a:pPr lvl="1"/>
            <a:r>
              <a:rPr lang="en-US" dirty="0"/>
              <a:t>NAC is a precursor of glutathione, so it resupplies the glutathione stores allowing NAPQI to be broken down again</a:t>
            </a:r>
          </a:p>
          <a:p>
            <a:r>
              <a:rPr lang="en-US" dirty="0"/>
              <a:t>King’s College Hospital criteria used to determine if liver transplant required:</a:t>
            </a:r>
          </a:p>
          <a:p>
            <a:pPr marL="914400" lvl="1" indent="-457200">
              <a:buFont typeface="+mj-lt"/>
              <a:buAutoNum type="arabicPeriod"/>
            </a:pPr>
            <a:r>
              <a:rPr lang="en-US" dirty="0"/>
              <a:t>Arterial pH &lt;7.3 after 24 hours of treatment</a:t>
            </a:r>
          </a:p>
          <a:p>
            <a:pPr marL="914400" lvl="1" indent="-457200">
              <a:buFont typeface="+mj-lt"/>
              <a:buAutoNum type="arabicPeriod"/>
            </a:pPr>
            <a:r>
              <a:rPr lang="en-US" dirty="0"/>
              <a:t>OR ALL OF – INR &gt;6.5, creatinine AND grade 3/4 encephalopathy</a:t>
            </a:r>
          </a:p>
        </p:txBody>
      </p:sp>
    </p:spTree>
    <p:extLst>
      <p:ext uri="{BB962C8B-B14F-4D97-AF65-F5344CB8AC3E}">
        <p14:creationId xmlns:p14="http://schemas.microsoft.com/office/powerpoint/2010/main" val="42486462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657893086"/>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err="1"/>
                        <a:t>hyperglycaemia</a:t>
                      </a:r>
                      <a:endParaRPr lang="en-US" sz="1800" dirty="0"/>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loss of consciousness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menorrhagia</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suicidal ideation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abnormal dreams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B2337783-A468-7B4B-9DD6-C6645BF17E05}"/>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42-year-old woman attends her GP for help with smoking cessation. It has been agreed to trial varenicline with an uptitrating dose for 12 weeks.</a:t>
            </a:r>
          </a:p>
        </p:txBody>
      </p:sp>
      <p:sp>
        <p:nvSpPr>
          <p:cNvPr id="14" name="TextBox 13">
            <a:extLst>
              <a:ext uri="{FF2B5EF4-FFF2-40B4-BE49-F238E27FC236}">
                <a16:creationId xmlns:a16="http://schemas.microsoft.com/office/drawing/2014/main" id="{2AC7584C-01E6-2546-B7AC-DBEB0ED95C02}"/>
              </a:ext>
            </a:extLst>
          </p:cNvPr>
          <p:cNvSpPr txBox="1"/>
          <p:nvPr/>
        </p:nvSpPr>
        <p:spPr>
          <a:xfrm>
            <a:off x="185737" y="2298925"/>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GB" dirty="0"/>
              <a:t>Select the adverse effect which is </a:t>
            </a:r>
            <a:r>
              <a:rPr lang="en-GB" i="1" dirty="0"/>
              <a:t>most likely</a:t>
            </a:r>
            <a:r>
              <a:rPr lang="en-GB" dirty="0"/>
              <a:t> to be caused by this medication.</a:t>
            </a:r>
          </a:p>
        </p:txBody>
      </p:sp>
      <p:sp>
        <p:nvSpPr>
          <p:cNvPr id="11" name="TextBox 10">
            <a:extLst>
              <a:ext uri="{FF2B5EF4-FFF2-40B4-BE49-F238E27FC236}">
                <a16:creationId xmlns:a16="http://schemas.microsoft.com/office/drawing/2014/main" id="{DFF47187-ED95-C54C-A6BA-F5C05252CD76}"/>
              </a:ext>
            </a:extLst>
          </p:cNvPr>
          <p:cNvSpPr txBox="1"/>
          <p:nvPr/>
        </p:nvSpPr>
        <p:spPr>
          <a:xfrm>
            <a:off x="185738" y="5948964"/>
            <a:ext cx="2189600" cy="830997"/>
          </a:xfrm>
          <a:prstGeom prst="rect">
            <a:avLst/>
          </a:prstGeom>
          <a:noFill/>
        </p:spPr>
        <p:txBody>
          <a:bodyPr wrap="square" rtlCol="0">
            <a:spAutoFit/>
          </a:bodyPr>
          <a:lstStyle/>
          <a:p>
            <a:r>
              <a:rPr lang="en-US" sz="4800" dirty="0"/>
              <a:t>ADR Q3</a:t>
            </a:r>
          </a:p>
        </p:txBody>
      </p:sp>
    </p:spTree>
    <p:extLst>
      <p:ext uri="{BB962C8B-B14F-4D97-AF65-F5344CB8AC3E}">
        <p14:creationId xmlns:p14="http://schemas.microsoft.com/office/powerpoint/2010/main" val="39416839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121831967"/>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err="1"/>
                        <a:t>hyperglycaemia</a:t>
                      </a:r>
                      <a:endParaRPr lang="en-US" sz="1800" dirty="0"/>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loss of consciousness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menorrhagia</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suicidal ideation</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abnormal dreams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B2337783-A468-7B4B-9DD6-C6645BF17E05}"/>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42-year-old woman attends her GP for help with smoking cessation. It has been agreed to trial varenicline with an uptitrating dose for 12 weeks.</a:t>
            </a:r>
          </a:p>
        </p:txBody>
      </p:sp>
      <p:sp>
        <p:nvSpPr>
          <p:cNvPr id="14" name="TextBox 13">
            <a:extLst>
              <a:ext uri="{FF2B5EF4-FFF2-40B4-BE49-F238E27FC236}">
                <a16:creationId xmlns:a16="http://schemas.microsoft.com/office/drawing/2014/main" id="{2AC7584C-01E6-2546-B7AC-DBEB0ED95C02}"/>
              </a:ext>
            </a:extLst>
          </p:cNvPr>
          <p:cNvSpPr txBox="1"/>
          <p:nvPr/>
        </p:nvSpPr>
        <p:spPr>
          <a:xfrm>
            <a:off x="185737" y="2298925"/>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GB" dirty="0"/>
              <a:t>Select the adverse effect which is </a:t>
            </a:r>
            <a:r>
              <a:rPr lang="en-GB" i="1" dirty="0"/>
              <a:t>most likely</a:t>
            </a:r>
            <a:r>
              <a:rPr lang="en-GB" dirty="0"/>
              <a:t> to be caused by this medication.</a:t>
            </a:r>
          </a:p>
        </p:txBody>
      </p:sp>
      <p:grpSp>
        <p:nvGrpSpPr>
          <p:cNvPr id="24" name="Group 23">
            <a:extLst>
              <a:ext uri="{FF2B5EF4-FFF2-40B4-BE49-F238E27FC236}">
                <a16:creationId xmlns:a16="http://schemas.microsoft.com/office/drawing/2014/main" id="{3CE05EC1-4324-5F44-B66F-57C84E646F39}"/>
              </a:ext>
            </a:extLst>
          </p:cNvPr>
          <p:cNvGrpSpPr/>
          <p:nvPr/>
        </p:nvGrpSpPr>
        <p:grpSpPr>
          <a:xfrm>
            <a:off x="6304756" y="3426862"/>
            <a:ext cx="5386385" cy="3380844"/>
            <a:chOff x="6304756" y="3426862"/>
            <a:chExt cx="5386385" cy="3380844"/>
          </a:xfrm>
        </p:grpSpPr>
        <p:pic>
          <p:nvPicPr>
            <p:cNvPr id="2" name="Picture 1">
              <a:extLst>
                <a:ext uri="{FF2B5EF4-FFF2-40B4-BE49-F238E27FC236}">
                  <a16:creationId xmlns:a16="http://schemas.microsoft.com/office/drawing/2014/main" id="{094867FF-435F-2940-A8B5-1FBD6F1D8059}"/>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6304756" y="3426862"/>
              <a:ext cx="5386385" cy="3380844"/>
            </a:xfrm>
            <a:prstGeom prst="rect">
              <a:avLst/>
            </a:prstGeom>
          </p:spPr>
        </p:pic>
        <p:cxnSp>
          <p:nvCxnSpPr>
            <p:cNvPr id="11" name="Straight Connector 10">
              <a:extLst>
                <a:ext uri="{FF2B5EF4-FFF2-40B4-BE49-F238E27FC236}">
                  <a16:creationId xmlns:a16="http://schemas.microsoft.com/office/drawing/2014/main" id="{7BB871BA-5641-F34D-BCC2-119137763D04}"/>
                </a:ext>
              </a:extLst>
            </p:cNvPr>
            <p:cNvCxnSpPr>
              <a:cxnSpLocks/>
            </p:cNvCxnSpPr>
            <p:nvPr/>
          </p:nvCxnSpPr>
          <p:spPr>
            <a:xfrm>
              <a:off x="8018871" y="4223657"/>
              <a:ext cx="733243"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09F0AA5-50EA-644D-AB69-4AE4302B3AEA}"/>
                </a:ext>
              </a:extLst>
            </p:cNvPr>
            <p:cNvCxnSpPr>
              <a:cxnSpLocks/>
            </p:cNvCxnSpPr>
            <p:nvPr/>
          </p:nvCxnSpPr>
          <p:spPr>
            <a:xfrm>
              <a:off x="10104574" y="5095512"/>
              <a:ext cx="781140"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09118E2-5291-3847-BA31-AC2CB328CB0F}"/>
                </a:ext>
              </a:extLst>
            </p:cNvPr>
            <p:cNvCxnSpPr>
              <a:cxnSpLocks/>
            </p:cNvCxnSpPr>
            <p:nvPr/>
          </p:nvCxnSpPr>
          <p:spPr>
            <a:xfrm>
              <a:off x="6372950" y="6676117"/>
              <a:ext cx="1035141"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071D118-811F-894B-88D1-5508408E0A8D}"/>
                </a:ext>
              </a:extLst>
            </p:cNvPr>
            <p:cNvCxnSpPr>
              <a:cxnSpLocks/>
            </p:cNvCxnSpPr>
            <p:nvPr/>
          </p:nvCxnSpPr>
          <p:spPr>
            <a:xfrm>
              <a:off x="6372950" y="5095512"/>
              <a:ext cx="611324"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9648A1A-499D-4149-9F38-2E70464FEA8F}"/>
                </a:ext>
              </a:extLst>
            </p:cNvPr>
            <p:cNvCxnSpPr>
              <a:cxnSpLocks/>
            </p:cNvCxnSpPr>
            <p:nvPr/>
          </p:nvCxnSpPr>
          <p:spPr>
            <a:xfrm>
              <a:off x="8955042" y="4934403"/>
              <a:ext cx="737598" cy="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pic>
        <p:nvPicPr>
          <p:cNvPr id="26" name="Picture 25">
            <a:extLst>
              <a:ext uri="{FF2B5EF4-FFF2-40B4-BE49-F238E27FC236}">
                <a16:creationId xmlns:a16="http://schemas.microsoft.com/office/drawing/2014/main" id="{C23D11D3-C2FC-BF49-913F-C2074B85176F}"/>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203312" y="3418061"/>
            <a:ext cx="5797437" cy="2025434"/>
          </a:xfrm>
          <a:prstGeom prst="rect">
            <a:avLst/>
          </a:prstGeom>
        </p:spPr>
      </p:pic>
      <p:sp>
        <p:nvSpPr>
          <p:cNvPr id="27" name="TextBox 26">
            <a:extLst>
              <a:ext uri="{FF2B5EF4-FFF2-40B4-BE49-F238E27FC236}">
                <a16:creationId xmlns:a16="http://schemas.microsoft.com/office/drawing/2014/main" id="{41A82CAF-BCC5-3442-843B-FE1DA69B34A8}"/>
              </a:ext>
            </a:extLst>
          </p:cNvPr>
          <p:cNvSpPr txBox="1"/>
          <p:nvPr/>
        </p:nvSpPr>
        <p:spPr>
          <a:xfrm>
            <a:off x="2448909" y="5438052"/>
            <a:ext cx="3551839" cy="1169551"/>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Abnormal dreams are a classic side effect to warn patients of starting on varenicline. It is listed as sleep disorders on the BNF.</a:t>
            </a:r>
          </a:p>
          <a:p>
            <a:pPr marL="285750" indent="-285750">
              <a:buFont typeface="Arial" panose="020B0604020202020204" pitchFamily="34" charset="0"/>
              <a:buChar char="•"/>
            </a:pPr>
            <a:r>
              <a:rPr lang="en-GB" sz="1400" dirty="0">
                <a:solidFill>
                  <a:srgbClr val="FF0000"/>
                </a:solidFill>
              </a:rPr>
              <a:t>The other adverse effects are all true but less common.</a:t>
            </a:r>
            <a:endParaRPr lang="en-US" sz="1400" dirty="0">
              <a:solidFill>
                <a:srgbClr val="FF0000"/>
              </a:solidFill>
            </a:endParaRPr>
          </a:p>
        </p:txBody>
      </p:sp>
      <p:sp>
        <p:nvSpPr>
          <p:cNvPr id="28" name="Rectangle 27">
            <a:extLst>
              <a:ext uri="{FF2B5EF4-FFF2-40B4-BE49-F238E27FC236}">
                <a16:creationId xmlns:a16="http://schemas.microsoft.com/office/drawing/2014/main" id="{F7C3FC98-3873-FF4C-88A9-8664C8E701D9}"/>
              </a:ext>
            </a:extLst>
          </p:cNvPr>
          <p:cNvSpPr/>
          <p:nvPr/>
        </p:nvSpPr>
        <p:spPr>
          <a:xfrm>
            <a:off x="2154513" y="4481315"/>
            <a:ext cx="490446" cy="22980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AF6C339-73BE-0D42-A2B6-B8124B20EBA2}"/>
              </a:ext>
            </a:extLst>
          </p:cNvPr>
          <p:cNvSpPr txBox="1"/>
          <p:nvPr/>
        </p:nvSpPr>
        <p:spPr>
          <a:xfrm>
            <a:off x="185738" y="5948964"/>
            <a:ext cx="2189600" cy="830997"/>
          </a:xfrm>
          <a:prstGeom prst="rect">
            <a:avLst/>
          </a:prstGeom>
          <a:noFill/>
        </p:spPr>
        <p:txBody>
          <a:bodyPr wrap="square" rtlCol="0">
            <a:spAutoFit/>
          </a:bodyPr>
          <a:lstStyle/>
          <a:p>
            <a:r>
              <a:rPr lang="en-US" sz="4800" dirty="0"/>
              <a:t>ADR A3</a:t>
            </a:r>
          </a:p>
        </p:txBody>
      </p:sp>
    </p:spTree>
    <p:extLst>
      <p:ext uri="{BB962C8B-B14F-4D97-AF65-F5344CB8AC3E}">
        <p14:creationId xmlns:p14="http://schemas.microsoft.com/office/powerpoint/2010/main" val="234914607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027147878"/>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atropine 3mg IV</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calcium gluconate 10%, 10ml over 10m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err="1"/>
                        <a:t>haemodialysis</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hydrocortisone 10mg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sodium bicarbonate 50mmol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B2337783-A468-7B4B-9DD6-C6645BF17E05}"/>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35-year-old man presents after taking an overdose of amitriptyline. It is unclear how much he has taken. He is tachycardic and drowsy.</a:t>
            </a:r>
          </a:p>
        </p:txBody>
      </p:sp>
      <p:sp>
        <p:nvSpPr>
          <p:cNvPr id="14" name="TextBox 13">
            <a:extLst>
              <a:ext uri="{FF2B5EF4-FFF2-40B4-BE49-F238E27FC236}">
                <a16:creationId xmlns:a16="http://schemas.microsoft.com/office/drawing/2014/main" id="{2AC7584C-01E6-2546-B7AC-DBEB0ED95C02}"/>
              </a:ext>
            </a:extLst>
          </p:cNvPr>
          <p:cNvSpPr txBox="1"/>
          <p:nvPr/>
        </p:nvSpPr>
        <p:spPr>
          <a:xfrm>
            <a:off x="185737" y="2297137"/>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GB" dirty="0"/>
              <a:t>Select the </a:t>
            </a:r>
            <a:r>
              <a:rPr lang="en-GB" i="1" dirty="0"/>
              <a:t>most appropriate</a:t>
            </a:r>
            <a:r>
              <a:rPr lang="en-GB" dirty="0"/>
              <a:t> option for the immediate management of this adverse drug reaction.</a:t>
            </a:r>
          </a:p>
        </p:txBody>
      </p:sp>
      <p:sp>
        <p:nvSpPr>
          <p:cNvPr id="11" name="TextBox 10">
            <a:extLst>
              <a:ext uri="{FF2B5EF4-FFF2-40B4-BE49-F238E27FC236}">
                <a16:creationId xmlns:a16="http://schemas.microsoft.com/office/drawing/2014/main" id="{B089D0B4-125E-DB4A-A5F7-08B78C8510BE}"/>
              </a:ext>
            </a:extLst>
          </p:cNvPr>
          <p:cNvSpPr txBox="1"/>
          <p:nvPr/>
        </p:nvSpPr>
        <p:spPr>
          <a:xfrm>
            <a:off x="185738" y="5948964"/>
            <a:ext cx="2189600" cy="830997"/>
          </a:xfrm>
          <a:prstGeom prst="rect">
            <a:avLst/>
          </a:prstGeom>
          <a:noFill/>
        </p:spPr>
        <p:txBody>
          <a:bodyPr wrap="square" rtlCol="0">
            <a:spAutoFit/>
          </a:bodyPr>
          <a:lstStyle/>
          <a:p>
            <a:r>
              <a:rPr lang="en-US" sz="4800" dirty="0"/>
              <a:t>ADR Q4</a:t>
            </a:r>
          </a:p>
        </p:txBody>
      </p:sp>
    </p:spTree>
    <p:extLst>
      <p:ext uri="{BB962C8B-B14F-4D97-AF65-F5344CB8AC3E}">
        <p14:creationId xmlns:p14="http://schemas.microsoft.com/office/powerpoint/2010/main" val="32785682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7" y="257178"/>
            <a:ext cx="2189601" cy="353943"/>
          </a:xfrm>
          <a:prstGeom prst="rect">
            <a:avLst/>
          </a:prstGeom>
          <a:solidFill>
            <a:srgbClr val="E5DE2B"/>
          </a:solidFill>
        </p:spPr>
        <p:txBody>
          <a:bodyPr wrap="square" rtlCol="0">
            <a:spAutoFit/>
          </a:bodyPr>
          <a:lstStyle/>
          <a:p>
            <a:pPr algn="ctr"/>
            <a:r>
              <a:rPr lang="en-US" sz="1700" dirty="0">
                <a:solidFill>
                  <a:srgbClr val="367CB3"/>
                </a:solidFill>
              </a:rPr>
              <a:t>Adverse Drug Reaction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375338"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0" y="900112"/>
            <a:ext cx="5815012" cy="2431435"/>
          </a:xfrm>
          <a:prstGeom prst="rect">
            <a:avLst/>
          </a:prstGeom>
          <a:solidFill>
            <a:srgbClr val="ECECEC"/>
          </a:solidFill>
          <a:ln>
            <a:solidFill>
              <a:schemeClr val="tx1"/>
            </a:solidFill>
          </a:ln>
        </p:spPr>
        <p:txBody>
          <a:bodyPr wrap="square" rtlCol="0">
            <a:spAutoFit/>
          </a:bodyPr>
          <a:lstStyle/>
          <a:p>
            <a:r>
              <a:rPr lang="en-US" b="1" dirty="0"/>
              <a:t>ADVERSE EFFECT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92152953"/>
              </p:ext>
            </p:extLst>
          </p:nvPr>
        </p:nvGraphicFramePr>
        <p:xfrm>
          <a:off x="6304756" y="9954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atropine 3mg IV</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calcium gluconate 10%, 10ml over 10m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err="1"/>
                        <a:t>haemodialysis</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hydrocortisone 10mg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sodium bicarbonate 50mmol IV</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B2337783-A468-7B4B-9DD6-C6645BF17E05}"/>
              </a:ext>
            </a:extLst>
          </p:cNvPr>
          <p:cNvSpPr txBox="1"/>
          <p:nvPr/>
        </p:nvSpPr>
        <p:spPr>
          <a:xfrm>
            <a:off x="185738" y="900112"/>
            <a:ext cx="5815012" cy="1200329"/>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35-year-old man presents after taking an overdose of amitriptyline. It is unclear how much he has taken. He is tachycardic and drowsy. QRS duration 130ms.</a:t>
            </a:r>
          </a:p>
        </p:txBody>
      </p:sp>
      <p:sp>
        <p:nvSpPr>
          <p:cNvPr id="14" name="TextBox 13">
            <a:extLst>
              <a:ext uri="{FF2B5EF4-FFF2-40B4-BE49-F238E27FC236}">
                <a16:creationId xmlns:a16="http://schemas.microsoft.com/office/drawing/2014/main" id="{2AC7584C-01E6-2546-B7AC-DBEB0ED95C02}"/>
              </a:ext>
            </a:extLst>
          </p:cNvPr>
          <p:cNvSpPr txBox="1"/>
          <p:nvPr/>
        </p:nvSpPr>
        <p:spPr>
          <a:xfrm>
            <a:off x="185737" y="2297137"/>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GB" dirty="0"/>
              <a:t>Select the </a:t>
            </a:r>
            <a:r>
              <a:rPr lang="en-GB" i="1" dirty="0"/>
              <a:t>most appropriate</a:t>
            </a:r>
            <a:r>
              <a:rPr lang="en-GB" dirty="0"/>
              <a:t> option for the immediate management of this adverse drug reaction.</a:t>
            </a:r>
          </a:p>
        </p:txBody>
      </p:sp>
      <p:sp>
        <p:nvSpPr>
          <p:cNvPr id="11" name="TextBox 10">
            <a:extLst>
              <a:ext uri="{FF2B5EF4-FFF2-40B4-BE49-F238E27FC236}">
                <a16:creationId xmlns:a16="http://schemas.microsoft.com/office/drawing/2014/main" id="{3F18E702-E5B0-0B42-BC20-A08988487582}"/>
              </a:ext>
            </a:extLst>
          </p:cNvPr>
          <p:cNvSpPr txBox="1"/>
          <p:nvPr/>
        </p:nvSpPr>
        <p:spPr>
          <a:xfrm>
            <a:off x="6191250" y="4350348"/>
            <a:ext cx="5815012" cy="2031325"/>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TCA overdoses cause sodium channel blocking in the myocardium which can result in arrythmias. The first sign is QRS prolongation. Sodium bicarbonate increases TCA protein binding, dislodging TCAs from the sodium channel and increasing TCA elimination.</a:t>
            </a:r>
          </a:p>
          <a:p>
            <a:pPr marL="285750" indent="-285750">
              <a:buFont typeface="Arial" panose="020B0604020202020204" pitchFamily="34" charset="0"/>
              <a:buChar char="•"/>
            </a:pPr>
            <a:r>
              <a:rPr lang="en-GB" sz="1400" dirty="0">
                <a:solidFill>
                  <a:srgbClr val="FF0000"/>
                </a:solidFill>
              </a:rPr>
              <a:t>Atropine </a:t>
            </a:r>
            <a:r>
              <a:rPr lang="en-GB" sz="1400" dirty="0">
                <a:solidFill>
                  <a:srgbClr val="FF0000"/>
                </a:solidFill>
                <a:sym typeface="Wingdings" pitchFamily="2" charset="2"/>
              </a:rPr>
              <a:t> </a:t>
            </a:r>
            <a:r>
              <a:rPr lang="en-GB" sz="1400" dirty="0" err="1">
                <a:solidFill>
                  <a:srgbClr val="FF0000"/>
                </a:solidFill>
                <a:sym typeface="Wingdings" pitchFamily="2" charset="2"/>
              </a:rPr>
              <a:t>bradyarthymias</a:t>
            </a:r>
            <a:endParaRPr lang="en-GB" sz="1400" dirty="0">
              <a:solidFill>
                <a:srgbClr val="FF0000"/>
              </a:solidFill>
              <a:sym typeface="Wingdings" pitchFamily="2" charset="2"/>
            </a:endParaRPr>
          </a:p>
          <a:p>
            <a:pPr marL="285750" indent="-285750">
              <a:buFont typeface="Arial" panose="020B0604020202020204" pitchFamily="34" charset="0"/>
              <a:buChar char="•"/>
            </a:pPr>
            <a:r>
              <a:rPr lang="en-GB" sz="1400" dirty="0">
                <a:solidFill>
                  <a:srgbClr val="FF0000"/>
                </a:solidFill>
                <a:sym typeface="Wingdings" pitchFamily="2" charset="2"/>
              </a:rPr>
              <a:t>Calcium gluconate  emergency hypocalcaemia, emergency hyperkalaemia</a:t>
            </a:r>
          </a:p>
          <a:p>
            <a:pPr marL="285750" indent="-285750">
              <a:buFont typeface="Arial" panose="020B0604020202020204" pitchFamily="34" charset="0"/>
              <a:buChar char="•"/>
            </a:pPr>
            <a:r>
              <a:rPr lang="en-GB" sz="1400" dirty="0">
                <a:solidFill>
                  <a:srgbClr val="FF0000"/>
                </a:solidFill>
                <a:sym typeface="Wingdings" pitchFamily="2" charset="2"/>
              </a:rPr>
              <a:t>Haemodialysis  overdoses with organ failure, not first line</a:t>
            </a:r>
          </a:p>
          <a:p>
            <a:pPr marL="285750" indent="-285750">
              <a:buFont typeface="Arial" panose="020B0604020202020204" pitchFamily="34" charset="0"/>
              <a:buChar char="•"/>
            </a:pPr>
            <a:r>
              <a:rPr lang="en-GB" sz="1400" dirty="0">
                <a:solidFill>
                  <a:srgbClr val="FF0000"/>
                </a:solidFill>
                <a:sym typeface="Wingdings" pitchFamily="2" charset="2"/>
              </a:rPr>
              <a:t>Hydrocortisone  Addisonian crisis</a:t>
            </a:r>
          </a:p>
        </p:txBody>
      </p:sp>
      <p:pic>
        <p:nvPicPr>
          <p:cNvPr id="15" name="Picture 14">
            <a:extLst>
              <a:ext uri="{FF2B5EF4-FFF2-40B4-BE49-F238E27FC236}">
                <a16:creationId xmlns:a16="http://schemas.microsoft.com/office/drawing/2014/main" id="{1091A138-B1B0-2141-82CF-4F618B3D82A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91250" y="3529043"/>
            <a:ext cx="5792966" cy="729013"/>
          </a:xfrm>
          <a:prstGeom prst="rect">
            <a:avLst/>
          </a:prstGeom>
        </p:spPr>
      </p:pic>
      <p:sp>
        <p:nvSpPr>
          <p:cNvPr id="16" name="TextBox 15">
            <a:extLst>
              <a:ext uri="{FF2B5EF4-FFF2-40B4-BE49-F238E27FC236}">
                <a16:creationId xmlns:a16="http://schemas.microsoft.com/office/drawing/2014/main" id="{CD4E9E61-F2B6-0D4A-993D-F34E57F2BDEB}"/>
              </a:ext>
            </a:extLst>
          </p:cNvPr>
          <p:cNvSpPr txBox="1"/>
          <p:nvPr/>
        </p:nvSpPr>
        <p:spPr>
          <a:xfrm>
            <a:off x="185738" y="5948964"/>
            <a:ext cx="2189600" cy="830997"/>
          </a:xfrm>
          <a:prstGeom prst="rect">
            <a:avLst/>
          </a:prstGeom>
          <a:noFill/>
        </p:spPr>
        <p:txBody>
          <a:bodyPr wrap="square" rtlCol="0">
            <a:spAutoFit/>
          </a:bodyPr>
          <a:lstStyle/>
          <a:p>
            <a:r>
              <a:rPr lang="en-US" sz="4800" dirty="0"/>
              <a:t>ADR A4</a:t>
            </a:r>
          </a:p>
        </p:txBody>
      </p:sp>
    </p:spTree>
    <p:extLst>
      <p:ext uri="{BB962C8B-B14F-4D97-AF65-F5344CB8AC3E}">
        <p14:creationId xmlns:p14="http://schemas.microsoft.com/office/powerpoint/2010/main" val="345707793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69-year-old woman is started on apixaban for atrial fibrillation.</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024794"/>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769546174"/>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INR</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err="1"/>
                        <a:t>aPTT</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PT</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anti-factor </a:t>
                      </a:r>
                      <a:r>
                        <a:rPr lang="en-US" sz="1800" dirty="0" err="1"/>
                        <a:t>Xa</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monitor clinically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FA11C075-AFC0-CC43-96CC-E2A55037EE2E}"/>
              </a:ext>
            </a:extLst>
          </p:cNvPr>
          <p:cNvSpPr txBox="1"/>
          <p:nvPr/>
        </p:nvSpPr>
        <p:spPr>
          <a:xfrm>
            <a:off x="185737" y="5948964"/>
            <a:ext cx="2652055" cy="830997"/>
          </a:xfrm>
          <a:prstGeom prst="rect">
            <a:avLst/>
          </a:prstGeom>
          <a:noFill/>
        </p:spPr>
        <p:txBody>
          <a:bodyPr wrap="square" rtlCol="0">
            <a:spAutoFit/>
          </a:bodyPr>
          <a:lstStyle/>
          <a:p>
            <a:r>
              <a:rPr lang="en-US" sz="4800" dirty="0"/>
              <a:t>TDM Q1</a:t>
            </a:r>
          </a:p>
        </p:txBody>
      </p:sp>
    </p:spTree>
    <p:extLst>
      <p:ext uri="{BB962C8B-B14F-4D97-AF65-F5344CB8AC3E}">
        <p14:creationId xmlns:p14="http://schemas.microsoft.com/office/powerpoint/2010/main" val="128549555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69-year-old woman is started on apixaban for atrial fibrillation.</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024794"/>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166645645"/>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INR</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err="1"/>
                        <a:t>aPTT</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PT</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anti-factor </a:t>
                      </a:r>
                      <a:r>
                        <a:rPr lang="en-US" sz="1800" dirty="0" err="1"/>
                        <a:t>Xa</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monitor clinically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pic>
        <p:nvPicPr>
          <p:cNvPr id="2" name="Picture 1">
            <a:extLst>
              <a:ext uri="{FF2B5EF4-FFF2-40B4-BE49-F238E27FC236}">
                <a16:creationId xmlns:a16="http://schemas.microsoft.com/office/drawing/2014/main" id="{D6636D0E-EE72-B34C-932F-54116CD60E8F}"/>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01507" y="3526454"/>
            <a:ext cx="5804754" cy="2017096"/>
          </a:xfrm>
          <a:prstGeom prst="rect">
            <a:avLst/>
          </a:prstGeom>
        </p:spPr>
      </p:pic>
      <p:sp>
        <p:nvSpPr>
          <p:cNvPr id="13" name="TextBox 12">
            <a:extLst>
              <a:ext uri="{FF2B5EF4-FFF2-40B4-BE49-F238E27FC236}">
                <a16:creationId xmlns:a16="http://schemas.microsoft.com/office/drawing/2014/main" id="{9E408B25-1A65-B947-8527-984F60AE6014}"/>
              </a:ext>
            </a:extLst>
          </p:cNvPr>
          <p:cNvSpPr txBox="1"/>
          <p:nvPr/>
        </p:nvSpPr>
        <p:spPr>
          <a:xfrm>
            <a:off x="6191249" y="5610410"/>
            <a:ext cx="5815012" cy="1169551"/>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rPr>
              <a:t>This is why NOACs are being used so much now, ‘one dose fits all’ and no routine monitoring required!</a:t>
            </a:r>
          </a:p>
          <a:p>
            <a:pPr marL="285750" indent="-285750">
              <a:buFont typeface="Arial" panose="020B0604020202020204" pitchFamily="34" charset="0"/>
              <a:buChar char="•"/>
            </a:pPr>
            <a:r>
              <a:rPr lang="en-GB" sz="1400" dirty="0">
                <a:solidFill>
                  <a:srgbClr val="FF0000"/>
                </a:solidFill>
              </a:rPr>
              <a:t>Warfarin </a:t>
            </a:r>
            <a:r>
              <a:rPr lang="en-GB" sz="1400" dirty="0">
                <a:solidFill>
                  <a:srgbClr val="FF0000"/>
                </a:solidFill>
                <a:sym typeface="Wingdings" pitchFamily="2" charset="2"/>
              </a:rPr>
              <a:t> INR</a:t>
            </a:r>
          </a:p>
          <a:p>
            <a:pPr marL="285750" indent="-285750">
              <a:buFont typeface="Arial" panose="020B0604020202020204" pitchFamily="34" charset="0"/>
              <a:buChar char="•"/>
            </a:pPr>
            <a:r>
              <a:rPr lang="en-GB" sz="1400" dirty="0">
                <a:solidFill>
                  <a:srgbClr val="FF0000"/>
                </a:solidFill>
                <a:sym typeface="Wingdings" pitchFamily="2" charset="2"/>
              </a:rPr>
              <a:t>Unfractioned heparin  </a:t>
            </a:r>
            <a:r>
              <a:rPr lang="en-GB" sz="1400" dirty="0" err="1">
                <a:solidFill>
                  <a:srgbClr val="FF0000"/>
                </a:solidFill>
                <a:sym typeface="Wingdings" pitchFamily="2" charset="2"/>
              </a:rPr>
              <a:t>aPTT</a:t>
            </a:r>
            <a:r>
              <a:rPr lang="en-GB" sz="1400" dirty="0">
                <a:solidFill>
                  <a:srgbClr val="FF0000"/>
                </a:solidFill>
                <a:sym typeface="Wingdings" pitchFamily="2" charset="2"/>
              </a:rPr>
              <a:t> (and platelets watch out for HIT)</a:t>
            </a:r>
          </a:p>
          <a:p>
            <a:pPr marL="285750" indent="-285750">
              <a:buFont typeface="Arial" panose="020B0604020202020204" pitchFamily="34" charset="0"/>
              <a:buChar char="•"/>
            </a:pPr>
            <a:r>
              <a:rPr lang="en-GB" sz="1400" dirty="0">
                <a:solidFill>
                  <a:srgbClr val="FF0000"/>
                </a:solidFill>
                <a:sym typeface="Wingdings" pitchFamily="2" charset="2"/>
              </a:rPr>
              <a:t>LMWH  anti-factor </a:t>
            </a:r>
            <a:r>
              <a:rPr lang="en-GB" sz="1400" dirty="0" err="1">
                <a:solidFill>
                  <a:srgbClr val="FF0000"/>
                </a:solidFill>
                <a:sym typeface="Wingdings" pitchFamily="2" charset="2"/>
              </a:rPr>
              <a:t>Xa</a:t>
            </a:r>
            <a:endParaRPr lang="en-GB" sz="1400" dirty="0">
              <a:solidFill>
                <a:srgbClr val="FF0000"/>
              </a:solidFill>
              <a:sym typeface="Wingdings" pitchFamily="2" charset="2"/>
            </a:endParaRPr>
          </a:p>
        </p:txBody>
      </p:sp>
      <p:sp>
        <p:nvSpPr>
          <p:cNvPr id="14" name="TextBox 13">
            <a:extLst>
              <a:ext uri="{FF2B5EF4-FFF2-40B4-BE49-F238E27FC236}">
                <a16:creationId xmlns:a16="http://schemas.microsoft.com/office/drawing/2014/main" id="{E25AA67D-76F1-F34D-9993-11831D7AAE17}"/>
              </a:ext>
            </a:extLst>
          </p:cNvPr>
          <p:cNvSpPr txBox="1"/>
          <p:nvPr/>
        </p:nvSpPr>
        <p:spPr>
          <a:xfrm>
            <a:off x="185737" y="5948964"/>
            <a:ext cx="2652055" cy="830997"/>
          </a:xfrm>
          <a:prstGeom prst="rect">
            <a:avLst/>
          </a:prstGeom>
          <a:noFill/>
        </p:spPr>
        <p:txBody>
          <a:bodyPr wrap="square" rtlCol="0">
            <a:spAutoFit/>
          </a:bodyPr>
          <a:lstStyle/>
          <a:p>
            <a:r>
              <a:rPr lang="en-US" sz="4800" dirty="0"/>
              <a:t>TDM A1</a:t>
            </a:r>
          </a:p>
        </p:txBody>
      </p:sp>
    </p:spTree>
    <p:extLst>
      <p:ext uri="{BB962C8B-B14F-4D97-AF65-F5344CB8AC3E}">
        <p14:creationId xmlns:p14="http://schemas.microsoft.com/office/powerpoint/2010/main" val="265616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45-year-old man has his oral theophylline dose increased for worsening asthma. </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677113627"/>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plasma-theophylline concentration in 4-6 hours</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plasma-theophylline concentration in 8-12 hours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plasma-</a:t>
                      </a:r>
                      <a:r>
                        <a:rPr lang="en-US" sz="1800" dirty="0" err="1"/>
                        <a:t>theophyilline</a:t>
                      </a:r>
                      <a:r>
                        <a:rPr lang="en-US" sz="1800" dirty="0"/>
                        <a:t> concentration in 1 days time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plasma-</a:t>
                      </a:r>
                      <a:r>
                        <a:rPr lang="en-US" sz="1800" dirty="0" err="1"/>
                        <a:t>theophyilline</a:t>
                      </a:r>
                      <a:r>
                        <a:rPr lang="en-US" sz="1800" dirty="0"/>
                        <a:t> concentration in 2 days time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plasma-</a:t>
                      </a:r>
                      <a:r>
                        <a:rPr lang="en-US" sz="1800" dirty="0" err="1"/>
                        <a:t>theophyilline</a:t>
                      </a:r>
                      <a:r>
                        <a:rPr lang="en-US" sz="1800" dirty="0"/>
                        <a:t> concentration in 3 days time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95384F4C-B947-F24B-A7E5-1F792695CB2D}"/>
              </a:ext>
            </a:extLst>
          </p:cNvPr>
          <p:cNvSpPr txBox="1"/>
          <p:nvPr/>
        </p:nvSpPr>
        <p:spPr>
          <a:xfrm>
            <a:off x="185737" y="5948964"/>
            <a:ext cx="2652055" cy="830997"/>
          </a:xfrm>
          <a:prstGeom prst="rect">
            <a:avLst/>
          </a:prstGeom>
          <a:noFill/>
        </p:spPr>
        <p:txBody>
          <a:bodyPr wrap="square" rtlCol="0">
            <a:spAutoFit/>
          </a:bodyPr>
          <a:lstStyle/>
          <a:p>
            <a:r>
              <a:rPr lang="en-US" sz="4800" dirty="0"/>
              <a:t>TDM Q2</a:t>
            </a:r>
          </a:p>
        </p:txBody>
      </p:sp>
    </p:spTree>
    <p:extLst>
      <p:ext uri="{BB962C8B-B14F-4D97-AF65-F5344CB8AC3E}">
        <p14:creationId xmlns:p14="http://schemas.microsoft.com/office/powerpoint/2010/main" val="18279014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923330"/>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45-year-old man has his oral theophylline dose increased for worsening asthma. </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021926"/>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773127633"/>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plasma-theophylline concentration in 4-6 hours</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plasma-theophylline concentration in 8-12 hours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plasma-</a:t>
                      </a:r>
                      <a:r>
                        <a:rPr lang="en-US" sz="1800" dirty="0" err="1"/>
                        <a:t>theophyilline</a:t>
                      </a:r>
                      <a:r>
                        <a:rPr lang="en-US" sz="1800" dirty="0"/>
                        <a:t> concentration in 1 days time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plasma-</a:t>
                      </a:r>
                      <a:r>
                        <a:rPr lang="en-US" sz="1800" dirty="0" err="1"/>
                        <a:t>theophyilline</a:t>
                      </a:r>
                      <a:r>
                        <a:rPr lang="en-US" sz="1800" dirty="0"/>
                        <a:t> concentration in 2 days time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plasma-</a:t>
                      </a:r>
                      <a:r>
                        <a:rPr lang="en-US" sz="1800" dirty="0" err="1"/>
                        <a:t>theophyilline</a:t>
                      </a:r>
                      <a:r>
                        <a:rPr lang="en-US" sz="1800" dirty="0"/>
                        <a:t> concentration in 3 days time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pic>
        <p:nvPicPr>
          <p:cNvPr id="2" name="Picture 1">
            <a:extLst>
              <a:ext uri="{FF2B5EF4-FFF2-40B4-BE49-F238E27FC236}">
                <a16:creationId xmlns:a16="http://schemas.microsoft.com/office/drawing/2014/main" id="{A1EE00A6-4AAA-3F4E-8B29-9CD1D28A8ABC}"/>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435901" y="3143740"/>
            <a:ext cx="4589461" cy="3264789"/>
          </a:xfrm>
          <a:prstGeom prst="rect">
            <a:avLst/>
          </a:prstGeom>
        </p:spPr>
      </p:pic>
      <p:sp>
        <p:nvSpPr>
          <p:cNvPr id="13" name="Rectangle 12">
            <a:extLst>
              <a:ext uri="{FF2B5EF4-FFF2-40B4-BE49-F238E27FC236}">
                <a16:creationId xmlns:a16="http://schemas.microsoft.com/office/drawing/2014/main" id="{49B4D57A-EF0A-3848-8683-ACB8466289DF}"/>
              </a:ext>
            </a:extLst>
          </p:cNvPr>
          <p:cNvSpPr/>
          <p:nvPr/>
        </p:nvSpPr>
        <p:spPr>
          <a:xfrm>
            <a:off x="1450188" y="5606109"/>
            <a:ext cx="4564847" cy="7232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FCECCADD-9BEA-1447-B83F-AC595BD00CEB}"/>
              </a:ext>
            </a:extLst>
          </p:cNvPr>
          <p:cNvSpPr txBox="1"/>
          <p:nvPr/>
        </p:nvSpPr>
        <p:spPr>
          <a:xfrm>
            <a:off x="6166640" y="3549644"/>
            <a:ext cx="5815012" cy="738664"/>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sym typeface="Wingdings" pitchFamily="2" charset="2"/>
              </a:rPr>
              <a:t>Check the ‘monitoring requirements’ page for aminophylline, it recommends a plasma-theophylline concentration check at least 3 days after any dose adjustment (with oral use) </a:t>
            </a:r>
          </a:p>
        </p:txBody>
      </p:sp>
      <p:sp>
        <p:nvSpPr>
          <p:cNvPr id="16" name="TextBox 15">
            <a:extLst>
              <a:ext uri="{FF2B5EF4-FFF2-40B4-BE49-F238E27FC236}">
                <a16:creationId xmlns:a16="http://schemas.microsoft.com/office/drawing/2014/main" id="{35673210-6CFB-264C-B5E0-D406FB1B4576}"/>
              </a:ext>
            </a:extLst>
          </p:cNvPr>
          <p:cNvSpPr txBox="1"/>
          <p:nvPr/>
        </p:nvSpPr>
        <p:spPr>
          <a:xfrm>
            <a:off x="185737" y="5948964"/>
            <a:ext cx="2652055" cy="830997"/>
          </a:xfrm>
          <a:prstGeom prst="rect">
            <a:avLst/>
          </a:prstGeom>
          <a:noFill/>
        </p:spPr>
        <p:txBody>
          <a:bodyPr wrap="square" rtlCol="0">
            <a:spAutoFit/>
          </a:bodyPr>
          <a:lstStyle/>
          <a:p>
            <a:r>
              <a:rPr lang="en-US" sz="4800" dirty="0"/>
              <a:t>A2</a:t>
            </a:r>
          </a:p>
        </p:txBody>
      </p:sp>
    </p:spTree>
    <p:extLst>
      <p:ext uri="{BB962C8B-B14F-4D97-AF65-F5344CB8AC3E}">
        <p14:creationId xmlns:p14="http://schemas.microsoft.com/office/powerpoint/2010/main" val="17565294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23-year-old woman attends for her diabetes nurse review. She has been asymptomatic and recording her capillary glucose levels in a diary. </a:t>
            </a:r>
            <a:r>
              <a:rPr lang="en-US" b="1" dirty="0"/>
              <a:t>PMH.</a:t>
            </a:r>
            <a:r>
              <a:rPr lang="en-US" dirty="0"/>
              <a:t> T1DM. </a:t>
            </a:r>
            <a:r>
              <a:rPr lang="en-US" b="1" dirty="0"/>
              <a:t>DH.</a:t>
            </a:r>
            <a:r>
              <a:rPr lang="en-US" dirty="0"/>
              <a:t> Insulin </a:t>
            </a:r>
            <a:r>
              <a:rPr lang="en-US" dirty="0" err="1"/>
              <a:t>aspart</a:t>
            </a:r>
            <a:r>
              <a:rPr lang="en-US" dirty="0"/>
              <a:t> 8 units with meals, insulin glargine (Lantus®) 12 units at night.</a:t>
            </a:r>
          </a:p>
          <a:p>
            <a:endParaRPr lang="en-US" dirty="0"/>
          </a:p>
          <a:p>
            <a:r>
              <a:rPr lang="en-US" dirty="0"/>
              <a:t>Her insulin glargine dose has been increased to 14 units.</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874585148"/>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HbA1c</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err="1"/>
                        <a:t>fructosamine</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pre-evening meal capillary glucose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pre-bedtime capillary glucose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pre-breakfast capillary glucose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DDB442AA-3D8D-4B4A-91D3-0EC9EEFF5395}"/>
              </a:ext>
            </a:extLst>
          </p:cNvPr>
          <p:cNvSpPr txBox="1"/>
          <p:nvPr/>
        </p:nvSpPr>
        <p:spPr>
          <a:xfrm>
            <a:off x="185736" y="3129921"/>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sp>
        <p:nvSpPr>
          <p:cNvPr id="11" name="TextBox 10">
            <a:extLst>
              <a:ext uri="{FF2B5EF4-FFF2-40B4-BE49-F238E27FC236}">
                <a16:creationId xmlns:a16="http://schemas.microsoft.com/office/drawing/2014/main" id="{2CA0C20F-D3FA-324E-8591-66F09E05049D}"/>
              </a:ext>
            </a:extLst>
          </p:cNvPr>
          <p:cNvSpPr txBox="1"/>
          <p:nvPr/>
        </p:nvSpPr>
        <p:spPr>
          <a:xfrm>
            <a:off x="185737" y="5948964"/>
            <a:ext cx="2652055" cy="830997"/>
          </a:xfrm>
          <a:prstGeom prst="rect">
            <a:avLst/>
          </a:prstGeom>
          <a:noFill/>
        </p:spPr>
        <p:txBody>
          <a:bodyPr wrap="square" rtlCol="0">
            <a:spAutoFit/>
          </a:bodyPr>
          <a:lstStyle/>
          <a:p>
            <a:r>
              <a:rPr lang="en-US" sz="4800" dirty="0"/>
              <a:t>TDM Q3</a:t>
            </a:r>
          </a:p>
        </p:txBody>
      </p:sp>
    </p:spTree>
    <p:extLst>
      <p:ext uri="{BB962C8B-B14F-4D97-AF65-F5344CB8AC3E}">
        <p14:creationId xmlns:p14="http://schemas.microsoft.com/office/powerpoint/2010/main" val="24480393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2031325"/>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23-year-old woman attends for her diabetes nurse review. She has been asymptomatic and recording her capillary glucose levels in a diary. </a:t>
            </a:r>
            <a:r>
              <a:rPr lang="en-US" b="1" dirty="0"/>
              <a:t>PMH.</a:t>
            </a:r>
            <a:r>
              <a:rPr lang="en-US" dirty="0"/>
              <a:t> T1DM. </a:t>
            </a:r>
            <a:r>
              <a:rPr lang="en-US" b="1" dirty="0"/>
              <a:t>DH.</a:t>
            </a:r>
            <a:r>
              <a:rPr lang="en-US" dirty="0"/>
              <a:t> Insulin </a:t>
            </a:r>
            <a:r>
              <a:rPr lang="en-US" dirty="0" err="1"/>
              <a:t>aspart</a:t>
            </a:r>
            <a:r>
              <a:rPr lang="en-US" dirty="0"/>
              <a:t> 8 units with meals, insulin glargine (Lantus®) 12 units at night.</a:t>
            </a:r>
          </a:p>
          <a:p>
            <a:endParaRPr lang="en-US" dirty="0"/>
          </a:p>
          <a:p>
            <a:r>
              <a:rPr lang="en-US" dirty="0"/>
              <a:t>Her insulin glargine dose has been increased to 14 units.</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1877800419"/>
              </p:ext>
            </p:extLst>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HbA1c</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err="1"/>
                        <a:t>fructosamine</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pre-evening meal capillary glucose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pre-bedtime capillary glucose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pre-breakfast capillary glucose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DDB442AA-3D8D-4B4A-91D3-0EC9EEFF5395}"/>
              </a:ext>
            </a:extLst>
          </p:cNvPr>
          <p:cNvSpPr txBox="1"/>
          <p:nvPr/>
        </p:nvSpPr>
        <p:spPr>
          <a:xfrm>
            <a:off x="185736" y="3129921"/>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sp>
        <p:nvSpPr>
          <p:cNvPr id="14" name="TextBox 13">
            <a:extLst>
              <a:ext uri="{FF2B5EF4-FFF2-40B4-BE49-F238E27FC236}">
                <a16:creationId xmlns:a16="http://schemas.microsoft.com/office/drawing/2014/main" id="{CAFCAF69-4CCB-5A47-8758-581753D6F843}"/>
              </a:ext>
            </a:extLst>
          </p:cNvPr>
          <p:cNvSpPr txBox="1"/>
          <p:nvPr/>
        </p:nvSpPr>
        <p:spPr>
          <a:xfrm>
            <a:off x="6166640" y="3549644"/>
            <a:ext cx="5815012" cy="2031325"/>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sym typeface="Wingdings" pitchFamily="2" charset="2"/>
              </a:rPr>
              <a:t>You need to monitor the pre-breakfast capillary glucose as this is the long acting insulin that will work to keep her blood glucose levels low overnight and into the next day.</a:t>
            </a:r>
          </a:p>
          <a:p>
            <a:pPr marL="285750" indent="-285750">
              <a:buFont typeface="Arial" panose="020B0604020202020204" pitchFamily="34" charset="0"/>
              <a:buChar char="•"/>
            </a:pPr>
            <a:r>
              <a:rPr lang="en-GB" sz="1400" dirty="0">
                <a:solidFill>
                  <a:srgbClr val="FF0000"/>
                </a:solidFill>
                <a:sym typeface="Wingdings" pitchFamily="2" charset="2"/>
              </a:rPr>
              <a:t>They might also present you with capillary glucose levels at different time points and ask you to adjust the doses. Be comfortable with how to do this.</a:t>
            </a:r>
          </a:p>
          <a:p>
            <a:pPr marL="285750" indent="-285750">
              <a:buFont typeface="Arial" panose="020B0604020202020204" pitchFamily="34" charset="0"/>
              <a:buChar char="•"/>
            </a:pPr>
            <a:r>
              <a:rPr lang="en-GB" sz="1400" dirty="0">
                <a:solidFill>
                  <a:srgbClr val="FF0000"/>
                </a:solidFill>
                <a:sym typeface="Wingdings" pitchFamily="2" charset="2"/>
              </a:rPr>
              <a:t>HbA1c  3 month diabetic control picture</a:t>
            </a:r>
          </a:p>
          <a:p>
            <a:pPr marL="285750" indent="-285750">
              <a:buFont typeface="Arial" panose="020B0604020202020204" pitchFamily="34" charset="0"/>
              <a:buChar char="•"/>
            </a:pPr>
            <a:r>
              <a:rPr lang="en-GB" sz="1400" dirty="0" err="1">
                <a:solidFill>
                  <a:srgbClr val="FF0000"/>
                </a:solidFill>
                <a:sym typeface="Wingdings" pitchFamily="2" charset="2"/>
              </a:rPr>
              <a:t>Fructosamine</a:t>
            </a:r>
            <a:r>
              <a:rPr lang="en-GB" sz="1400" dirty="0">
                <a:solidFill>
                  <a:srgbClr val="FF0000"/>
                </a:solidFill>
                <a:sym typeface="Wingdings" pitchFamily="2" charset="2"/>
              </a:rPr>
              <a:t>  2 week diabetic control picture (good in pregnancy, blood disorders increasing RBC turnover etc.)</a:t>
            </a:r>
          </a:p>
        </p:txBody>
      </p:sp>
      <p:sp>
        <p:nvSpPr>
          <p:cNvPr id="15" name="TextBox 14">
            <a:extLst>
              <a:ext uri="{FF2B5EF4-FFF2-40B4-BE49-F238E27FC236}">
                <a16:creationId xmlns:a16="http://schemas.microsoft.com/office/drawing/2014/main" id="{EE0A9D31-5E4E-EC4A-BE91-DB5F2DBB4053}"/>
              </a:ext>
            </a:extLst>
          </p:cNvPr>
          <p:cNvSpPr txBox="1"/>
          <p:nvPr/>
        </p:nvSpPr>
        <p:spPr>
          <a:xfrm>
            <a:off x="185737" y="5948964"/>
            <a:ext cx="2652055" cy="830997"/>
          </a:xfrm>
          <a:prstGeom prst="rect">
            <a:avLst/>
          </a:prstGeom>
          <a:noFill/>
        </p:spPr>
        <p:txBody>
          <a:bodyPr wrap="square" rtlCol="0">
            <a:spAutoFit/>
          </a:bodyPr>
          <a:lstStyle/>
          <a:p>
            <a:r>
              <a:rPr lang="en-US" sz="4800" dirty="0"/>
              <a:t>TDM A3</a:t>
            </a:r>
          </a:p>
        </p:txBody>
      </p:sp>
    </p:spTree>
    <p:extLst>
      <p:ext uri="{BB962C8B-B14F-4D97-AF65-F5344CB8AC3E}">
        <p14:creationId xmlns:p14="http://schemas.microsoft.com/office/powerpoint/2010/main" val="190990525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29-year-old woman is due to be started on lithium for long-term bipolar disorder. </a:t>
            </a:r>
            <a:r>
              <a:rPr lang="en-US" b="1" dirty="0"/>
              <a:t>PMH. </a:t>
            </a:r>
            <a:r>
              <a:rPr lang="en-US" dirty="0"/>
              <a:t>Bipolar disorder. </a:t>
            </a:r>
            <a:r>
              <a:rPr lang="en-US" b="1" dirty="0"/>
              <a:t>DH. </a:t>
            </a:r>
            <a:r>
              <a:rPr lang="en-US" dirty="0"/>
              <a:t>Aripiprazole</a:t>
            </a:r>
            <a:r>
              <a:rPr lang="en-US" b="1" dirty="0"/>
              <a:t>.</a:t>
            </a:r>
            <a:r>
              <a:rPr lang="en-US" dirty="0"/>
              <a:t> The psychiatrist informs her that some monitoring tests need to be carried out before lithium can be started.</a:t>
            </a:r>
          </a:p>
        </p:txBody>
      </p:sp>
      <p:sp>
        <p:nvSpPr>
          <p:cNvPr id="13" name="TextBox 12">
            <a:extLst>
              <a:ext uri="{FF2B5EF4-FFF2-40B4-BE49-F238E27FC236}">
                <a16:creationId xmlns:a16="http://schemas.microsoft.com/office/drawing/2014/main" id="{DDB442AA-3D8D-4B4A-91D3-0EC9EEFF5395}"/>
              </a:ext>
            </a:extLst>
          </p:cNvPr>
          <p:cNvSpPr txBox="1"/>
          <p:nvPr/>
        </p:nvSpPr>
        <p:spPr>
          <a:xfrm>
            <a:off x="185736" y="2869882"/>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sp>
        <p:nvSpPr>
          <p:cNvPr id="11" name="TextBox 10">
            <a:extLst>
              <a:ext uri="{FF2B5EF4-FFF2-40B4-BE49-F238E27FC236}">
                <a16:creationId xmlns:a16="http://schemas.microsoft.com/office/drawing/2014/main" id="{2CA0C20F-D3FA-324E-8591-66F09E05049D}"/>
              </a:ext>
            </a:extLst>
          </p:cNvPr>
          <p:cNvSpPr txBox="1"/>
          <p:nvPr/>
        </p:nvSpPr>
        <p:spPr>
          <a:xfrm>
            <a:off x="185737" y="5948964"/>
            <a:ext cx="2652055" cy="830997"/>
          </a:xfrm>
          <a:prstGeom prst="rect">
            <a:avLst/>
          </a:prstGeom>
          <a:noFill/>
        </p:spPr>
        <p:txBody>
          <a:bodyPr wrap="square" rtlCol="0">
            <a:spAutoFit/>
          </a:bodyPr>
          <a:lstStyle/>
          <a:p>
            <a:r>
              <a:rPr lang="en-US" sz="4800" dirty="0"/>
              <a:t>TDM Q4</a:t>
            </a:r>
          </a:p>
        </p:txBody>
      </p:sp>
      <p:graphicFrame>
        <p:nvGraphicFramePr>
          <p:cNvPr id="14" name="Table 14">
            <a:extLst>
              <a:ext uri="{FF2B5EF4-FFF2-40B4-BE49-F238E27FC236}">
                <a16:creationId xmlns:a16="http://schemas.microsoft.com/office/drawing/2014/main" id="{E52DCA59-9557-9C4E-A626-1F58781DC24E}"/>
              </a:ext>
            </a:extLst>
          </p:cNvPr>
          <p:cNvGraphicFramePr>
            <a:graphicFrameLocks noGrp="1"/>
          </p:cNvGraphicFramePr>
          <p:nvPr>
            <p:extLst>
              <p:ext uri="{D42A27DB-BD31-4B8C-83A1-F6EECF244321}">
                <p14:modId xmlns:p14="http://schemas.microsoft.com/office/powerpoint/2010/main" val="3785051836"/>
              </p:ext>
            </p:extLst>
          </p:nvPr>
        </p:nvGraphicFramePr>
        <p:xfrm>
          <a:off x="6304756" y="975549"/>
          <a:ext cx="5588003" cy="221996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FBC, U&amp;Es, ECG</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FBC, U&amp;Es, TFTs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FBC, U&amp;Es, TFTs, BMI</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FBC, U&amp;Es, LFTs, BMI, ECG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125486">
                <a:tc gridSpan="5">
                  <a:txBody>
                    <a:bodyPr/>
                    <a:lstStyle/>
                    <a:p>
                      <a:r>
                        <a:rPr lang="en-US" sz="1800" dirty="0"/>
                        <a:t>FBC, U&amp;Es, TFTs, BMI, ECG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Tree>
    <p:extLst>
      <p:ext uri="{BB962C8B-B14F-4D97-AF65-F5344CB8AC3E}">
        <p14:creationId xmlns:p14="http://schemas.microsoft.com/office/powerpoint/2010/main" val="27811392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714936" cy="353943"/>
          </a:xfrm>
          <a:prstGeom prst="rect">
            <a:avLst/>
          </a:prstGeom>
          <a:solidFill>
            <a:srgbClr val="DE892E"/>
          </a:solidFill>
        </p:spPr>
        <p:txBody>
          <a:bodyPr wrap="square" rtlCol="0">
            <a:spAutoFit/>
          </a:bodyPr>
          <a:lstStyle/>
          <a:p>
            <a:pPr algn="ctr"/>
            <a:r>
              <a:rPr lang="en-US" sz="1700" dirty="0">
                <a:solidFill>
                  <a:schemeClr val="bg1"/>
                </a:solidFill>
              </a:rPr>
              <a:t>Drug Monitoring</a:t>
            </a:r>
          </a:p>
        </p:txBody>
      </p:sp>
      <p:sp>
        <p:nvSpPr>
          <p:cNvPr id="7" name="TextBox 6">
            <a:extLst>
              <a:ext uri="{FF2B5EF4-FFF2-40B4-BE49-F238E27FC236}">
                <a16:creationId xmlns:a16="http://schemas.microsoft.com/office/drawing/2014/main" id="{1B7972FD-31F3-CA4B-911E-3F823F1D38A7}"/>
              </a:ext>
            </a:extLst>
          </p:cNvPr>
          <p:cNvSpPr txBox="1"/>
          <p:nvPr/>
        </p:nvSpPr>
        <p:spPr>
          <a:xfrm>
            <a:off x="1900674"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145172711"/>
              </p:ext>
            </p:extLst>
          </p:nvPr>
        </p:nvGraphicFramePr>
        <p:xfrm>
          <a:off x="6304756" y="975549"/>
          <a:ext cx="5588003" cy="221996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FBC, U&amp;Es, ECG</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FBC, U&amp;Es, TFTs</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FBC, U&amp;Es, TFTs, BMI</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FBC, U&amp;Es, LFTs, BMI, ECG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125486">
                <a:tc gridSpan="5">
                  <a:txBody>
                    <a:bodyPr/>
                    <a:lstStyle/>
                    <a:p>
                      <a:r>
                        <a:rPr lang="en-US" sz="1800" dirty="0"/>
                        <a:t>FBC, U&amp;Es, TFTs, BMI, ECG</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DDB442AA-3D8D-4B4A-91D3-0EC9EEFF5395}"/>
              </a:ext>
            </a:extLst>
          </p:cNvPr>
          <p:cNvSpPr txBox="1"/>
          <p:nvPr/>
        </p:nvSpPr>
        <p:spPr>
          <a:xfrm>
            <a:off x="185736" y="2869882"/>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 </a:t>
            </a:r>
            <a:r>
              <a:rPr lang="en-US" dirty="0"/>
              <a:t>monitoring option that should be arranged for this patient.</a:t>
            </a:r>
          </a:p>
        </p:txBody>
      </p:sp>
      <p:sp>
        <p:nvSpPr>
          <p:cNvPr id="11" name="TextBox 10">
            <a:extLst>
              <a:ext uri="{FF2B5EF4-FFF2-40B4-BE49-F238E27FC236}">
                <a16:creationId xmlns:a16="http://schemas.microsoft.com/office/drawing/2014/main" id="{2CA0C20F-D3FA-324E-8591-66F09E05049D}"/>
              </a:ext>
            </a:extLst>
          </p:cNvPr>
          <p:cNvSpPr txBox="1"/>
          <p:nvPr/>
        </p:nvSpPr>
        <p:spPr>
          <a:xfrm>
            <a:off x="185737" y="5948964"/>
            <a:ext cx="2652055" cy="830997"/>
          </a:xfrm>
          <a:prstGeom prst="rect">
            <a:avLst/>
          </a:prstGeom>
          <a:noFill/>
        </p:spPr>
        <p:txBody>
          <a:bodyPr wrap="square" rtlCol="0">
            <a:spAutoFit/>
          </a:bodyPr>
          <a:lstStyle/>
          <a:p>
            <a:r>
              <a:rPr lang="en-US" sz="4800" dirty="0"/>
              <a:t>TDM A4</a:t>
            </a:r>
          </a:p>
        </p:txBody>
      </p:sp>
      <p:sp>
        <p:nvSpPr>
          <p:cNvPr id="14" name="TextBox 13">
            <a:extLst>
              <a:ext uri="{FF2B5EF4-FFF2-40B4-BE49-F238E27FC236}">
                <a16:creationId xmlns:a16="http://schemas.microsoft.com/office/drawing/2014/main" id="{725CB4E7-3B19-2447-84B8-CF18845ACC66}"/>
              </a:ext>
            </a:extLst>
          </p:cNvPr>
          <p:cNvSpPr txBox="1"/>
          <p:nvPr/>
        </p:nvSpPr>
        <p:spPr>
          <a:xfrm>
            <a:off x="6166640" y="3549644"/>
            <a:ext cx="5815012" cy="3539430"/>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sym typeface="Wingdings" pitchFamily="2" charset="2"/>
              </a:rPr>
              <a:t>Lithium is a common PSA question. There is lots they can ask.</a:t>
            </a:r>
          </a:p>
          <a:p>
            <a:pPr marL="285750" indent="-285750">
              <a:buFont typeface="Arial" panose="020B0604020202020204" pitchFamily="34" charset="0"/>
              <a:buChar char="•"/>
            </a:pPr>
            <a:r>
              <a:rPr lang="en-GB" sz="1400" dirty="0">
                <a:solidFill>
                  <a:srgbClr val="FF0000"/>
                </a:solidFill>
                <a:sym typeface="Wingdings" pitchFamily="2" charset="2"/>
              </a:rPr>
              <a:t>As per the BNF the required things to assess before starting lithium are FBC, U&amp;Es, TFTs and BMI (also ECG if cardiovascular disease or risk factors for it but not needed for this scenario).</a:t>
            </a:r>
          </a:p>
          <a:p>
            <a:pPr marL="285750" indent="-285750">
              <a:buFont typeface="Arial" panose="020B0604020202020204" pitchFamily="34" charset="0"/>
              <a:buChar char="•"/>
            </a:pPr>
            <a:r>
              <a:rPr lang="en-GB" sz="1400" dirty="0">
                <a:solidFill>
                  <a:srgbClr val="FF0000"/>
                </a:solidFill>
                <a:sym typeface="Wingdings" pitchFamily="2" charset="2"/>
              </a:rPr>
              <a:t>Key things to remember regarding lithium:</a:t>
            </a:r>
          </a:p>
          <a:p>
            <a:pPr marL="742950" lvl="1" indent="-285750">
              <a:buFont typeface="Arial" panose="020B0604020202020204" pitchFamily="34" charset="0"/>
              <a:buChar char="•"/>
            </a:pPr>
            <a:r>
              <a:rPr lang="en-GB" sz="1400" dirty="0">
                <a:solidFill>
                  <a:srgbClr val="FF0000"/>
                </a:solidFill>
                <a:sym typeface="Wingdings" pitchFamily="2" charset="2"/>
              </a:rPr>
              <a:t>Monitor FBC, U&amp;Es</a:t>
            </a:r>
            <a:r>
              <a:rPr lang="en-GB" sz="1400">
                <a:solidFill>
                  <a:srgbClr val="FF0000"/>
                </a:solidFill>
                <a:sym typeface="Wingdings" pitchFamily="2" charset="2"/>
              </a:rPr>
              <a:t>, TFTs, BMI </a:t>
            </a:r>
            <a:r>
              <a:rPr lang="en-GB" sz="1400" dirty="0">
                <a:solidFill>
                  <a:srgbClr val="FF0000"/>
                </a:solidFill>
              </a:rPr>
              <a:t>± ECG every 6 months</a:t>
            </a:r>
          </a:p>
          <a:p>
            <a:pPr marL="742950" lvl="1" indent="-285750">
              <a:buFont typeface="Arial" panose="020B0604020202020204" pitchFamily="34" charset="0"/>
              <a:buChar char="•"/>
            </a:pPr>
            <a:r>
              <a:rPr lang="en-GB" sz="1400" dirty="0">
                <a:solidFill>
                  <a:srgbClr val="FF0000"/>
                </a:solidFill>
                <a:sym typeface="Wingdings" pitchFamily="2" charset="2"/>
              </a:rPr>
              <a:t>Serum-lithium should be checked 12 hours after the dose and be 0.4-1mmol/L</a:t>
            </a:r>
          </a:p>
          <a:p>
            <a:pPr marL="742950" lvl="1" indent="-285750">
              <a:buFont typeface="Arial" panose="020B0604020202020204" pitchFamily="34" charset="0"/>
              <a:buChar char="•"/>
            </a:pPr>
            <a:r>
              <a:rPr lang="en-GB" sz="1400" dirty="0">
                <a:solidFill>
                  <a:srgbClr val="FF0000"/>
                </a:solidFill>
                <a:sym typeface="Wingdings" pitchFamily="2" charset="2"/>
              </a:rPr>
              <a:t>Routine </a:t>
            </a:r>
            <a:r>
              <a:rPr lang="en-GB" sz="1400" dirty="0">
                <a:solidFill>
                  <a:srgbClr val="FF0000"/>
                </a:solidFill>
              </a:rPr>
              <a:t>serum-lithium monitoring should be performed weekly after initiation and after each dose change until concentrations are stable, then every 3 months for the first year and every 6 months thereafter</a:t>
            </a:r>
          </a:p>
          <a:p>
            <a:pPr marL="742950" lvl="1" indent="-285750">
              <a:buFont typeface="Arial" panose="020B0604020202020204" pitchFamily="34" charset="0"/>
              <a:buChar char="•"/>
            </a:pPr>
            <a:r>
              <a:rPr lang="en-GB" sz="1400" dirty="0" err="1">
                <a:solidFill>
                  <a:srgbClr val="FF0000"/>
                </a:solidFill>
                <a:sym typeface="Wingdings" pitchFamily="2" charset="2"/>
              </a:rPr>
              <a:t>Sx</a:t>
            </a:r>
            <a:r>
              <a:rPr lang="en-GB" sz="1400" dirty="0">
                <a:solidFill>
                  <a:srgbClr val="FF0000"/>
                </a:solidFill>
                <a:sym typeface="Wingdings" pitchFamily="2" charset="2"/>
              </a:rPr>
              <a:t> of lithium toxicity are </a:t>
            </a:r>
            <a:r>
              <a:rPr lang="en-GB" sz="1400" dirty="0">
                <a:solidFill>
                  <a:srgbClr val="FF0000"/>
                </a:solidFill>
              </a:rPr>
              <a:t>muscle weakness → dizziness → ataxia → course tremor → seizures → disorientation → coma → death</a:t>
            </a:r>
          </a:p>
          <a:p>
            <a:pPr marL="742950" lvl="1" indent="-285750">
              <a:buFont typeface="Arial" panose="020B0604020202020204" pitchFamily="34" charset="0"/>
              <a:buChar char="•"/>
            </a:pPr>
            <a:endParaRPr lang="en-GB" sz="1400" dirty="0">
              <a:solidFill>
                <a:srgbClr val="FF0000"/>
              </a:solidFill>
              <a:sym typeface="Wingdings" pitchFamily="2" charset="2"/>
            </a:endParaRPr>
          </a:p>
          <a:p>
            <a:pPr marL="285750" indent="-285750">
              <a:buFont typeface="Arial" panose="020B0604020202020204" pitchFamily="34" charset="0"/>
              <a:buChar char="•"/>
            </a:pPr>
            <a:endParaRPr lang="en-GB" sz="1400" dirty="0">
              <a:solidFill>
                <a:srgbClr val="FF0000"/>
              </a:solidFill>
              <a:sym typeface="Wingdings" pitchFamily="2" charset="2"/>
            </a:endParaRPr>
          </a:p>
        </p:txBody>
      </p:sp>
      <p:pic>
        <p:nvPicPr>
          <p:cNvPr id="2" name="Picture 1">
            <a:extLst>
              <a:ext uri="{FF2B5EF4-FFF2-40B4-BE49-F238E27FC236}">
                <a16:creationId xmlns:a16="http://schemas.microsoft.com/office/drawing/2014/main" id="{293E921F-2F40-244F-B7D1-8FB908074EBF}"/>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2566" r="2848"/>
          <a:stretch/>
        </p:blipFill>
        <p:spPr>
          <a:xfrm>
            <a:off x="185736" y="4008656"/>
            <a:ext cx="5839623" cy="1994063"/>
          </a:xfrm>
          <a:prstGeom prst="rect">
            <a:avLst/>
          </a:prstGeom>
        </p:spPr>
      </p:pic>
      <p:sp>
        <p:nvSpPr>
          <p:cNvPr id="17" name="TextBox 16">
            <a:extLst>
              <a:ext uri="{FF2B5EF4-FFF2-40B4-BE49-F238E27FC236}">
                <a16:creationId xmlns:a16="http://schemas.microsoft.com/office/drawing/2014/main" id="{D2D2C8BB-B045-1940-9574-917748BF1BC7}"/>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29-year-old woman is due to be started on lithium for long-term bipolar disorder. </a:t>
            </a:r>
            <a:r>
              <a:rPr lang="en-US" b="1" dirty="0"/>
              <a:t>PMH. </a:t>
            </a:r>
            <a:r>
              <a:rPr lang="en-US" dirty="0"/>
              <a:t>Bipolar disorder. </a:t>
            </a:r>
            <a:r>
              <a:rPr lang="en-US" b="1" dirty="0"/>
              <a:t>DH. </a:t>
            </a:r>
            <a:r>
              <a:rPr lang="en-US" dirty="0"/>
              <a:t>Aripiprazole</a:t>
            </a:r>
            <a:r>
              <a:rPr lang="en-US" b="1" dirty="0"/>
              <a:t>.</a:t>
            </a:r>
            <a:r>
              <a:rPr lang="en-US" dirty="0"/>
              <a:t> The psychiatrist informs her that some monitoring tests need to be carried out before lithium can be started.</a:t>
            </a:r>
          </a:p>
        </p:txBody>
      </p:sp>
    </p:spTree>
    <p:extLst>
      <p:ext uri="{BB962C8B-B14F-4D97-AF65-F5344CB8AC3E}">
        <p14:creationId xmlns:p14="http://schemas.microsoft.com/office/powerpoint/2010/main" val="28755275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926842" cy="353943"/>
          </a:xfrm>
          <a:prstGeom prst="rect">
            <a:avLst/>
          </a:prstGeom>
          <a:solidFill>
            <a:srgbClr val="9E9897"/>
          </a:solidFill>
        </p:spPr>
        <p:txBody>
          <a:bodyPr wrap="square" rtlCol="0">
            <a:spAutoFit/>
          </a:bodyPr>
          <a:lstStyle/>
          <a:p>
            <a:pPr algn="ctr"/>
            <a:r>
              <a:rPr lang="en-US" sz="1700" dirty="0">
                <a:solidFill>
                  <a:schemeClr val="bg1"/>
                </a:solidFill>
              </a:rPr>
              <a:t>Data Interpretation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112580"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3662541"/>
          </a:xfrm>
          <a:prstGeom prst="rect">
            <a:avLst/>
          </a:prstGeom>
          <a:solidFill>
            <a:srgbClr val="ECECEC"/>
          </a:solidFill>
          <a:ln>
            <a:solidFill>
              <a:schemeClr val="tx1"/>
            </a:solidFill>
          </a:ln>
        </p:spPr>
        <p:txBody>
          <a:bodyPr wrap="square" rtlCol="0">
            <a:spAutoFit/>
          </a:bodyPr>
          <a:lstStyle/>
          <a:p>
            <a:r>
              <a:rPr lang="en-US" b="1" dirty="0"/>
              <a:t>DECISION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16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73-year-old who is being treated for an exacerbation of COPD is noted to have a raised INR of 6.3. He is otherwise well with no signs of bleeding. </a:t>
            </a:r>
            <a:r>
              <a:rPr lang="en-US" b="1" dirty="0"/>
              <a:t>PMH.</a:t>
            </a:r>
            <a:r>
              <a:rPr lang="en-US" dirty="0"/>
              <a:t> Atrial fibrillation, COPD. </a:t>
            </a:r>
            <a:r>
              <a:rPr lang="en-US" b="1" dirty="0"/>
              <a:t>DH.</a:t>
            </a:r>
            <a:r>
              <a:rPr lang="en-US" dirty="0"/>
              <a:t> Warfarin (6.5mg PO daily on Monday, Wednesday, Friday; 5mg PO daily on Tuesday, Thursday, Saturday, Sunday) Salbutamol 100mcg 2 puffs PRN, tiotropium 18mcg 1 puff once daily. </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8" y="3406920"/>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a:t>
            </a:r>
            <a:r>
              <a:rPr lang="en-US" dirty="0"/>
              <a:t> decision option with regard to the clinical presentation and data.</a:t>
            </a:r>
          </a:p>
        </p:txBody>
      </p:sp>
      <p:graphicFrame>
        <p:nvGraphicFramePr>
          <p:cNvPr id="14" name="Table 14">
            <a:extLst>
              <a:ext uri="{FF2B5EF4-FFF2-40B4-BE49-F238E27FC236}">
                <a16:creationId xmlns:a16="http://schemas.microsoft.com/office/drawing/2014/main" id="{13A7CD0F-21EE-1649-BFFE-4F72C9E8F2B1}"/>
              </a:ext>
            </a:extLst>
          </p:cNvPr>
          <p:cNvGraphicFramePr>
            <a:graphicFrameLocks noGrp="1"/>
          </p:cNvGraphicFramePr>
          <p:nvPr>
            <p:extLst>
              <p:ext uri="{D42A27DB-BD31-4B8C-83A1-F6EECF244321}">
                <p14:modId xmlns:p14="http://schemas.microsoft.com/office/powerpoint/2010/main" val="998929559"/>
              </p:ext>
            </p:extLst>
          </p:nvPr>
        </p:nvGraphicFramePr>
        <p:xfrm>
          <a:off x="6297242" y="898227"/>
          <a:ext cx="5588003" cy="358140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dirty="0"/>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no change necessary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reduce subsequent maintenance dose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GB" sz="1800" b="0" i="0" kern="1200" dirty="0">
                          <a:solidFill>
                            <a:schemeClr val="dk1"/>
                          </a:solidFill>
                          <a:effectLst/>
                          <a:latin typeface="+mn-lt"/>
                          <a:ea typeface="+mn-ea"/>
                          <a:cs typeface="+mn-cs"/>
                        </a:rPr>
                        <a:t>withhold 1 or 2 doses of warfarin and reduce subsequent maintenance dose</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err="1"/>
                        <a:t>st</a:t>
                      </a:r>
                      <a:r>
                        <a:rPr lang="en-GB" sz="1800" b="0" i="0" kern="1200" dirty="0">
                          <a:solidFill>
                            <a:schemeClr val="dk1"/>
                          </a:solidFill>
                          <a:effectLst/>
                          <a:latin typeface="+mn-lt"/>
                          <a:ea typeface="+mn-ea"/>
                          <a:cs typeface="+mn-cs"/>
                        </a:rPr>
                        <a:t>op </a:t>
                      </a:r>
                      <a:r>
                        <a:rPr lang="en-GB" sz="1800" b="0" i="0" u="none" strike="noStrike" kern="1200" dirty="0">
                          <a:solidFill>
                            <a:schemeClr val="dk1"/>
                          </a:solidFill>
                          <a:effectLst/>
                          <a:latin typeface="+mn-lt"/>
                          <a:ea typeface="+mn-ea"/>
                          <a:cs typeface="+mn-cs"/>
                        </a:rPr>
                        <a:t>warfarin; </a:t>
                      </a:r>
                      <a:r>
                        <a:rPr lang="en-GB" sz="1800" b="0" i="0" kern="1200" dirty="0">
                          <a:solidFill>
                            <a:schemeClr val="dk1"/>
                          </a:solidFill>
                          <a:effectLst/>
                          <a:latin typeface="+mn-lt"/>
                          <a:ea typeface="+mn-ea"/>
                          <a:cs typeface="+mn-cs"/>
                        </a:rPr>
                        <a:t>give </a:t>
                      </a:r>
                      <a:r>
                        <a:rPr lang="en-GB" sz="1800" b="0" i="0" u="none" strike="noStrike" kern="1200" dirty="0">
                          <a:solidFill>
                            <a:schemeClr val="dk1"/>
                          </a:solidFill>
                          <a:effectLst/>
                          <a:latin typeface="+mn-lt"/>
                          <a:ea typeface="+mn-ea"/>
                          <a:cs typeface="+mn-cs"/>
                        </a:rPr>
                        <a:t>vitamin K </a:t>
                      </a:r>
                      <a:r>
                        <a:rPr lang="en-GB" sz="1800" b="0" i="0" kern="1200" dirty="0">
                          <a:solidFill>
                            <a:schemeClr val="dk1"/>
                          </a:solidFill>
                          <a:effectLst/>
                          <a:latin typeface="+mn-lt"/>
                          <a:ea typeface="+mn-ea"/>
                          <a:cs typeface="+mn-cs"/>
                        </a:rPr>
                        <a:t>by slow intravenous injection; restart warfarin when INR &lt;5.0</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GB" sz="1800" b="0" i="0" kern="1200" dirty="0">
                          <a:solidFill>
                            <a:schemeClr val="dk1"/>
                          </a:solidFill>
                          <a:effectLst/>
                          <a:latin typeface="+mn-lt"/>
                          <a:ea typeface="+mn-ea"/>
                          <a:cs typeface="+mn-cs"/>
                        </a:rPr>
                        <a:t>stop </a:t>
                      </a:r>
                      <a:r>
                        <a:rPr lang="en-GB" sz="1800" b="0" i="0" u="none" strike="noStrike" kern="1200" dirty="0">
                          <a:solidFill>
                            <a:schemeClr val="dk1"/>
                          </a:solidFill>
                          <a:effectLst/>
                          <a:latin typeface="+mn-lt"/>
                          <a:ea typeface="+mn-ea"/>
                          <a:cs typeface="+mn-cs"/>
                        </a:rPr>
                        <a:t>warfarin</a:t>
                      </a:r>
                      <a:r>
                        <a:rPr lang="en-GB" sz="1800" b="0" i="0" kern="1200" dirty="0">
                          <a:solidFill>
                            <a:schemeClr val="dk1"/>
                          </a:solidFill>
                          <a:effectLst/>
                          <a:latin typeface="+mn-lt"/>
                          <a:ea typeface="+mn-ea"/>
                          <a:cs typeface="+mn-cs"/>
                        </a:rPr>
                        <a:t>; give vitamin K by mouth using the intravenous preparation orally; repeat dose of vitamin K if INR still too high after 24 hours; restart warfarin when INR &lt;5.0</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6E369141-5379-CB4F-AF45-01C31742F33E}"/>
              </a:ext>
            </a:extLst>
          </p:cNvPr>
          <p:cNvSpPr txBox="1"/>
          <p:nvPr/>
        </p:nvSpPr>
        <p:spPr>
          <a:xfrm>
            <a:off x="185737" y="5948964"/>
            <a:ext cx="2652055" cy="830997"/>
          </a:xfrm>
          <a:prstGeom prst="rect">
            <a:avLst/>
          </a:prstGeom>
          <a:noFill/>
        </p:spPr>
        <p:txBody>
          <a:bodyPr wrap="square" rtlCol="0">
            <a:spAutoFit/>
          </a:bodyPr>
          <a:lstStyle/>
          <a:p>
            <a:r>
              <a:rPr lang="en-US" sz="4800" dirty="0"/>
              <a:t>DAT Q1</a:t>
            </a:r>
          </a:p>
        </p:txBody>
      </p:sp>
    </p:spTree>
    <p:extLst>
      <p:ext uri="{BB962C8B-B14F-4D97-AF65-F5344CB8AC3E}">
        <p14:creationId xmlns:p14="http://schemas.microsoft.com/office/powerpoint/2010/main" val="236603271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926842" cy="353943"/>
          </a:xfrm>
          <a:prstGeom prst="rect">
            <a:avLst/>
          </a:prstGeom>
          <a:solidFill>
            <a:srgbClr val="9E9897"/>
          </a:solidFill>
        </p:spPr>
        <p:txBody>
          <a:bodyPr wrap="square" rtlCol="0">
            <a:spAutoFit/>
          </a:bodyPr>
          <a:lstStyle/>
          <a:p>
            <a:pPr algn="ctr"/>
            <a:r>
              <a:rPr lang="en-US" sz="1700" dirty="0">
                <a:solidFill>
                  <a:schemeClr val="bg1"/>
                </a:solidFill>
              </a:rPr>
              <a:t>Data Interpretation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112580"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3662541"/>
          </a:xfrm>
          <a:prstGeom prst="rect">
            <a:avLst/>
          </a:prstGeom>
          <a:solidFill>
            <a:srgbClr val="ECECEC"/>
          </a:solidFill>
          <a:ln>
            <a:solidFill>
              <a:schemeClr val="tx1"/>
            </a:solidFill>
          </a:ln>
        </p:spPr>
        <p:txBody>
          <a:bodyPr wrap="square" rtlCol="0">
            <a:spAutoFit/>
          </a:bodyPr>
          <a:lstStyle/>
          <a:p>
            <a:r>
              <a:rPr lang="en-US" b="1" dirty="0"/>
              <a:t>DECISION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16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2308324"/>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73-year-old who is being treated for an exacerbation of COPD is noted to have a raised INR of 6.3. He is otherwise well with no signs of bleeding. </a:t>
            </a:r>
            <a:r>
              <a:rPr lang="en-US" b="1" dirty="0"/>
              <a:t>PMH.</a:t>
            </a:r>
            <a:r>
              <a:rPr lang="en-US" dirty="0"/>
              <a:t> Atrial fibrillation, COPD. </a:t>
            </a:r>
            <a:r>
              <a:rPr lang="en-US" b="1" dirty="0"/>
              <a:t>DH.</a:t>
            </a:r>
            <a:r>
              <a:rPr lang="en-US" dirty="0"/>
              <a:t> Warfarin (6.5mg PO daily on Monday, Wednesday, Friday; 5mg PO daily on Tuesday, Thursday, Saturday, Sunday) Salbutamol 100mcg 2 puffs PRN, tiotropium 18mcg 1 puff once daily. </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8" y="3406920"/>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a:t>
            </a:r>
            <a:r>
              <a:rPr lang="en-US" dirty="0"/>
              <a:t> decision option with regard to the clinical presentation and data.</a:t>
            </a:r>
          </a:p>
        </p:txBody>
      </p:sp>
      <p:graphicFrame>
        <p:nvGraphicFramePr>
          <p:cNvPr id="14" name="Table 14">
            <a:extLst>
              <a:ext uri="{FF2B5EF4-FFF2-40B4-BE49-F238E27FC236}">
                <a16:creationId xmlns:a16="http://schemas.microsoft.com/office/drawing/2014/main" id="{13A7CD0F-21EE-1649-BFFE-4F72C9E8F2B1}"/>
              </a:ext>
            </a:extLst>
          </p:cNvPr>
          <p:cNvGraphicFramePr>
            <a:graphicFrameLocks noGrp="1"/>
          </p:cNvGraphicFramePr>
          <p:nvPr>
            <p:extLst>
              <p:ext uri="{D42A27DB-BD31-4B8C-83A1-F6EECF244321}">
                <p14:modId xmlns:p14="http://schemas.microsoft.com/office/powerpoint/2010/main" val="1676838516"/>
              </p:ext>
            </p:extLst>
          </p:nvPr>
        </p:nvGraphicFramePr>
        <p:xfrm>
          <a:off x="6297242" y="898227"/>
          <a:ext cx="5588003" cy="358140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dirty="0"/>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no change necessary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reduce subsequent maintenance dose</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GB" sz="1800" b="0" i="0" kern="1200" dirty="0">
                          <a:solidFill>
                            <a:schemeClr val="dk1"/>
                          </a:solidFill>
                          <a:effectLst/>
                          <a:latin typeface="+mn-lt"/>
                          <a:ea typeface="+mn-ea"/>
                          <a:cs typeface="+mn-cs"/>
                        </a:rPr>
                        <a:t>withhold 1 or 2 doses of warfarin and reduce subsequent maintenance dose</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err="1"/>
                        <a:t>st</a:t>
                      </a:r>
                      <a:r>
                        <a:rPr lang="en-GB" sz="1800" b="0" i="0" kern="1200" dirty="0">
                          <a:solidFill>
                            <a:schemeClr val="dk1"/>
                          </a:solidFill>
                          <a:effectLst/>
                          <a:latin typeface="+mn-lt"/>
                          <a:ea typeface="+mn-ea"/>
                          <a:cs typeface="+mn-cs"/>
                        </a:rPr>
                        <a:t>op </a:t>
                      </a:r>
                      <a:r>
                        <a:rPr lang="en-GB" sz="1800" b="0" i="0" u="none" strike="noStrike" kern="1200" dirty="0">
                          <a:solidFill>
                            <a:schemeClr val="dk1"/>
                          </a:solidFill>
                          <a:effectLst/>
                          <a:latin typeface="+mn-lt"/>
                          <a:ea typeface="+mn-ea"/>
                          <a:cs typeface="+mn-cs"/>
                        </a:rPr>
                        <a:t>warfarin; </a:t>
                      </a:r>
                      <a:r>
                        <a:rPr lang="en-GB" sz="1800" b="0" i="0" kern="1200" dirty="0">
                          <a:solidFill>
                            <a:schemeClr val="dk1"/>
                          </a:solidFill>
                          <a:effectLst/>
                          <a:latin typeface="+mn-lt"/>
                          <a:ea typeface="+mn-ea"/>
                          <a:cs typeface="+mn-cs"/>
                        </a:rPr>
                        <a:t>give </a:t>
                      </a:r>
                      <a:r>
                        <a:rPr lang="en-GB" sz="1800" b="0" i="0" u="none" strike="noStrike" kern="1200" dirty="0">
                          <a:solidFill>
                            <a:schemeClr val="dk1"/>
                          </a:solidFill>
                          <a:effectLst/>
                          <a:latin typeface="+mn-lt"/>
                          <a:ea typeface="+mn-ea"/>
                          <a:cs typeface="+mn-cs"/>
                        </a:rPr>
                        <a:t>vitamin K </a:t>
                      </a:r>
                      <a:r>
                        <a:rPr lang="en-GB" sz="1800" b="0" i="0" kern="1200" dirty="0">
                          <a:solidFill>
                            <a:schemeClr val="dk1"/>
                          </a:solidFill>
                          <a:effectLst/>
                          <a:latin typeface="+mn-lt"/>
                          <a:ea typeface="+mn-ea"/>
                          <a:cs typeface="+mn-cs"/>
                        </a:rPr>
                        <a:t>by slow intravenous injection; restart warfarin when INR &lt;5.0</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GB" sz="1800" b="0" i="0" kern="1200" dirty="0">
                          <a:solidFill>
                            <a:schemeClr val="dk1"/>
                          </a:solidFill>
                          <a:effectLst/>
                          <a:latin typeface="+mn-lt"/>
                          <a:ea typeface="+mn-ea"/>
                          <a:cs typeface="+mn-cs"/>
                        </a:rPr>
                        <a:t>stop </a:t>
                      </a:r>
                      <a:r>
                        <a:rPr lang="en-GB" sz="1800" b="0" i="0" u="none" strike="noStrike" kern="1200" dirty="0">
                          <a:solidFill>
                            <a:schemeClr val="dk1"/>
                          </a:solidFill>
                          <a:effectLst/>
                          <a:latin typeface="+mn-lt"/>
                          <a:ea typeface="+mn-ea"/>
                          <a:cs typeface="+mn-cs"/>
                        </a:rPr>
                        <a:t>warfarin</a:t>
                      </a:r>
                      <a:r>
                        <a:rPr lang="en-GB" sz="1800" b="0" i="0" kern="1200" dirty="0">
                          <a:solidFill>
                            <a:schemeClr val="dk1"/>
                          </a:solidFill>
                          <a:effectLst/>
                          <a:latin typeface="+mn-lt"/>
                          <a:ea typeface="+mn-ea"/>
                          <a:cs typeface="+mn-cs"/>
                        </a:rPr>
                        <a:t>; give vitamin K by mouth using the intravenous preparation orally; repeat dose of vitamin K if INR still too high after 24 hours; restart warfarin when INR &lt;5.0</a:t>
                      </a:r>
                      <a:endParaRPr lang="en-US" sz="1800" dirty="0"/>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5" name="TextBox 14">
            <a:extLst>
              <a:ext uri="{FF2B5EF4-FFF2-40B4-BE49-F238E27FC236}">
                <a16:creationId xmlns:a16="http://schemas.microsoft.com/office/drawing/2014/main" id="{018A95E0-C807-7D46-BC7D-70D2F0A2A369}"/>
              </a:ext>
            </a:extLst>
          </p:cNvPr>
          <p:cNvSpPr txBox="1"/>
          <p:nvPr/>
        </p:nvSpPr>
        <p:spPr>
          <a:xfrm>
            <a:off x="6183737" y="4761137"/>
            <a:ext cx="5815012" cy="523220"/>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sym typeface="Wingdings" pitchFamily="2" charset="2"/>
              </a:rPr>
              <a:t>This is another very typical PSA question. But don’t worry you don’t have to remember all of this – see the next slide!</a:t>
            </a:r>
          </a:p>
        </p:txBody>
      </p:sp>
      <p:sp>
        <p:nvSpPr>
          <p:cNvPr id="12" name="TextBox 11">
            <a:extLst>
              <a:ext uri="{FF2B5EF4-FFF2-40B4-BE49-F238E27FC236}">
                <a16:creationId xmlns:a16="http://schemas.microsoft.com/office/drawing/2014/main" id="{9A212C3E-35E5-8342-BC4B-605577FC0C57}"/>
              </a:ext>
            </a:extLst>
          </p:cNvPr>
          <p:cNvSpPr txBox="1"/>
          <p:nvPr/>
        </p:nvSpPr>
        <p:spPr>
          <a:xfrm>
            <a:off x="185737" y="5948964"/>
            <a:ext cx="2652055" cy="830997"/>
          </a:xfrm>
          <a:prstGeom prst="rect">
            <a:avLst/>
          </a:prstGeom>
          <a:noFill/>
        </p:spPr>
        <p:txBody>
          <a:bodyPr wrap="square" rtlCol="0">
            <a:spAutoFit/>
          </a:bodyPr>
          <a:lstStyle/>
          <a:p>
            <a:r>
              <a:rPr lang="en-US" sz="4800" dirty="0"/>
              <a:t>DAT A1</a:t>
            </a:r>
          </a:p>
        </p:txBody>
      </p:sp>
    </p:spTree>
    <p:extLst>
      <p:ext uri="{BB962C8B-B14F-4D97-AF65-F5344CB8AC3E}">
        <p14:creationId xmlns:p14="http://schemas.microsoft.com/office/powerpoint/2010/main" val="12747763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1D50F62-1A1E-4C4A-B200-0A0517BB278F}"/>
              </a:ext>
            </a:extLst>
          </p:cNvPr>
          <p:cNvGrpSpPr/>
          <p:nvPr/>
        </p:nvGrpSpPr>
        <p:grpSpPr>
          <a:xfrm>
            <a:off x="2803839" y="262998"/>
            <a:ext cx="6584322" cy="6332004"/>
            <a:chOff x="2496458" y="407830"/>
            <a:chExt cx="6584322" cy="6332004"/>
          </a:xfrm>
        </p:grpSpPr>
        <p:pic>
          <p:nvPicPr>
            <p:cNvPr id="4" name="Picture 3">
              <a:extLst>
                <a:ext uri="{FF2B5EF4-FFF2-40B4-BE49-F238E27FC236}">
                  <a16:creationId xmlns:a16="http://schemas.microsoft.com/office/drawing/2014/main" id="{1672D3FA-47CD-D74D-BCFC-0E715654BF3C}"/>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496458" y="1387471"/>
              <a:ext cx="6584322" cy="5352363"/>
            </a:xfrm>
            <a:prstGeom prst="rect">
              <a:avLst/>
            </a:prstGeom>
          </p:spPr>
        </p:pic>
        <p:pic>
          <p:nvPicPr>
            <p:cNvPr id="5" name="Picture 4">
              <a:extLst>
                <a:ext uri="{FF2B5EF4-FFF2-40B4-BE49-F238E27FC236}">
                  <a16:creationId xmlns:a16="http://schemas.microsoft.com/office/drawing/2014/main" id="{77D2408C-F5B7-DB4D-97D0-E3A4DA4A604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496458" y="407830"/>
              <a:ext cx="6584322" cy="979641"/>
            </a:xfrm>
            <a:prstGeom prst="rect">
              <a:avLst/>
            </a:prstGeom>
          </p:spPr>
        </p:pic>
      </p:grpSp>
      <p:sp>
        <p:nvSpPr>
          <p:cNvPr id="7" name="TextBox 6">
            <a:extLst>
              <a:ext uri="{FF2B5EF4-FFF2-40B4-BE49-F238E27FC236}">
                <a16:creationId xmlns:a16="http://schemas.microsoft.com/office/drawing/2014/main" id="{C3B42150-BBCD-5245-91C6-1A8D10C3446A}"/>
              </a:ext>
            </a:extLst>
          </p:cNvPr>
          <p:cNvSpPr txBox="1"/>
          <p:nvPr/>
        </p:nvSpPr>
        <p:spPr>
          <a:xfrm>
            <a:off x="185738" y="5948964"/>
            <a:ext cx="2477452" cy="830997"/>
          </a:xfrm>
          <a:prstGeom prst="rect">
            <a:avLst/>
          </a:prstGeom>
          <a:noFill/>
        </p:spPr>
        <p:txBody>
          <a:bodyPr wrap="square" rtlCol="0">
            <a:spAutoFit/>
          </a:bodyPr>
          <a:lstStyle/>
          <a:p>
            <a:r>
              <a:rPr lang="en-US" sz="4800" dirty="0"/>
              <a:t>DAT A1</a:t>
            </a:r>
          </a:p>
        </p:txBody>
      </p:sp>
    </p:spTree>
    <p:extLst>
      <p:ext uri="{BB962C8B-B14F-4D97-AF65-F5344CB8AC3E}">
        <p14:creationId xmlns:p14="http://schemas.microsoft.com/office/powerpoint/2010/main" val="30114782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926842" cy="353943"/>
          </a:xfrm>
          <a:prstGeom prst="rect">
            <a:avLst/>
          </a:prstGeom>
          <a:solidFill>
            <a:srgbClr val="9E9897"/>
          </a:solidFill>
        </p:spPr>
        <p:txBody>
          <a:bodyPr wrap="square" rtlCol="0">
            <a:spAutoFit/>
          </a:bodyPr>
          <a:lstStyle/>
          <a:p>
            <a:pPr algn="ctr"/>
            <a:r>
              <a:rPr lang="en-US" sz="1700" dirty="0">
                <a:solidFill>
                  <a:schemeClr val="bg1"/>
                </a:solidFill>
              </a:rPr>
              <a:t>Data Interpretation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112580"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DECISION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35-year-old woman started taking levothyroxine 125mcg PO daily for hypothyroidism. She is due for a review at her GP who has requested she has a blood test.</a:t>
            </a:r>
          </a:p>
          <a:p>
            <a:r>
              <a:rPr lang="en-US" b="1" dirty="0"/>
              <a:t>Investigations</a:t>
            </a:r>
          </a:p>
          <a:p>
            <a:r>
              <a:rPr lang="en-US" dirty="0"/>
              <a:t>TSH 16.1 (0.5-5.5), free T4 6.5 (9-18), free T3 2.9 (3-7)</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856089"/>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a:t>
            </a:r>
            <a:r>
              <a:rPr lang="en-US" dirty="0"/>
              <a:t> decision option with regard to the clinical presentation and data.</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2630204795"/>
              </p:ext>
            </p:extLst>
          </p:nvPr>
        </p:nvGraphicFramePr>
        <p:xfrm>
          <a:off x="6297242" y="8982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no change required</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decrease levothyroxine dose to 112.5mcg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decrease levothyroxine dose to 100mcg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increase levothyroxine dose to 137.5mcg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increase levothyroxine dose to 150mcg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6CA4B190-6267-714C-B8E1-2A0D3441E210}"/>
              </a:ext>
            </a:extLst>
          </p:cNvPr>
          <p:cNvSpPr txBox="1"/>
          <p:nvPr/>
        </p:nvSpPr>
        <p:spPr>
          <a:xfrm>
            <a:off x="185737" y="5948964"/>
            <a:ext cx="2652055" cy="830997"/>
          </a:xfrm>
          <a:prstGeom prst="rect">
            <a:avLst/>
          </a:prstGeom>
          <a:noFill/>
        </p:spPr>
        <p:txBody>
          <a:bodyPr wrap="square" rtlCol="0">
            <a:spAutoFit/>
          </a:bodyPr>
          <a:lstStyle/>
          <a:p>
            <a:r>
              <a:rPr lang="en-US" sz="4800" dirty="0"/>
              <a:t>DAT Q2</a:t>
            </a:r>
          </a:p>
        </p:txBody>
      </p:sp>
    </p:spTree>
    <p:extLst>
      <p:ext uri="{BB962C8B-B14F-4D97-AF65-F5344CB8AC3E}">
        <p14:creationId xmlns:p14="http://schemas.microsoft.com/office/powerpoint/2010/main" val="321938916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6" name="TextBox 5">
            <a:extLst>
              <a:ext uri="{FF2B5EF4-FFF2-40B4-BE49-F238E27FC236}">
                <a16:creationId xmlns:a16="http://schemas.microsoft.com/office/drawing/2014/main" id="{6CFB4184-30EF-444F-80A2-1195D21D24A0}"/>
              </a:ext>
            </a:extLst>
          </p:cNvPr>
          <p:cNvSpPr txBox="1"/>
          <p:nvPr/>
        </p:nvSpPr>
        <p:spPr>
          <a:xfrm>
            <a:off x="185738" y="257178"/>
            <a:ext cx="1926842" cy="353943"/>
          </a:xfrm>
          <a:prstGeom prst="rect">
            <a:avLst/>
          </a:prstGeom>
          <a:solidFill>
            <a:srgbClr val="9E9897"/>
          </a:solidFill>
        </p:spPr>
        <p:txBody>
          <a:bodyPr wrap="square" rtlCol="0">
            <a:spAutoFit/>
          </a:bodyPr>
          <a:lstStyle/>
          <a:p>
            <a:pPr algn="ctr"/>
            <a:r>
              <a:rPr lang="en-US" sz="1700" dirty="0">
                <a:solidFill>
                  <a:schemeClr val="bg1"/>
                </a:solidFill>
              </a:rPr>
              <a:t>Data Interpretation</a:t>
            </a:r>
          </a:p>
        </p:txBody>
      </p:sp>
      <p:sp>
        <p:nvSpPr>
          <p:cNvPr id="7" name="TextBox 6">
            <a:extLst>
              <a:ext uri="{FF2B5EF4-FFF2-40B4-BE49-F238E27FC236}">
                <a16:creationId xmlns:a16="http://schemas.microsoft.com/office/drawing/2014/main" id="{1B7972FD-31F3-CA4B-911E-3F823F1D38A7}"/>
              </a:ext>
            </a:extLst>
          </p:cNvPr>
          <p:cNvSpPr txBox="1"/>
          <p:nvPr/>
        </p:nvSpPr>
        <p:spPr>
          <a:xfrm>
            <a:off x="2112580" y="257178"/>
            <a:ext cx="1096960" cy="353943"/>
          </a:xfrm>
          <a:prstGeom prst="rect">
            <a:avLst/>
          </a:prstGeom>
          <a:noFill/>
        </p:spPr>
        <p:txBody>
          <a:bodyPr wrap="square" rtlCol="0">
            <a:spAutoFit/>
          </a:bodyPr>
          <a:lstStyle/>
          <a:p>
            <a:r>
              <a:rPr lang="en-US" sz="1700" b="1" dirty="0"/>
              <a:t>2 marks</a:t>
            </a:r>
          </a:p>
        </p:txBody>
      </p:sp>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DECISION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1754326"/>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35-year-old woman started taking levothyroxine 125mcg PO daily for hypothyroidism. She is due for a review at her GP who has requested she has a blood test.</a:t>
            </a:r>
          </a:p>
          <a:p>
            <a:r>
              <a:rPr lang="en-US" b="1" dirty="0"/>
              <a:t>Investigations</a:t>
            </a:r>
          </a:p>
          <a:p>
            <a:r>
              <a:rPr lang="en-US" dirty="0"/>
              <a:t>TSH 16.1 (0.5-5.5), free T4 6.5 (9-18), free T3 2.9 (3-7)</a:t>
            </a:r>
          </a:p>
        </p:txBody>
      </p:sp>
      <p:sp>
        <p:nvSpPr>
          <p:cNvPr id="11" name="TextBox 10">
            <a:extLst>
              <a:ext uri="{FF2B5EF4-FFF2-40B4-BE49-F238E27FC236}">
                <a16:creationId xmlns:a16="http://schemas.microsoft.com/office/drawing/2014/main" id="{4B45AA29-C184-3746-8BE8-DF16B23DD7AD}"/>
              </a:ext>
            </a:extLst>
          </p:cNvPr>
          <p:cNvSpPr txBox="1"/>
          <p:nvPr/>
        </p:nvSpPr>
        <p:spPr>
          <a:xfrm>
            <a:off x="185736" y="2856089"/>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a:t>
            </a:r>
            <a:r>
              <a:rPr lang="en-US" dirty="0"/>
              <a:t> decision option with regard to the clinical presentation and data.</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extLst>
              <p:ext uri="{D42A27DB-BD31-4B8C-83A1-F6EECF244321}">
                <p14:modId xmlns:p14="http://schemas.microsoft.com/office/powerpoint/2010/main" val="3444444802"/>
              </p:ext>
            </p:extLst>
          </p:nvPr>
        </p:nvGraphicFramePr>
        <p:xfrm>
          <a:off x="6297242" y="898227"/>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no change required</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decrease levothyroxine dose to 112.5mcg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r>
                        <a:rPr lang="en-US" sz="1800" dirty="0"/>
                        <a:t>decrease levothyroxine dose to 100mcg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r>
                        <a:rPr lang="en-US" sz="1800" dirty="0"/>
                        <a:t>increase levothyroxine dose to 137.5mcg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increase levothyroxine dose to 150mcg PO daily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3" name="TextBox 12">
            <a:extLst>
              <a:ext uri="{FF2B5EF4-FFF2-40B4-BE49-F238E27FC236}">
                <a16:creationId xmlns:a16="http://schemas.microsoft.com/office/drawing/2014/main" id="{302E6A87-8B28-BD49-AE63-515791C38824}"/>
              </a:ext>
            </a:extLst>
          </p:cNvPr>
          <p:cNvSpPr txBox="1"/>
          <p:nvPr/>
        </p:nvSpPr>
        <p:spPr>
          <a:xfrm>
            <a:off x="6183737" y="3526454"/>
            <a:ext cx="5815012" cy="1384995"/>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sym typeface="Wingdings" pitchFamily="2" charset="2"/>
              </a:rPr>
              <a:t>Here you can see the raised TSH and low free T4 mean that her hypothyroidism control is not fully optimised. The correct answer would be to increase the dose which is done in 25mcg increments.</a:t>
            </a:r>
          </a:p>
          <a:p>
            <a:pPr marL="285750" indent="-285750">
              <a:buFont typeface="Arial" panose="020B0604020202020204" pitchFamily="34" charset="0"/>
              <a:buChar char="•"/>
            </a:pPr>
            <a:r>
              <a:rPr lang="en-GB" sz="1400" dirty="0">
                <a:solidFill>
                  <a:srgbClr val="FF0000"/>
                </a:solidFill>
                <a:sym typeface="Wingdings" pitchFamily="2" charset="2"/>
              </a:rPr>
              <a:t>Remember when initiating levothyroxine TSH should be monitored every 3 months until a stable level has been achieved. </a:t>
            </a:r>
          </a:p>
          <a:p>
            <a:pPr marL="285750" indent="-285750">
              <a:buFont typeface="Arial" panose="020B0604020202020204" pitchFamily="34" charset="0"/>
              <a:buChar char="•"/>
            </a:pPr>
            <a:r>
              <a:rPr lang="en-GB" sz="1400" dirty="0">
                <a:solidFill>
                  <a:srgbClr val="FF0000"/>
                </a:solidFill>
                <a:sym typeface="Wingdings" pitchFamily="2" charset="2"/>
              </a:rPr>
              <a:t>The starting dose is usually 1.6mcg/kg rounded up to the nearest 25mcg.</a:t>
            </a:r>
          </a:p>
        </p:txBody>
      </p:sp>
      <p:sp>
        <p:nvSpPr>
          <p:cNvPr id="14" name="TextBox 13">
            <a:extLst>
              <a:ext uri="{FF2B5EF4-FFF2-40B4-BE49-F238E27FC236}">
                <a16:creationId xmlns:a16="http://schemas.microsoft.com/office/drawing/2014/main" id="{03CE01A5-2500-FD4A-ABEE-BC1C8F08F688}"/>
              </a:ext>
            </a:extLst>
          </p:cNvPr>
          <p:cNvSpPr txBox="1"/>
          <p:nvPr/>
        </p:nvSpPr>
        <p:spPr>
          <a:xfrm>
            <a:off x="185737" y="5948964"/>
            <a:ext cx="2652055" cy="830997"/>
          </a:xfrm>
          <a:prstGeom prst="rect">
            <a:avLst/>
          </a:prstGeom>
          <a:noFill/>
        </p:spPr>
        <p:txBody>
          <a:bodyPr wrap="square" rtlCol="0">
            <a:spAutoFit/>
          </a:bodyPr>
          <a:lstStyle/>
          <a:p>
            <a:r>
              <a:rPr lang="en-US" sz="4800" dirty="0"/>
              <a:t>DAT A2</a:t>
            </a:r>
          </a:p>
        </p:txBody>
      </p:sp>
    </p:spTree>
    <p:extLst>
      <p:ext uri="{BB962C8B-B14F-4D97-AF65-F5344CB8AC3E}">
        <p14:creationId xmlns:p14="http://schemas.microsoft.com/office/powerpoint/2010/main" val="198671602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2862322"/>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14-year-old girl is being treated with tobramycin 150mg IV 8-hourly for a pseudomonal chest infection. </a:t>
            </a:r>
            <a:r>
              <a:rPr lang="en-US" b="1" dirty="0"/>
              <a:t>PMH.</a:t>
            </a:r>
            <a:r>
              <a:rPr lang="en-US" dirty="0"/>
              <a:t> Cystic fibrosis, T3c diabetes.</a:t>
            </a:r>
            <a:r>
              <a:rPr lang="en-US" b="1" dirty="0"/>
              <a:t> DH. </a:t>
            </a:r>
            <a:r>
              <a:rPr lang="en-US" dirty="0"/>
              <a:t>Insulin </a:t>
            </a:r>
            <a:r>
              <a:rPr lang="en-US" dirty="0" err="1"/>
              <a:t>aspart</a:t>
            </a:r>
            <a:r>
              <a:rPr lang="en-US" dirty="0"/>
              <a:t> 4 units with meals, insulin </a:t>
            </a:r>
            <a:r>
              <a:rPr lang="en-US" dirty="0" err="1"/>
              <a:t>determir</a:t>
            </a:r>
            <a:r>
              <a:rPr lang="en-US" dirty="0"/>
              <a:t> (Levemir®) 6 units at night, pancreatin (Creon 10000®) 1-2 tablets PO with meals. </a:t>
            </a:r>
          </a:p>
          <a:p>
            <a:r>
              <a:rPr lang="en-US" b="1" dirty="0"/>
              <a:t>Investigations</a:t>
            </a:r>
          </a:p>
          <a:p>
            <a:r>
              <a:rPr lang="en-US" dirty="0"/>
              <a:t>Serum tobramycin level:</a:t>
            </a:r>
          </a:p>
          <a:p>
            <a:r>
              <a:rPr lang="en-US" dirty="0"/>
              <a:t>Pre-dose – 3mg/L (range &lt;2mg/L)</a:t>
            </a:r>
          </a:p>
          <a:p>
            <a:r>
              <a:rPr lang="en-US" dirty="0"/>
              <a:t>Post-dose – 10mg/L (ranged 8-12mg/L)</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change to tobramycin 150mg inhaled 8-hourly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change to tobramycin 100mg IV 8-hourly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change to tobramycin 150mg IV 12-hourly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change to tobramycin 200mg IV 12-hourly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no change required</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1" name="TextBox 10">
            <a:extLst>
              <a:ext uri="{FF2B5EF4-FFF2-40B4-BE49-F238E27FC236}">
                <a16:creationId xmlns:a16="http://schemas.microsoft.com/office/drawing/2014/main" id="{483662BE-EEE8-794F-95CC-5992F35AC626}"/>
              </a:ext>
            </a:extLst>
          </p:cNvPr>
          <p:cNvSpPr txBox="1"/>
          <p:nvPr/>
        </p:nvSpPr>
        <p:spPr>
          <a:xfrm>
            <a:off x="185738" y="3960918"/>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a:t>
            </a:r>
            <a:r>
              <a:rPr lang="en-US" dirty="0"/>
              <a:t> decision option with regard to the clinical presentation and data.</a:t>
            </a:r>
          </a:p>
        </p:txBody>
      </p:sp>
      <p:sp>
        <p:nvSpPr>
          <p:cNvPr id="14" name="TextBox 13">
            <a:extLst>
              <a:ext uri="{FF2B5EF4-FFF2-40B4-BE49-F238E27FC236}">
                <a16:creationId xmlns:a16="http://schemas.microsoft.com/office/drawing/2014/main" id="{D6CE7F44-2911-9B42-8B88-92676CBF64B6}"/>
              </a:ext>
            </a:extLst>
          </p:cNvPr>
          <p:cNvSpPr txBox="1"/>
          <p:nvPr/>
        </p:nvSpPr>
        <p:spPr>
          <a:xfrm>
            <a:off x="185738" y="257178"/>
            <a:ext cx="1926842" cy="353943"/>
          </a:xfrm>
          <a:prstGeom prst="rect">
            <a:avLst/>
          </a:prstGeom>
          <a:solidFill>
            <a:srgbClr val="9E9897"/>
          </a:solidFill>
        </p:spPr>
        <p:txBody>
          <a:bodyPr wrap="square" rtlCol="0">
            <a:spAutoFit/>
          </a:bodyPr>
          <a:lstStyle/>
          <a:p>
            <a:pPr algn="ctr"/>
            <a:r>
              <a:rPr lang="en-US" sz="1700" dirty="0">
                <a:solidFill>
                  <a:schemeClr val="bg1"/>
                </a:solidFill>
              </a:rPr>
              <a:t>Data Interpretation</a:t>
            </a:r>
          </a:p>
        </p:txBody>
      </p:sp>
      <p:sp>
        <p:nvSpPr>
          <p:cNvPr id="15" name="TextBox 14">
            <a:extLst>
              <a:ext uri="{FF2B5EF4-FFF2-40B4-BE49-F238E27FC236}">
                <a16:creationId xmlns:a16="http://schemas.microsoft.com/office/drawing/2014/main" id="{A1B861AA-76C9-4341-B384-BD3863DEBD09}"/>
              </a:ext>
            </a:extLst>
          </p:cNvPr>
          <p:cNvSpPr txBox="1"/>
          <p:nvPr/>
        </p:nvSpPr>
        <p:spPr>
          <a:xfrm>
            <a:off x="2112580" y="257178"/>
            <a:ext cx="1096960" cy="353943"/>
          </a:xfrm>
          <a:prstGeom prst="rect">
            <a:avLst/>
          </a:prstGeom>
          <a:noFill/>
        </p:spPr>
        <p:txBody>
          <a:bodyPr wrap="square" rtlCol="0">
            <a:spAutoFit/>
          </a:bodyPr>
          <a:lstStyle/>
          <a:p>
            <a:r>
              <a:rPr lang="en-US" sz="1700" b="1" dirty="0"/>
              <a:t>2 marks</a:t>
            </a:r>
          </a:p>
        </p:txBody>
      </p:sp>
      <p:sp>
        <p:nvSpPr>
          <p:cNvPr id="16" name="TextBox 15">
            <a:extLst>
              <a:ext uri="{FF2B5EF4-FFF2-40B4-BE49-F238E27FC236}">
                <a16:creationId xmlns:a16="http://schemas.microsoft.com/office/drawing/2014/main" id="{4D3394C6-4472-9843-AE10-551FBD5C529F}"/>
              </a:ext>
            </a:extLst>
          </p:cNvPr>
          <p:cNvSpPr txBox="1"/>
          <p:nvPr/>
        </p:nvSpPr>
        <p:spPr>
          <a:xfrm>
            <a:off x="185737" y="5948964"/>
            <a:ext cx="2652055" cy="830997"/>
          </a:xfrm>
          <a:prstGeom prst="rect">
            <a:avLst/>
          </a:prstGeom>
          <a:noFill/>
        </p:spPr>
        <p:txBody>
          <a:bodyPr wrap="square" rtlCol="0">
            <a:spAutoFit/>
          </a:bodyPr>
          <a:lstStyle/>
          <a:p>
            <a:r>
              <a:rPr lang="en-US" sz="4800" dirty="0"/>
              <a:t>DAT Q3</a:t>
            </a:r>
          </a:p>
        </p:txBody>
      </p:sp>
    </p:spTree>
    <p:extLst>
      <p:ext uri="{BB962C8B-B14F-4D97-AF65-F5344CB8AC3E}">
        <p14:creationId xmlns:p14="http://schemas.microsoft.com/office/powerpoint/2010/main" val="155218282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85C72E8-84BE-7B44-B5EE-13F122C78B90}"/>
              </a:ext>
            </a:extLst>
          </p:cNvPr>
          <p:cNvPicPr>
            <a:picLocks noChangeAspect="1"/>
          </p:cNvPicPr>
          <p:nvPr/>
        </p:nvPicPr>
        <p:blipFill>
          <a:blip r:embed="rId2"/>
          <a:stretch>
            <a:fillRect/>
          </a:stretch>
        </p:blipFill>
        <p:spPr>
          <a:xfrm>
            <a:off x="4822825" y="57487"/>
            <a:ext cx="2593975" cy="644141"/>
          </a:xfrm>
          <a:prstGeom prst="rect">
            <a:avLst/>
          </a:prstGeom>
        </p:spPr>
      </p:pic>
      <p:pic>
        <p:nvPicPr>
          <p:cNvPr id="5" name="Picture 4">
            <a:extLst>
              <a:ext uri="{FF2B5EF4-FFF2-40B4-BE49-F238E27FC236}">
                <a16:creationId xmlns:a16="http://schemas.microsoft.com/office/drawing/2014/main" id="{8391AD57-3B47-6645-9706-6B50D68ACEA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891465" y="38279"/>
            <a:ext cx="4157661" cy="643736"/>
          </a:xfrm>
          <a:prstGeom prst="rect">
            <a:avLst/>
          </a:prstGeom>
        </p:spPr>
      </p:pic>
      <p:sp>
        <p:nvSpPr>
          <p:cNvPr id="8" name="TextBox 7">
            <a:extLst>
              <a:ext uri="{FF2B5EF4-FFF2-40B4-BE49-F238E27FC236}">
                <a16:creationId xmlns:a16="http://schemas.microsoft.com/office/drawing/2014/main" id="{59662A28-630D-2D48-A4D4-792064D373C6}"/>
              </a:ext>
            </a:extLst>
          </p:cNvPr>
          <p:cNvSpPr txBox="1"/>
          <p:nvPr/>
        </p:nvSpPr>
        <p:spPr>
          <a:xfrm>
            <a:off x="6191252" y="900112"/>
            <a:ext cx="5815012" cy="2431435"/>
          </a:xfrm>
          <a:prstGeom prst="rect">
            <a:avLst/>
          </a:prstGeom>
          <a:solidFill>
            <a:srgbClr val="ECECEC"/>
          </a:solidFill>
          <a:ln>
            <a:solidFill>
              <a:schemeClr val="tx1"/>
            </a:solidFill>
          </a:ln>
        </p:spPr>
        <p:txBody>
          <a:bodyPr wrap="square" rtlCol="0">
            <a:spAutoFit/>
          </a:bodyPr>
          <a:lstStyle/>
          <a:p>
            <a:r>
              <a:rPr lang="en-US" b="1" dirty="0"/>
              <a:t>MONITORING OPTIONS</a:t>
            </a:r>
          </a:p>
          <a:p>
            <a:endParaRPr lang="en-US" b="1" dirty="0"/>
          </a:p>
          <a:p>
            <a:endParaRPr lang="en-US" b="1" dirty="0"/>
          </a:p>
          <a:p>
            <a:endParaRPr lang="en-US" b="1" dirty="0"/>
          </a:p>
          <a:p>
            <a:endParaRPr lang="en-US" b="1" dirty="0"/>
          </a:p>
          <a:p>
            <a:endParaRPr lang="en-US" b="1" dirty="0"/>
          </a:p>
          <a:p>
            <a:endParaRPr lang="en-US" b="1" dirty="0"/>
          </a:p>
          <a:p>
            <a:endParaRPr lang="en-US" b="1" dirty="0"/>
          </a:p>
          <a:p>
            <a:endParaRPr lang="en-US" sz="800" b="1" dirty="0"/>
          </a:p>
        </p:txBody>
      </p:sp>
      <p:sp>
        <p:nvSpPr>
          <p:cNvPr id="10" name="TextBox 9">
            <a:extLst>
              <a:ext uri="{FF2B5EF4-FFF2-40B4-BE49-F238E27FC236}">
                <a16:creationId xmlns:a16="http://schemas.microsoft.com/office/drawing/2014/main" id="{F4571597-A461-9949-AEB6-3A625F86A39F}"/>
              </a:ext>
            </a:extLst>
          </p:cNvPr>
          <p:cNvSpPr txBox="1"/>
          <p:nvPr/>
        </p:nvSpPr>
        <p:spPr>
          <a:xfrm>
            <a:off x="185738" y="900112"/>
            <a:ext cx="5815012" cy="2862322"/>
          </a:xfrm>
          <a:prstGeom prst="rect">
            <a:avLst/>
          </a:prstGeom>
          <a:solidFill>
            <a:srgbClr val="F7FEFF"/>
          </a:solidFill>
          <a:ln>
            <a:solidFill>
              <a:schemeClr val="tx1"/>
            </a:solidFill>
          </a:ln>
        </p:spPr>
        <p:txBody>
          <a:bodyPr wrap="square" rtlCol="0">
            <a:spAutoFit/>
          </a:bodyPr>
          <a:lstStyle/>
          <a:p>
            <a:r>
              <a:rPr lang="en-US" b="1" dirty="0"/>
              <a:t>Case</a:t>
            </a:r>
            <a:r>
              <a:rPr lang="en-US" dirty="0"/>
              <a:t> </a:t>
            </a:r>
            <a:r>
              <a:rPr lang="en-US" b="1" dirty="0"/>
              <a:t>presentation</a:t>
            </a:r>
          </a:p>
          <a:p>
            <a:r>
              <a:rPr lang="en-US" dirty="0"/>
              <a:t>A 14-year-old girl is being treated with tobramycin 150mg IV 8-hourly for a pseudomonal chest infection. </a:t>
            </a:r>
            <a:r>
              <a:rPr lang="en-US" b="1" dirty="0"/>
              <a:t>PMH.</a:t>
            </a:r>
            <a:r>
              <a:rPr lang="en-US" dirty="0"/>
              <a:t> Cystic fibrosis, T3c diabetes.</a:t>
            </a:r>
            <a:r>
              <a:rPr lang="en-US" b="1" dirty="0"/>
              <a:t> DH. </a:t>
            </a:r>
            <a:r>
              <a:rPr lang="en-US" dirty="0"/>
              <a:t>Insulin </a:t>
            </a:r>
            <a:r>
              <a:rPr lang="en-US" dirty="0" err="1"/>
              <a:t>aspart</a:t>
            </a:r>
            <a:r>
              <a:rPr lang="en-US" dirty="0"/>
              <a:t> 4 units with meals, insulin </a:t>
            </a:r>
            <a:r>
              <a:rPr lang="en-US" dirty="0" err="1"/>
              <a:t>determir</a:t>
            </a:r>
            <a:r>
              <a:rPr lang="en-US" dirty="0"/>
              <a:t> (Levemir®) 6 units at night, pancreatin (Creon 10000®) 1-2 tablets PO with meals. </a:t>
            </a:r>
          </a:p>
          <a:p>
            <a:r>
              <a:rPr lang="en-US" b="1" dirty="0"/>
              <a:t>Investigations</a:t>
            </a:r>
          </a:p>
          <a:p>
            <a:r>
              <a:rPr lang="en-US" dirty="0"/>
              <a:t>Serum tobramycin level:</a:t>
            </a:r>
          </a:p>
          <a:p>
            <a:r>
              <a:rPr lang="en-US" dirty="0"/>
              <a:t>Pre-dose – 3mg/L (range &lt;2mg/L)</a:t>
            </a:r>
          </a:p>
          <a:p>
            <a:r>
              <a:rPr lang="en-US" dirty="0"/>
              <a:t>Post-dose – 10mg/L (ranged 8-12mg/L)</a:t>
            </a:r>
          </a:p>
        </p:txBody>
      </p:sp>
      <p:graphicFrame>
        <p:nvGraphicFramePr>
          <p:cNvPr id="12" name="Table 14">
            <a:extLst>
              <a:ext uri="{FF2B5EF4-FFF2-40B4-BE49-F238E27FC236}">
                <a16:creationId xmlns:a16="http://schemas.microsoft.com/office/drawing/2014/main" id="{ADCE9D08-8B70-854F-9998-131E1375D29E}"/>
              </a:ext>
            </a:extLst>
          </p:cNvPr>
          <p:cNvGraphicFramePr>
            <a:graphicFrameLocks noGrp="1"/>
          </p:cNvGraphicFramePr>
          <p:nvPr/>
        </p:nvGraphicFramePr>
        <p:xfrm>
          <a:off x="6304756" y="975549"/>
          <a:ext cx="5588003" cy="2225040"/>
        </p:xfrm>
        <a:graphic>
          <a:graphicData uri="http://schemas.openxmlformats.org/drawingml/2006/table">
            <a:tbl>
              <a:tblPr firstRow="1" bandRow="1">
                <a:tableStyleId>{5C22544A-7EE6-4342-B048-85BDC9FD1C3A}</a:tableStyleId>
              </a:tblPr>
              <a:tblGrid>
                <a:gridCol w="2053432">
                  <a:extLst>
                    <a:ext uri="{9D8B030D-6E8A-4147-A177-3AD203B41FA5}">
                      <a16:colId xmlns:a16="http://schemas.microsoft.com/office/drawing/2014/main" val="2736422818"/>
                    </a:ext>
                  </a:extLst>
                </a:gridCol>
                <a:gridCol w="871537">
                  <a:extLst>
                    <a:ext uri="{9D8B030D-6E8A-4147-A177-3AD203B41FA5}">
                      <a16:colId xmlns:a16="http://schemas.microsoft.com/office/drawing/2014/main" val="2006895509"/>
                    </a:ext>
                  </a:extLst>
                </a:gridCol>
                <a:gridCol w="800100">
                  <a:extLst>
                    <a:ext uri="{9D8B030D-6E8A-4147-A177-3AD203B41FA5}">
                      <a16:colId xmlns:a16="http://schemas.microsoft.com/office/drawing/2014/main" val="163699140"/>
                    </a:ext>
                  </a:extLst>
                </a:gridCol>
                <a:gridCol w="1146969">
                  <a:extLst>
                    <a:ext uri="{9D8B030D-6E8A-4147-A177-3AD203B41FA5}">
                      <a16:colId xmlns:a16="http://schemas.microsoft.com/office/drawing/2014/main" val="300224466"/>
                    </a:ext>
                  </a:extLst>
                </a:gridCol>
                <a:gridCol w="371475">
                  <a:extLst>
                    <a:ext uri="{9D8B030D-6E8A-4147-A177-3AD203B41FA5}">
                      <a16:colId xmlns:a16="http://schemas.microsoft.com/office/drawing/2014/main" val="3455264385"/>
                    </a:ext>
                  </a:extLst>
                </a:gridCol>
                <a:gridCol w="344490">
                  <a:extLst>
                    <a:ext uri="{9D8B030D-6E8A-4147-A177-3AD203B41FA5}">
                      <a16:colId xmlns:a16="http://schemas.microsoft.com/office/drawing/2014/main" val="2609765182"/>
                    </a:ext>
                  </a:extLst>
                </a:gridCol>
              </a:tblGrid>
              <a:tr h="370840">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400" dirty="0">
                        <a:solidFill>
                          <a:schemeClr val="tx1"/>
                        </a:solidFill>
                      </a:endParaRPr>
                    </a:p>
                  </a:txBody>
                  <a:tcPr>
                    <a:lnL w="12700" cmpd="sng">
                      <a:noFill/>
                    </a:lnL>
                    <a:lnR w="12700" cmpd="sng">
                      <a:noFill/>
                    </a:lnR>
                    <a:lnT w="12700" cmpd="sng">
                      <a:noFill/>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96636672"/>
                  </a:ext>
                </a:extLst>
              </a:tr>
              <a:tr h="370840">
                <a:tc gridSpan="5">
                  <a:txBody>
                    <a:bodyPr/>
                    <a:lstStyle/>
                    <a:p>
                      <a:r>
                        <a:rPr lang="en-US" sz="1800" dirty="0"/>
                        <a:t>change to tobramycin 150mg inhaled 8-hourly</a:t>
                      </a:r>
                    </a:p>
                  </a:txBody>
                  <a:tcPr anchor="ctr">
                    <a:lnL w="12700" cmpd="sng">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10mg</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285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53599410"/>
                  </a:ext>
                </a:extLst>
              </a:tr>
              <a:tr h="370840">
                <a:tc gridSpan="5">
                  <a:txBody>
                    <a:bodyPr/>
                    <a:lstStyle/>
                    <a:p>
                      <a:r>
                        <a:rPr lang="en-US" sz="1800" dirty="0"/>
                        <a:t>change to tobramycin 100mg IV 8-hourly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70mg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19275145"/>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change to tobramycin 150mg IV 12-hourly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40mg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FF0000"/>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44690927"/>
                  </a:ext>
                </a:extLst>
              </a:tr>
              <a:tr h="370840">
                <a:tc gridSpan="5">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change to tobramycin 200mg IV 12-hourly</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5mg</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78015788"/>
                  </a:ext>
                </a:extLst>
              </a:tr>
              <a:tr h="370840">
                <a:tc gridSpan="5">
                  <a:txBody>
                    <a:bodyPr/>
                    <a:lstStyle/>
                    <a:p>
                      <a:r>
                        <a:rPr lang="en-US" sz="1800" dirty="0"/>
                        <a:t>no change required</a:t>
                      </a:r>
                    </a:p>
                  </a:txBody>
                  <a:tcPr anchor="ctr">
                    <a:lnL w="12700" cmpd="sng">
                      <a:noFill/>
                    </a:lnL>
                    <a:lnR w="12700"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2 tablets</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PO</a:t>
                      </a:r>
                    </a:p>
                  </a:txBody>
                  <a:tcPr anchor="ct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r>
                        <a:rPr lang="en-US" sz="1400" dirty="0"/>
                        <a:t>twice daily</a:t>
                      </a:r>
                    </a:p>
                  </a:txBody>
                  <a:tcPr anchor="ctr">
                    <a:lnL w="12700" cmpd="sng">
                      <a:noFill/>
                    </a:lnL>
                    <a:lnR w="9525" cap="flat" cmpd="sng" algn="ctr">
                      <a:solidFill>
                        <a:schemeClr val="bg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sz="1400" dirty="0"/>
                    </a:p>
                  </a:txBody>
                  <a:tcPr anchor="ctr">
                    <a:lnL w="9525"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solidFill>
                          <a:srgbClr val="FF0000"/>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2196090"/>
                  </a:ext>
                </a:extLst>
              </a:tr>
            </a:tbl>
          </a:graphicData>
        </a:graphic>
      </p:graphicFrame>
      <p:sp>
        <p:nvSpPr>
          <p:cNvPr id="15" name="TextBox 14">
            <a:extLst>
              <a:ext uri="{FF2B5EF4-FFF2-40B4-BE49-F238E27FC236}">
                <a16:creationId xmlns:a16="http://schemas.microsoft.com/office/drawing/2014/main" id="{F873C71B-FC86-6645-B0BE-6B0B77D229D0}"/>
              </a:ext>
            </a:extLst>
          </p:cNvPr>
          <p:cNvSpPr txBox="1"/>
          <p:nvPr/>
        </p:nvSpPr>
        <p:spPr>
          <a:xfrm>
            <a:off x="6166640" y="3549644"/>
            <a:ext cx="5815012" cy="1384995"/>
          </a:xfrm>
          <a:prstGeom prst="rect">
            <a:avLst/>
          </a:prstGeom>
          <a:noFill/>
        </p:spPr>
        <p:txBody>
          <a:bodyPr wrap="square" rtlCol="0">
            <a:spAutoFit/>
          </a:bodyPr>
          <a:lstStyle/>
          <a:p>
            <a:pPr marL="285750" indent="-285750">
              <a:buFont typeface="Arial" panose="020B0604020202020204" pitchFamily="34" charset="0"/>
              <a:buChar char="•"/>
            </a:pPr>
            <a:r>
              <a:rPr lang="en-GB" sz="1400" dirty="0">
                <a:solidFill>
                  <a:srgbClr val="FF0000"/>
                </a:solidFill>
                <a:sym typeface="Wingdings" pitchFamily="2" charset="2"/>
              </a:rPr>
              <a:t>For those of you that spotted T3c diabetes that isn’t a typo. I have only heard of it recently. Stands for type 3c diabetes, also known as </a:t>
            </a:r>
            <a:r>
              <a:rPr lang="en-GB" sz="1400" dirty="0" err="1">
                <a:solidFill>
                  <a:srgbClr val="FF0000"/>
                </a:solidFill>
                <a:sym typeface="Wingdings" pitchFamily="2" charset="2"/>
              </a:rPr>
              <a:t>pancreatogenic</a:t>
            </a:r>
            <a:r>
              <a:rPr lang="en-GB" sz="1400" dirty="0">
                <a:solidFill>
                  <a:srgbClr val="FF0000"/>
                </a:solidFill>
                <a:sym typeface="Wingdings" pitchFamily="2" charset="2"/>
              </a:rPr>
              <a:t> diabetes, and occurs secondary to conditions which affect the pancreas e.g. pancreatitis and cystic fibrosis.</a:t>
            </a:r>
          </a:p>
          <a:p>
            <a:pPr marL="285750" indent="-285750">
              <a:buFont typeface="Arial" panose="020B0604020202020204" pitchFamily="34" charset="0"/>
              <a:buChar char="•"/>
            </a:pPr>
            <a:r>
              <a:rPr lang="en-GB" sz="1400" dirty="0">
                <a:solidFill>
                  <a:srgbClr val="FF0000"/>
                </a:solidFill>
                <a:sym typeface="Wingdings" pitchFamily="2" charset="2"/>
              </a:rPr>
              <a:t>The pre-dose level is too high suggesting the trough is too high. As per the BNF you need to increase the interval between doses.</a:t>
            </a:r>
          </a:p>
        </p:txBody>
      </p:sp>
      <p:pic>
        <p:nvPicPr>
          <p:cNvPr id="2" name="Picture 1">
            <a:extLst>
              <a:ext uri="{FF2B5EF4-FFF2-40B4-BE49-F238E27FC236}">
                <a16:creationId xmlns:a16="http://schemas.microsoft.com/office/drawing/2014/main" id="{FFFF5840-81A1-E14D-B1A8-070220A3583A}"/>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123097" y="5029786"/>
            <a:ext cx="5882486" cy="1657248"/>
          </a:xfrm>
          <a:prstGeom prst="rect">
            <a:avLst/>
          </a:prstGeom>
        </p:spPr>
      </p:pic>
      <p:pic>
        <p:nvPicPr>
          <p:cNvPr id="3" name="Picture 2">
            <a:extLst>
              <a:ext uri="{FF2B5EF4-FFF2-40B4-BE49-F238E27FC236}">
                <a16:creationId xmlns:a16="http://schemas.microsoft.com/office/drawing/2014/main" id="{657FB2AE-D22A-4B47-808C-2738DDBF1A23}"/>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3499178" y="5082732"/>
            <a:ext cx="2569726" cy="975549"/>
          </a:xfrm>
          <a:prstGeom prst="rect">
            <a:avLst/>
          </a:prstGeom>
        </p:spPr>
      </p:pic>
      <p:sp>
        <p:nvSpPr>
          <p:cNvPr id="14" name="TextBox 13">
            <a:extLst>
              <a:ext uri="{FF2B5EF4-FFF2-40B4-BE49-F238E27FC236}">
                <a16:creationId xmlns:a16="http://schemas.microsoft.com/office/drawing/2014/main" id="{8D95D277-52DA-B54F-8A5A-639A02E84522}"/>
              </a:ext>
            </a:extLst>
          </p:cNvPr>
          <p:cNvSpPr txBox="1"/>
          <p:nvPr/>
        </p:nvSpPr>
        <p:spPr>
          <a:xfrm>
            <a:off x="182556" y="3960918"/>
            <a:ext cx="5815012" cy="923330"/>
          </a:xfrm>
          <a:prstGeom prst="rect">
            <a:avLst/>
          </a:prstGeom>
          <a:solidFill>
            <a:srgbClr val="F6FEEA"/>
          </a:solidFill>
          <a:ln>
            <a:solidFill>
              <a:schemeClr val="tx1"/>
            </a:solidFill>
          </a:ln>
        </p:spPr>
        <p:txBody>
          <a:bodyPr wrap="square" rtlCol="0">
            <a:spAutoFit/>
          </a:bodyPr>
          <a:lstStyle/>
          <a:p>
            <a:r>
              <a:rPr lang="en-US" b="1" dirty="0"/>
              <a:t>Question</a:t>
            </a:r>
          </a:p>
          <a:p>
            <a:r>
              <a:rPr lang="en-US" dirty="0"/>
              <a:t>Select the </a:t>
            </a:r>
            <a:r>
              <a:rPr lang="en-US" i="1" dirty="0"/>
              <a:t>most appropriate</a:t>
            </a:r>
            <a:r>
              <a:rPr lang="en-US" dirty="0"/>
              <a:t> decision option with regard to the clinical presentation and data.</a:t>
            </a:r>
          </a:p>
        </p:txBody>
      </p:sp>
      <p:sp>
        <p:nvSpPr>
          <p:cNvPr id="16" name="TextBox 15">
            <a:extLst>
              <a:ext uri="{FF2B5EF4-FFF2-40B4-BE49-F238E27FC236}">
                <a16:creationId xmlns:a16="http://schemas.microsoft.com/office/drawing/2014/main" id="{05CA23D5-97A8-9F41-84B4-6F91941E635F}"/>
              </a:ext>
            </a:extLst>
          </p:cNvPr>
          <p:cNvSpPr txBox="1"/>
          <p:nvPr/>
        </p:nvSpPr>
        <p:spPr>
          <a:xfrm>
            <a:off x="185738" y="257178"/>
            <a:ext cx="1926842" cy="353943"/>
          </a:xfrm>
          <a:prstGeom prst="rect">
            <a:avLst/>
          </a:prstGeom>
          <a:solidFill>
            <a:srgbClr val="9E9897"/>
          </a:solidFill>
        </p:spPr>
        <p:txBody>
          <a:bodyPr wrap="square" rtlCol="0">
            <a:spAutoFit/>
          </a:bodyPr>
          <a:lstStyle/>
          <a:p>
            <a:pPr algn="ctr"/>
            <a:r>
              <a:rPr lang="en-US" sz="1700" dirty="0">
                <a:solidFill>
                  <a:schemeClr val="bg1"/>
                </a:solidFill>
              </a:rPr>
              <a:t>Data Interpretation</a:t>
            </a:r>
          </a:p>
        </p:txBody>
      </p:sp>
      <p:sp>
        <p:nvSpPr>
          <p:cNvPr id="17" name="TextBox 16">
            <a:extLst>
              <a:ext uri="{FF2B5EF4-FFF2-40B4-BE49-F238E27FC236}">
                <a16:creationId xmlns:a16="http://schemas.microsoft.com/office/drawing/2014/main" id="{98B1107B-377C-8749-AE30-71F0A2127271}"/>
              </a:ext>
            </a:extLst>
          </p:cNvPr>
          <p:cNvSpPr txBox="1"/>
          <p:nvPr/>
        </p:nvSpPr>
        <p:spPr>
          <a:xfrm>
            <a:off x="2112580" y="257178"/>
            <a:ext cx="1096960" cy="353943"/>
          </a:xfrm>
          <a:prstGeom prst="rect">
            <a:avLst/>
          </a:prstGeom>
          <a:noFill/>
        </p:spPr>
        <p:txBody>
          <a:bodyPr wrap="square" rtlCol="0">
            <a:spAutoFit/>
          </a:bodyPr>
          <a:lstStyle/>
          <a:p>
            <a:r>
              <a:rPr lang="en-US" sz="1700" b="1" dirty="0"/>
              <a:t>2 marks</a:t>
            </a:r>
          </a:p>
        </p:txBody>
      </p:sp>
      <p:sp>
        <p:nvSpPr>
          <p:cNvPr id="18" name="TextBox 17">
            <a:extLst>
              <a:ext uri="{FF2B5EF4-FFF2-40B4-BE49-F238E27FC236}">
                <a16:creationId xmlns:a16="http://schemas.microsoft.com/office/drawing/2014/main" id="{9DF85137-D53E-E340-9993-1C710FCB90AC}"/>
              </a:ext>
            </a:extLst>
          </p:cNvPr>
          <p:cNvSpPr txBox="1"/>
          <p:nvPr/>
        </p:nvSpPr>
        <p:spPr>
          <a:xfrm>
            <a:off x="185737" y="5948964"/>
            <a:ext cx="2652055" cy="830997"/>
          </a:xfrm>
          <a:prstGeom prst="rect">
            <a:avLst/>
          </a:prstGeom>
          <a:noFill/>
        </p:spPr>
        <p:txBody>
          <a:bodyPr wrap="square" rtlCol="0">
            <a:spAutoFit/>
          </a:bodyPr>
          <a:lstStyle/>
          <a:p>
            <a:r>
              <a:rPr lang="en-US" sz="4800" dirty="0"/>
              <a:t>DAT A3</a:t>
            </a:r>
          </a:p>
        </p:txBody>
      </p:sp>
    </p:spTree>
    <p:extLst>
      <p:ext uri="{BB962C8B-B14F-4D97-AF65-F5344CB8AC3E}">
        <p14:creationId xmlns:p14="http://schemas.microsoft.com/office/powerpoint/2010/main" val="324579096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59861-F54F-1142-BE4E-F3B4CD587646}"/>
              </a:ext>
            </a:extLst>
          </p:cNvPr>
          <p:cNvSpPr>
            <a:spLocks noGrp="1"/>
          </p:cNvSpPr>
          <p:nvPr>
            <p:ph type="ctrTitle"/>
          </p:nvPr>
        </p:nvSpPr>
        <p:spPr>
          <a:xfrm>
            <a:off x="1524000" y="1982424"/>
            <a:ext cx="9144000" cy="2893152"/>
          </a:xfrm>
        </p:spPr>
        <p:txBody>
          <a:bodyPr anchor="ctr">
            <a:normAutofit fontScale="90000"/>
          </a:bodyPr>
          <a:lstStyle/>
          <a:p>
            <a:r>
              <a:rPr lang="en-US" b="1" dirty="0">
                <a:solidFill>
                  <a:srgbClr val="00B050"/>
                </a:solidFill>
              </a:rPr>
              <a:t>GOOD LUCK!</a:t>
            </a:r>
            <a:br>
              <a:rPr lang="en-US" b="1" dirty="0">
                <a:solidFill>
                  <a:srgbClr val="00B050"/>
                </a:solidFill>
              </a:rPr>
            </a:br>
            <a:r>
              <a:rPr lang="en-US" dirty="0"/>
              <a:t>We hope </a:t>
            </a:r>
            <a:r>
              <a:rPr lang="en-US" b="1" dirty="0"/>
              <a:t>Prepare for the PSA </a:t>
            </a:r>
            <a:r>
              <a:rPr lang="en-US" dirty="0"/>
              <a:t>has been helpful</a:t>
            </a:r>
            <a:br>
              <a:rPr lang="en-US" dirty="0"/>
            </a:br>
            <a:r>
              <a:rPr lang="en-US" dirty="0"/>
              <a:t>Clare and Phoebe</a:t>
            </a:r>
          </a:p>
        </p:txBody>
      </p:sp>
    </p:spTree>
    <p:extLst>
      <p:ext uri="{BB962C8B-B14F-4D97-AF65-F5344CB8AC3E}">
        <p14:creationId xmlns:p14="http://schemas.microsoft.com/office/powerpoint/2010/main" val="31213114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19111</TotalTime>
  <Words>8899</Words>
  <Application>Microsoft Macintosh PowerPoint</Application>
  <PresentationFormat>Widescreen</PresentationFormat>
  <Paragraphs>1778</Paragraphs>
  <Slides>74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Calibri Light</vt:lpstr>
      <vt:lpstr>Inter</vt:lpstr>
      <vt:lpstr>Wingdings</vt:lpstr>
      <vt:lpstr>Office Theme</vt:lpstr>
      <vt:lpstr>PowerPoint Presentation</vt:lpstr>
      <vt:lpstr>Prepare for the PSA Mock Exam - ANSWERS</vt:lpstr>
      <vt:lpstr>PowerPoint Presentation</vt:lpstr>
      <vt:lpstr>Status epilepticus</vt:lpstr>
      <vt:lpstr>PowerPoint Presentation</vt:lpstr>
      <vt:lpstr>Incontinence</vt:lpstr>
      <vt:lpstr>PowerPoint Presentation</vt:lpstr>
      <vt:lpstr>Opioid overdose</vt:lpstr>
      <vt:lpstr>PowerPoint Presentation</vt:lpstr>
      <vt:lpstr>Maintenance only but previous bag given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Paracetamol overdose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GOOD LUCK! We hope Prepare for the PSA has been helpful Clare and Phoebe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Mock exam</dc:title>
  <dc:creator>Clare Bartholomew</dc:creator>
  <cp:lastModifiedBy>Clare Bartholomew</cp:lastModifiedBy>
  <cp:revision>105</cp:revision>
  <cp:lastPrinted>2021-04-13T11:00:44Z</cp:lastPrinted>
  <dcterms:created xsi:type="dcterms:W3CDTF">2021-01-06T19:08:50Z</dcterms:created>
  <dcterms:modified xsi:type="dcterms:W3CDTF">2026-01-25T15:29:49Z</dcterms:modified>
</cp:coreProperties>
</file>